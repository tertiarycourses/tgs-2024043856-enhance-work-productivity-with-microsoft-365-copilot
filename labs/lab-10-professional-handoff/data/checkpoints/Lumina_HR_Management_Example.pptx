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Backlog HR cases by department</c:v>
                </c:pt>
              </c:strCache>
            </c:strRef>
          </c:tx>
          <c:spPr>
            <a:solidFill>
              <a:srgbClr val="13A89E"/>
            </a:solidFill>
          </c:spPr>
          <c:cat>
            <c:strRef>
              <c:f>Sheet1!$A$2:$A$6</c:f>
              <c:strCache>
                <c:ptCount val="5"/>
                <c:pt idx="0">
                  <c:v>Retail Sales</c:v>
                </c:pt>
                <c:pt idx="1">
                  <c:v>Operations</c:v>
                </c:pt>
                <c:pt idx="2">
                  <c:v>Finance</c:v>
                </c:pt>
                <c:pt idx="3">
                  <c:v>Technology</c:v>
                </c:pt>
                <c:pt idx="4">
                  <c:v>Marketing</c:v>
                </c:pt>
              </c:strCache>
            </c:strRef>
          </c:cat>
          <c:val>
            <c:numRef>
              <c:f>Sheet1!$B$2:$B$6</c:f>
              <c:numCache>
                <c:formatCode>General</c:formatCode>
                <c:ptCount val="5"/>
                <c:pt idx="0">
                  <c:v>8</c:v>
                </c:pt>
                <c:pt idx="1">
                  <c:v>12</c:v>
                </c:pt>
                <c:pt idx="2">
                  <c:v>16</c:v>
                </c:pt>
                <c:pt idx="3">
                  <c:v>20</c:v>
                </c:pt>
                <c:pt idx="4">
                  <c:v>4</c:v>
                </c:pt>
              </c:numCache>
            </c:numRef>
          </c:val>
        </c:ser>
        <c:dLbls>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12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All HR cases by status</c:v>
                </c:pt>
              </c:strCache>
            </c:strRef>
          </c:tx>
          <c:spPr>
            <a:solidFill>
              <a:srgbClr val="13A89E"/>
            </a:solidFill>
          </c:spPr>
          <c:cat>
            <c:strRef>
              <c:f>Sheet1!$A$2:$A$7</c:f>
              <c:strCache>
                <c:ptCount val="6"/>
                <c:pt idx="0">
                  <c:v>Closed</c:v>
                </c:pt>
                <c:pt idx="1">
                  <c:v>In Progress</c:v>
                </c:pt>
                <c:pt idx="2">
                  <c:v>On Hold</c:v>
                </c:pt>
                <c:pt idx="3">
                  <c:v>New</c:v>
                </c:pt>
                <c:pt idx="4">
                  <c:v>Cancelled</c:v>
                </c:pt>
                <c:pt idx="5">
                  <c:v>Assigned</c:v>
                </c:pt>
              </c:strCache>
            </c:strRef>
          </c:cat>
          <c:val>
            <c:numRef>
              <c:f>Sheet1!$B$2:$B$7</c:f>
              <c:numCache>
                <c:formatCode>General</c:formatCode>
                <c:ptCount val="6"/>
                <c:pt idx="0">
                  <c:v>48</c:v>
                </c:pt>
                <c:pt idx="1">
                  <c:v>18</c:v>
                </c:pt>
                <c:pt idx="2">
                  <c:v>12</c:v>
                </c:pt>
                <c:pt idx="3">
                  <c:v>18</c:v>
                </c:pt>
                <c:pt idx="4">
                  <c:v>12</c:v>
                </c:pt>
                <c:pt idx="5">
                  <c:v>12</c:v>
                </c:pt>
              </c:numCache>
            </c:numRef>
          </c:val>
        </c:ser>
        <c:dLbls>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1200"/>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tblHRCases, all filters All, as at 2026-09-30. State scope before interpretation. This is a deterministic rejoin example, not evidence of Copilot execution.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Counts partition the selected source table exactly; recorded cost includes all statuses. Do not infer a budget or savings.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Backlog chart counts Status neither Closed nor Cancelled. Department totals are source-derived and reconcile to 60. Counts alone do not explain causes.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Status chart uses all 120 source rows; category comparison is nominal. Check units and avoid claims of causation.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Closed on/before Due_Date is on time. Numerator 30 and denominator 48 are both source-derived. A different scope must be recalculated.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blank current owners are in backlog. HR_Officers table contains planning inputs, not approval or comprehensive policy/capacity evidence.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Actions are proposals linked to observed overdue/unassigned work. They need operational review; no promised saving or productivity gain.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for a decision without claiming one was made. The PowerPoint is a static snapshot; retain the interactive workbook and evidence register.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Q3 HR service: prioritise the overdue backlog</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Reporting date:30 September 2026. All departments/categories/statuses/owners. Synthetic training snapshot. Findings describe recorded work; actions below are proposed.</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Observation -&gt; evidence -&gt; proposed action -&gt; decision</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TGS-2024043856 v9.5 | Synthetic Lumina example | 2026-09-30 | All filters All | Slide1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120 cases: reconcile the portfolio</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Closed 48 + Cancelled 12 + Backlog 60 = 120. Recorded cost S$35,827.50; this is not a budget or saving.</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Keep status, department, category and owner scope consistent.</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TGS-2024043856 v9.5 | Synthetic Lumina example | 2026-09-30 | All filters All | Slide2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Department backlog: compare open work</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Backlog excludes Closed and Cancelled. Compare counts across five departments before choosing recovery priorities. Frequency alone does not establish the cause.</a:t>
            </a:r>
          </a:p>
        </p:txBody>
      </p:sp>
      <p:graphicFrame>
        <p:nvGraphicFramePr>
          <p:cNvPr id="4" name="Chart 3"/>
          <p:cNvGraphicFramePr>
            <a:graphicFrameLocks noGrp="1"/>
          </p:cNvGraphicFramePr>
          <p:nvPr/>
        </p:nvGraphicFramePr>
        <p:xfrm>
          <a:off x="914400" y="3017520"/>
          <a:ext cx="10058400" cy="2926080"/>
        </p:xfrm>
        <a:graphic>
          <a:graphicData uri="http://schemas.openxmlformats.org/drawingml/2006/chart">
            <c:chart xmlns:c="http://schemas.openxmlformats.org/drawingml/2006/chart" r:id="rId2"/>
          </a:graphicData>
        </a:graphic>
      </p:graphicFrame>
      <p:sp>
        <p:nvSpPr>
          <p:cNvPr id="5" name="TextBox 4"/>
          <p:cNvSpPr txBox="1"/>
          <p:nvPr/>
        </p:nvSpPr>
        <p:spPr>
          <a:xfrm>
            <a:off x="731520" y="6217920"/>
            <a:ext cx="10698480" cy="320040"/>
          </a:xfrm>
          <a:prstGeom prst="rect">
            <a:avLst/>
          </a:prstGeom>
          <a:noFill/>
        </p:spPr>
        <p:txBody>
          <a:bodyPr wrap="none">
            <a:spAutoFit/>
          </a:bodyPr>
          <a:lstStyle/>
          <a:p>
            <a:pPr>
              <a:defRPr sz="1000"/>
            </a:pPr>
            <a:r>
              <a:t>TGS-2024043856 v9.5 | Synthetic Lumina example | 2026-09-30 | All filters All | Slide3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Status and category mix</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Status describes current workflow state; category describes request type. All-category counts sum to 120; category frequency is not a root-cause diagnosis.</a:t>
            </a:r>
          </a:p>
        </p:txBody>
      </p:sp>
      <p:graphicFrame>
        <p:nvGraphicFramePr>
          <p:cNvPr id="4" name="Chart 3"/>
          <p:cNvGraphicFramePr>
            <a:graphicFrameLocks noGrp="1"/>
          </p:cNvGraphicFramePr>
          <p:nvPr/>
        </p:nvGraphicFramePr>
        <p:xfrm>
          <a:off x="914400" y="3017520"/>
          <a:ext cx="10058400" cy="2926080"/>
        </p:xfrm>
        <a:graphic>
          <a:graphicData uri="http://schemas.openxmlformats.org/drawingml/2006/chart">
            <c:chart xmlns:c="http://schemas.openxmlformats.org/drawingml/2006/chart" r:id="rId2"/>
          </a:graphicData>
        </a:graphic>
      </p:graphicFrame>
      <p:sp>
        <p:nvSpPr>
          <p:cNvPr id="5" name="TextBox 4"/>
          <p:cNvSpPr txBox="1"/>
          <p:nvPr/>
        </p:nvSpPr>
        <p:spPr>
          <a:xfrm>
            <a:off x="731520" y="6217920"/>
            <a:ext cx="10698480" cy="320040"/>
          </a:xfrm>
          <a:prstGeom prst="rect">
            <a:avLst/>
          </a:prstGeom>
          <a:noFill/>
        </p:spPr>
        <p:txBody>
          <a:bodyPr wrap="none">
            <a:spAutoFit/>
          </a:bodyPr>
          <a:lstStyle/>
          <a:p>
            <a:pPr>
              <a:defRPr sz="1000"/>
            </a:pPr>
            <a:r>
              <a:t>TGS-2024043856 v9.5 | Synthetic Lumina example | 2026-09-30 | All filters All | Slide4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30 of 48 closures were on time</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On-time closure rate = 30/48 = 62.5%. Overdue backlog: 50, using Due_Date &lt; 30 September 2026. Closed-only denominator, not all 120 cases.</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Observation -&gt; evidence -&gt; proposed action -&gt; decision</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TGS-2024043856 v9.5 | Synthetic Lumina example | 2026-09-30 | All filters All | Slide5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6 backlog cases have no current owner</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Unassigned backlog: 6. Compare primary category and available hours across 8 synthetic HR officers. Current owners remain unchanged; specific suitable/approved allocations UNKNOWN.</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Keep status, department, category and owner scope consistent.</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TGS-2024043856 v9.5 | Synthetic Lumina example | 2026-09-30 | All filters All | Slide6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Proposed recovery actions and trade-offs</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Proposed: review the overdue queue by priority/department; validate constraints before suggesting owners; keep category/capacity evidence beside each proposal. Trade-off: backlog recovery may compete with newly opened work. Savings and approvals UNKNOWN.</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Validate constraints before confirming an operational change.</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TGS-2024043856 v9.5 | Synthetic Lumina example | 2026-09-30 | All filters All | Slide7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Decision requested: review the recovery proposal</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Requested decision: review and approve or revise the proposed recovery priorities and assignment checks. Decision owner, approval outcome and next review date UNKNOWN until supplied. No email sent and no source assignment changed.</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Static presentation: verified snapshot, not an automatic live link.</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TGS-2024043856 v9.5 | Synthetic Lumina example | 2026-09-30 | All filters All | Slide8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