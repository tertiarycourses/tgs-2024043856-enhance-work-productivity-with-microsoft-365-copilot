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HR cases by department</c:v>
                </c:pt>
              </c:strCache>
            </c:strRef>
          </c:tx>
          <c:spPr>
            <a:solidFill>
              <a:srgbClr val="13A89E"/>
            </a:solidFill>
          </c:spPr>
          <c:cat>
            <c:strRef>
              <c:f>Sheet1!$A$2:$A$6</c:f>
              <c:strCache>
                <c:ptCount val="5"/>
                <c:pt idx="0">
                  <c:v>Retail Sales</c:v>
                </c:pt>
                <c:pt idx="1">
                  <c:v>Operations</c:v>
                </c:pt>
                <c:pt idx="2">
                  <c:v>Finance</c:v>
                </c:pt>
                <c:pt idx="3">
                  <c:v>Technology</c:v>
                </c:pt>
                <c:pt idx="4">
                  <c:v>Marketing</c:v>
                </c:pt>
              </c:strCache>
            </c:strRef>
          </c:cat>
          <c:val>
            <c:numRef>
              <c:f>Sheet1!$B$2:$B$6</c:f>
              <c:numCache>
                <c:formatCode>General</c:formatCode>
                <c:ptCount val="5"/>
                <c:pt idx="0">
                  <c:v>8</c:v>
                </c:pt>
                <c:pt idx="1">
                  <c:v>12</c:v>
                </c:pt>
                <c:pt idx="2">
                  <c:v>16</c:v>
                </c:pt>
                <c:pt idx="3">
                  <c:v>20</c:v>
                </c:pt>
                <c:pt idx="4">
                  <c:v>4</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partition the selected source table exactly; recorded cost includes all statuses. Do not infer a budget or savings.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on/before Due_Date is on time. Numerator 30 and denominator 48 are both source-derived. A different scope must be recalculated.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blank current owners are in backlog. HR_Officers table contains planning inputs, not approval or comprehensive policy/capacity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 decision without claiming one was made. The PowerPoint is a static snapshot; retain the interactive workbook and evidence register.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Lumina HR service portfolio - 30 September</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Closed 48 + Cancelled 12 + Backlog 60 = 120. Recorded cost S$35,827.50; this is not a budget or saving.</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v9.1 | Synthetic Lumina example | 2026-09-30 | All filters All | Slide1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50 of 60 backlog cases are overdue</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On-time closure rate = 30/48 = 62.5%. Overdue backlog: 50, using Due_Date &lt; 30 September 2026. Closed-only denominator, not all 120 cases.</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v9.1 | Synthetic Lumina example | 2026-09-30 | All filters All | Slide2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6 backlog cases need an assignment proposal</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Unassigned backlog: 6. Compare primary category and available hours across 8 synthetic HR officers. Current owners remain unchanged; specific suitable/approved allocations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Validate constraints before confirming an operational change.</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v9.1 | Synthetic Lumina example | 2026-09-30 | All filters All | Slide3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Decision requested: review the proposed priorities</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Requested decision: review and approve or revise the proposed recovery priorities and assignment checks. Decision owner, approval outcome and next review date UNKNOWN until supplied. No email sent and no source assignment changed.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Static presentation: verified snapshot, not an automatic live link.</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v9.1 | Synthetic Lumina example | 2026-09-30 | All filters All | Slide4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