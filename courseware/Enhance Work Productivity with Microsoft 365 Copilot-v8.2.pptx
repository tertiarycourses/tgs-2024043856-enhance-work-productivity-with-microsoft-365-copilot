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10.xml" ContentType="application/vnd.openxmlformats-officedocument.drawingml.chart+xml"/>
  <Override PartName="/ppt/charts/chart1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70" r:id="rId21"/>
    <p:sldId id="271" r:id="rId22"/>
    <p:sldId id="272" r:id="rId23"/>
    <p:sldId id="274" r:id="rId25"/>
    <p:sldId id="275" r:id="rId26"/>
    <p:sldId id="276" r:id="rId27"/>
    <p:sldId id="277" r:id="rId28"/>
    <p:sldId id="278" r:id="rId29"/>
    <p:sldId id="279" r:id="rId30"/>
    <p:sldId id="396" r:id="rId24"/>
    <p:sldId id="397" r:id="rId20"/>
    <p:sldId id="398" r:id="rId147"/>
    <p:sldId id="399" r:id="rId148"/>
    <p:sldId id="400" r:id="rId149"/>
    <p:sldId id="401" r:id="rId150"/>
    <p:sldId id="402" r:id="rId151"/>
    <p:sldId id="403" r:id="rId152"/>
    <p:sldId id="404" r:id="rId153"/>
    <p:sldId id="405" r:id="rId154"/>
    <p:sldId id="406" r:id="rId155"/>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76" r:id="rId127"/>
    <p:sldId id="377" r:id="rId128"/>
    <p:sldId id="378" r:id="rId129"/>
    <p:sldId id="379" r:id="rId130"/>
    <p:sldId id="380" r:id="rId131"/>
    <p:sldId id="381" r:id="rId132"/>
    <p:sldId id="382" r:id="rId13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24.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23.xml"/><Relationship Id="rId25" Type="http://schemas.openxmlformats.org/officeDocument/2006/relationships/slide" Target="slides/slide17.xml"/><Relationship Id="rId26" Type="http://schemas.openxmlformats.org/officeDocument/2006/relationships/slide" Target="slides/slide18.xml"/><Relationship Id="rId27" Type="http://schemas.openxmlformats.org/officeDocument/2006/relationships/slide" Target="slides/slide19.xml"/><Relationship Id="rId28" Type="http://schemas.openxmlformats.org/officeDocument/2006/relationships/slide" Target="slides/slide20.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34.xml"/><Relationship Id="rId32" Type="http://schemas.openxmlformats.org/officeDocument/2006/relationships/slide" Target="slides/slide35.xml"/><Relationship Id="rId33" Type="http://schemas.openxmlformats.org/officeDocument/2006/relationships/slide" Target="slides/slide36.xml"/><Relationship Id="rId34" Type="http://schemas.openxmlformats.org/officeDocument/2006/relationships/slide" Target="slides/slide37.xml"/><Relationship Id="rId35" Type="http://schemas.openxmlformats.org/officeDocument/2006/relationships/slide" Target="slides/slide38.xml"/><Relationship Id="rId36" Type="http://schemas.openxmlformats.org/officeDocument/2006/relationships/slide" Target="slides/slide39.xml"/><Relationship Id="rId37" Type="http://schemas.openxmlformats.org/officeDocument/2006/relationships/slide" Target="slides/slide40.xml"/><Relationship Id="rId38" Type="http://schemas.openxmlformats.org/officeDocument/2006/relationships/slide" Target="slides/slide41.xml"/><Relationship Id="rId39" Type="http://schemas.openxmlformats.org/officeDocument/2006/relationships/slide" Target="slides/slide42.xml"/><Relationship Id="rId40" Type="http://schemas.openxmlformats.org/officeDocument/2006/relationships/slide" Target="slides/slide43.xml"/><Relationship Id="rId41" Type="http://schemas.openxmlformats.org/officeDocument/2006/relationships/slide" Target="slides/slide44.xml"/><Relationship Id="rId42" Type="http://schemas.openxmlformats.org/officeDocument/2006/relationships/slide" Target="slides/slide45.xml"/><Relationship Id="rId43" Type="http://schemas.openxmlformats.org/officeDocument/2006/relationships/slide" Target="slides/slide46.xml"/><Relationship Id="rId44" Type="http://schemas.openxmlformats.org/officeDocument/2006/relationships/slide" Target="slides/slide47.xml"/><Relationship Id="rId45" Type="http://schemas.openxmlformats.org/officeDocument/2006/relationships/slide" Target="slides/slide48.xml"/><Relationship Id="rId46" Type="http://schemas.openxmlformats.org/officeDocument/2006/relationships/slide" Target="slides/slide49.xml"/><Relationship Id="rId47" Type="http://schemas.openxmlformats.org/officeDocument/2006/relationships/slide" Target="slides/slide50.xml"/><Relationship Id="rId48" Type="http://schemas.openxmlformats.org/officeDocument/2006/relationships/slide" Target="slides/slide51.xml"/><Relationship Id="rId49" Type="http://schemas.openxmlformats.org/officeDocument/2006/relationships/slide" Target="slides/slide52.xml"/><Relationship Id="rId50" Type="http://schemas.openxmlformats.org/officeDocument/2006/relationships/slide" Target="slides/slide53.xml"/><Relationship Id="rId51" Type="http://schemas.openxmlformats.org/officeDocument/2006/relationships/slide" Target="slides/slide54.xml"/><Relationship Id="rId52" Type="http://schemas.openxmlformats.org/officeDocument/2006/relationships/slide" Target="slides/slide55.xml"/><Relationship Id="rId53" Type="http://schemas.openxmlformats.org/officeDocument/2006/relationships/slide" Target="slides/slide56.xml"/><Relationship Id="rId54" Type="http://schemas.openxmlformats.org/officeDocument/2006/relationships/slide" Target="slides/slide57.xml"/><Relationship Id="rId55" Type="http://schemas.openxmlformats.org/officeDocument/2006/relationships/slide" Target="slides/slide58.xml"/><Relationship Id="rId56" Type="http://schemas.openxmlformats.org/officeDocument/2006/relationships/slide" Target="slides/slide59.xml"/><Relationship Id="rId57" Type="http://schemas.openxmlformats.org/officeDocument/2006/relationships/slide" Target="slides/slide60.xml"/><Relationship Id="rId58" Type="http://schemas.openxmlformats.org/officeDocument/2006/relationships/slide" Target="slides/slide61.xml"/><Relationship Id="rId59" Type="http://schemas.openxmlformats.org/officeDocument/2006/relationships/slide" Target="slides/slide62.xml"/><Relationship Id="rId60" Type="http://schemas.openxmlformats.org/officeDocument/2006/relationships/slide" Target="slides/slide63.xml"/><Relationship Id="rId61" Type="http://schemas.openxmlformats.org/officeDocument/2006/relationships/slide" Target="slides/slide64.xml"/><Relationship Id="rId62" Type="http://schemas.openxmlformats.org/officeDocument/2006/relationships/slide" Target="slides/slide65.xml"/><Relationship Id="rId63" Type="http://schemas.openxmlformats.org/officeDocument/2006/relationships/slide" Target="slides/slide66.xml"/><Relationship Id="rId64" Type="http://schemas.openxmlformats.org/officeDocument/2006/relationships/slide" Target="slides/slide67.xml"/><Relationship Id="rId65" Type="http://schemas.openxmlformats.org/officeDocument/2006/relationships/slide" Target="slides/slide68.xml"/><Relationship Id="rId66" Type="http://schemas.openxmlformats.org/officeDocument/2006/relationships/slide" Target="slides/slide69.xml"/><Relationship Id="rId67" Type="http://schemas.openxmlformats.org/officeDocument/2006/relationships/slide" Target="slides/slide70.xml"/><Relationship Id="rId68" Type="http://schemas.openxmlformats.org/officeDocument/2006/relationships/slide" Target="slides/slide71.xml"/><Relationship Id="rId69" Type="http://schemas.openxmlformats.org/officeDocument/2006/relationships/slide" Target="slides/slide72.xml"/><Relationship Id="rId70" Type="http://schemas.openxmlformats.org/officeDocument/2006/relationships/slide" Target="slides/slide73.xml"/><Relationship Id="rId71" Type="http://schemas.openxmlformats.org/officeDocument/2006/relationships/slide" Target="slides/slide74.xml"/><Relationship Id="rId72" Type="http://schemas.openxmlformats.org/officeDocument/2006/relationships/slide" Target="slides/slide75.xml"/><Relationship Id="rId73" Type="http://schemas.openxmlformats.org/officeDocument/2006/relationships/slide" Target="slides/slide76.xml"/><Relationship Id="rId74" Type="http://schemas.openxmlformats.org/officeDocument/2006/relationships/slide" Target="slides/slide77.xml"/><Relationship Id="rId75" Type="http://schemas.openxmlformats.org/officeDocument/2006/relationships/slide" Target="slides/slide78.xml"/><Relationship Id="rId76" Type="http://schemas.openxmlformats.org/officeDocument/2006/relationships/slide" Target="slides/slide79.xml"/><Relationship Id="rId77" Type="http://schemas.openxmlformats.org/officeDocument/2006/relationships/slide" Target="slides/slide80.xml"/><Relationship Id="rId78" Type="http://schemas.openxmlformats.org/officeDocument/2006/relationships/slide" Target="slides/slide81.xml"/><Relationship Id="rId79" Type="http://schemas.openxmlformats.org/officeDocument/2006/relationships/slide" Target="slides/slide82.xml"/><Relationship Id="rId80" Type="http://schemas.openxmlformats.org/officeDocument/2006/relationships/slide" Target="slides/slide83.xml"/><Relationship Id="rId81" Type="http://schemas.openxmlformats.org/officeDocument/2006/relationships/slide" Target="slides/slide84.xml"/><Relationship Id="rId82" Type="http://schemas.openxmlformats.org/officeDocument/2006/relationships/slide" Target="slides/slide85.xml"/><Relationship Id="rId83" Type="http://schemas.openxmlformats.org/officeDocument/2006/relationships/slide" Target="slides/slide86.xml"/><Relationship Id="rId84" Type="http://schemas.openxmlformats.org/officeDocument/2006/relationships/slide" Target="slides/slide87.xml"/><Relationship Id="rId85" Type="http://schemas.openxmlformats.org/officeDocument/2006/relationships/slide" Target="slides/slide88.xml"/><Relationship Id="rId86" Type="http://schemas.openxmlformats.org/officeDocument/2006/relationships/slide" Target="slides/slide89.xml"/><Relationship Id="rId87" Type="http://schemas.openxmlformats.org/officeDocument/2006/relationships/slide" Target="slides/slide90.xml"/><Relationship Id="rId88" Type="http://schemas.openxmlformats.org/officeDocument/2006/relationships/slide" Target="slides/slide91.xml"/><Relationship Id="rId89" Type="http://schemas.openxmlformats.org/officeDocument/2006/relationships/slide" Target="slides/slide92.xml"/><Relationship Id="rId90" Type="http://schemas.openxmlformats.org/officeDocument/2006/relationships/slide" Target="slides/slide93.xml"/><Relationship Id="rId91" Type="http://schemas.openxmlformats.org/officeDocument/2006/relationships/slide" Target="slides/slide94.xml"/><Relationship Id="rId92" Type="http://schemas.openxmlformats.org/officeDocument/2006/relationships/slide" Target="slides/slide95.xml"/><Relationship Id="rId93" Type="http://schemas.openxmlformats.org/officeDocument/2006/relationships/slide" Target="slides/slide96.xml"/><Relationship Id="rId94" Type="http://schemas.openxmlformats.org/officeDocument/2006/relationships/slide" Target="slides/slide97.xml"/><Relationship Id="rId95" Type="http://schemas.openxmlformats.org/officeDocument/2006/relationships/slide" Target="slides/slide98.xml"/><Relationship Id="rId96" Type="http://schemas.openxmlformats.org/officeDocument/2006/relationships/slide" Target="slides/slide99.xml"/><Relationship Id="rId97" Type="http://schemas.openxmlformats.org/officeDocument/2006/relationships/slide" Target="slides/slide100.xml"/><Relationship Id="rId98" Type="http://schemas.openxmlformats.org/officeDocument/2006/relationships/slide" Target="slides/slide101.xml"/><Relationship Id="rId99" Type="http://schemas.openxmlformats.org/officeDocument/2006/relationships/slide" Target="slides/slide102.xml"/><Relationship Id="rId100" Type="http://schemas.openxmlformats.org/officeDocument/2006/relationships/slide" Target="slides/slide103.xml"/><Relationship Id="rId101" Type="http://schemas.openxmlformats.org/officeDocument/2006/relationships/slide" Target="slides/slide104.xml"/><Relationship Id="rId102" Type="http://schemas.openxmlformats.org/officeDocument/2006/relationships/slide" Target="slides/slide105.xml"/><Relationship Id="rId103" Type="http://schemas.openxmlformats.org/officeDocument/2006/relationships/slide" Target="slides/slide106.xml"/><Relationship Id="rId104" Type="http://schemas.openxmlformats.org/officeDocument/2006/relationships/slide" Target="slides/slide107.xml"/><Relationship Id="rId105" Type="http://schemas.openxmlformats.org/officeDocument/2006/relationships/slide" Target="slides/slide108.xml"/><Relationship Id="rId106" Type="http://schemas.openxmlformats.org/officeDocument/2006/relationships/slide" Target="slides/slide109.xml"/><Relationship Id="rId107" Type="http://schemas.openxmlformats.org/officeDocument/2006/relationships/slide" Target="slides/slide110.xml"/><Relationship Id="rId108" Type="http://schemas.openxmlformats.org/officeDocument/2006/relationships/slide" Target="slides/slide111.xml"/><Relationship Id="rId109" Type="http://schemas.openxmlformats.org/officeDocument/2006/relationships/slide" Target="slides/slide112.xml"/><Relationship Id="rId110" Type="http://schemas.openxmlformats.org/officeDocument/2006/relationships/slide" Target="slides/slide113.xml"/><Relationship Id="rId111" Type="http://schemas.openxmlformats.org/officeDocument/2006/relationships/slide" Target="slides/slide114.xml"/><Relationship Id="rId112" Type="http://schemas.openxmlformats.org/officeDocument/2006/relationships/slide" Target="slides/slide115.xml"/><Relationship Id="rId113" Type="http://schemas.openxmlformats.org/officeDocument/2006/relationships/slide" Target="slides/slide116.xml"/><Relationship Id="rId114" Type="http://schemas.openxmlformats.org/officeDocument/2006/relationships/slide" Target="slides/slide117.xml"/><Relationship Id="rId115" Type="http://schemas.openxmlformats.org/officeDocument/2006/relationships/slide" Target="slides/slide118.xml"/><Relationship Id="rId116" Type="http://schemas.openxmlformats.org/officeDocument/2006/relationships/slide" Target="slides/slide119.xml"/><Relationship Id="rId117" Type="http://schemas.openxmlformats.org/officeDocument/2006/relationships/slide" Target="slides/slide120.xml"/><Relationship Id="rId118" Type="http://schemas.openxmlformats.org/officeDocument/2006/relationships/slide" Target="slides/slide121.xml"/><Relationship Id="rId119" Type="http://schemas.openxmlformats.org/officeDocument/2006/relationships/slide" Target="slides/slide122.xml"/><Relationship Id="rId120" Type="http://schemas.openxmlformats.org/officeDocument/2006/relationships/slide" Target="slides/slide123.xml"/><Relationship Id="rId121" Type="http://schemas.openxmlformats.org/officeDocument/2006/relationships/slide" Target="slides/slide124.xml"/><Relationship Id="rId122" Type="http://schemas.openxmlformats.org/officeDocument/2006/relationships/slide" Target="slides/slide125.xml"/><Relationship Id="rId123" Type="http://schemas.openxmlformats.org/officeDocument/2006/relationships/slide" Target="slides/slide126.xml"/><Relationship Id="rId124" Type="http://schemas.openxmlformats.org/officeDocument/2006/relationships/slide" Target="slides/slide127.xml"/><Relationship Id="rId125" Type="http://schemas.openxmlformats.org/officeDocument/2006/relationships/slide" Target="slides/slide128.xml"/><Relationship Id="rId126" Type="http://schemas.openxmlformats.org/officeDocument/2006/relationships/slide" Target="slides/slide129.xml"/><Relationship Id="rId127" Type="http://schemas.openxmlformats.org/officeDocument/2006/relationships/slide" Target="slides/slide143.xml"/><Relationship Id="rId128" Type="http://schemas.openxmlformats.org/officeDocument/2006/relationships/slide" Target="slides/slide144.xml"/><Relationship Id="rId129" Type="http://schemas.openxmlformats.org/officeDocument/2006/relationships/slide" Target="slides/slide145.xml"/><Relationship Id="rId130" Type="http://schemas.openxmlformats.org/officeDocument/2006/relationships/slide" Target="slides/slide146.xml"/><Relationship Id="rId131" Type="http://schemas.openxmlformats.org/officeDocument/2006/relationships/slide" Target="slides/slide147.xml"/><Relationship Id="rId132" Type="http://schemas.openxmlformats.org/officeDocument/2006/relationships/slide" Target="slides/slide148.xml"/><Relationship Id="rId133" Type="http://schemas.openxmlformats.org/officeDocument/2006/relationships/slide" Target="slides/slide149.xml"/><Relationship Id="rId134" Type="http://schemas.openxmlformats.org/officeDocument/2006/relationships/slide" Target="slides/slide130.xml"/><Relationship Id="rId135" Type="http://schemas.openxmlformats.org/officeDocument/2006/relationships/slide" Target="slides/slide131.xml"/><Relationship Id="rId136" Type="http://schemas.openxmlformats.org/officeDocument/2006/relationships/slide" Target="slides/slide132.xml"/><Relationship Id="rId137" Type="http://schemas.openxmlformats.org/officeDocument/2006/relationships/slide" Target="slides/slide133.xml"/><Relationship Id="rId138" Type="http://schemas.openxmlformats.org/officeDocument/2006/relationships/slide" Target="slides/slide134.xml"/><Relationship Id="rId139" Type="http://schemas.openxmlformats.org/officeDocument/2006/relationships/slide" Target="slides/slide135.xml"/><Relationship Id="rId140" Type="http://schemas.openxmlformats.org/officeDocument/2006/relationships/slide" Target="slides/slide136.xml"/><Relationship Id="rId141" Type="http://schemas.openxmlformats.org/officeDocument/2006/relationships/slide" Target="slides/slide137.xml"/><Relationship Id="rId142" Type="http://schemas.openxmlformats.org/officeDocument/2006/relationships/slide" Target="slides/slide138.xml"/><Relationship Id="rId143" Type="http://schemas.openxmlformats.org/officeDocument/2006/relationships/slide" Target="slides/slide139.xml"/><Relationship Id="rId144" Type="http://schemas.openxmlformats.org/officeDocument/2006/relationships/slide" Target="slides/slide140.xml"/><Relationship Id="rId145" Type="http://schemas.openxmlformats.org/officeDocument/2006/relationships/slide" Target="slides/slide141.xml"/><Relationship Id="rId146" Type="http://schemas.openxmlformats.org/officeDocument/2006/relationships/slide" Target="slides/slide142.xml"/><Relationship Id="rId147" Type="http://schemas.openxmlformats.org/officeDocument/2006/relationships/slide" Target="slides/slide25.xml"/><Relationship Id="rId148" Type="http://schemas.openxmlformats.org/officeDocument/2006/relationships/slide" Target="slides/slide26.xml"/><Relationship Id="rId149" Type="http://schemas.openxmlformats.org/officeDocument/2006/relationships/slide" Target="slides/slide27.xml"/><Relationship Id="rId150" Type="http://schemas.openxmlformats.org/officeDocument/2006/relationships/slide" Target="slides/slide28.xml"/><Relationship Id="rId151" Type="http://schemas.openxmlformats.org/officeDocument/2006/relationships/slide" Target="slides/slide29.xml"/><Relationship Id="rId152" Type="http://schemas.openxmlformats.org/officeDocument/2006/relationships/slide" Target="slides/slide30.xml"/><Relationship Id="rId153" Type="http://schemas.openxmlformats.org/officeDocument/2006/relationships/slide" Target="slides/slide31.xml"/><Relationship Id="rId154" Type="http://schemas.openxmlformats.org/officeDocument/2006/relationships/slide" Target="slides/slide32.xml"/><Relationship Id="rId155" Type="http://schemas.openxmlformats.org/officeDocument/2006/relationships/slide" Target="slides/slide3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Sheet7.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Sheet8.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Sheet9.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Sheet10.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Sheet1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Ready %</c:v>
                </c:pt>
              </c:strCache>
            </c:strRef>
          </c:tx>
          <c:spPr>
            <a:solidFill>
              <a:srgbClr val="1F6FEB"/>
            </a:solidFill>
            <a:ln>
              <a:solidFill>
                <a:srgbClr val="1F6FEB"/>
              </a:solidFill>
            </a:ln>
          </c:spPr>
          <c:cat>
            <c:strRef>
              <c:f>Sheet1!$A$2:$A$6</c:f>
              <c:strCache>
                <c:ptCount val="5"/>
                <c:pt idx="0">
                  <c:v>Licensing</c:v>
                </c:pt>
                <c:pt idx="1">
                  <c:v>Data</c:v>
                </c:pt>
                <c:pt idx="2">
                  <c:v>Process</c:v>
                </c:pt>
                <c:pt idx="3">
                  <c:v>Skills</c:v>
                </c:pt>
                <c:pt idx="4">
                  <c:v>Governance</c:v>
                </c:pt>
              </c:strCache>
            </c:strRef>
          </c:cat>
          <c:val>
            <c:numRef>
              <c:f>Sheet1!$B$2:$B$6</c:f>
              <c:numCache>
                <c:formatCode>General</c:formatCode>
                <c:ptCount val="5"/>
                <c:pt idx="0">
                  <c:v>92</c:v>
                </c:pt>
                <c:pt idx="1">
                  <c:v>68</c:v>
                </c:pt>
                <c:pt idx="2">
                  <c:v>55</c:v>
                </c:pt>
                <c:pt idx="3">
                  <c:v>47</c:v>
                </c:pt>
                <c:pt idx="4">
                  <c:v>61</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Verified claims</c:v>
                </c:pt>
              </c:strCache>
            </c:strRef>
          </c:tx>
          <c:spPr>
            <a:solidFill>
              <a:srgbClr val="1F6FEB"/>
            </a:solidFill>
            <a:ln>
              <a:solidFill>
                <a:srgbClr val="1F6FEB"/>
              </a:solidFill>
            </a:ln>
          </c:spPr>
          <c:cat>
            <c:strRef>
              <c:f>Sheet1!$A$2:$A$5</c:f>
              <c:strCache>
                <c:ptCount val="4"/>
                <c:pt idx="0">
                  <c:v>Draft</c:v>
                </c:pt>
                <c:pt idx="1">
                  <c:v>Source check</c:v>
                </c:pt>
                <c:pt idx="2">
                  <c:v>Correction</c:v>
                </c:pt>
                <c:pt idx="3">
                  <c:v>Approval</c:v>
                </c:pt>
              </c:strCache>
            </c:strRef>
          </c:cat>
          <c:val>
            <c:numRef>
              <c:f>Sheet1!$B$2:$B$5</c:f>
              <c:numCache>
                <c:formatCode>General</c:formatCode>
                <c:ptCount val="4"/>
                <c:pt idx="0">
                  <c:v>58</c:v>
                </c:pt>
                <c:pt idx="1">
                  <c:v>74</c:v>
                </c:pt>
                <c:pt idx="2">
                  <c:v>91</c:v>
                </c:pt>
                <c:pt idx="3">
                  <c:v>100</c:v>
                </c:pt>
              </c:numCache>
            </c:numRef>
          </c:val>
          <c:smooth val="0"/>
        </c:ser>
        <c:ser>
          <c:idx val="1"/>
          <c:order val="1"/>
          <c:tx>
            <c:strRef>
              <c:f>Sheet1!$C$1</c:f>
              <c:strCache>
                <c:ptCount val="1"/>
                <c:pt idx="0">
                  <c:v>Unsupported claims</c:v>
                </c:pt>
              </c:strCache>
            </c:strRef>
          </c:tx>
          <c:spPr>
            <a:solidFill>
              <a:srgbClr val="10B981"/>
            </a:solidFill>
            <a:ln>
              <a:solidFill>
                <a:srgbClr val="10B981"/>
              </a:solidFill>
            </a:ln>
          </c:spPr>
          <c:cat>
            <c:strRef>
              <c:f>Sheet1!$A$2:$A$5</c:f>
              <c:strCache>
                <c:ptCount val="4"/>
                <c:pt idx="0">
                  <c:v>Draft</c:v>
                </c:pt>
                <c:pt idx="1">
                  <c:v>Source check</c:v>
                </c:pt>
                <c:pt idx="2">
                  <c:v>Correction</c:v>
                </c:pt>
                <c:pt idx="3">
                  <c:v>Approval</c:v>
                </c:pt>
              </c:strCache>
            </c:strRef>
          </c:cat>
          <c:val>
            <c:numRef>
              <c:f>Sheet1!$C$2:$C$5</c:f>
              <c:numCache>
                <c:formatCode>General</c:formatCode>
                <c:ptCount val="4"/>
                <c:pt idx="0">
                  <c:v>28</c:v>
                </c:pt>
                <c:pt idx="1">
                  <c:v>18</c:v>
                </c:pt>
                <c:pt idx="2">
                  <c:v>5</c:v>
                </c:pt>
                <c:pt idx="3">
                  <c:v>0</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rial"/>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txPr>
          <a:bodyPr/>
          <a:lstStyle/>
          <a:p>
            <a:pPr>
              <a:defRPr sz="9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Revenue $k</c:v>
                </c:pt>
              </c:strCache>
            </c:strRef>
          </c:tx>
          <c:spPr>
            <a:solidFill>
              <a:srgbClr val="1F6FEB"/>
            </a:solidFill>
            <a:ln>
              <a:solidFill>
                <a:srgbClr val="1F6FEB"/>
              </a:solidFill>
            </a:ln>
          </c:spPr>
          <c:cat>
            <c:strRef>
              <c:f>Sheet1!$A$2:$A$7</c:f>
              <c:strCache>
                <c:ptCount val="6"/>
                <c:pt idx="0">
                  <c:v>Jul</c:v>
                </c:pt>
                <c:pt idx="1">
                  <c:v>Aug</c:v>
                </c:pt>
                <c:pt idx="2">
                  <c:v>Sep</c:v>
                </c:pt>
                <c:pt idx="3">
                  <c:v>Oct</c:v>
                </c:pt>
                <c:pt idx="4">
                  <c:v>Nov</c:v>
                </c:pt>
                <c:pt idx="5">
                  <c:v>Dec</c:v>
                </c:pt>
              </c:strCache>
            </c:strRef>
          </c:cat>
          <c:val>
            <c:numRef>
              <c:f>Sheet1!$B$2:$B$7</c:f>
              <c:numCache>
                <c:formatCode>General</c:formatCode>
                <c:ptCount val="6"/>
                <c:pt idx="0">
                  <c:v>420</c:v>
                </c:pt>
                <c:pt idx="1">
                  <c:v>445</c:v>
                </c:pt>
                <c:pt idx="2">
                  <c:v>472</c:v>
                </c:pt>
                <c:pt idx="3">
                  <c:v>508</c:v>
                </c:pt>
                <c:pt idx="4">
                  <c:v>535</c:v>
                </c:pt>
                <c:pt idx="5">
                  <c:v>562</c:v>
                </c:pt>
              </c:numCache>
            </c:numRef>
          </c:val>
          <c:smooth val="0"/>
        </c:ser>
        <c:ser>
          <c:idx val="1"/>
          <c:order val="1"/>
          <c:tx>
            <c:strRef>
              <c:f>Sheet1!$C$1</c:f>
              <c:strCache>
                <c:ptCount val="1"/>
                <c:pt idx="0">
                  <c:v>Capacity index</c:v>
                </c:pt>
              </c:strCache>
            </c:strRef>
          </c:tx>
          <c:spPr>
            <a:solidFill>
              <a:srgbClr val="10B981"/>
            </a:solidFill>
            <a:ln>
              <a:solidFill>
                <a:srgbClr val="10B981"/>
              </a:solidFill>
            </a:ln>
          </c:spPr>
          <c:cat>
            <c:strRef>
              <c:f>Sheet1!$A$2:$A$7</c:f>
              <c:strCache>
                <c:ptCount val="6"/>
                <c:pt idx="0">
                  <c:v>Jul</c:v>
                </c:pt>
                <c:pt idx="1">
                  <c:v>Aug</c:v>
                </c:pt>
                <c:pt idx="2">
                  <c:v>Sep</c:v>
                </c:pt>
                <c:pt idx="3">
                  <c:v>Oct</c:v>
                </c:pt>
                <c:pt idx="4">
                  <c:v>Nov</c:v>
                </c:pt>
                <c:pt idx="5">
                  <c:v>Dec</c:v>
                </c:pt>
              </c:strCache>
            </c:strRef>
          </c:cat>
          <c:val>
            <c:numRef>
              <c:f>Sheet1!$C$2:$C$7</c:f>
              <c:numCache>
                <c:formatCode>General</c:formatCode>
                <c:ptCount val="6"/>
                <c:pt idx="0">
                  <c:v>72</c:v>
                </c:pt>
                <c:pt idx="1">
                  <c:v>78</c:v>
                </c:pt>
                <c:pt idx="2">
                  <c:v>84</c:v>
                </c:pt>
                <c:pt idx="3">
                  <c:v>91</c:v>
                </c:pt>
                <c:pt idx="4">
                  <c:v>98</c:v>
                </c:pt>
                <c:pt idx="5">
                  <c:v>107</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rial"/>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txPr>
          <a:bodyPr/>
          <a:lstStyle/>
          <a:p>
            <a:pPr>
              <a:defRPr sz="9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Margin $k</c:v>
                </c:pt>
              </c:strCache>
            </c:strRef>
          </c:tx>
          <c:spPr>
            <a:solidFill>
              <a:srgbClr val="1F6FEB"/>
            </a:solidFill>
            <a:ln>
              <a:solidFill>
                <a:srgbClr val="1F6FEB"/>
              </a:solidFill>
            </a:ln>
          </c:spPr>
          <c:cat>
            <c:strRef>
              <c:f>Sheet1!$A$2:$A$6</c:f>
              <c:strCache>
                <c:ptCount val="5"/>
                <c:pt idx="0">
                  <c:v>Web</c:v>
                </c:pt>
                <c:pt idx="1">
                  <c:v>Partner</c:v>
                </c:pt>
                <c:pt idx="2">
                  <c:v>Retail</c:v>
                </c:pt>
                <c:pt idx="3">
                  <c:v>Events</c:v>
                </c:pt>
                <c:pt idx="4">
                  <c:v>Other</c:v>
                </c:pt>
              </c:strCache>
            </c:strRef>
          </c:cat>
          <c:val>
            <c:numRef>
              <c:f>Sheet1!$B$2:$B$6</c:f>
              <c:numCache>
                <c:formatCode>General</c:formatCode>
                <c:ptCount val="5"/>
                <c:pt idx="0">
                  <c:v>168</c:v>
                </c:pt>
                <c:pt idx="1">
                  <c:v>126</c:v>
                </c:pt>
                <c:pt idx="2">
                  <c:v>94</c:v>
                </c:pt>
                <c:pt idx="3">
                  <c:v>47</c:v>
                </c:pt>
                <c:pt idx="4">
                  <c:v>22</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Messages</c:v>
                </c:pt>
              </c:strCache>
            </c:strRef>
          </c:tx>
          <c:spPr>
            <a:solidFill>
              <a:srgbClr val="1F6FEB"/>
            </a:solidFill>
            <a:ln>
              <a:solidFill>
                <a:srgbClr val="1F6FEB"/>
              </a:solidFill>
            </a:ln>
          </c:spPr>
          <c:cat>
            <c:strRef>
              <c:f>Sheet1!$A$2:$A$5</c:f>
              <c:strCache>
                <c:ptCount val="4"/>
                <c:pt idx="0">
                  <c:v>Critical</c:v>
                </c:pt>
                <c:pt idx="1">
                  <c:v>High</c:v>
                </c:pt>
                <c:pt idx="2">
                  <c:v>Normal</c:v>
                </c:pt>
                <c:pt idx="3">
                  <c:v>Low</c:v>
                </c:pt>
              </c:strCache>
            </c:strRef>
          </c:cat>
          <c:val>
            <c:numRef>
              <c:f>Sheet1!$B$2:$B$5</c:f>
              <c:numCache>
                <c:formatCode>General</c:formatCode>
                <c:ptCount val="4"/>
                <c:pt idx="0">
                  <c:v>4</c:v>
                </c:pt>
                <c:pt idx="1">
                  <c:v>11</c:v>
                </c:pt>
                <c:pt idx="2">
                  <c:v>23</c:v>
                </c:pt>
                <c:pt idx="3">
                  <c:v>9</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Action closure %</c:v>
                </c:pt>
              </c:strCache>
            </c:strRef>
          </c:tx>
          <c:spPr>
            <a:solidFill>
              <a:srgbClr val="1F6FEB"/>
            </a:solidFill>
            <a:ln>
              <a:solidFill>
                <a:srgbClr val="1F6FEB"/>
              </a:solidFill>
            </a:ln>
          </c:spPr>
          <c:cat>
            <c:strRef>
              <c:f>Sheet1!$A$2:$A$5</c:f>
              <c:strCache>
                <c:ptCount val="4"/>
                <c:pt idx="0">
                  <c:v>Week 1</c:v>
                </c:pt>
                <c:pt idx="1">
                  <c:v>Week 2</c:v>
                </c:pt>
                <c:pt idx="2">
                  <c:v>Week 3</c:v>
                </c:pt>
                <c:pt idx="3">
                  <c:v>Week 4</c:v>
                </c:pt>
              </c:strCache>
            </c:strRef>
          </c:cat>
          <c:val>
            <c:numRef>
              <c:f>Sheet1!$B$2:$B$5</c:f>
              <c:numCache>
                <c:formatCode>General</c:formatCode>
                <c:ptCount val="4"/>
                <c:pt idx="0">
                  <c:v>38</c:v>
                </c:pt>
                <c:pt idx="1">
                  <c:v>57</c:v>
                </c:pt>
                <c:pt idx="2">
                  <c:v>76</c:v>
                </c:pt>
                <c:pt idx="3">
                  <c:v>91</c:v>
                </c:pt>
              </c:numCache>
            </c:numRef>
          </c:val>
          <c:smooth val="0"/>
        </c:ser>
        <c:ser>
          <c:idx val="1"/>
          <c:order val="1"/>
          <c:tx>
            <c:strRef>
              <c:f>Sheet1!$C$1</c:f>
              <c:strCache>
                <c:ptCount val="1"/>
                <c:pt idx="0">
                  <c:v>Unowned actions</c:v>
                </c:pt>
              </c:strCache>
            </c:strRef>
          </c:tx>
          <c:spPr>
            <a:solidFill>
              <a:srgbClr val="10B981"/>
            </a:solidFill>
            <a:ln>
              <a:solidFill>
                <a:srgbClr val="10B981"/>
              </a:solidFill>
            </a:ln>
          </c:spPr>
          <c:cat>
            <c:strRef>
              <c:f>Sheet1!$A$2:$A$5</c:f>
              <c:strCache>
                <c:ptCount val="4"/>
                <c:pt idx="0">
                  <c:v>Week 1</c:v>
                </c:pt>
                <c:pt idx="1">
                  <c:v>Week 2</c:v>
                </c:pt>
                <c:pt idx="2">
                  <c:v>Week 3</c:v>
                </c:pt>
                <c:pt idx="3">
                  <c:v>Week 4</c:v>
                </c:pt>
              </c:strCache>
            </c:strRef>
          </c:cat>
          <c:val>
            <c:numRef>
              <c:f>Sheet1!$C$2:$C$5</c:f>
              <c:numCache>
                <c:formatCode>General</c:formatCode>
                <c:ptCount val="4"/>
                <c:pt idx="0">
                  <c:v>12</c:v>
                </c:pt>
                <c:pt idx="1">
                  <c:v>8</c:v>
                </c:pt>
                <c:pt idx="2">
                  <c:v>4</c:v>
                </c:pt>
                <c:pt idx="3">
                  <c:v>1</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rial"/>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txPr>
          <a:bodyPr/>
          <a:lstStyle/>
          <a:p>
            <a:pPr>
              <a:defRPr sz="9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Cases</c:v>
                </c:pt>
              </c:strCache>
            </c:strRef>
          </c:tx>
          <c:spPr>
            <a:solidFill>
              <a:srgbClr val="1F6FEB"/>
            </a:solidFill>
            <a:ln>
              <a:solidFill>
                <a:srgbClr val="1F6FEB"/>
              </a:solidFill>
            </a:ln>
          </c:spPr>
          <c:cat>
            <c:strRef>
              <c:f>Sheet1!$A$2:$A$7</c:f>
              <c:strCache>
                <c:ptCount val="6"/>
                <c:pt idx="0">
                  <c:v>Intake</c:v>
                </c:pt>
                <c:pt idx="1">
                  <c:v>Valid</c:v>
                </c:pt>
                <c:pt idx="2">
                  <c:v>Routed</c:v>
                </c:pt>
                <c:pt idx="3">
                  <c:v>Analysed</c:v>
                </c:pt>
                <c:pt idx="4">
                  <c:v>Approved</c:v>
                </c:pt>
                <c:pt idx="5">
                  <c:v>Drafted</c:v>
                </c:pt>
              </c:strCache>
            </c:strRef>
          </c:cat>
          <c:val>
            <c:numRef>
              <c:f>Sheet1!$B$2:$B$7</c:f>
              <c:numCache>
                <c:formatCode>General</c:formatCode>
                <c:ptCount val="6"/>
                <c:pt idx="0">
                  <c:v>100</c:v>
                </c:pt>
                <c:pt idx="1">
                  <c:v>84</c:v>
                </c:pt>
                <c:pt idx="2">
                  <c:v>79</c:v>
                </c:pt>
                <c:pt idx="3">
                  <c:v>66</c:v>
                </c:pt>
                <c:pt idx="4">
                  <c:v>48</c:v>
                </c:pt>
                <c:pt idx="5">
                  <c:v>46</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Cycle time h</c:v>
                </c:pt>
              </c:strCache>
            </c:strRef>
          </c:tx>
          <c:spPr>
            <a:solidFill>
              <a:srgbClr val="1F6FEB"/>
            </a:solidFill>
            <a:ln>
              <a:solidFill>
                <a:srgbClr val="1F6FEB"/>
              </a:solidFill>
            </a:ln>
          </c:spPr>
          <c:cat>
            <c:strRef>
              <c:f>Sheet1!$A$2:$A$5</c:f>
              <c:strCache>
                <c:ptCount val="4"/>
                <c:pt idx="0">
                  <c:v>Pilot 1</c:v>
                </c:pt>
                <c:pt idx="1">
                  <c:v>Pilot 2</c:v>
                </c:pt>
                <c:pt idx="2">
                  <c:v>Pilot 3</c:v>
                </c:pt>
                <c:pt idx="3">
                  <c:v>Pilot 4</c:v>
                </c:pt>
              </c:strCache>
            </c:strRef>
          </c:cat>
          <c:val>
            <c:numRef>
              <c:f>Sheet1!$B$2:$B$5</c:f>
              <c:numCache>
                <c:formatCode>General</c:formatCode>
                <c:ptCount val="4"/>
                <c:pt idx="0">
                  <c:v>42</c:v>
                </c:pt>
                <c:pt idx="1">
                  <c:v>31</c:v>
                </c:pt>
                <c:pt idx="2">
                  <c:v>24</c:v>
                </c:pt>
                <c:pt idx="3">
                  <c:v>19</c:v>
                </c:pt>
              </c:numCache>
            </c:numRef>
          </c:val>
          <c:smooth val="0"/>
        </c:ser>
        <c:ser>
          <c:idx val="1"/>
          <c:order val="1"/>
          <c:tx>
            <c:strRef>
              <c:f>Sheet1!$C$1</c:f>
              <c:strCache>
                <c:ptCount val="1"/>
                <c:pt idx="0">
                  <c:v>Exception %</c:v>
                </c:pt>
              </c:strCache>
            </c:strRef>
          </c:tx>
          <c:spPr>
            <a:solidFill>
              <a:srgbClr val="10B981"/>
            </a:solidFill>
            <a:ln>
              <a:solidFill>
                <a:srgbClr val="10B981"/>
              </a:solidFill>
            </a:ln>
          </c:spPr>
          <c:cat>
            <c:strRef>
              <c:f>Sheet1!$A$2:$A$5</c:f>
              <c:strCache>
                <c:ptCount val="4"/>
                <c:pt idx="0">
                  <c:v>Pilot 1</c:v>
                </c:pt>
                <c:pt idx="1">
                  <c:v>Pilot 2</c:v>
                </c:pt>
                <c:pt idx="2">
                  <c:v>Pilot 3</c:v>
                </c:pt>
                <c:pt idx="3">
                  <c:v>Pilot 4</c:v>
                </c:pt>
              </c:strCache>
            </c:strRef>
          </c:cat>
          <c:val>
            <c:numRef>
              <c:f>Sheet1!$C$2:$C$5</c:f>
              <c:numCache>
                <c:formatCode>General</c:formatCode>
                <c:ptCount val="4"/>
                <c:pt idx="0">
                  <c:v>29</c:v>
                </c:pt>
                <c:pt idx="1">
                  <c:v>23</c:v>
                </c:pt>
                <c:pt idx="2">
                  <c:v>16</c:v>
                </c:pt>
                <c:pt idx="3">
                  <c:v>11</c:v>
                </c:pt>
              </c:numCache>
            </c:numRef>
          </c:val>
          <c:smooth val="0"/>
        </c:ser>
        <c:ser>
          <c:idx val="2"/>
          <c:order val="2"/>
          <c:tx>
            <c:strRef>
              <c:f>Sheet1!$D$1</c:f>
              <c:strCache>
                <c:ptCount val="1"/>
                <c:pt idx="0">
                  <c:v>Override %</c:v>
                </c:pt>
              </c:strCache>
            </c:strRef>
          </c:tx>
          <c:spPr>
            <a:solidFill>
              <a:srgbClr val="7C3AED"/>
            </a:solidFill>
            <a:ln>
              <a:solidFill>
                <a:srgbClr val="7C3AED"/>
              </a:solidFill>
            </a:ln>
          </c:spPr>
          <c:cat>
            <c:strRef>
              <c:f>Sheet1!$A$2:$A$5</c:f>
              <c:strCache>
                <c:ptCount val="4"/>
                <c:pt idx="0">
                  <c:v>Pilot 1</c:v>
                </c:pt>
                <c:pt idx="1">
                  <c:v>Pilot 2</c:v>
                </c:pt>
                <c:pt idx="2">
                  <c:v>Pilot 3</c:v>
                </c:pt>
                <c:pt idx="3">
                  <c:v>Pilot 4</c:v>
                </c:pt>
              </c:strCache>
            </c:strRef>
          </c:cat>
          <c:val>
            <c:numRef>
              <c:f>Sheet1!$D$2:$D$5</c:f>
              <c:numCache>
                <c:formatCode>General</c:formatCode>
                <c:ptCount val="4"/>
                <c:pt idx="0">
                  <c:v>21</c:v>
                </c:pt>
                <c:pt idx="1">
                  <c:v>17</c:v>
                </c:pt>
                <c:pt idx="2">
                  <c:v>12</c:v>
                </c:pt>
                <c:pt idx="3">
                  <c:v>9</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000">
                <a:latin typeface="Arial"/>
              </a:defRPr>
            </a:pPr>
          </a:p>
        </c:txPr>
        <c:crossAx val="2140495176"/>
        <c:crosses val="autoZero"/>
        <c:auto val="1"/>
        <c:lblAlgn val="ctr"/>
        <c:lblOffset val="100"/>
        <c:noMultiLvlLbl val="0"/>
      </c:catAx>
      <c:valAx>
        <c:axId val="2140495176"/>
        <c:scaling/>
        <c:delete val="0"/>
        <c:axPos val="l"/>
        <c:majorGridlines>
          <c:spPr>
            <a:ln>
              <a:solidFill>
                <a:srgbClr val="E2E8F0"/>
              </a:solidFill>
            </a:ln>
          </c:spPr>
        </c:majorGridlines>
        <c:majorTickMark val="out"/>
        <c:minorTickMark val="none"/>
        <c:tickLblPos val="nextTo"/>
        <c:txPr>
          <a:bodyPr/>
          <a:lstStyle/>
          <a:p>
            <a:pPr>
              <a:defRPr sz="900">
                <a:latin typeface="Arial"/>
              </a:defRPr>
            </a:pPr>
          </a:p>
        </c:txPr>
        <c:crossAx val="2118791784"/>
        <c:crosses val="autoZero"/>
      </c:valAx>
    </c:plotArea>
    <c:legend>
      <c:legendPos val="b"/>
      <c:layout/>
      <c:overlay val="0"/>
    </c:legend>
    <c:plotVisOnly val="1"/>
    <c:dispBlanksAs val="gap"/>
    <c:showDLblsOverMax val="0"/>
  </c:chart>
  <c:txPr>
    <a:bodyPr/>
    <a:lstStyle/>
    <a:p>
      <a:pPr>
        <a:defRPr sz="1800"/>
      </a:pPr>
      <a:endParaRPr lang="en-US"/>
    </a:p>
  </c:tx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Revenue SGD</c:v>
                </c:pt>
              </c:strCache>
            </c:strRef>
          </c:tx>
          <c:spPr>
            <a:solidFill>
              <a:srgbClr val="1F6FEB"/>
            </a:solidFill>
            <a:ln>
              <a:solidFill>
                <a:srgbClr val="1F6FEB"/>
              </a:solidFill>
            </a:ln>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90150</c:v>
                </c:pt>
                <c:pt idx="1">
                  <c:v>145565</c:v>
                </c:pt>
                <c:pt idx="2">
                  <c:v>130880</c:v>
                </c:pt>
                <c:pt idx="3">
                  <c:v>189070</c:v>
                </c:pt>
                <c:pt idx="4">
                  <c:v>159920</c:v>
                </c:pt>
                <c:pt idx="5">
                  <c:v>217705</c:v>
                </c:pt>
              </c:numCache>
            </c:numRef>
          </c:val>
        </c:ser>
        <c:ser>
          <c:idx val="1"/>
          <c:order val="1"/>
          <c:tx>
            <c:strRef>
              <c:f>Sheet1!$C$1</c:f>
              <c:strCache>
                <c:ptCount val="1"/>
                <c:pt idx="0">
                  <c:v>Direct costs SGD</c:v>
                </c:pt>
              </c:strCache>
            </c:strRef>
          </c:tx>
          <c:spPr>
            <a:solidFill>
              <a:srgbClr val="10B981"/>
            </a:solidFill>
            <a:ln>
              <a:solidFill>
                <a:srgbClr val="10B981"/>
              </a:solidFill>
            </a:ln>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45976.5</c:v>
                </c:pt>
                <c:pt idx="1">
                  <c:v>80788.61</c:v>
                </c:pt>
                <c:pt idx="2">
                  <c:v>78528</c:v>
                </c:pt>
                <c:pt idx="3">
                  <c:v>96425.7</c:v>
                </c:pt>
                <c:pt idx="4">
                  <c:v>88755.6</c:v>
                </c:pt>
                <c:pt idx="5">
                  <c:v>130623</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9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Actual SGD</c:v>
                </c:pt>
              </c:strCache>
            </c:strRef>
          </c:tx>
          <c:spPr>
            <a:solidFill>
              <a:srgbClr val="1F6FEB"/>
            </a:solidFill>
            <a:ln>
              <a:solidFill>
                <a:srgbClr val="1F6FEB"/>
              </a:solidFill>
            </a:ln>
          </c:spPr>
          <c:cat>
            <c:strRef>
              <c:f>Sheet1!$A$2:$A$7</c:f>
              <c:strCache>
                <c:ptCount val="6"/>
                <c:pt idx="0">
                  <c:v>Jan</c:v>
                </c:pt>
                <c:pt idx="1">
                  <c:v>Feb</c:v>
                </c:pt>
                <c:pt idx="2">
                  <c:v>Mar</c:v>
                </c:pt>
                <c:pt idx="3">
                  <c:v>Apr</c:v>
                </c:pt>
                <c:pt idx="4">
                  <c:v>May</c:v>
                </c:pt>
                <c:pt idx="5">
                  <c:v>Jun</c:v>
                </c:pt>
              </c:strCache>
            </c:strRef>
          </c:cat>
          <c:val>
            <c:numRef>
              <c:f>Sheet1!$B$2:$B$7</c:f>
              <c:numCache>
                <c:formatCode>General</c:formatCode>
                <c:ptCount val="6"/>
                <c:pt idx="0">
                  <c:v>90150</c:v>
                </c:pt>
                <c:pt idx="1">
                  <c:v>145565</c:v>
                </c:pt>
                <c:pt idx="2">
                  <c:v>130880</c:v>
                </c:pt>
                <c:pt idx="3">
                  <c:v>189070</c:v>
                </c:pt>
                <c:pt idx="4">
                  <c:v>159920</c:v>
                </c:pt>
                <c:pt idx="5">
                  <c:v>217705</c:v>
                </c:pt>
              </c:numCache>
            </c:numRef>
          </c:val>
        </c:ser>
        <c:ser>
          <c:idx val="1"/>
          <c:order val="1"/>
          <c:tx>
            <c:strRef>
              <c:f>Sheet1!$C$1</c:f>
              <c:strCache>
                <c:ptCount val="1"/>
                <c:pt idx="0">
                  <c:v>Target SGD</c:v>
                </c:pt>
              </c:strCache>
            </c:strRef>
          </c:tx>
          <c:spPr>
            <a:solidFill>
              <a:srgbClr val="10B981"/>
            </a:solidFill>
            <a:ln>
              <a:solidFill>
                <a:srgbClr val="10B981"/>
              </a:solidFill>
            </a:ln>
          </c:spPr>
          <c:cat>
            <c:strRef>
              <c:f>Sheet1!$A$2:$A$7</c:f>
              <c:strCache>
                <c:ptCount val="6"/>
                <c:pt idx="0">
                  <c:v>Jan</c:v>
                </c:pt>
                <c:pt idx="1">
                  <c:v>Feb</c:v>
                </c:pt>
                <c:pt idx="2">
                  <c:v>Mar</c:v>
                </c:pt>
                <c:pt idx="3">
                  <c:v>Apr</c:v>
                </c:pt>
                <c:pt idx="4">
                  <c:v>May</c:v>
                </c:pt>
                <c:pt idx="5">
                  <c:v>Jun</c:v>
                </c:pt>
              </c:strCache>
            </c:strRef>
          </c:cat>
          <c:val>
            <c:numRef>
              <c:f>Sheet1!$C$2:$C$7</c:f>
              <c:numCache>
                <c:formatCode>General</c:formatCode>
                <c:ptCount val="6"/>
                <c:pt idx="0">
                  <c:v>164800</c:v>
                </c:pt>
                <c:pt idx="1">
                  <c:v>193600</c:v>
                </c:pt>
                <c:pt idx="2">
                  <c:v>164800</c:v>
                </c:pt>
                <c:pt idx="3">
                  <c:v>193600</c:v>
                </c:pt>
                <c:pt idx="4">
                  <c:v>164800</c:v>
                </c:pt>
                <c:pt idx="5">
                  <c:v>193600</c:v>
                </c:pt>
              </c:numCache>
            </c:numRef>
          </c:val>
        </c:ser>
        <c:axId val="-2068027336"/>
        <c:axId val="-2113994440"/>
      </c:barChart>
      <c:catAx>
        <c:axId val="-2068027336"/>
        <c:scaling>
          <c:orientation val="minMax"/>
        </c:scaling>
        <c:delete val="0"/>
        <c:axPos val="b"/>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delete val="0"/>
        <c:axPos val="l"/>
        <c:majorGridlines>
          <c:spPr>
            <a:ln>
              <a:solidFill>
                <a:srgbClr val="E2E8F0"/>
              </a:solidFill>
            </a:ln>
          </c:spPr>
        </c:majorGridlines>
        <c:majorTickMark val="out"/>
        <c:minorTickMark val="none"/>
        <c:tickLblPos val="nextTo"/>
        <c:txPr>
          <a:bodyPr/>
          <a:lstStyle/>
          <a:p>
            <a:pPr>
              <a:defRPr sz="900">
                <a:latin typeface="Arial"/>
              </a:defRPr>
            </a:pPr>
          </a:p>
        </c:txPr>
        <c:crossAx val="-2068027336"/>
        <c:crosses val="autoZero"/>
      </c:valAx>
    </c:plotArea>
    <c:legend>
      <c:legendPos val="b"/>
      <c:overlay val="0"/>
    </c:legend>
    <c:dispBlanksAs val="gap"/>
  </c:chart>
  <c:txPr>
    <a:bodyPr/>
    <a:lstStyle/>
    <a:p>
      <a:pPr>
        <a:defRPr sz="1800"/>
      </a:pPr>
      <a:endParaRPr lang="en-US"/>
    </a:p>
  </c:tx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Margin SGD</c:v>
                </c:pt>
              </c:strCache>
            </c:strRef>
          </c:tx>
          <c:spPr>
            <a:solidFill>
              <a:srgbClr val="1F6FEB"/>
            </a:solidFill>
            <a:ln>
              <a:solidFill>
                <a:srgbClr val="1F6FEB"/>
              </a:solidFill>
            </a:ln>
          </c:spPr>
          <c:cat>
            <c:strRef>
              <c:f>Sheet1!$A$2:$A$5</c:f>
              <c:strCache>
                <c:ptCount val="4"/>
                <c:pt idx="0">
                  <c:v>Web</c:v>
                </c:pt>
                <c:pt idx="1">
                  <c:v>Partner</c:v>
                </c:pt>
                <c:pt idx="2">
                  <c:v>Retail</c:v>
                </c:pt>
                <c:pt idx="3">
                  <c:v>Events</c:v>
                </c:pt>
              </c:strCache>
            </c:strRef>
          </c:cat>
          <c:val>
            <c:numRef>
              <c:f>Sheet1!$B$2:$B$5</c:f>
              <c:numCache>
                <c:formatCode>General</c:formatCode>
                <c:ptCount val="4"/>
                <c:pt idx="0">
                  <c:v>84544.39</c:v>
                </c:pt>
                <c:pt idx="1">
                  <c:v>94989.66</c:v>
                </c:pt>
                <c:pt idx="2">
                  <c:v>111411.32</c:v>
                </c:pt>
                <c:pt idx="3">
                  <c:v>121247.22</c:v>
                </c:pt>
              </c:numCache>
            </c:numRef>
          </c:val>
        </c:ser>
        <c:axId val="-2068027336"/>
        <c:axId val="-2113994440"/>
      </c:barChart>
      <c:catAx>
        <c:axId val="-2068027336"/>
        <c:scaling>
          <c:orientation val="minMax"/>
        </c:scaling>
        <c:delete val="0"/>
        <c:axPos val="l"/>
        <c:majorTickMark val="out"/>
        <c:minorTickMark val="none"/>
        <c:tickLblPos val="nextTo"/>
        <c:txPr>
          <a:bodyPr/>
          <a:lstStyle/>
          <a:p>
            <a:pPr>
              <a:defRPr sz="1000">
                <a:latin typeface="Arial"/>
              </a:defRPr>
            </a:pPr>
          </a:p>
        </c:txPr>
        <c:crossAx val="-2113994440"/>
        <c:crosses val="autoZero"/>
        <c:auto val="1"/>
        <c:lblAlgn val="ctr"/>
        <c:lblOffset val="100"/>
        <c:noMultiLvlLbl val="0"/>
      </c:catAx>
      <c:valAx>
        <c:axId val="-2113994440"/>
        <c:scaling/>
        <c:delete val="0"/>
        <c:axPos val="b"/>
        <c:majorGridlines>
          <c:spPr>
            <a:ln>
              <a:solidFill>
                <a:srgbClr val="E2E8F0"/>
              </a:solidFill>
            </a:ln>
          </c:spPr>
        </c:majorGridlines>
        <c:majorTickMark val="out"/>
        <c:minorTickMark val="none"/>
        <c:tickLblPos val="nextTo"/>
        <c:txPr>
          <a:bodyPr/>
          <a:lstStyle/>
          <a:p>
            <a:pPr>
              <a:defRPr sz="900">
                <a:latin typeface="Arial"/>
              </a:defRPr>
            </a:pPr>
          </a:p>
        </c:txPr>
        <c:crossAx val="-2068027336"/>
        <c:crosses val="autoZero"/>
      </c:valAx>
    </c:plotArea>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tertiarycourses/TGS-2024043856-Enhance-Work-Productivity-with-Microsoft-365-Copilot"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infotech.sharepoint.com/sites/TGS-2024043856-LuminaCopilot" TargetMode="Externa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tertiaryinfotech.sharepoint.com/sites/TGS-2024043856-LuminaCopilot" TargetMode="Externa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lms-tms.tertiaryinfotech.com/" TargetMode="Externa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38544"/>
            <a:ext cx="12191695"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tertiary-infotech-logo.png"/>
          <p:cNvPicPr>
            <a:picLocks noChangeAspect="1"/>
          </p:cNvPicPr>
          <p:nvPr/>
        </p:nvPicPr>
        <p:blipFill>
          <a:blip r:embed="rId2"/>
          <a:stretch>
            <a:fillRect/>
          </a:stretch>
        </p:blipFill>
        <p:spPr>
          <a:xfrm>
            <a:off x="777240" y="566928"/>
            <a:ext cx="804672" cy="804672"/>
          </a:xfrm>
          <a:prstGeom prst="rect">
            <a:avLst/>
          </a:prstGeom>
        </p:spPr>
      </p:pic>
      <p:sp>
        <p:nvSpPr>
          <p:cNvPr id="6" name="Rounded Rectangle 5"/>
          <p:cNvSpPr/>
          <p:nvPr/>
        </p:nvSpPr>
        <p:spPr>
          <a:xfrm>
            <a:off x="9464040" y="566928"/>
            <a:ext cx="1874519" cy="82296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01200" y="658368"/>
            <a:ext cx="1600200" cy="640080"/>
          </a:xfrm>
          <a:prstGeom prst="rect">
            <a:avLst/>
          </a:prstGeom>
          <a:noFill/>
        </p:spPr>
        <p:txBody>
          <a:bodyPr wrap="square" anchor="ctr" lIns="54864" rIns="54864" tIns="54864" bIns="54864">
            <a:spAutoFit/>
          </a:bodyPr>
          <a:lstStyle/>
          <a:p>
            <a:pPr algn="ctr">
              <a:spcAft>
                <a:spcPts val="300"/>
              </a:spcAft>
            </a:pPr>
            <a:r>
              <a:rPr sz="2200" b="1">
                <a:solidFill>
                  <a:srgbClr val="1F6FEB"/>
                </a:solidFill>
                <a:latin typeface="Arial"/>
              </a:rPr>
              <a:t>M365</a:t>
            </a:r>
          </a:p>
          <a:p>
            <a:pPr algn="ctr">
              <a:spcAft>
                <a:spcPts val="300"/>
              </a:spcAft>
            </a:pPr>
            <a:r>
              <a:rPr sz="1000" b="1">
                <a:solidFill>
                  <a:srgbClr val="10B981"/>
                </a:solidFill>
                <a:latin typeface="Arial"/>
              </a:rPr>
              <a:t>COPILOT</a:t>
            </a:r>
          </a:p>
        </p:txBody>
      </p:sp>
      <p:sp>
        <p:nvSpPr>
          <p:cNvPr id="8" name="TextBox 7"/>
          <p:cNvSpPr txBox="1"/>
          <p:nvPr/>
        </p:nvSpPr>
        <p:spPr>
          <a:xfrm>
            <a:off x="822960" y="1828800"/>
            <a:ext cx="10789920" cy="329184"/>
          </a:xfrm>
          <a:prstGeom prst="rect">
            <a:avLst/>
          </a:prstGeom>
          <a:noFill/>
        </p:spPr>
        <p:txBody>
          <a:bodyPr wrap="square" anchor="t" lIns="54864" rIns="54864" tIns="54864" bIns="54864">
            <a:spAutoFit/>
          </a:bodyPr>
          <a:lstStyle/>
          <a:p>
            <a:pPr algn="l">
              <a:spcAft>
                <a:spcPts val="300"/>
              </a:spcAft>
            </a:pPr>
            <a:r>
              <a:rPr sz="1400" b="1">
                <a:solidFill>
                  <a:srgbClr val="1F6FEB"/>
                </a:solidFill>
                <a:latin typeface="Arial"/>
              </a:rPr>
              <a:t>WSQ COURSE SLIDES</a:t>
            </a:r>
          </a:p>
        </p:txBody>
      </p:sp>
      <p:sp>
        <p:nvSpPr>
          <p:cNvPr id="9" name="TextBox 8"/>
          <p:cNvSpPr txBox="1"/>
          <p:nvPr/>
        </p:nvSpPr>
        <p:spPr>
          <a:xfrm>
            <a:off x="822960" y="2212848"/>
            <a:ext cx="10789920" cy="1481328"/>
          </a:xfrm>
          <a:prstGeom prst="rect">
            <a:avLst/>
          </a:prstGeom>
          <a:noFill/>
        </p:spPr>
        <p:txBody>
          <a:bodyPr wrap="square" anchor="ctr" lIns="54864" rIns="54864" tIns="54864" bIns="54864">
            <a:spAutoFit/>
          </a:bodyPr>
          <a:lstStyle/>
          <a:p>
            <a:pPr algn="l">
              <a:spcAft>
                <a:spcPts val="300"/>
              </a:spcAft>
            </a:pPr>
            <a:r>
              <a:rPr sz="3800" b="1">
                <a:solidFill>
                  <a:srgbClr val="161B26"/>
                </a:solidFill>
                <a:latin typeface="Arial"/>
              </a:rPr>
              <a:t>Enhance Work Productivity with Microsoft 365 Copilot</a:t>
            </a:r>
          </a:p>
        </p:txBody>
      </p:sp>
      <p:sp>
        <p:nvSpPr>
          <p:cNvPr id="10" name="Rectangle 9"/>
          <p:cNvSpPr/>
          <p:nvPr/>
        </p:nvSpPr>
        <p:spPr>
          <a:xfrm>
            <a:off x="841248" y="3858768"/>
            <a:ext cx="2286000" cy="7315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4133087"/>
            <a:ext cx="10789920" cy="1097280"/>
          </a:xfrm>
          <a:prstGeom prst="rect">
            <a:avLst/>
          </a:prstGeom>
          <a:noFill/>
        </p:spPr>
        <p:txBody>
          <a:bodyPr wrap="square" anchor="t" lIns="54864" rIns="54864" tIns="54864" bIns="54864">
            <a:spAutoFit/>
          </a:bodyPr>
          <a:lstStyle/>
          <a:p>
            <a:pPr algn="l">
              <a:spcAft>
                <a:spcPts val="300"/>
              </a:spcAft>
            </a:pPr>
            <a:r>
              <a:rPr sz="1600" b="0">
                <a:solidFill>
                  <a:srgbClr val="5B6372"/>
                </a:solidFill>
                <a:latin typeface="Arial"/>
              </a:rPr>
              <a:t>Course Code: TGS-2024043856</a:t>
            </a:r>
          </a:p>
          <a:p>
            <a:pPr algn="l">
              <a:spcAft>
                <a:spcPts val="300"/>
              </a:spcAft>
            </a:pPr>
            <a:r>
              <a:rPr sz="1300" b="0">
                <a:solidFill>
                  <a:srgbClr val="5B6372"/>
                </a:solidFill>
                <a:latin typeface="Arial"/>
              </a:rPr>
              <a:t>Digital Technology Adoption and Innovation · ACC-ICT-4004-1.1</a:t>
            </a:r>
          </a:p>
          <a:p>
            <a:pPr algn="l">
              <a:spcAft>
                <a:spcPts val="300"/>
              </a:spcAft>
            </a:pPr>
            <a:r>
              <a:rPr sz="1300" b="0">
                <a:solidFill>
                  <a:srgbClr val="5B6372"/>
                </a:solidFill>
                <a:latin typeface="Arial"/>
              </a:rPr>
              <a:t>Trainer: Dr Alfred Ang</a:t>
            </a:r>
          </a:p>
        </p:txBody>
      </p:sp>
      <p:sp>
        <p:nvSpPr>
          <p:cNvPr id="12" name="TextBox 11"/>
          <p:cNvSpPr txBox="1"/>
          <p:nvPr/>
        </p:nvSpPr>
        <p:spPr>
          <a:xfrm>
            <a:off x="822960" y="5486400"/>
            <a:ext cx="10789920" cy="457200"/>
          </a:xfrm>
          <a:prstGeom prst="rect">
            <a:avLst/>
          </a:prstGeom>
          <a:noFill/>
        </p:spPr>
        <p:txBody>
          <a:bodyPr wrap="square" anchor="t" lIns="54864" rIns="54864" tIns="54864" bIns="54864">
            <a:spAutoFit/>
          </a:bodyPr>
          <a:lstStyle/>
          <a:p>
            <a:pPr algn="l">
              <a:spcAft>
                <a:spcPts val="300"/>
              </a:spcAft>
            </a:pPr>
            <a:r>
              <a:rPr sz="1300" b="1">
                <a:solidFill>
                  <a:srgbClr val="161B26"/>
                </a:solidFill>
                <a:latin typeface="Arial"/>
              </a:rPr>
              <a:t>Tertiary Infotech Academy Pte Ltd · UEN 201200696W</a:t>
            </a:r>
          </a:p>
        </p:txBody>
      </p:sp>
      <p:sp>
        <p:nvSpPr>
          <p:cNvPr id="13" name="TextBox 12"/>
          <p:cNvSpPr txBox="1"/>
          <p:nvPr/>
        </p:nvSpPr>
        <p:spPr>
          <a:xfrm>
            <a:off x="822960" y="5925312"/>
            <a:ext cx="10789920" cy="310896"/>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Version v8.2 · 7 September 2026</a:t>
            </a:r>
          </a:p>
        </p:txBody>
      </p:sp>
      <p:sp>
        <p:nvSpPr>
          <p:cNvPr id="14" name="TextBox 13"/>
          <p:cNvSpPr txBox="1"/>
          <p:nvPr/>
        </p:nvSpPr>
        <p:spPr>
          <a:xfrm>
            <a:off x="822960" y="6309360"/>
            <a:ext cx="107899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 2026 Tertiary Infotech Academy Pte Ltd. All rights reserved.</a:t>
            </a:r>
          </a:p>
        </p:txBody>
      </p:sp>
    </p:spTree>
  </p:cSld>
  <p:clrMapOvr>
    <a:masterClrMapping/>
  </p:clrMapOvr>
  <p:transition spd="slow">
    <p:fade/>
  </p:transition>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TRAQOM · SSG</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Digital Attendance (Mandatory)</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AM and PM</a:t>
            </a:r>
          </a:p>
          <a:p>
            <a:pPr algn="l">
              <a:spcAft>
                <a:spcPts val="300"/>
              </a:spcAft>
            </a:pPr>
            <a:r>
              <a:rPr sz="1100" b="0">
                <a:solidFill>
                  <a:srgbClr val="5B6372"/>
                </a:solidFill>
                <a:latin typeface="Arial"/>
              </a:rPr>
              <a:t>Complete SSG digital attendance for both training days.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Assessment</a:t>
            </a:r>
          </a:p>
          <a:p>
            <a:pPr algn="l">
              <a:spcAft>
                <a:spcPts val="300"/>
              </a:spcAft>
            </a:pPr>
            <a:r>
              <a:rPr sz="1100" b="0">
                <a:solidFill>
                  <a:srgbClr val="5B6372"/>
                </a:solidFill>
                <a:latin typeface="Arial"/>
              </a:rPr>
              <a:t>Take the separate assessment attendance before the papers.</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Scan</a:t>
            </a:r>
          </a:p>
          <a:p>
            <a:pPr algn="l">
              <a:spcAft>
                <a:spcPts val="300"/>
              </a:spcAft>
            </a:pPr>
            <a:r>
              <a:rPr sz="1100" b="0">
                <a:solidFill>
                  <a:srgbClr val="5B6372"/>
                </a:solidFill>
                <a:latin typeface="Arial"/>
              </a:rPr>
              <a:t>Use the QR code shown by the trainer or administrator.</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Eligibility</a:t>
            </a:r>
          </a:p>
          <a:p>
            <a:pPr algn="l">
              <a:spcAft>
                <a:spcPts val="300"/>
              </a:spcAft>
            </a:pPr>
            <a:r>
              <a:rPr sz="1100" b="0">
                <a:solidFill>
                  <a:srgbClr val="5B6372"/>
                </a:solidFill>
                <a:latin typeface="Arial"/>
              </a:rPr>
              <a:t>Maintain at least 75% attendance.</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a:t>
            </a:r>
          </a:p>
        </p:txBody>
      </p:sp>
    </p:spTree>
  </p:cSld>
  <p:clrMapOvr>
    <a:masterClrMapping/>
  </p:clrMapOvr>
  <p:transition spd="slow">
    <p:fade/>
  </p:transition>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5B6372"/>
                </a:solidFill>
                <a:latin typeface="Arial"/>
              </a:rPr>
              <a:t>GENERAL TRAINER TEMPLATE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About the Trainer</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2511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45920" y="2212848"/>
            <a:ext cx="1554480" cy="1554480"/>
          </a:xfrm>
          <a:prstGeom prst="ellipse">
            <a:avLst/>
          </a:prstGeom>
          <a:solidFill>
            <a:srgbClr val="5B63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2212848"/>
            <a:ext cx="1554480" cy="1554480"/>
          </a:xfrm>
          <a:prstGeom prst="rect">
            <a:avLst/>
          </a:prstGeom>
          <a:noFill/>
        </p:spPr>
        <p:txBody>
          <a:bodyPr wrap="square" anchor="ctr" lIns="54864" rIns="54864" tIns="54864" bIns="54864">
            <a:spAutoFit/>
          </a:bodyPr>
          <a:lstStyle/>
          <a:p>
            <a:pPr algn="ctr">
              <a:spcAft>
                <a:spcPts val="300"/>
              </a:spcAft>
            </a:pPr>
            <a:r>
              <a:rPr sz="4200" b="1">
                <a:solidFill>
                  <a:srgbClr val="FFFFFF"/>
                </a:solidFill>
                <a:latin typeface="Arial"/>
              </a:rPr>
              <a:t>?</a:t>
            </a:r>
          </a:p>
        </p:txBody>
      </p:sp>
      <p:sp>
        <p:nvSpPr>
          <p:cNvPr id="10" name="TextBox 9"/>
          <p:cNvSpPr txBox="1"/>
          <p:nvPr/>
        </p:nvSpPr>
        <p:spPr>
          <a:xfrm>
            <a:off x="1005840" y="4050791"/>
            <a:ext cx="2852928" cy="502920"/>
          </a:xfrm>
          <a:prstGeom prst="rect">
            <a:avLst/>
          </a:prstGeom>
          <a:noFill/>
        </p:spPr>
        <p:txBody>
          <a:bodyPr wrap="square" anchor="t" lIns="54864" rIns="54864" tIns="54864" bIns="54864">
            <a:spAutoFit/>
          </a:bodyPr>
          <a:lstStyle/>
          <a:p>
            <a:pPr algn="ctr">
              <a:spcAft>
                <a:spcPts val="300"/>
              </a:spcAft>
            </a:pPr>
            <a:r>
              <a:rPr sz="2000" b="1">
                <a:solidFill>
                  <a:srgbClr val="161B26"/>
                </a:solidFill>
                <a:latin typeface="Arial"/>
              </a:rPr>
              <a:t>Your Trainer</a:t>
            </a:r>
          </a:p>
        </p:txBody>
      </p:sp>
      <p:sp>
        <p:nvSpPr>
          <p:cNvPr id="11" name="TextBox 10"/>
          <p:cNvSpPr txBox="1"/>
          <p:nvPr/>
        </p:nvSpPr>
        <p:spPr>
          <a:xfrm>
            <a:off x="1005840" y="4617720"/>
            <a:ext cx="2852928" cy="77724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Complete before class</a:t>
            </a:r>
          </a:p>
        </p:txBody>
      </p:sp>
      <p:sp>
        <p:nvSpPr>
          <p:cNvPr id="12" name="Rounded Rectangle 11"/>
          <p:cNvSpPr/>
          <p:nvPr/>
        </p:nvSpPr>
        <p:spPr>
          <a:xfrm>
            <a:off x="4389120" y="1783080"/>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1828800"/>
            <a:ext cx="1417320" cy="457200"/>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NAME</a:t>
            </a:r>
          </a:p>
        </p:txBody>
      </p:sp>
      <p:sp>
        <p:nvSpPr>
          <p:cNvPr id="14" name="TextBox 13"/>
          <p:cNvSpPr txBox="1"/>
          <p:nvPr/>
        </p:nvSpPr>
        <p:spPr>
          <a:xfrm>
            <a:off x="6035040" y="1828800"/>
            <a:ext cx="5074920" cy="457200"/>
          </a:xfrm>
          <a:prstGeom prst="rect">
            <a:avLst/>
          </a:prstGeom>
          <a:noFill/>
        </p:spPr>
        <p:txBody>
          <a:bodyPr wrap="square" anchor="ctr" lIns="54864" rIns="54864" tIns="54864" bIns="54864">
            <a:spAutoFit/>
          </a:bodyPr>
          <a:lstStyle/>
          <a:p>
            <a:pPr algn="l">
              <a:spcAft>
                <a:spcPts val="300"/>
              </a:spcAft>
            </a:pPr>
            <a:r>
              <a:rPr sz="1200" b="0">
                <a:solidFill>
                  <a:srgbClr val="E2E8F0"/>
                </a:solidFill>
                <a:latin typeface="Arial"/>
              </a:rPr>
              <a:t>________________________________</a:t>
            </a:r>
          </a:p>
        </p:txBody>
      </p:sp>
      <p:sp>
        <p:nvSpPr>
          <p:cNvPr id="15" name="Rounded Rectangle 14"/>
          <p:cNvSpPr/>
          <p:nvPr/>
        </p:nvSpPr>
        <p:spPr>
          <a:xfrm>
            <a:off x="4389120" y="2487168"/>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532888"/>
            <a:ext cx="1417320" cy="457200"/>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TITLE / DESIGNATION</a:t>
            </a:r>
          </a:p>
        </p:txBody>
      </p:sp>
      <p:sp>
        <p:nvSpPr>
          <p:cNvPr id="17" name="TextBox 16"/>
          <p:cNvSpPr txBox="1"/>
          <p:nvPr/>
        </p:nvSpPr>
        <p:spPr>
          <a:xfrm>
            <a:off x="6035040" y="2532888"/>
            <a:ext cx="5074920" cy="457200"/>
          </a:xfrm>
          <a:prstGeom prst="rect">
            <a:avLst/>
          </a:prstGeom>
          <a:noFill/>
        </p:spPr>
        <p:txBody>
          <a:bodyPr wrap="square" anchor="ctr" lIns="54864" rIns="54864" tIns="54864" bIns="54864">
            <a:spAutoFit/>
          </a:bodyPr>
          <a:lstStyle/>
          <a:p>
            <a:pPr algn="l">
              <a:spcAft>
                <a:spcPts val="300"/>
              </a:spcAft>
            </a:pPr>
            <a:r>
              <a:rPr sz="1200" b="0">
                <a:solidFill>
                  <a:srgbClr val="E2E8F0"/>
                </a:solidFill>
                <a:latin typeface="Arial"/>
              </a:rPr>
              <a:t>________________________________</a:t>
            </a:r>
          </a:p>
        </p:txBody>
      </p:sp>
      <p:sp>
        <p:nvSpPr>
          <p:cNvPr id="18" name="Rounded Rectangle 17"/>
          <p:cNvSpPr/>
          <p:nvPr/>
        </p:nvSpPr>
        <p:spPr>
          <a:xfrm>
            <a:off x="4389120" y="3191256"/>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3236976"/>
            <a:ext cx="1417320" cy="457200"/>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QUALIFICATIONS</a:t>
            </a:r>
          </a:p>
        </p:txBody>
      </p:sp>
      <p:sp>
        <p:nvSpPr>
          <p:cNvPr id="20" name="TextBox 19"/>
          <p:cNvSpPr txBox="1"/>
          <p:nvPr/>
        </p:nvSpPr>
        <p:spPr>
          <a:xfrm>
            <a:off x="6035040" y="3236976"/>
            <a:ext cx="5074920" cy="457200"/>
          </a:xfrm>
          <a:prstGeom prst="rect">
            <a:avLst/>
          </a:prstGeom>
          <a:noFill/>
        </p:spPr>
        <p:txBody>
          <a:bodyPr wrap="square" anchor="ctr" lIns="54864" rIns="54864" tIns="54864" bIns="54864">
            <a:spAutoFit/>
          </a:bodyPr>
          <a:lstStyle/>
          <a:p>
            <a:pPr algn="l">
              <a:spcAft>
                <a:spcPts val="300"/>
              </a:spcAft>
            </a:pPr>
            <a:r>
              <a:rPr sz="1200" b="0">
                <a:solidFill>
                  <a:srgbClr val="E2E8F0"/>
                </a:solidFill>
                <a:latin typeface="Arial"/>
              </a:rPr>
              <a:t>________________________________</a:t>
            </a:r>
          </a:p>
        </p:txBody>
      </p:sp>
      <p:sp>
        <p:nvSpPr>
          <p:cNvPr id="21" name="Rounded Rectangle 20"/>
          <p:cNvSpPr/>
          <p:nvPr/>
        </p:nvSpPr>
        <p:spPr>
          <a:xfrm>
            <a:off x="4389120" y="3895344"/>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5152" y="3941064"/>
            <a:ext cx="1417320" cy="457200"/>
          </a:xfrm>
          <a:prstGeom prst="rect">
            <a:avLst/>
          </a:prstGeom>
          <a:noFill/>
        </p:spPr>
        <p:txBody>
          <a:bodyPr wrap="square" anchor="ctr" lIns="54864" rIns="54864" tIns="54864" bIns="54864">
            <a:spAutoFit/>
          </a:bodyPr>
          <a:lstStyle/>
          <a:p>
            <a:pPr algn="l">
              <a:spcAft>
                <a:spcPts val="300"/>
              </a:spcAft>
            </a:pPr>
            <a:r>
              <a:rPr sz="1000" b="1">
                <a:solidFill>
                  <a:srgbClr val="F59E0B"/>
                </a:solidFill>
                <a:latin typeface="Arial"/>
              </a:rPr>
              <a:t>EXPERTISE</a:t>
            </a:r>
          </a:p>
        </p:txBody>
      </p:sp>
      <p:sp>
        <p:nvSpPr>
          <p:cNvPr id="23" name="TextBox 22"/>
          <p:cNvSpPr txBox="1"/>
          <p:nvPr/>
        </p:nvSpPr>
        <p:spPr>
          <a:xfrm>
            <a:off x="6035040" y="3941064"/>
            <a:ext cx="5074920" cy="457200"/>
          </a:xfrm>
          <a:prstGeom prst="rect">
            <a:avLst/>
          </a:prstGeom>
          <a:noFill/>
        </p:spPr>
        <p:txBody>
          <a:bodyPr wrap="square" anchor="ctr" lIns="54864" rIns="54864" tIns="54864" bIns="54864">
            <a:spAutoFit/>
          </a:bodyPr>
          <a:lstStyle/>
          <a:p>
            <a:pPr algn="l">
              <a:spcAft>
                <a:spcPts val="300"/>
              </a:spcAft>
            </a:pPr>
            <a:r>
              <a:rPr sz="1200" b="0">
                <a:solidFill>
                  <a:srgbClr val="E2E8F0"/>
                </a:solidFill>
                <a:latin typeface="Arial"/>
              </a:rPr>
              <a:t>________________________________</a:t>
            </a:r>
          </a:p>
        </p:txBody>
      </p:sp>
      <p:sp>
        <p:nvSpPr>
          <p:cNvPr id="24" name="Rounded Rectangle 23"/>
          <p:cNvSpPr/>
          <p:nvPr/>
        </p:nvSpPr>
        <p:spPr>
          <a:xfrm>
            <a:off x="4389120" y="4599432"/>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4645152"/>
            <a:ext cx="1417320" cy="457200"/>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EXPERIENCE</a:t>
            </a:r>
          </a:p>
        </p:txBody>
      </p:sp>
      <p:sp>
        <p:nvSpPr>
          <p:cNvPr id="26" name="TextBox 25"/>
          <p:cNvSpPr txBox="1"/>
          <p:nvPr/>
        </p:nvSpPr>
        <p:spPr>
          <a:xfrm>
            <a:off x="6035040" y="4645152"/>
            <a:ext cx="5074920" cy="457200"/>
          </a:xfrm>
          <a:prstGeom prst="rect">
            <a:avLst/>
          </a:prstGeom>
          <a:noFill/>
        </p:spPr>
        <p:txBody>
          <a:bodyPr wrap="square" anchor="ctr" lIns="54864" rIns="54864" tIns="54864" bIns="54864">
            <a:spAutoFit/>
          </a:bodyPr>
          <a:lstStyle/>
          <a:p>
            <a:pPr algn="l">
              <a:spcAft>
                <a:spcPts val="300"/>
              </a:spcAft>
            </a:pPr>
            <a:r>
              <a:rPr sz="1200" b="0">
                <a:solidFill>
                  <a:srgbClr val="E2E8F0"/>
                </a:solidFill>
                <a:latin typeface="Arial"/>
              </a:rPr>
              <a:t>________________________________</a:t>
            </a:r>
          </a:p>
        </p:txBody>
      </p:sp>
      <p:sp>
        <p:nvSpPr>
          <p:cNvPr id="27" name="Rounded Rectangle 26"/>
          <p:cNvSpPr/>
          <p:nvPr/>
        </p:nvSpPr>
        <p:spPr>
          <a:xfrm>
            <a:off x="4389120" y="5303520"/>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5349240"/>
            <a:ext cx="1417320" cy="457200"/>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CONTACT</a:t>
            </a:r>
          </a:p>
        </p:txBody>
      </p:sp>
      <p:sp>
        <p:nvSpPr>
          <p:cNvPr id="29" name="TextBox 28"/>
          <p:cNvSpPr txBox="1"/>
          <p:nvPr/>
        </p:nvSpPr>
        <p:spPr>
          <a:xfrm>
            <a:off x="6035040" y="5349240"/>
            <a:ext cx="5074920" cy="457200"/>
          </a:xfrm>
          <a:prstGeom prst="rect">
            <a:avLst/>
          </a:prstGeom>
          <a:noFill/>
        </p:spPr>
        <p:txBody>
          <a:bodyPr wrap="square" anchor="ctr" lIns="54864" rIns="54864" tIns="54864" bIns="54864">
            <a:spAutoFit/>
          </a:bodyPr>
          <a:lstStyle/>
          <a:p>
            <a:pPr algn="l">
              <a:spcAft>
                <a:spcPts val="300"/>
              </a:spcAft>
            </a:pPr>
            <a:r>
              <a:rPr sz="1200" b="0">
                <a:solidFill>
                  <a:srgbClr val="E2E8F0"/>
                </a:solidFill>
                <a:latin typeface="Arial"/>
              </a:rPr>
              <a:t>________________________________</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a:t>
            </a:r>
          </a:p>
        </p:txBody>
      </p:sp>
    </p:spTree>
  </p:cSld>
  <p:clrMapOvr>
    <a:masterClrMapping/>
  </p:clrMapOvr>
  <p:transition spd="slow">
    <p:fade/>
  </p:transition>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NAMED TRAINER</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About the Trainer</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83080"/>
            <a:ext cx="3310128" cy="432511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1645920" y="2212848"/>
            <a:ext cx="1554480" cy="1554480"/>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45920" y="2212848"/>
            <a:ext cx="1554480" cy="1554480"/>
          </a:xfrm>
          <a:prstGeom prst="rect">
            <a:avLst/>
          </a:prstGeom>
          <a:noFill/>
        </p:spPr>
        <p:txBody>
          <a:bodyPr wrap="square" anchor="ctr" lIns="54864" rIns="54864" tIns="54864" bIns="54864">
            <a:spAutoFit/>
          </a:bodyPr>
          <a:lstStyle/>
          <a:p>
            <a:pPr algn="ctr">
              <a:spcAft>
                <a:spcPts val="300"/>
              </a:spcAft>
            </a:pPr>
            <a:r>
              <a:rPr sz="4200" b="1">
                <a:solidFill>
                  <a:srgbClr val="FFFFFF"/>
                </a:solidFill>
                <a:latin typeface="Arial"/>
              </a:rPr>
              <a:t>AA</a:t>
            </a:r>
          </a:p>
        </p:txBody>
      </p:sp>
      <p:sp>
        <p:nvSpPr>
          <p:cNvPr id="10" name="TextBox 9"/>
          <p:cNvSpPr txBox="1"/>
          <p:nvPr/>
        </p:nvSpPr>
        <p:spPr>
          <a:xfrm>
            <a:off x="1005840" y="4050791"/>
            <a:ext cx="2852928" cy="502920"/>
          </a:xfrm>
          <a:prstGeom prst="rect">
            <a:avLst/>
          </a:prstGeom>
          <a:noFill/>
        </p:spPr>
        <p:txBody>
          <a:bodyPr wrap="square" anchor="t" lIns="54864" rIns="54864" tIns="54864" bIns="54864">
            <a:spAutoFit/>
          </a:bodyPr>
          <a:lstStyle/>
          <a:p>
            <a:pPr algn="ctr">
              <a:spcAft>
                <a:spcPts val="300"/>
              </a:spcAft>
            </a:pPr>
            <a:r>
              <a:rPr sz="2000" b="1">
                <a:solidFill>
                  <a:srgbClr val="161B26"/>
                </a:solidFill>
                <a:latin typeface="Arial"/>
              </a:rPr>
              <a:t>Dr Alfred Ang</a:t>
            </a:r>
          </a:p>
        </p:txBody>
      </p:sp>
      <p:sp>
        <p:nvSpPr>
          <p:cNvPr id="11" name="TextBox 10"/>
          <p:cNvSpPr txBox="1"/>
          <p:nvPr/>
        </p:nvSpPr>
        <p:spPr>
          <a:xfrm>
            <a:off x="1005840" y="4617720"/>
            <a:ext cx="2852928" cy="777240"/>
          </a:xfrm>
          <a:prstGeom prst="rect">
            <a:avLst/>
          </a:prstGeom>
          <a:noFill/>
        </p:spPr>
        <p:txBody>
          <a:bodyPr wrap="square" anchor="t" lIns="54864" rIns="54864" tIns="54864" bIns="54864">
            <a:spAutoFit/>
          </a:bodyPr>
          <a:lstStyle/>
          <a:p>
            <a:pPr algn="ctr">
              <a:spcAft>
                <a:spcPts val="300"/>
              </a:spcAft>
            </a:pPr>
            <a:r>
              <a:rPr sz="1300" b="0">
                <a:solidFill>
                  <a:srgbClr val="5B6372"/>
                </a:solidFill>
                <a:latin typeface="Arial"/>
              </a:rPr>
              <a:t>Principal Trainer · Tertiary Infotech Academy</a:t>
            </a:r>
          </a:p>
        </p:txBody>
      </p:sp>
      <p:sp>
        <p:nvSpPr>
          <p:cNvPr id="12" name="Rounded Rectangle 11"/>
          <p:cNvSpPr/>
          <p:nvPr/>
        </p:nvSpPr>
        <p:spPr>
          <a:xfrm>
            <a:off x="4389120" y="1783080"/>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45152" y="1828800"/>
            <a:ext cx="1417320" cy="457200"/>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ROLE</a:t>
            </a:r>
          </a:p>
        </p:txBody>
      </p:sp>
      <p:sp>
        <p:nvSpPr>
          <p:cNvPr id="14" name="TextBox 13"/>
          <p:cNvSpPr txBox="1"/>
          <p:nvPr/>
        </p:nvSpPr>
        <p:spPr>
          <a:xfrm>
            <a:off x="6035040" y="1828800"/>
            <a:ext cx="5074920" cy="457200"/>
          </a:xfrm>
          <a:prstGeom prst="rect">
            <a:avLst/>
          </a:prstGeom>
          <a:noFill/>
        </p:spPr>
        <p:txBody>
          <a:bodyPr wrap="square" anchor="ctr" lIns="54864" rIns="54864" tIns="54864" bIns="54864">
            <a:spAutoFit/>
          </a:bodyPr>
          <a:lstStyle/>
          <a:p>
            <a:pPr algn="l">
              <a:spcAft>
                <a:spcPts val="300"/>
              </a:spcAft>
            </a:pPr>
            <a:r>
              <a:rPr sz="1200" b="0">
                <a:solidFill>
                  <a:srgbClr val="161B26"/>
                </a:solidFill>
                <a:latin typeface="Arial"/>
              </a:rPr>
              <a:t>Principal Trainer and Chief Instructional Designer</a:t>
            </a:r>
          </a:p>
        </p:txBody>
      </p:sp>
      <p:sp>
        <p:nvSpPr>
          <p:cNvPr id="15" name="Rounded Rectangle 14"/>
          <p:cNvSpPr/>
          <p:nvPr/>
        </p:nvSpPr>
        <p:spPr>
          <a:xfrm>
            <a:off x="4389120" y="2487168"/>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45152" y="2532888"/>
            <a:ext cx="1417320" cy="457200"/>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EXPERTISE</a:t>
            </a:r>
          </a:p>
        </p:txBody>
      </p:sp>
      <p:sp>
        <p:nvSpPr>
          <p:cNvPr id="17" name="TextBox 16"/>
          <p:cNvSpPr txBox="1"/>
          <p:nvPr/>
        </p:nvSpPr>
        <p:spPr>
          <a:xfrm>
            <a:off x="6035040" y="2532888"/>
            <a:ext cx="5074920" cy="457200"/>
          </a:xfrm>
          <a:prstGeom prst="rect">
            <a:avLst/>
          </a:prstGeom>
          <a:noFill/>
        </p:spPr>
        <p:txBody>
          <a:bodyPr wrap="square" anchor="ctr" lIns="54864" rIns="54864" tIns="54864" bIns="54864">
            <a:spAutoFit/>
          </a:bodyPr>
          <a:lstStyle/>
          <a:p>
            <a:pPr algn="l">
              <a:spcAft>
                <a:spcPts val="300"/>
              </a:spcAft>
            </a:pPr>
            <a:r>
              <a:rPr sz="1200" b="0">
                <a:solidFill>
                  <a:srgbClr val="161B26"/>
                </a:solidFill>
                <a:latin typeface="Arial"/>
              </a:rPr>
              <a:t>Microsoft 365, AI, automation and business productivity</a:t>
            </a:r>
          </a:p>
        </p:txBody>
      </p:sp>
      <p:sp>
        <p:nvSpPr>
          <p:cNvPr id="18" name="Rounded Rectangle 17"/>
          <p:cNvSpPr/>
          <p:nvPr/>
        </p:nvSpPr>
        <p:spPr>
          <a:xfrm>
            <a:off x="4389120" y="3191256"/>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645152" y="3236976"/>
            <a:ext cx="1417320" cy="457200"/>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CERTIFICATION</a:t>
            </a:r>
          </a:p>
        </p:txBody>
      </p:sp>
      <p:sp>
        <p:nvSpPr>
          <p:cNvPr id="20" name="TextBox 19"/>
          <p:cNvSpPr txBox="1"/>
          <p:nvPr/>
        </p:nvSpPr>
        <p:spPr>
          <a:xfrm>
            <a:off x="6035040" y="3236976"/>
            <a:ext cx="5074920" cy="457200"/>
          </a:xfrm>
          <a:prstGeom prst="rect">
            <a:avLst/>
          </a:prstGeom>
          <a:noFill/>
        </p:spPr>
        <p:txBody>
          <a:bodyPr wrap="square" anchor="ctr" lIns="54864" rIns="54864" tIns="54864" bIns="54864">
            <a:spAutoFit/>
          </a:bodyPr>
          <a:lstStyle/>
          <a:p>
            <a:pPr algn="l">
              <a:spcAft>
                <a:spcPts val="300"/>
              </a:spcAft>
            </a:pPr>
            <a:r>
              <a:rPr sz="1200" b="0">
                <a:solidFill>
                  <a:srgbClr val="161B26"/>
                </a:solidFill>
                <a:latin typeface="Arial"/>
              </a:rPr>
              <a:t>ACLP-certified adult educator</a:t>
            </a:r>
          </a:p>
        </p:txBody>
      </p:sp>
      <p:sp>
        <p:nvSpPr>
          <p:cNvPr id="21" name="Rounded Rectangle 20"/>
          <p:cNvSpPr/>
          <p:nvPr/>
        </p:nvSpPr>
        <p:spPr>
          <a:xfrm>
            <a:off x="4389120" y="3895344"/>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645152" y="3941064"/>
            <a:ext cx="1417320" cy="457200"/>
          </a:xfrm>
          <a:prstGeom prst="rect">
            <a:avLst/>
          </a:prstGeom>
          <a:noFill/>
        </p:spPr>
        <p:txBody>
          <a:bodyPr wrap="square" anchor="ctr" lIns="54864" rIns="54864" tIns="54864" bIns="54864">
            <a:spAutoFit/>
          </a:bodyPr>
          <a:lstStyle/>
          <a:p>
            <a:pPr algn="l">
              <a:spcAft>
                <a:spcPts val="300"/>
              </a:spcAft>
            </a:pPr>
            <a:r>
              <a:rPr sz="1000" b="1">
                <a:solidFill>
                  <a:srgbClr val="F59E0B"/>
                </a:solidFill>
                <a:latin typeface="Arial"/>
              </a:rPr>
              <a:t>DELIVERS</a:t>
            </a:r>
          </a:p>
        </p:txBody>
      </p:sp>
      <p:sp>
        <p:nvSpPr>
          <p:cNvPr id="23" name="TextBox 22"/>
          <p:cNvSpPr txBox="1"/>
          <p:nvPr/>
        </p:nvSpPr>
        <p:spPr>
          <a:xfrm>
            <a:off x="6035040" y="3941064"/>
            <a:ext cx="5074920" cy="457200"/>
          </a:xfrm>
          <a:prstGeom prst="rect">
            <a:avLst/>
          </a:prstGeom>
          <a:noFill/>
        </p:spPr>
        <p:txBody>
          <a:bodyPr wrap="square" anchor="ctr" lIns="54864" rIns="54864" tIns="54864" bIns="54864">
            <a:spAutoFit/>
          </a:bodyPr>
          <a:lstStyle/>
          <a:p>
            <a:pPr algn="l">
              <a:spcAft>
                <a:spcPts val="300"/>
              </a:spcAft>
            </a:pPr>
            <a:r>
              <a:rPr sz="1200" b="0">
                <a:solidFill>
                  <a:srgbClr val="161B26"/>
                </a:solidFill>
                <a:latin typeface="Arial"/>
              </a:rPr>
              <a:t>WSQ and professional technology programmes</a:t>
            </a:r>
          </a:p>
        </p:txBody>
      </p:sp>
      <p:sp>
        <p:nvSpPr>
          <p:cNvPr id="24" name="Rounded Rectangle 23"/>
          <p:cNvSpPr/>
          <p:nvPr/>
        </p:nvSpPr>
        <p:spPr>
          <a:xfrm>
            <a:off x="4389120" y="4599432"/>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645152" y="4645152"/>
            <a:ext cx="1417320" cy="457200"/>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EXPERIENCE</a:t>
            </a:r>
          </a:p>
        </p:txBody>
      </p:sp>
      <p:sp>
        <p:nvSpPr>
          <p:cNvPr id="26" name="TextBox 25"/>
          <p:cNvSpPr txBox="1"/>
          <p:nvPr/>
        </p:nvSpPr>
        <p:spPr>
          <a:xfrm>
            <a:off x="6035040" y="4645152"/>
            <a:ext cx="5074920" cy="457200"/>
          </a:xfrm>
          <a:prstGeom prst="rect">
            <a:avLst/>
          </a:prstGeom>
          <a:noFill/>
        </p:spPr>
        <p:txBody>
          <a:bodyPr wrap="square" anchor="ctr" lIns="54864" rIns="54864" tIns="54864" bIns="54864">
            <a:spAutoFit/>
          </a:bodyPr>
          <a:lstStyle/>
          <a:p>
            <a:pPr algn="l">
              <a:spcAft>
                <a:spcPts val="300"/>
              </a:spcAft>
            </a:pPr>
            <a:r>
              <a:rPr sz="1200" b="0">
                <a:solidFill>
                  <a:srgbClr val="161B26"/>
                </a:solidFill>
                <a:latin typeface="Arial"/>
              </a:rPr>
              <a:t>Cross-industry transformation and workforce training</a:t>
            </a:r>
          </a:p>
        </p:txBody>
      </p:sp>
      <p:sp>
        <p:nvSpPr>
          <p:cNvPr id="27" name="Rounded Rectangle 26"/>
          <p:cNvSpPr/>
          <p:nvPr/>
        </p:nvSpPr>
        <p:spPr>
          <a:xfrm>
            <a:off x="4389120" y="5303520"/>
            <a:ext cx="7040880" cy="56692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645152" y="5349240"/>
            <a:ext cx="1417320" cy="457200"/>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CONTACT</a:t>
            </a:r>
          </a:p>
        </p:txBody>
      </p:sp>
      <p:sp>
        <p:nvSpPr>
          <p:cNvPr id="29" name="TextBox 28"/>
          <p:cNvSpPr txBox="1"/>
          <p:nvPr/>
        </p:nvSpPr>
        <p:spPr>
          <a:xfrm>
            <a:off x="6035040" y="5349240"/>
            <a:ext cx="5074920" cy="457200"/>
          </a:xfrm>
          <a:prstGeom prst="rect">
            <a:avLst/>
          </a:prstGeom>
          <a:noFill/>
        </p:spPr>
        <p:txBody>
          <a:bodyPr wrap="square" anchor="ctr" lIns="54864" rIns="54864" tIns="54864" bIns="54864">
            <a:spAutoFit/>
          </a:bodyPr>
          <a:lstStyle/>
          <a:p>
            <a:pPr algn="l">
              <a:spcAft>
                <a:spcPts val="300"/>
              </a:spcAft>
            </a:pPr>
            <a:r>
              <a:rPr sz="1200" b="0">
                <a:solidFill>
                  <a:srgbClr val="161B26"/>
                </a:solidFill>
                <a:latin typeface="Arial"/>
              </a:rPr>
              <a:t>enquiry@tertiaryinfotech.com</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a:t>
            </a:r>
          </a:p>
        </p:txBody>
      </p:sp>
    </p:spTree>
  </p:cSld>
  <p:clrMapOvr>
    <a:masterClrMapping/>
  </p:clrMapOvr>
  <p:transition spd="slow">
    <p:fade/>
  </p:transition>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LEARNER INTRODUCTION</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Let's Know Each Other</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Your work</a:t>
            </a:r>
          </a:p>
          <a:p>
            <a:pPr algn="l">
              <a:spcAft>
                <a:spcPts val="300"/>
              </a:spcAft>
            </a:pPr>
            <a:r>
              <a:rPr sz="1200" b="0">
                <a:solidFill>
                  <a:srgbClr val="5B6372"/>
                </a:solidFill>
                <a:latin typeface="Arial"/>
              </a:rPr>
              <a:t>Role, organisation and recurring knowledge work.</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Your M365 baseline</a:t>
            </a:r>
          </a:p>
          <a:p>
            <a:pPr algn="l">
              <a:spcAft>
                <a:spcPts val="300"/>
              </a:spcAft>
            </a:pPr>
            <a:r>
              <a:rPr sz="1200" b="0">
                <a:solidFill>
                  <a:srgbClr val="5B6372"/>
                </a:solidFill>
                <a:latin typeface="Arial"/>
              </a:rPr>
              <a:t>Word, PowerPoint, Excel, Outlook, Teams and Loop.</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Your friction</a:t>
            </a:r>
          </a:p>
          <a:p>
            <a:pPr algn="l">
              <a:spcAft>
                <a:spcPts val="300"/>
              </a:spcAft>
            </a:pPr>
            <a:r>
              <a:rPr sz="1200" b="0">
                <a:solidFill>
                  <a:srgbClr val="5B6372"/>
                </a:solidFill>
                <a:latin typeface="Arial"/>
              </a:rPr>
              <a:t>One task that is slow, repetitive or inconsistent.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Your outcome</a:t>
            </a:r>
          </a:p>
          <a:p>
            <a:pPr algn="l">
              <a:spcAft>
                <a:spcPts val="300"/>
              </a:spcAft>
            </a:pPr>
            <a:r>
              <a:rPr sz="1200" b="0">
                <a:solidFill>
                  <a:srgbClr val="5B6372"/>
                </a:solidFill>
                <a:latin typeface="Arial"/>
              </a:rPr>
              <a:t>What you want to improve safely over two days.</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a:t>
            </a:r>
          </a:p>
        </p:txBody>
      </p:sp>
    </p:spTree>
  </p:cSld>
  <p:clrMapOvr>
    <a:masterClrMapping/>
  </p:clrMapOvr>
  <p:transition spd="slow">
    <p:fade/>
  </p:transition>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HOUSEKEEPING</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Ground Rules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0176"/>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176528"/>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Be present</a:t>
            </a:r>
          </a:p>
          <a:p>
            <a:pPr algn="l">
              <a:spcAft>
                <a:spcPts val="300"/>
              </a:spcAft>
            </a:pPr>
            <a:r>
              <a:rPr sz="1200" b="0">
                <a:solidFill>
                  <a:srgbClr val="5B6372"/>
                </a:solidFill>
                <a:latin typeface="Arial"/>
              </a:rPr>
              <a:t>Return from breaks on time and complete attendance.</a:t>
            </a:r>
          </a:p>
        </p:txBody>
      </p:sp>
      <p:sp>
        <p:nvSpPr>
          <p:cNvPr id="12" name="Rounded Rectangle 11"/>
          <p:cNvSpPr/>
          <p:nvPr/>
        </p:nvSpPr>
        <p:spPr>
          <a:xfrm>
            <a:off x="624078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170176"/>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176528"/>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Participate</a:t>
            </a:r>
          </a:p>
          <a:p>
            <a:pPr algn="l">
              <a:spcAft>
                <a:spcPts val="300"/>
              </a:spcAft>
            </a:pPr>
            <a:r>
              <a:rPr sz="1200" b="0">
                <a:solidFill>
                  <a:srgbClr val="5B6372"/>
                </a:solidFill>
                <a:latin typeface="Arial"/>
              </a:rPr>
              <a:t>Ask, test and explain your reasoning.</a:t>
            </a:r>
          </a:p>
        </p:txBody>
      </p:sp>
      <p:sp>
        <p:nvSpPr>
          <p:cNvPr id="17" name="Rounded Rectangle 16"/>
          <p:cNvSpPr/>
          <p:nvPr/>
        </p:nvSpPr>
        <p:spPr>
          <a:xfrm>
            <a:off x="77724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13228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3398520"/>
            <a:ext cx="4046220" cy="1176528"/>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Respect</a:t>
            </a:r>
          </a:p>
          <a:p>
            <a:pPr algn="l">
              <a:spcAft>
                <a:spcPts val="300"/>
              </a:spcAft>
            </a:pPr>
            <a:r>
              <a:rPr sz="1200" b="0">
                <a:solidFill>
                  <a:srgbClr val="5B6372"/>
                </a:solidFill>
                <a:latin typeface="Arial"/>
              </a:rPr>
              <a:t>One conversation; critique ideas, not people.</a:t>
            </a:r>
          </a:p>
        </p:txBody>
      </p:sp>
      <p:sp>
        <p:nvSpPr>
          <p:cNvPr id="22" name="Rounded Rectangle 21"/>
          <p:cNvSpPr/>
          <p:nvPr/>
        </p:nvSpPr>
        <p:spPr>
          <a:xfrm>
            <a:off x="624078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3307080"/>
            <a:ext cx="82296" cy="1322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3712464"/>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3398520"/>
            <a:ext cx="4046220" cy="1176528"/>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Protect data</a:t>
            </a:r>
          </a:p>
          <a:p>
            <a:pPr algn="l">
              <a:spcAft>
                <a:spcPts val="300"/>
              </a:spcAft>
            </a:pPr>
            <a:r>
              <a:rPr sz="1200" b="0">
                <a:solidFill>
                  <a:srgbClr val="5B6372"/>
                </a:solidFill>
                <a:latin typeface="Arial"/>
              </a:rPr>
              <a:t>Use only the supplied synthetic company files.</a:t>
            </a:r>
          </a:p>
        </p:txBody>
      </p:sp>
      <p:sp>
        <p:nvSpPr>
          <p:cNvPr id="27" name="Rounded Rectangle 26"/>
          <p:cNvSpPr/>
          <p:nvPr/>
        </p:nvSpPr>
        <p:spPr>
          <a:xfrm>
            <a:off x="77724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5475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709928" y="4940808"/>
            <a:ext cx="4046220" cy="1176528"/>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Verify</a:t>
            </a:r>
          </a:p>
          <a:p>
            <a:pPr algn="l">
              <a:spcAft>
                <a:spcPts val="300"/>
              </a:spcAft>
            </a:pPr>
            <a:r>
              <a:rPr sz="1200" b="0">
                <a:solidFill>
                  <a:srgbClr val="5B6372"/>
                </a:solidFill>
                <a:latin typeface="Arial"/>
              </a:rPr>
              <a:t>Copilot output is a draft until evidence is checked.</a:t>
            </a:r>
          </a:p>
        </p:txBody>
      </p:sp>
      <p:sp>
        <p:nvSpPr>
          <p:cNvPr id="32" name="Rounded Rectangle 31"/>
          <p:cNvSpPr/>
          <p:nvPr/>
        </p:nvSpPr>
        <p:spPr>
          <a:xfrm>
            <a:off x="624078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0780" y="4849368"/>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78524" y="5254752"/>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852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6</a:t>
            </a:r>
          </a:p>
        </p:txBody>
      </p:sp>
      <p:sp>
        <p:nvSpPr>
          <p:cNvPr id="36" name="TextBox 35"/>
          <p:cNvSpPr txBox="1"/>
          <p:nvPr/>
        </p:nvSpPr>
        <p:spPr>
          <a:xfrm>
            <a:off x="7173468" y="4940808"/>
            <a:ext cx="4046220" cy="1176528"/>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Human control</a:t>
            </a:r>
          </a:p>
          <a:p>
            <a:pPr algn="l">
              <a:spcAft>
                <a:spcPts val="300"/>
              </a:spcAft>
            </a:pPr>
            <a:r>
              <a:rPr sz="1200" b="0">
                <a:solidFill>
                  <a:srgbClr val="5B6372"/>
                </a:solidFill>
                <a:latin typeface="Arial"/>
              </a:rPr>
              <a:t>Do not send, publish or approve automatically.</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a:t>
            </a:r>
          </a:p>
        </p:txBody>
      </p:sp>
    </p:spTree>
  </p:cSld>
  <p:clrMapOvr>
    <a:masterClrMapping/>
  </p:clrMapOvr>
  <p:transition spd="slow">
    <p:fade/>
  </p:transition>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TWO-DAY JOURNEY</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Course Outline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Day 1</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Copilot foundations and prompting</a:t>
            </a:r>
          </a:p>
        </p:txBody>
      </p:sp>
      <p:sp>
        <p:nvSpPr>
          <p:cNvPr id="11" name="TextBox 10"/>
          <p:cNvSpPr txBox="1"/>
          <p:nvPr/>
        </p:nvSpPr>
        <p:spPr>
          <a:xfrm>
            <a:off x="1024128"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Word drafting and policy refinement</a:t>
            </a:r>
          </a:p>
        </p:txBody>
      </p:sp>
      <p:sp>
        <p:nvSpPr>
          <p:cNvPr id="12" name="TextBox 11"/>
          <p:cNvSpPr txBox="1"/>
          <p:nvPr/>
        </p:nvSpPr>
        <p:spPr>
          <a:xfrm>
            <a:off x="1024128"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PowerPoint stories and native charts</a:t>
            </a:r>
          </a:p>
        </p:txBody>
      </p:sp>
      <p:sp>
        <p:nvSpPr>
          <p:cNvPr id="13" name="TextBox 12"/>
          <p:cNvSpPr txBox="1"/>
          <p:nvPr/>
        </p:nvSpPr>
        <p:spPr>
          <a:xfrm>
            <a:off x="1024128" y="4937760"/>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Excel formulas, deep analysis and forecasting</a:t>
            </a:r>
          </a:p>
        </p:txBody>
      </p:sp>
      <p:sp>
        <p:nvSpPr>
          <p:cNvPr id="14" name="Rounded Rectangle 13"/>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Day 2</a:t>
            </a:r>
          </a:p>
        </p:txBody>
      </p:sp>
      <p:sp>
        <p:nvSpPr>
          <p:cNvPr id="17" name="TextBox 16"/>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Outlook triage and controlled drafts</a:t>
            </a:r>
          </a:p>
        </p:txBody>
      </p:sp>
      <p:sp>
        <p:nvSpPr>
          <p:cNvPr id="18" name="TextBox 17"/>
          <p:cNvSpPr txBox="1"/>
          <p:nvPr/>
        </p:nvSpPr>
        <p:spPr>
          <a:xfrm>
            <a:off x="4736591"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Teams meeting intelligence</a:t>
            </a:r>
          </a:p>
        </p:txBody>
      </p:sp>
      <p:sp>
        <p:nvSpPr>
          <p:cNvPr id="19" name="TextBox 18"/>
          <p:cNvSpPr txBox="1"/>
          <p:nvPr/>
        </p:nvSpPr>
        <p:spPr>
          <a:xfrm>
            <a:off x="4736591"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Loop implementation and training</a:t>
            </a:r>
          </a:p>
        </p:txBody>
      </p:sp>
      <p:sp>
        <p:nvSpPr>
          <p:cNvPr id="20" name="TextBox 19"/>
          <p:cNvSpPr txBox="1"/>
          <p:nvPr/>
        </p:nvSpPr>
        <p:spPr>
          <a:xfrm>
            <a:off x="4736591" y="4937760"/>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Copilot agents and governed pipelines</a:t>
            </a:r>
          </a:p>
        </p:txBody>
      </p:sp>
      <p:sp>
        <p:nvSpPr>
          <p:cNvPr id="21" name="Rounded Rectangle 20"/>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Evidence</a:t>
            </a:r>
          </a:p>
        </p:txBody>
      </p:sp>
      <p:sp>
        <p:nvSpPr>
          <p:cNvPr id="24" name="TextBox 23"/>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16 progressive lab folders</a:t>
            </a:r>
          </a:p>
        </p:txBody>
      </p:sp>
      <p:sp>
        <p:nvSpPr>
          <p:cNvPr id="25" name="TextBox 24"/>
          <p:cNvSpPr txBox="1"/>
          <p:nvPr/>
        </p:nvSpPr>
        <p:spPr>
          <a:xfrm>
            <a:off x="8449054"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An Excel workbook in every lab</a:t>
            </a:r>
          </a:p>
        </p:txBody>
      </p:sp>
      <p:sp>
        <p:nvSpPr>
          <p:cNvPr id="26" name="TextBox 25"/>
          <p:cNvSpPr txBox="1"/>
          <p:nvPr/>
        </p:nvSpPr>
        <p:spPr>
          <a:xfrm>
            <a:off x="8449054"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Detailed prompts in LG and activities</a:t>
            </a:r>
          </a:p>
        </p:txBody>
      </p:sp>
      <p:sp>
        <p:nvSpPr>
          <p:cNvPr id="27" name="TextBox 26"/>
          <p:cNvSpPr txBox="1"/>
          <p:nvPr/>
        </p:nvSpPr>
        <p:spPr>
          <a:xfrm>
            <a:off x="8449054" y="4937760"/>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Final pipeline pilot and handover</a:t>
            </a:r>
          </a:p>
        </p:txBody>
      </p:sp>
      <p:sp>
        <p:nvSpPr>
          <p:cNvPr id="28" name="TextBox 27"/>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9" name="TextBox 28"/>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0" name="TextBox 29"/>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a:t>
            </a:r>
          </a:p>
        </p:txBody>
      </p:sp>
    </p:spTree>
  </p:cSld>
  <p:clrMapOvr>
    <a:masterClrMapping/>
  </p:clrMapOvr>
  <p:transition spd="slow">
    <p:fade/>
  </p:transition>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SCHEDULE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Lesson Plan — 2 Days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DAY 1</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9:00–10:25 · Foundations and safe prompting</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10:35–12:30 · Word workflows</a:t>
            </a:r>
          </a:p>
        </p:txBody>
      </p:sp>
      <p:sp>
        <p:nvSpPr>
          <p:cNvPr id="16" name="Oval 15"/>
          <p:cNvSpPr/>
          <p:nvPr/>
        </p:nvSpPr>
        <p:spPr>
          <a:xfrm>
            <a:off x="1033272" y="4187952"/>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18" name="TextBox 17"/>
          <p:cNvSpPr txBox="1"/>
          <p:nvPr/>
        </p:nvSpPr>
        <p:spPr>
          <a:xfrm>
            <a:off x="1527048"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1:15–3:10 · PowerPoint storytelling</a:t>
            </a:r>
          </a:p>
        </p:txBody>
      </p:sp>
      <p:sp>
        <p:nvSpPr>
          <p:cNvPr id="19" name="Oval 18"/>
          <p:cNvSpPr/>
          <p:nvPr/>
        </p:nvSpPr>
        <p:spPr>
          <a:xfrm>
            <a:off x="1033272" y="4974336"/>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21" name="TextBox 20"/>
          <p:cNvSpPr txBox="1"/>
          <p:nvPr/>
        </p:nvSpPr>
        <p:spPr>
          <a:xfrm>
            <a:off x="1527048"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3:20–6:00 · Excel analysis and forecasting</a:t>
            </a:r>
          </a:p>
        </p:txBody>
      </p:sp>
      <p:sp>
        <p:nvSpPr>
          <p:cNvPr id="22" name="Rounded Rectangle 21"/>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DAY 2</a:t>
            </a:r>
          </a:p>
        </p:txBody>
      </p:sp>
      <p:sp>
        <p:nvSpPr>
          <p:cNvPr id="25" name="Oval 24"/>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7" name="TextBox 26"/>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9:00–10:45 · Outlook and Teams</a:t>
            </a:r>
          </a:p>
        </p:txBody>
      </p:sp>
      <p:sp>
        <p:nvSpPr>
          <p:cNvPr id="28" name="Oval 27"/>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30" name="TextBox 29"/>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10:55–12:30 · Loop and transition planning</a:t>
            </a:r>
          </a:p>
        </p:txBody>
      </p:sp>
      <p:sp>
        <p:nvSpPr>
          <p:cNvPr id="31" name="Oval 30"/>
          <p:cNvSpPr/>
          <p:nvPr/>
        </p:nvSpPr>
        <p:spPr>
          <a:xfrm>
            <a:off x="6492240" y="4187952"/>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33" name="TextBox 32"/>
          <p:cNvSpPr txBox="1"/>
          <p:nvPr/>
        </p:nvSpPr>
        <p:spPr>
          <a:xfrm>
            <a:off x="6986016"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1:15–4:00 · Agents and governed pipelines</a:t>
            </a:r>
          </a:p>
        </p:txBody>
      </p:sp>
      <p:sp>
        <p:nvSpPr>
          <p:cNvPr id="34" name="Oval 33"/>
          <p:cNvSpPr/>
          <p:nvPr/>
        </p:nvSpPr>
        <p:spPr>
          <a:xfrm>
            <a:off x="6492240" y="4974336"/>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0"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36" name="TextBox 35"/>
          <p:cNvSpPr txBox="1"/>
          <p:nvPr/>
        </p:nvSpPr>
        <p:spPr>
          <a:xfrm>
            <a:off x="6986016"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4:00–6:00 · WA and PP assessment</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a:t>
            </a:r>
          </a:p>
        </p:txBody>
      </p:sp>
    </p:spTree>
  </p:cSld>
  <p:clrMapOvr>
    <a:masterClrMapping/>
  </p:clrMapOvr>
  <p:transition spd="slow">
    <p:fade/>
  </p:transition>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WHAT YOU WILL ACHIEVE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Learning Outcomes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LO1</a:t>
            </a:r>
          </a:p>
          <a:p>
            <a:pPr algn="l">
              <a:spcAft>
                <a:spcPts val="300"/>
              </a:spcAft>
            </a:pPr>
            <a:r>
              <a:rPr sz="1000" b="0">
                <a:solidFill>
                  <a:srgbClr val="5B6372"/>
                </a:solidFill>
                <a:latin typeface="Arial"/>
              </a:rPr>
              <a:t>Predict and mitigate challenges in integrating Microsoft 365 Copilot into a workflow.</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LO2</a:t>
            </a:r>
          </a:p>
          <a:p>
            <a:pPr algn="l">
              <a:spcAft>
                <a:spcPts val="300"/>
              </a:spcAft>
            </a:pPr>
            <a:r>
              <a:rPr sz="1000" b="0">
                <a:solidFill>
                  <a:srgbClr val="5B6372"/>
                </a:solidFill>
                <a:latin typeface="Arial"/>
              </a:rPr>
              <a:t>Develop a plan for implementing Microsoft 365 Copilot and transitioning from a legacy workflow.</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LO3</a:t>
            </a:r>
          </a:p>
          <a:p>
            <a:pPr algn="l">
              <a:spcAft>
                <a:spcPts val="300"/>
              </a:spcAft>
            </a:pPr>
            <a:r>
              <a:rPr sz="1000" b="0">
                <a:solidFill>
                  <a:srgbClr val="5B6372"/>
                </a:solidFill>
                <a:latin typeface="Arial"/>
              </a:rPr>
              <a:t>Evaluate productivity opportunities across Teams, Outlook and Microsoft 365 Copilot Chat.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LO4</a:t>
            </a:r>
          </a:p>
          <a:p>
            <a:pPr algn="l">
              <a:spcAft>
                <a:spcPts val="300"/>
              </a:spcAft>
            </a:pPr>
            <a:r>
              <a:rPr sz="1000" b="0">
                <a:solidFill>
                  <a:srgbClr val="5B6372"/>
                </a:solidFill>
                <a:latin typeface="Arial"/>
              </a:rPr>
              <a:t>Design a staff enablement plan and a governed Copilot agent pipeline.</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a:t>
            </a:r>
          </a:p>
        </p:txBody>
      </p:sp>
    </p:spTree>
  </p:cSld>
  <p:clrMapOvr>
    <a:masterClrMapping/>
  </p:clrMapOvr>
  <p:transition spd="slow">
    <p:fade/>
  </p:transition>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DIGITAL TECHNOLOGY ADOPTION AND INNOVATION · ACC-ICT-4004-1.1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Skills Framework Alignment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0176"/>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176528"/>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K1</a:t>
            </a:r>
          </a:p>
          <a:p>
            <a:pPr algn="l">
              <a:spcAft>
                <a:spcPts val="300"/>
              </a:spcAft>
            </a:pPr>
            <a:r>
              <a:rPr sz="900" b="0">
                <a:solidFill>
                  <a:srgbClr val="5B6372"/>
                </a:solidFill>
                <a:latin typeface="Arial"/>
              </a:rPr>
              <a:t>Relevant systems and software</a:t>
            </a:r>
          </a:p>
        </p:txBody>
      </p:sp>
      <p:sp>
        <p:nvSpPr>
          <p:cNvPr id="12" name="Rounded Rectangle 11"/>
          <p:cNvSpPr/>
          <p:nvPr/>
        </p:nvSpPr>
        <p:spPr>
          <a:xfrm>
            <a:off x="624078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170176"/>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176528"/>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K2</a:t>
            </a:r>
          </a:p>
          <a:p>
            <a:pPr algn="l">
              <a:spcAft>
                <a:spcPts val="300"/>
              </a:spcAft>
            </a:pPr>
            <a:r>
              <a:rPr sz="900" b="0">
                <a:solidFill>
                  <a:srgbClr val="5B6372"/>
                </a:solidFill>
                <a:latin typeface="Arial"/>
              </a:rPr>
              <a:t>Organisation processes</a:t>
            </a:r>
          </a:p>
        </p:txBody>
      </p:sp>
      <p:sp>
        <p:nvSpPr>
          <p:cNvPr id="17" name="Rounded Rectangle 16"/>
          <p:cNvSpPr/>
          <p:nvPr/>
        </p:nvSpPr>
        <p:spPr>
          <a:xfrm>
            <a:off x="77724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13228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3398520"/>
            <a:ext cx="4046220" cy="1176528"/>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K3</a:t>
            </a:r>
          </a:p>
          <a:p>
            <a:pPr algn="l">
              <a:spcAft>
                <a:spcPts val="300"/>
              </a:spcAft>
            </a:pPr>
            <a:r>
              <a:rPr sz="900" b="0">
                <a:solidFill>
                  <a:srgbClr val="5B6372"/>
                </a:solidFill>
                <a:latin typeface="Arial"/>
              </a:rPr>
              <a:t>Systems transition process</a:t>
            </a:r>
          </a:p>
        </p:txBody>
      </p:sp>
      <p:sp>
        <p:nvSpPr>
          <p:cNvPr id="22" name="Rounded Rectangle 21"/>
          <p:cNvSpPr/>
          <p:nvPr/>
        </p:nvSpPr>
        <p:spPr>
          <a:xfrm>
            <a:off x="624078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3307080"/>
            <a:ext cx="82296" cy="1322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3712464"/>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3398520"/>
            <a:ext cx="4046220" cy="1176528"/>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K4</a:t>
            </a:r>
          </a:p>
          <a:p>
            <a:pPr algn="l">
              <a:spcAft>
                <a:spcPts val="300"/>
              </a:spcAft>
            </a:pPr>
            <a:r>
              <a:rPr sz="900" b="0">
                <a:solidFill>
                  <a:srgbClr val="5B6372"/>
                </a:solidFill>
                <a:latin typeface="Arial"/>
              </a:rPr>
              <a:t>Emerging technology trends including artificial intelligence and automation</a:t>
            </a:r>
          </a:p>
        </p:txBody>
      </p:sp>
      <p:sp>
        <p:nvSpPr>
          <p:cNvPr id="27" name="Rounded Rectangle 26"/>
          <p:cNvSpPr/>
          <p:nvPr/>
        </p:nvSpPr>
        <p:spPr>
          <a:xfrm>
            <a:off x="77724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5475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709928" y="4940808"/>
            <a:ext cx="4046220" cy="1176528"/>
          </a:xfrm>
          <a:prstGeom prst="rect">
            <a:avLst/>
          </a:prstGeom>
          <a:noFill/>
        </p:spPr>
        <p:txBody>
          <a:bodyPr wrap="square" anchor="ctr" lIns="54864" rIns="54864" tIns="54864" bIns="54864">
            <a:spAutoFit/>
          </a:bodyPr>
          <a:lstStyle/>
          <a:p>
            <a:pPr algn="l">
              <a:spcAft>
                <a:spcPts val="300"/>
              </a:spcAft>
            </a:pPr>
            <a:r>
              <a:rPr sz="1200" b="1">
                <a:solidFill>
                  <a:srgbClr val="161B26"/>
                </a:solidFill>
                <a:latin typeface="Arial"/>
              </a:rPr>
              <a:t>A1–A4</a:t>
            </a:r>
          </a:p>
          <a:p>
            <a:pPr algn="l">
              <a:spcAft>
                <a:spcPts val="300"/>
              </a:spcAft>
            </a:pPr>
            <a:r>
              <a:rPr sz="900" b="0">
                <a:solidFill>
                  <a:srgbClr val="5B6372"/>
                </a:solidFill>
                <a:latin typeface="Arial"/>
              </a:rPr>
              <a:t>Transition, opportunity evaluation and staff enablement abilities are practised across the 16 labs.</a:t>
            </a:r>
          </a:p>
        </p:txBody>
      </p:sp>
      <p:sp>
        <p:nvSpPr>
          <p:cNvPr id="32" name="TextBox 3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3" name="TextBox 3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a:t>
            </a:r>
          </a:p>
        </p:txBody>
      </p:sp>
    </p:spTree>
  </p:cSld>
  <p:clrMapOvr>
    <a:masterClrMapping/>
  </p:clrMapOvr>
  <p:transition spd="slow">
    <p:fade/>
  </p:transition>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BEFORE ASSESSMENT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Briefing for Assessment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0176"/>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Individual work</a:t>
            </a:r>
          </a:p>
          <a:p>
            <a:pPr algn="l">
              <a:spcAft>
                <a:spcPts val="300"/>
              </a:spcAft>
            </a:pPr>
            <a:r>
              <a:rPr sz="1100" b="0">
                <a:solidFill>
                  <a:srgbClr val="5B6372"/>
                </a:solidFill>
                <a:latin typeface="Arial"/>
              </a:rPr>
              <a:t>No discussion or sharing during either paper.</a:t>
            </a:r>
          </a:p>
        </p:txBody>
      </p:sp>
      <p:sp>
        <p:nvSpPr>
          <p:cNvPr id="12" name="Rounded Rectangle 11"/>
          <p:cNvSpPr/>
          <p:nvPr/>
        </p:nvSpPr>
        <p:spPr>
          <a:xfrm>
            <a:off x="624078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170176"/>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Open book</a:t>
            </a:r>
          </a:p>
          <a:p>
            <a:pPr algn="l">
              <a:spcAft>
                <a:spcPts val="300"/>
              </a:spcAft>
            </a:pPr>
            <a:r>
              <a:rPr sz="1100" b="0">
                <a:solidFill>
                  <a:srgbClr val="5B6372"/>
                </a:solidFill>
                <a:latin typeface="Arial"/>
              </a:rPr>
              <a:t>Use the slides, Learner Guide and approved materials only.</a:t>
            </a:r>
          </a:p>
        </p:txBody>
      </p:sp>
      <p:sp>
        <p:nvSpPr>
          <p:cNvPr id="17" name="Rounded Rectangle 16"/>
          <p:cNvSpPr/>
          <p:nvPr/>
        </p:nvSpPr>
        <p:spPr>
          <a:xfrm>
            <a:off x="77724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13228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3398520"/>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Devices</a:t>
            </a:r>
          </a:p>
          <a:p>
            <a:pPr algn="l">
              <a:spcAft>
                <a:spcPts val="300"/>
              </a:spcAft>
            </a:pPr>
            <a:r>
              <a:rPr sz="1100" b="0">
                <a:solidFill>
                  <a:srgbClr val="5B6372"/>
                </a:solidFill>
                <a:latin typeface="Arial"/>
              </a:rPr>
              <a:t>Place phones and unrelated materials under the table.</a:t>
            </a:r>
          </a:p>
        </p:txBody>
      </p:sp>
      <p:sp>
        <p:nvSpPr>
          <p:cNvPr id="22" name="Rounded Rectangle 21"/>
          <p:cNvSpPr/>
          <p:nvPr/>
        </p:nvSpPr>
        <p:spPr>
          <a:xfrm>
            <a:off x="624078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3307080"/>
            <a:ext cx="82296" cy="1322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3712464"/>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3398520"/>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Evidence</a:t>
            </a:r>
          </a:p>
          <a:p>
            <a:pPr algn="l">
              <a:spcAft>
                <a:spcPts val="300"/>
              </a:spcAft>
            </a:pPr>
            <a:r>
              <a:rPr sz="1100" b="0">
                <a:solidFill>
                  <a:srgbClr val="5B6372"/>
                </a:solidFill>
                <a:latin typeface="Arial"/>
              </a:rPr>
              <a:t>Submit your own files, screenshots and explanation.</a:t>
            </a:r>
          </a:p>
        </p:txBody>
      </p:sp>
      <p:sp>
        <p:nvSpPr>
          <p:cNvPr id="27" name="Rounded Rectangle 26"/>
          <p:cNvSpPr/>
          <p:nvPr/>
        </p:nvSpPr>
        <p:spPr>
          <a:xfrm>
            <a:off x="77724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5475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709928" y="4940808"/>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Integrity</a:t>
            </a:r>
          </a:p>
          <a:p>
            <a:pPr algn="l">
              <a:spcAft>
                <a:spcPts val="300"/>
              </a:spcAft>
            </a:pPr>
            <a:r>
              <a:rPr sz="1100" b="0">
                <a:solidFill>
                  <a:srgbClr val="5B6372"/>
                </a:solidFill>
                <a:latin typeface="Arial"/>
              </a:rPr>
              <a:t>No photos, recording or verbatim copying.</a:t>
            </a:r>
          </a:p>
        </p:txBody>
      </p:sp>
      <p:sp>
        <p:nvSpPr>
          <p:cNvPr id="32" name="Rounded Rectangle 31"/>
          <p:cNvSpPr/>
          <p:nvPr/>
        </p:nvSpPr>
        <p:spPr>
          <a:xfrm>
            <a:off x="624078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0780" y="4849368"/>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78524" y="5254752"/>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852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6</a:t>
            </a:r>
          </a:p>
        </p:txBody>
      </p:sp>
      <p:sp>
        <p:nvSpPr>
          <p:cNvPr id="36" name="TextBox 35"/>
          <p:cNvSpPr txBox="1"/>
          <p:nvPr/>
        </p:nvSpPr>
        <p:spPr>
          <a:xfrm>
            <a:off x="7173468" y="4940808"/>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Support</a:t>
            </a:r>
          </a:p>
          <a:p>
            <a:pPr algn="l">
              <a:spcAft>
                <a:spcPts val="300"/>
              </a:spcAft>
            </a:pPr>
            <a:r>
              <a:rPr sz="1100" b="0">
                <a:solidFill>
                  <a:srgbClr val="5B6372"/>
                </a:solidFill>
                <a:latin typeface="Arial"/>
              </a:rPr>
              <a:t>Re-assessment and appeal arrangements are available.</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a:t>
            </a:r>
          </a:p>
        </p:txBody>
      </p:sp>
    </p:spTree>
  </p:cSld>
  <p:clrMapOvr>
    <a:masterClrMapping/>
  </p:clrMapOvr>
  <p:transition spd="slow">
    <p:fade/>
  </p:transition>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FINAL ASSESSMENT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Assessment and Funding</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Written Assessment (WA/SAQ)</a:t>
            </a:r>
          </a:p>
          <a:p>
            <a:pPr algn="l">
              <a:spcAft>
                <a:spcPts val="300"/>
              </a:spcAft>
            </a:pPr>
            <a:r>
              <a:rPr sz="1100" b="0">
                <a:solidFill>
                  <a:srgbClr val="5B6372"/>
                </a:solidFill>
                <a:latin typeface="Arial"/>
              </a:rPr>
              <a:t>4 open-ended questions, 60 minutes, open book.</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Practical Performance (PP)</a:t>
            </a:r>
          </a:p>
          <a:p>
            <a:pPr algn="l">
              <a:spcAft>
                <a:spcPts val="300"/>
              </a:spcAft>
            </a:pPr>
            <a:r>
              <a:rPr sz="1100" b="0">
                <a:solidFill>
                  <a:srgbClr val="5B6372"/>
                </a:solidFill>
                <a:latin typeface="Arial"/>
              </a:rPr>
              <a:t>4 connected Microsoft 365 tasks, 60 minutes, open book.</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Outcome</a:t>
            </a:r>
          </a:p>
          <a:p>
            <a:pPr algn="l">
              <a:spcAft>
                <a:spcPts val="300"/>
              </a:spcAft>
            </a:pPr>
            <a:r>
              <a:rPr sz="1100" b="0">
                <a:solidFill>
                  <a:srgbClr val="5B6372"/>
                </a:solidFill>
                <a:latin typeface="Arial"/>
              </a:rPr>
              <a:t>Competent (C) or Not Yet Competent (NYC).</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 minimum of 75% attendance and a Competent assessment outcome are required.</a:t>
            </a:r>
          </a:p>
          <a:p>
            <a:pPr algn="l">
              <a:spcAft>
                <a:spcPts val="300"/>
              </a:spcAft>
            </a:pPr>
            <a:r>
              <a:rPr sz="1100" b="0">
                <a:solidFill>
                  <a:srgbClr val="5B6372"/>
                </a:solidFill>
                <a:latin typeface="Arial"/>
              </a:rPr>
              <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a:t>
            </a:r>
          </a:p>
        </p:txBody>
      </p:sp>
    </p:spTree>
  </p:cSld>
  <p:clrMapOvr>
    <a:masterClrMapping/>
  </p:clrMapOvr>
  <p:transition spd="slow">
    <p:fade/>
  </p:transition>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ASSESSMENT DAY</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Assessment Flow</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85316"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85316"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TRAQOM digital attendance</a:t>
            </a:r>
          </a:p>
        </p:txBody>
      </p:sp>
      <p:sp>
        <p:nvSpPr>
          <p:cNvPr id="12" name="TextBox 11"/>
          <p:cNvSpPr txBox="1"/>
          <p:nvPr/>
        </p:nvSpPr>
        <p:spPr>
          <a:xfrm>
            <a:off x="2688336"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2962656"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0732"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0732"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090672"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Assessment digital attendance</a:t>
            </a:r>
          </a:p>
        </p:txBody>
      </p:sp>
      <p:sp>
        <p:nvSpPr>
          <p:cNvPr id="18" name="TextBox 17"/>
          <p:cNvSpPr txBox="1"/>
          <p:nvPr/>
        </p:nvSpPr>
        <p:spPr>
          <a:xfrm>
            <a:off x="4873752"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5148072"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8072"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8"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8"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5276088"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Sit WA then PP</a:t>
            </a:r>
          </a:p>
        </p:txBody>
      </p:sp>
      <p:sp>
        <p:nvSpPr>
          <p:cNvPr id="24" name="TextBox 23"/>
          <p:cNvSpPr txBox="1"/>
          <p:nvPr/>
        </p:nvSpPr>
        <p:spPr>
          <a:xfrm>
            <a:off x="7059168"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7333488"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33488"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1564"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1564"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7461504"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Submit on the LMS</a:t>
            </a:r>
          </a:p>
        </p:txBody>
      </p:sp>
      <p:sp>
        <p:nvSpPr>
          <p:cNvPr id="30" name="TextBox 29"/>
          <p:cNvSpPr txBox="1"/>
          <p:nvPr/>
        </p:nvSpPr>
        <p:spPr>
          <a:xfrm>
            <a:off x="9244584"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31" name="Rounded Rectangle 30"/>
          <p:cNvSpPr/>
          <p:nvPr/>
        </p:nvSpPr>
        <p:spPr>
          <a:xfrm>
            <a:off x="9518904"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18904"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26980"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6980"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5</a:t>
            </a:r>
          </a:p>
        </p:txBody>
      </p:sp>
      <p:sp>
        <p:nvSpPr>
          <p:cNvPr id="35" name="TextBox 34"/>
          <p:cNvSpPr txBox="1"/>
          <p:nvPr/>
        </p:nvSpPr>
        <p:spPr>
          <a:xfrm>
            <a:off x="9646920"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Sign Assessment Summary Record</a:t>
            </a:r>
          </a:p>
        </p:txBody>
      </p:sp>
      <p:sp>
        <p:nvSpPr>
          <p:cNvPr id="36" name="TextBox 35"/>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7" name="TextBox 36"/>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8" name="TextBox 37"/>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a:t>
            </a:r>
          </a:p>
        </p:txBody>
      </p:sp>
    </p:spTree>
  </p:cSld>
  <p:clrMapOvr>
    <a:masterClrMapping/>
  </p:clrMapOvr>
  <p:transition spd="slow">
    <p:fade/>
  </p:transition>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COURSE REPOSITORY</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Access the Hands-On Activities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Option A · Clone</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Use Git to clone the repository</a:t>
            </a:r>
          </a:p>
        </p:txBody>
      </p:sp>
      <p:sp>
        <p:nvSpPr>
          <p:cNvPr id="11" name="TextBox 10"/>
          <p:cNvSpPr txBox="1"/>
          <p:nvPr/>
        </p:nvSpPr>
        <p:spPr>
          <a:xfrm>
            <a:off x="1024128"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Open the numbered activity folder</a:t>
            </a:r>
          </a:p>
        </p:txBody>
      </p:sp>
      <p:sp>
        <p:nvSpPr>
          <p:cNvPr id="12" name="TextBox 11"/>
          <p:cNvSpPr txBox="1"/>
          <p:nvPr/>
        </p:nvSpPr>
        <p:spPr>
          <a:xfrm>
            <a:off x="1024128"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Start with the Excel workbook in the folder</a:t>
            </a:r>
          </a:p>
        </p:txBody>
      </p:sp>
      <p:sp>
        <p:nvSpPr>
          <p:cNvPr id="13" name="Rounded Rectangle 12"/>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Option B · Download ZIP</a:t>
            </a:r>
          </a:p>
        </p:txBody>
      </p:sp>
      <p:sp>
        <p:nvSpPr>
          <p:cNvPr id="16" name="TextBox 15"/>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GitHub &gt; Code &gt; Download ZIP</a:t>
            </a:r>
          </a:p>
        </p:txBody>
      </p:sp>
      <p:sp>
        <p:nvSpPr>
          <p:cNvPr id="17" name="TextBox 16"/>
          <p:cNvSpPr txBox="1"/>
          <p:nvPr/>
        </p:nvSpPr>
        <p:spPr>
          <a:xfrm>
            <a:off x="4736591"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Extract the full activities tree</a:t>
            </a:r>
          </a:p>
        </p:txBody>
      </p:sp>
      <p:sp>
        <p:nvSpPr>
          <p:cNvPr id="18" name="TextBox 17"/>
          <p:cNvSpPr txBox="1"/>
          <p:nvPr/>
        </p:nvSpPr>
        <p:spPr>
          <a:xfrm>
            <a:off x="4736591"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Keep output inside its activity folder</a:t>
            </a:r>
          </a:p>
        </p:txBody>
      </p:sp>
      <p:sp>
        <p:nvSpPr>
          <p:cNvPr id="19" name="Rounded Rectangle 18"/>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Activity discipline</a:t>
            </a:r>
          </a:p>
        </p:txBody>
      </p:sp>
      <p:sp>
        <p:nvSpPr>
          <p:cNvPr id="22" name="TextBox 21"/>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Use the LG for detailed procedures</a:t>
            </a:r>
          </a:p>
        </p:txBody>
      </p:sp>
      <p:sp>
        <p:nvSpPr>
          <p:cNvPr id="23" name="TextBox 22"/>
          <p:cNvSpPr txBox="1"/>
          <p:nvPr/>
        </p:nvSpPr>
        <p:spPr>
          <a:xfrm>
            <a:off x="8449054"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Verify evidence before acceptance</a:t>
            </a:r>
          </a:p>
        </p:txBody>
      </p:sp>
      <p:sp>
        <p:nvSpPr>
          <p:cNvPr id="24" name="TextBox 23"/>
          <p:cNvSpPr txBox="1"/>
          <p:nvPr/>
        </p:nvSpPr>
        <p:spPr>
          <a:xfrm>
            <a:off x="8449054"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Retain screenshots without credentials</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a:t>
            </a:r>
          </a:p>
        </p:txBody>
      </p:sp>
      <p:sp>
        <p:nvSpPr>
          <p:cNvPr id="28" name="TextBox 27"/>
          <p:cNvSpPr txBox="1"/>
          <p:nvPr/>
        </p:nvSpPr>
        <p:spPr>
          <a:xfrm>
            <a:off x="1051560" y="5852160"/>
            <a:ext cx="9966960" cy="274320"/>
          </a:xfrm>
          <a:prstGeom prst="rect">
            <a:avLst/>
          </a:prstGeom>
          <a:noFill/>
        </p:spPr>
        <p:txBody>
          <a:bodyPr wrap="square" anchor="t" lIns="54864" rIns="54864" tIns="54864" bIns="54864">
            <a:spAutoFit/>
          </a:bodyPr>
          <a:lstStyle/>
          <a:p>
            <a:pPr algn="ctr">
              <a:spcAft>
                <a:spcPts val="300"/>
              </a:spcAft>
            </a:pPr>
            <a:r>
              <a:rPr sz="1000" b="1">
                <a:solidFill>
                  <a:srgbClr val="1F6FEB"/>
                </a:solidFill>
                <a:latin typeface="Arial"/>
                <a:hlinkClick r:id="rId2"/>
              </a:rPr>
              <a:t>https://github.com/tertiarycourses/TGS-2024043856-Enhance-Work-Productivity-with-Microsoft-365-Copilot</a:t>
            </a:r>
          </a:p>
        </p:txBody>
      </p:sp>
    </p:spTree>
  </p:cSld>
  <p:clrMapOvr>
    <a:masterClrMapping/>
  </p:clrMapOvr>
  <p:transition spd="slow">
    <p:fade/>
  </p:transition>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CLASSROOM ACCESS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Microsoft 365 Training Accounts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Training account 1</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training1-tertiary@outlook.com</a:t>
            </a:r>
          </a:p>
        </p:txBody>
      </p:sp>
      <p:sp>
        <p:nvSpPr>
          <p:cNvPr id="11" name="TextBox 10"/>
          <p:cNvSpPr txBox="1"/>
          <p:nvPr/>
        </p:nvSpPr>
        <p:spPr>
          <a:xfrm>
            <a:off x="1024128"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Password issued by trainer</a:t>
            </a:r>
          </a:p>
        </p:txBody>
      </p:sp>
      <p:sp>
        <p:nvSpPr>
          <p:cNvPr id="12" name="TextBox 11"/>
          <p:cNvSpPr txBox="1"/>
          <p:nvPr/>
        </p:nvSpPr>
        <p:spPr>
          <a:xfrm>
            <a:off x="1024128"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Do not save in prompts or screenshots</a:t>
            </a:r>
          </a:p>
        </p:txBody>
      </p:sp>
      <p:sp>
        <p:nvSpPr>
          <p:cNvPr id="13" name="Rounded Rectangle 12"/>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Training account 2</a:t>
            </a:r>
          </a:p>
        </p:txBody>
      </p:sp>
      <p:sp>
        <p:nvSpPr>
          <p:cNvPr id="16" name="TextBox 15"/>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training2-tertiary@outlook.com</a:t>
            </a:r>
          </a:p>
        </p:txBody>
      </p:sp>
      <p:sp>
        <p:nvSpPr>
          <p:cNvPr id="17" name="TextBox 16"/>
          <p:cNvSpPr txBox="1"/>
          <p:nvPr/>
        </p:nvSpPr>
        <p:spPr>
          <a:xfrm>
            <a:off x="4736591"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Password issued by trainer</a:t>
            </a:r>
          </a:p>
        </p:txBody>
      </p:sp>
      <p:sp>
        <p:nvSpPr>
          <p:cNvPr id="18" name="TextBox 17"/>
          <p:cNvSpPr txBox="1"/>
          <p:nvPr/>
        </p:nvSpPr>
        <p:spPr>
          <a:xfrm>
            <a:off x="4736591"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Sign out at the end of class</a:t>
            </a:r>
          </a:p>
        </p:txBody>
      </p:sp>
      <p:sp>
        <p:nvSpPr>
          <p:cNvPr id="19" name="Rounded Rectangle 18"/>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Safe handling</a:t>
            </a:r>
          </a:p>
        </p:txBody>
      </p:sp>
      <p:sp>
        <p:nvSpPr>
          <p:cNvPr id="22" name="TextBox 21"/>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Use only the assigned account</a:t>
            </a:r>
          </a:p>
        </p:txBody>
      </p:sp>
      <p:sp>
        <p:nvSpPr>
          <p:cNvPr id="23" name="TextBox 22"/>
          <p:cNvSpPr txBox="1"/>
          <p:nvPr/>
        </p:nvSpPr>
        <p:spPr>
          <a:xfrm>
            <a:off x="8449054"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Do not change recovery settings</a:t>
            </a:r>
          </a:p>
        </p:txBody>
      </p:sp>
      <p:sp>
        <p:nvSpPr>
          <p:cNvPr id="24" name="TextBox 23"/>
          <p:cNvSpPr txBox="1"/>
          <p:nvPr/>
        </p:nvSpPr>
        <p:spPr>
          <a:xfrm>
            <a:off x="8449054"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Report access issues to the trainer</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15</a:t>
            </a:r>
          </a:p>
        </p:txBody>
      </p:sp>
    </p:spTree>
  </p:cSld>
  <p:clrMapOvr>
    <a:masterClrMapping/>
  </p:clrMapOvr>
  <p:transition spd="slow">
    <p:fade/>
  </p:transition>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LMS / TMS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Download Course Material</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1 · Sign in</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Open the LMS/TMS portal</a:t>
            </a:r>
          </a:p>
        </p:txBody>
      </p:sp>
      <p:sp>
        <p:nvSpPr>
          <p:cNvPr id="11" name="TextBox 10"/>
          <p:cNvSpPr txBox="1"/>
          <p:nvPr/>
        </p:nvSpPr>
        <p:spPr>
          <a:xfrm>
            <a:off x="1024128"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Use your learner account</a:t>
            </a:r>
          </a:p>
        </p:txBody>
      </p:sp>
      <p:sp>
        <p:nvSpPr>
          <p:cNvPr id="12" name="TextBox 11"/>
          <p:cNvSpPr txBox="1"/>
          <p:nvPr/>
        </p:nvSpPr>
        <p:spPr>
          <a:xfrm>
            <a:off x="1024128"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Select this TGS course</a:t>
            </a:r>
          </a:p>
        </p:txBody>
      </p:sp>
      <p:sp>
        <p:nvSpPr>
          <p:cNvPr id="13" name="Rounded Rectangle 12"/>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2 · Download</a:t>
            </a:r>
          </a:p>
        </p:txBody>
      </p:sp>
      <p:sp>
        <p:nvSpPr>
          <p:cNvPr id="16" name="TextBox 15"/>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Open Courseware</a:t>
            </a:r>
          </a:p>
        </p:txBody>
      </p:sp>
      <p:sp>
        <p:nvSpPr>
          <p:cNvPr id="17" name="TextBox 16"/>
          <p:cNvSpPr txBox="1"/>
          <p:nvPr/>
        </p:nvSpPr>
        <p:spPr>
          <a:xfrm>
            <a:off x="4736591"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Download slides and Learner Guide</a:t>
            </a:r>
          </a:p>
        </p:txBody>
      </p:sp>
      <p:sp>
        <p:nvSpPr>
          <p:cNvPr id="18" name="TextBox 17"/>
          <p:cNvSpPr txBox="1"/>
          <p:nvPr/>
        </p:nvSpPr>
        <p:spPr>
          <a:xfrm>
            <a:off x="4736591"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Save beside the activities folder</a:t>
            </a:r>
          </a:p>
        </p:txBody>
      </p:sp>
      <p:sp>
        <p:nvSpPr>
          <p:cNvPr id="19" name="Rounded Rectangle 18"/>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3 · Verify</a:t>
            </a:r>
          </a:p>
        </p:txBody>
      </p:sp>
      <p:sp>
        <p:nvSpPr>
          <p:cNvPr id="22" name="TextBox 21"/>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Check course code and version</a:t>
            </a:r>
          </a:p>
        </p:txBody>
      </p:sp>
      <p:sp>
        <p:nvSpPr>
          <p:cNvPr id="23" name="TextBox 22"/>
          <p:cNvSpPr txBox="1"/>
          <p:nvPr/>
        </p:nvSpPr>
        <p:spPr>
          <a:xfrm>
            <a:off x="8449054"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Use the current release</a:t>
            </a:r>
          </a:p>
        </p:txBody>
      </p:sp>
      <p:sp>
        <p:nvSpPr>
          <p:cNvPr id="24" name="TextBox 23"/>
          <p:cNvSpPr txBox="1"/>
          <p:nvPr/>
        </p:nvSpPr>
        <p:spPr>
          <a:xfrm>
            <a:off x="8449054"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Ask the trainer if a file differs</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16</a:t>
            </a:r>
          </a:p>
        </p:txBody>
      </p:sp>
      <p:sp>
        <p:nvSpPr>
          <p:cNvPr id="28" name="TextBox 27"/>
          <p:cNvSpPr txBox="1"/>
          <p:nvPr/>
        </p:nvSpPr>
        <p:spPr>
          <a:xfrm>
            <a:off x="1051560" y="5852160"/>
            <a:ext cx="9966960" cy="274320"/>
          </a:xfrm>
          <a:prstGeom prst="rect">
            <a:avLst/>
          </a:prstGeom>
          <a:noFill/>
        </p:spPr>
        <p:txBody>
          <a:bodyPr wrap="square" anchor="t" lIns="54864" rIns="54864" tIns="54864" bIns="54864">
            <a:spAutoFit/>
          </a:bodyPr>
          <a:lstStyle/>
          <a:p>
            <a:pPr algn="ctr">
              <a:spcAft>
                <a:spcPts val="300"/>
              </a:spcAft>
            </a:pPr>
            <a:r>
              <a:rPr sz="1000" b="1">
                <a:solidFill>
                  <a:srgbClr val="1F6FEB"/>
                </a:solidFill>
                <a:latin typeface="Arial"/>
                <a:hlinkClick r:id="rId2"/>
              </a:rPr>
              <a:t>https://lms-tms.tertiaryinfotech.com/</a:t>
            </a:r>
          </a:p>
        </p:txBody>
      </p:sp>
    </p:spTree>
  </p:cSld>
  <p:clrMapOvr>
    <a:masterClrMapping/>
  </p:clrMapOvr>
  <p:transition spd="slow">
    <p:fade/>
  </p:transition>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2057400"/>
            <a:ext cx="118872" cy="2057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57400"/>
            <a:ext cx="8869680" cy="411480"/>
          </a:xfrm>
          <a:prstGeom prst="rect">
            <a:avLst/>
          </a:prstGeom>
          <a:noFill/>
        </p:spPr>
        <p:txBody>
          <a:bodyPr wrap="square" anchor="t" lIns="54864" rIns="54864" tIns="54864" bIns="54864">
            <a:spAutoFit/>
          </a:bodyPr>
          <a:lstStyle/>
          <a:p>
            <a:pPr algn="l">
              <a:spcAft>
                <a:spcPts val="300"/>
              </a:spcAft>
            </a:pPr>
            <a:r>
              <a:rPr sz="1500" b="1">
                <a:solidFill>
                  <a:srgbClr val="1F6FEB"/>
                </a:solidFill>
                <a:latin typeface="Arial"/>
              </a:rPr>
              <a:t>TOPIC 01</a:t>
            </a:r>
          </a:p>
        </p:txBody>
      </p:sp>
      <p:sp>
        <p:nvSpPr>
          <p:cNvPr id="6" name="TextBox 5"/>
          <p:cNvSpPr txBox="1"/>
          <p:nvPr/>
        </p:nvSpPr>
        <p:spPr>
          <a:xfrm>
            <a:off x="1188720" y="2514600"/>
            <a:ext cx="9692640" cy="1325880"/>
          </a:xfrm>
          <a:prstGeom prst="rect">
            <a:avLst/>
          </a:prstGeom>
          <a:noFill/>
        </p:spPr>
        <p:txBody>
          <a:bodyPr wrap="square" anchor="ctr" lIns="54864" rIns="54864" tIns="54864" bIns="54864">
            <a:spAutoFit/>
          </a:bodyPr>
          <a:lstStyle/>
          <a:p>
            <a:pPr algn="l">
              <a:spcAft>
                <a:spcPts val="300"/>
              </a:spcAft>
            </a:pPr>
            <a:r>
              <a:rPr sz="3600" b="1">
                <a:solidFill>
                  <a:srgbClr val="161B26"/>
                </a:solidFill>
                <a:latin typeface="Arial"/>
              </a:rPr>
              <a:t>Microsoft 365 Copilot Foundations, Word and PowerPoint</a:t>
            </a:r>
          </a:p>
        </p:txBody>
      </p:sp>
      <p:sp>
        <p:nvSpPr>
          <p:cNvPr id="7" name="TextBox 6"/>
          <p:cNvSpPr txBox="1"/>
          <p:nvPr/>
        </p:nvSpPr>
        <p:spPr>
          <a:xfrm>
            <a:off x="1207008" y="3977639"/>
            <a:ext cx="9692640" cy="658368"/>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Grounding · responsible use · prompt design · drafting · presentation storytelling</a:t>
            </a:r>
          </a:p>
        </p:txBody>
      </p:sp>
      <p:sp>
        <p:nvSpPr>
          <p:cNvPr id="8" name="TextBox 7"/>
          <p:cNvSpPr txBox="1"/>
          <p:nvPr/>
        </p:nvSpPr>
        <p:spPr>
          <a:xfrm>
            <a:off x="9372600" y="594360"/>
            <a:ext cx="2011680" cy="1143000"/>
          </a:xfrm>
          <a:prstGeom prst="rect">
            <a:avLst/>
          </a:prstGeom>
          <a:noFill/>
        </p:spPr>
        <p:txBody>
          <a:bodyPr wrap="square" anchor="t" lIns="54864" rIns="54864" tIns="54864" bIns="54864">
            <a:spAutoFit/>
          </a:bodyPr>
          <a:lstStyle/>
          <a:p>
            <a:pPr algn="r">
              <a:spcAft>
                <a:spcPts val="300"/>
              </a:spcAft>
            </a:pPr>
            <a:r>
              <a:rPr sz="6600" b="1">
                <a:solidFill>
                  <a:srgbClr val="E2E8F0"/>
                </a:solidFill>
                <a:latin typeface="Arial"/>
              </a:rPr>
              <a:t>01</a:t>
            </a:r>
          </a:p>
        </p:txBody>
      </p:sp>
      <p:sp>
        <p:nvSpPr>
          <p:cNvPr id="9" name="TextBox 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0" name="TextBox 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17</a:t>
            </a:r>
          </a:p>
        </p:txBody>
      </p:sp>
    </p:spTree>
  </p:cSld>
  <p:clrMapOvr>
    <a:masterClrMapping/>
  </p:clrMapOvr>
  <p:transition spd="slow">
    <p:fade/>
  </p:transition>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ALIGNMENT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Key Concepts — Microsoft 365 Copilot Foundations, Word and PowerPoint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0176"/>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Grounding</a:t>
            </a:r>
          </a:p>
          <a:p>
            <a:pPr algn="l">
              <a:spcAft>
                <a:spcPts val="300"/>
              </a:spcAft>
            </a:pPr>
            <a:r>
              <a:rPr sz="1000" b="0">
                <a:solidFill>
                  <a:srgbClr val="5B6372"/>
                </a:solidFill>
                <a:latin typeface="Arial"/>
              </a:rPr>
              <a:t>Copilot combines the prompt with permitted work or web context; access permissions still apply.</a:t>
            </a:r>
          </a:p>
        </p:txBody>
      </p:sp>
      <p:sp>
        <p:nvSpPr>
          <p:cNvPr id="12" name="Rounded Rectangle 11"/>
          <p:cNvSpPr/>
          <p:nvPr/>
        </p:nvSpPr>
        <p:spPr>
          <a:xfrm>
            <a:off x="624078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170176"/>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Prompt contract</a:t>
            </a:r>
          </a:p>
          <a:p>
            <a:pPr algn="l">
              <a:spcAft>
                <a:spcPts val="300"/>
              </a:spcAft>
            </a:pPr>
            <a:r>
              <a:rPr sz="1000" b="0">
                <a:solidFill>
                  <a:srgbClr val="5B6372"/>
                </a:solidFill>
                <a:latin typeface="Arial"/>
              </a:rPr>
              <a:t>State goal, context, source and expectations, then verify before using the result.</a:t>
            </a:r>
          </a:p>
        </p:txBody>
      </p:sp>
      <p:sp>
        <p:nvSpPr>
          <p:cNvPr id="17" name="Rounded Rectangle 16"/>
          <p:cNvSpPr/>
          <p:nvPr/>
        </p:nvSpPr>
        <p:spPr>
          <a:xfrm>
            <a:off x="77724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13228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3398520"/>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Human accountability</a:t>
            </a:r>
          </a:p>
          <a:p>
            <a:pPr algn="l">
              <a:spcAft>
                <a:spcPts val="300"/>
              </a:spcAft>
            </a:pPr>
            <a:r>
              <a:rPr sz="1000" b="0">
                <a:solidFill>
                  <a:srgbClr val="5B6372"/>
                </a:solidFill>
                <a:latin typeface="Arial"/>
              </a:rPr>
              <a:t>Copilot proposes; the user checks evidence, tone, sensitivity and final release.</a:t>
            </a:r>
          </a:p>
        </p:txBody>
      </p:sp>
      <p:sp>
        <p:nvSpPr>
          <p:cNvPr id="22" name="Rounded Rectangle 21"/>
          <p:cNvSpPr/>
          <p:nvPr/>
        </p:nvSpPr>
        <p:spPr>
          <a:xfrm>
            <a:off x="624078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3307080"/>
            <a:ext cx="82296" cy="1322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3712464"/>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3398520"/>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Cross-app story</a:t>
            </a:r>
          </a:p>
          <a:p>
            <a:pPr algn="l">
              <a:spcAft>
                <a:spcPts val="300"/>
              </a:spcAft>
            </a:pPr>
            <a:r>
              <a:rPr sz="1000" b="0">
                <a:solidFill>
                  <a:srgbClr val="5B6372"/>
                </a:solidFill>
                <a:latin typeface="Arial"/>
              </a:rPr>
              <a:t>Word shapes the narrative, Excel supplies evidence and PowerPoint communicates the decision.</a:t>
            </a:r>
          </a:p>
        </p:txBody>
      </p:sp>
      <p:sp>
        <p:nvSpPr>
          <p:cNvPr id="27" name="Rounded Rectangle 26"/>
          <p:cNvSpPr/>
          <p:nvPr/>
        </p:nvSpPr>
        <p:spPr>
          <a:xfrm>
            <a:off x="77724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5475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709928" y="4940808"/>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Responsible AI</a:t>
            </a:r>
          </a:p>
          <a:p>
            <a:pPr algn="l">
              <a:spcAft>
                <a:spcPts val="300"/>
              </a:spcAft>
            </a:pPr>
            <a:r>
              <a:rPr sz="1000" b="0">
                <a:solidFill>
                  <a:srgbClr val="5B6372"/>
                </a:solidFill>
                <a:latin typeface="Arial"/>
              </a:rPr>
              <a:t>Fairness, reliability, privacy, inclusiveness, transparency and accountability guide use.</a:t>
            </a:r>
          </a:p>
        </p:txBody>
      </p:sp>
      <p:sp>
        <p:nvSpPr>
          <p:cNvPr id="32" name="Rounded Rectangle 31"/>
          <p:cNvSpPr/>
          <p:nvPr/>
        </p:nvSpPr>
        <p:spPr>
          <a:xfrm>
            <a:off x="624078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0780" y="4849368"/>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78524" y="5254752"/>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852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6</a:t>
            </a:r>
          </a:p>
        </p:txBody>
      </p:sp>
      <p:sp>
        <p:nvSpPr>
          <p:cNvPr id="36" name="TextBox 35"/>
          <p:cNvSpPr txBox="1"/>
          <p:nvPr/>
        </p:nvSpPr>
        <p:spPr>
          <a:xfrm>
            <a:off x="7173468" y="4940808"/>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Transition risk</a:t>
            </a:r>
          </a:p>
          <a:p>
            <a:pPr algn="l">
              <a:spcAft>
                <a:spcPts val="300"/>
              </a:spcAft>
            </a:pPr>
            <a:r>
              <a:rPr sz="1000" b="0">
                <a:solidFill>
                  <a:srgbClr val="5B6372"/>
                </a:solidFill>
                <a:latin typeface="Arial"/>
              </a:rPr>
              <a:t>Licensing, data quality, permissions, adoption and over-trust need explicit controls.</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18</a:t>
            </a:r>
          </a:p>
        </p:txBody>
      </p:sp>
    </p:spTree>
  </p:cSld>
  <p:clrMapOvr>
    <a:masterClrMapping/>
  </p:clrMapOvr>
  <p:transition spd="slow">
    <p:fade/>
  </p:transition>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Microsoft 365 Copilot is a work system</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Interface: Chat and app experiences accept natural-language goals.</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Model: Large language models generate and transform content.</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Graph: Permitted work context can ground responses.</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Apps: Word, PowerPoint, Excel, Teams and Outlook embed task-specific assistance.</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19</a:t>
            </a:r>
          </a:p>
        </p:txBody>
      </p:sp>
    </p:spTree>
  </p:cSld>
  <p:clrMapOvr>
    <a:masterClrMapping/>
  </p:clrMapOvr>
  <p:transition spd="slow">
    <p:fade/>
  </p:transition>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Work-grounded versus web-grounded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Work</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Uses organisational content the signed-in user can access.</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Web</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Uses public web information and may require external verification.</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File</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An attached file provides bounded task context.</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20</a:t>
            </a:r>
          </a:p>
        </p:txBody>
      </p:sp>
    </p:spTree>
  </p:cSld>
  <p:clrMapOvr>
    <a:masterClrMapping/>
  </p:clrMapOvr>
  <p:transition spd="slow">
    <p:fade/>
  </p:transition>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Permissions remain the boundary</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Existing access — Copilot should respect the user's underlying permissions.</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Oversharing — Poorly governed sites can expose too much context.</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Least privilege — Remove unnecessary access before scaling Copilot.</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Review — Test representative roles and sensitive searches.</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21</a:t>
            </a:r>
          </a:p>
        </p:txBody>
      </p:sp>
    </p:spTree>
  </p:cSld>
  <p:clrMapOvr>
    <a:masterClrMapping/>
  </p:clrMapOvr>
  <p:transition spd="slow">
    <p:fade/>
  </p:transition>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Four-part prompting framework</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Goal</a:t>
            </a:r>
          </a:p>
          <a:p>
            <a:pPr algn="l">
              <a:spcAft>
                <a:spcPts val="300"/>
              </a:spcAft>
            </a:pPr>
            <a:r>
              <a:rPr sz="1100" b="0">
                <a:solidFill>
                  <a:srgbClr val="5B6372"/>
                </a:solidFill>
                <a:latin typeface="Arial"/>
              </a:rPr>
              <a:t>State the outcome or decision needed.</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Context</a:t>
            </a:r>
          </a:p>
          <a:p>
            <a:pPr algn="l">
              <a:spcAft>
                <a:spcPts val="300"/>
              </a:spcAft>
            </a:pPr>
            <a:r>
              <a:rPr sz="1100" b="0">
                <a:solidFill>
                  <a:srgbClr val="5B6372"/>
                </a:solidFill>
                <a:latin typeface="Arial"/>
              </a:rPr>
              <a:t>Explain audience, situation and constraints.</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Source</a:t>
            </a:r>
          </a:p>
          <a:p>
            <a:pPr algn="l">
              <a:spcAft>
                <a:spcPts val="300"/>
              </a:spcAft>
            </a:pPr>
            <a:r>
              <a:rPr sz="1100" b="0">
                <a:solidFill>
                  <a:srgbClr val="5B6372"/>
                </a:solidFill>
                <a:latin typeface="Arial"/>
              </a:rPr>
              <a:t>Name the files, meetings or data to use.</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Expectations</a:t>
            </a:r>
          </a:p>
          <a:p>
            <a:pPr algn="l">
              <a:spcAft>
                <a:spcPts val="300"/>
              </a:spcAft>
            </a:pPr>
            <a:r>
              <a:rPr sz="1100" b="0">
                <a:solidFill>
                  <a:srgbClr val="5B6372"/>
                </a:solidFill>
                <a:latin typeface="Arial"/>
              </a:rPr>
              <a:t>Specify format, tone, length and quality checks.</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22</a:t>
            </a:r>
          </a:p>
        </p:txBody>
      </p:sp>
    </p:spTree>
  </p:cSld>
  <p:clrMapOvr>
    <a:masterClrMapping/>
  </p:clrMapOvr>
  <p:transition spd="slow">
    <p:fade/>
  </p:transition>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GOAL · CONTEXT · SOURCE · EXPECTATIONS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Example 1 · HR policy in Word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Goal</a:t>
            </a:r>
          </a:p>
          <a:p>
            <a:pPr algn="l">
              <a:spcAft>
                <a:spcPts val="300"/>
              </a:spcAft>
            </a:pPr>
            <a:r>
              <a:rPr sz="1300" b="0">
                <a:solidFill>
                  <a:srgbClr val="5B6372"/>
                </a:solidFill>
                <a:latin typeface="Arial"/>
              </a:rPr>
              <a:t>Draft Lumina’s staff enablement policy.</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Context</a:t>
            </a:r>
          </a:p>
          <a:p>
            <a:pPr algn="l">
              <a:spcAft>
                <a:spcPts val="300"/>
              </a:spcAft>
            </a:pPr>
            <a:r>
              <a:rPr sz="1300" b="0">
                <a:solidFill>
                  <a:srgbClr val="5B6372"/>
                </a:solidFill>
                <a:latin typeface="Arial"/>
              </a:rPr>
              <a:t>SW-2026 launch; 56 staff and their managers; HR owns training.</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Source</a:t>
            </a:r>
          </a:p>
          <a:p>
            <a:pPr algn="l">
              <a:spcAft>
                <a:spcPts val="300"/>
              </a:spcAft>
            </a:pPr>
            <a:r>
              <a:rPr sz="1300" b="0">
                <a:solidFill>
                  <a:srgbClr val="5B6372"/>
                </a:solidFill>
                <a:latin typeface="Arial"/>
              </a:rPr>
              <a:t>Lumina-HR-Facts.docx and the EXP-01 expense policy.</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Expectations</a:t>
            </a:r>
          </a:p>
          <a:p>
            <a:pPr algn="l">
              <a:spcAft>
                <a:spcPts val="300"/>
              </a:spcAft>
            </a:pPr>
            <a:r>
              <a:rPr sz="1300" b="0">
                <a:solidFill>
                  <a:srgbClr val="5B6372"/>
                </a:solidFill>
                <a:latin typeface="Arial"/>
              </a:rPr>
              <a:t>Two-page draft, four-hour training, responsibilities and checklist. Cite sections; flag missing leave/pay terms.</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23</a:t>
            </a:r>
          </a:p>
        </p:txBody>
      </p:sp>
    </p:spTree>
  </p:cSld>
  <p:clrMapOvr>
    <a:masterClrMapping/>
  </p:clrMapOvr>
  <p:transition spd="slow">
    <p:fade/>
  </p:transition>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GOAL · CONTEXT · SOURCE · EXPECTATIONS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Example 2 · Excel business evidence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Goal</a:t>
            </a:r>
          </a:p>
          <a:p>
            <a:pPr algn="l">
              <a:spcAft>
                <a:spcPts val="300"/>
              </a:spcAft>
            </a:pPr>
            <a:r>
              <a:rPr sz="1300" b="0">
                <a:solidFill>
                  <a:srgbClr val="5B6372"/>
                </a:solidFill>
                <a:latin typeface="Arial"/>
              </a:rPr>
              <a:t>Find three supported insights and create management charts.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Context</a:t>
            </a:r>
          </a:p>
          <a:p>
            <a:pPr algn="l">
              <a:spcAft>
                <a:spcPts val="300"/>
              </a:spcAft>
            </a:pPr>
            <a:r>
              <a:rPr sz="1300" b="0">
                <a:solidFill>
                  <a:srgbClr val="5B6372"/>
                </a:solidFill>
                <a:latin typeface="Arial"/>
              </a:rPr>
              <a:t>Jan–Jun trading history plus the 7 September HR-readiness snapshot.</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Source</a:t>
            </a:r>
          </a:p>
          <a:p>
            <a:pPr algn="l">
              <a:spcAft>
                <a:spcPts val="300"/>
              </a:spcAft>
            </a:pPr>
            <a:r>
              <a:rPr sz="1300" b="0">
                <a:solidFill>
                  <a:srgbClr val="5B6372"/>
                </a:solidFill>
                <a:latin typeface="Arial"/>
              </a:rPr>
              <a:t>Lumina-Business-Data.xlsx: Campaign_Data, Monthly, Channels, HR_Readiness.</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Expectations</a:t>
            </a:r>
          </a:p>
          <a:p>
            <a:pPr algn="l">
              <a:spcAft>
                <a:spcPts val="300"/>
              </a:spcAft>
            </a:pPr>
            <a:r>
              <a:rPr sz="1300" b="0">
                <a:solidFill>
                  <a:srgbClr val="5B6372"/>
                </a:solidFill>
                <a:latin typeface="Arial"/>
              </a:rPr>
              <a:t>Formula checks; revenue, margin and completion charts. Verify 96 records and 47/56 trained; transfer checked findings to Word.</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24</a:t>
            </a:r>
          </a:p>
        </p:txBody>
      </p:sp>
    </p:spTree>
  </p:cSld>
  <p:clrMapOvr>
    <a:masterClrMapping/>
  </p:clrMapOvr>
  <p:transition spd="slow">
    <p:fade/>
  </p:transition>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GOAL · CONTEXT · SOURCE · EXPECTATIONS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Example 3 · Presentation and handoff</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Goal</a:t>
            </a:r>
          </a:p>
          <a:p>
            <a:pPr algn="l">
              <a:spcAft>
                <a:spcPts val="300"/>
              </a:spcAft>
            </a:pPr>
            <a:r>
              <a:rPr sz="1300" b="0">
                <a:solidFill>
                  <a:srgbClr val="5B6372"/>
                </a:solidFill>
                <a:latin typeface="Arial"/>
              </a:rPr>
              <a:t>Create the launch decision deck and consistent team updates.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Context</a:t>
            </a:r>
          </a:p>
          <a:p>
            <a:pPr algn="l">
              <a:spcAft>
                <a:spcPts val="300"/>
              </a:spcAft>
            </a:pPr>
            <a:r>
              <a:rPr sz="1300" b="0">
                <a:solidFill>
                  <a:srgbClr val="5B6372"/>
                </a:solidFill>
                <a:latin typeface="Arial"/>
              </a:rPr>
              <a:t>HR, Marketing, Finance and Operations need a readiness decision.</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Source</a:t>
            </a:r>
          </a:p>
          <a:p>
            <a:pPr algn="l">
              <a:spcAft>
                <a:spcPts val="300"/>
              </a:spcAft>
            </a:pPr>
            <a:r>
              <a:rPr sz="1300" b="0">
                <a:solidFill>
                  <a:srgbClr val="5B6372"/>
                </a:solidFill>
                <a:latin typeface="Arial"/>
              </a:rPr>
              <a:t>Reviewed management report, HR policy, campaign brief and Excel charts.</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Expectations</a:t>
            </a:r>
          </a:p>
          <a:p>
            <a:pPr algn="l">
              <a:spcAft>
                <a:spcPts val="300"/>
              </a:spcAft>
            </a:pPr>
            <a:r>
              <a:rPr sz="1300" b="0">
                <a:solidFill>
                  <a:srgbClr val="5B6372"/>
                </a:solidFill>
                <a:latin typeface="Arial"/>
              </a:rPr>
              <a:t>Six slides; editable charts; draft Outlook email; reviewed Teams update; the same Loop actions A01–A04. Record actual delivery evidence.</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25</a:t>
            </a:r>
          </a:p>
        </p:txBody>
      </p:sp>
    </p:spTree>
  </p:cSld>
  <p:clrMapOvr>
    <a:masterClrMapping/>
  </p:clrMapOvr>
  <p:transition spd="slow">
    <p:fade/>
  </p:transition>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LUMINA LIVING · HR, MARKETING, FINANCE AND OPERATIONS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SW-2026 carries one evidence trail across apps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HR facts → Word policy</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Excel → charts → Word report</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PowerPoint → Outlook draft</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Teams → shared Loop actions</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26</a:t>
            </a:r>
          </a:p>
        </p:txBody>
      </p:sp>
    </p:spTree>
  </p:cSld>
  <p:clrMapOvr>
    <a:masterClrMapping/>
  </p:clrMapOvr>
  <p:transition spd="slow">
    <p:fade/>
  </p:transition>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LUMINA LIVING · FICTIONAL TRAINING COMPANY</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One company, one connected evidence trail</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lumina-workplace-v82.png"/>
          <p:cNvPicPr>
            <a:picLocks noChangeAspect="1"/>
          </p:cNvPicPr>
          <p:nvPr/>
        </p:nvPicPr>
        <p:blipFill>
          <a:blip r:embed="rId2"/>
          <a:stretch>
            <a:fillRect/>
          </a:stretch>
        </p:blipFill>
        <p:spPr>
          <a:xfrm>
            <a:off x="685800" y="1691640"/>
            <a:ext cx="6583680" cy="3703320"/>
          </a:xfrm>
          <a:prstGeom prst="rect">
            <a:avLst/>
          </a:prstGeom>
        </p:spPr>
      </p:pic>
      <p:sp>
        <p:nvSpPr>
          <p:cNvPr id="8" name="TextBox 7"/>
          <p:cNvSpPr txBox="1"/>
          <p:nvPr/>
        </p:nvSpPr>
        <p:spPr>
          <a:xfrm>
            <a:off x="7635240" y="1737360"/>
            <a:ext cx="3749039" cy="4389120"/>
          </a:xfrm>
          <a:prstGeom prst="rect">
            <a:avLst/>
          </a:prstGeom>
          <a:noFill/>
        </p:spPr>
        <p:txBody>
          <a:bodyPr wrap="square" anchor="t" lIns="54864" rIns="54864" tIns="54864" bIns="54864">
            <a:spAutoFit/>
          </a:bodyPr>
          <a:lstStyle/>
          <a:p>
            <a:pPr algn="l">
              <a:spcAft>
                <a:spcPts val="300"/>
              </a:spcAft>
            </a:pPr>
            <a:r>
              <a:rPr sz="1800" b="1">
                <a:solidFill>
                  <a:srgbClr val="161B26"/>
                </a:solidFill>
                <a:latin typeface="Arial"/>
              </a:rPr>
              <a:t>SW-2026 workspace launch</a:t>
            </a:r>
          </a:p>
          <a:p>
            <a:pPr algn="l">
              <a:spcAft>
                <a:spcPts val="300"/>
              </a:spcAft>
            </a:pPr>
            <a:r>
              <a:rPr sz="1800" b="0">
                <a:solidFill>
                  <a:srgbClr val="161B26"/>
                </a:solidFill>
                <a:latin typeface="Arial"/>
              </a:rPr>
              <a:t>HR: 56 staff; 47 trained</a:t>
            </a:r>
          </a:p>
          <a:p>
            <a:pPr algn="l">
              <a:spcAft>
                <a:spcPts val="300"/>
              </a:spcAft>
            </a:pPr>
            <a:r>
              <a:rPr sz="1800" b="0">
                <a:solidFill>
                  <a:srgbClr val="161B26"/>
                </a:solidFill>
                <a:latin typeface="Arial"/>
              </a:rPr>
              <a:t>Finance: 96 sales summaries</a:t>
            </a:r>
          </a:p>
          <a:p>
            <a:pPr algn="l">
              <a:spcAft>
                <a:spcPts val="300"/>
              </a:spcAft>
            </a:pPr>
            <a:r>
              <a:rPr sz="1800" b="0">
                <a:solidFill>
                  <a:srgbClr val="161B26"/>
                </a:solidFill>
                <a:latin typeface="Arial"/>
              </a:rPr>
              <a:t>Marketing: SGD 18,000 plan</a:t>
            </a:r>
          </a:p>
          <a:p>
            <a:pPr algn="l">
              <a:spcAft>
                <a:spcPts val="300"/>
              </a:spcAft>
            </a:pPr>
            <a:r>
              <a:rPr sz="1800" b="0">
                <a:solidFill>
                  <a:srgbClr val="161B26"/>
                </a:solidFill>
                <a:latin typeface="Arial"/>
              </a:rPr>
              <a:t>Operations: service readiness</a:t>
            </a:r>
          </a:p>
          <a:p>
            <a:pPr algn="l">
              <a:spcAft>
                <a:spcPts val="300"/>
              </a:spcAft>
            </a:pPr>
            <a:r>
              <a:rPr sz="1800" b="0">
                <a:solidFill>
                  <a:srgbClr val="161B26"/>
                </a:solidFill>
                <a:latin typeface="Arial"/>
              </a:rPr>
              <a:t>Word → Excel → PPT → Outlook → Teams → Loop</a:t>
            </a:r>
          </a:p>
        </p:txBody>
      </p:sp>
      <p:sp>
        <p:nvSpPr>
          <p:cNvPr id="9" name="TextBox 8"/>
          <p:cNvSpPr txBox="1"/>
          <p:nvPr/>
        </p:nvSpPr>
        <p:spPr>
          <a:xfrm>
            <a:off x="731520" y="5760720"/>
            <a:ext cx="10789920" cy="27432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AI-generated illustrative workplace; company data is synthetic.</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27</a:t>
            </a:r>
          </a:p>
        </p:txBody>
      </p:sp>
    </p:spTree>
  </p:cSld>
  <p:clrMapOvr>
    <a:masterClrMapping/>
  </p:clrMapOvr>
  <p:transition spd="slow">
    <p:fade/>
  </p:transition>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LUMINA FINANCE · MONTHLY_FINANCE B2:C7 · SYNTHETIC JAN–JUN 2026</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Sales revenue and cost tell different stories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Revenue SGD 933,290; direct costs SGD 521,097.41. Verify the gap before reuse.</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28</a:t>
            </a:r>
          </a:p>
        </p:txBody>
      </p:sp>
    </p:spTree>
  </p:cSld>
  <p:clrMapOvr>
    <a:masterClrMapping/>
  </p:clrMapOvr>
  <p:transition spd="slow">
    <p:fade/>
  </p:transition>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LUMINA FINANCE · MONTHLY_FINANCE B2:B7 / E2:E7</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Targets require a separate comparison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Compare actual sales with synthetic targets; a gap is evidence, its cause is a hypothesis.</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29</a:t>
            </a:r>
          </a:p>
        </p:txBody>
      </p:sp>
    </p:spTree>
  </p:cSld>
  <p:clrMapOvr>
    <a:masterClrMapping/>
  </p:clrMapOvr>
  <p:transition spd="slow">
    <p:fade/>
  </p:transition>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LUMINA FINANCE · CHANNEL_FINANCE A2:D5 · NOT NET PROFIT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Events contributes the largest margin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SGD 121,247.22 from Events. Absolute margin does not prove incremental marketing ROI.</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30</a:t>
            </a:r>
          </a:p>
        </p:txBody>
      </p:sp>
    </p:spTree>
  </p:cSld>
  <p:clrMapOvr>
    <a:masterClrMapping/>
  </p:clrMapOvr>
  <p:transition spd="slow">
    <p:fade/>
  </p:transition>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MARKETING AND STRATEGY · LABS 02, 08, 12, 15</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Grounded research separates evidence from inference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Internal facts</a:t>
            </a:r>
          </a:p>
          <a:p>
            <a:pPr algn="l">
              <a:spcAft>
                <a:spcPts val="300"/>
              </a:spcAft>
            </a:pPr>
            <a:r>
              <a:rPr sz="1300" b="0">
                <a:solidFill>
                  <a:srgbClr val="5B6372"/>
                </a:solidFill>
                <a:latin typeface="Arial"/>
              </a:rPr>
              <a:t>Sales ledger, HR-01 and CAM-2026Q4 define Lumina’s fictional baseline.</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External context</a:t>
            </a:r>
          </a:p>
          <a:p>
            <a:pPr algn="l">
              <a:spcAft>
                <a:spcPts val="300"/>
              </a:spcAft>
            </a:pPr>
            <a:r>
              <a:rPr sz="1300" b="0">
                <a:solidFill>
                  <a:srgbClr val="5B6372"/>
                </a:solidFill>
                <a:latin typeface="Arial"/>
              </a:rPr>
              <a:t>WEB-01/02/03: IMDA adoption and retail guidance; check publication and observation dates.</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Inference</a:t>
            </a:r>
          </a:p>
          <a:p>
            <a:pPr algn="l">
              <a:spcAft>
                <a:spcPts val="300"/>
              </a:spcAft>
            </a:pPr>
            <a:r>
              <a:rPr sz="1300" b="0">
                <a:solidFill>
                  <a:srgbClr val="5B6372"/>
                </a:solidFill>
                <a:latin typeface="Arial"/>
              </a:rPr>
              <a:t>Propose an event/web experiment. General policy context does not prove demand or ROI.</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600" b="1">
                <a:solidFill>
                  <a:srgbClr val="161B26"/>
                </a:solidFill>
                <a:latin typeface="Arial"/>
              </a:rPr>
              <a:t>Decision evidence</a:t>
            </a:r>
          </a:p>
          <a:p>
            <a:pPr algn="l">
              <a:spcAft>
                <a:spcPts val="300"/>
              </a:spcAft>
            </a:pPr>
            <a:r>
              <a:rPr sz="1300" b="0">
                <a:solidFill>
                  <a:srgbClr val="5B6372"/>
                </a:solidFill>
                <a:latin typeface="Arial"/>
              </a:rPr>
              <a:t>Report → cited recommendation → editable charts → reviewed presentation.</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31</a:t>
            </a:r>
          </a:p>
        </p:txBody>
      </p:sp>
    </p:spTree>
  </p:cSld>
  <p:clrMapOvr>
    <a:masterClrMapping/>
  </p:clrMapOvr>
  <p:transition spd="slow">
    <p:fade/>
  </p:transition>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PROFESSIONAL POWERPOINT · LAB 15</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Copilot turns reviewed reports into a decision deck</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Reviewed Word report</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Copilot outline + theme</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Editable financial charts</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Verify slides + notes + PDF</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32</a:t>
            </a:r>
          </a:p>
        </p:txBody>
      </p:sp>
    </p:spTree>
  </p:cSld>
  <p:clrMapOvr>
    <a:masterClrMapping/>
  </p:clrMapOvr>
  <p:transition spd="slow">
    <p:fade/>
  </p:transition>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TGS-2024043856 · LIVE SHAREPOINT DEMO</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Open the live Lumina company knowledge site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Employee data</a:t>
            </a:r>
          </a:p>
          <a:p>
            <a:pPr algn="l">
              <a:spcAft>
                <a:spcPts val="300"/>
              </a:spcAft>
            </a:pPr>
            <a:r>
              <a:rPr sz="1200" b="0">
                <a:solidFill>
                  <a:srgbClr val="5B6372"/>
                </a:solidFill>
                <a:latin typeface="Arial"/>
              </a:rPr>
              <a:t>HR-DEMO-01: readiness for 56 synthetic staff. Full 56-row register supplied in the labs.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HR policies</a:t>
            </a:r>
          </a:p>
          <a:p>
            <a:pPr algn="l">
              <a:spcAft>
                <a:spcPts val="300"/>
              </a:spcAft>
            </a:pPr>
            <a:r>
              <a:rPr sz="1200" b="0">
                <a:solidFill>
                  <a:srgbClr val="5B6372"/>
                </a:solidFill>
                <a:latin typeface="Arial"/>
              </a:rPr>
              <a:t>Live HR-DEMO-01: training, review roles and expense example. EXP-01: detailed travel rules.</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Agent demonstration</a:t>
            </a:r>
          </a:p>
          <a:p>
            <a:pPr algn="l">
              <a:spcAft>
                <a:spcPts val="300"/>
              </a:spcAft>
            </a:pPr>
            <a:r>
              <a:rPr sz="1200" b="0">
                <a:solidFill>
                  <a:srgbClr val="5B6372"/>
                </a:solidFill>
                <a:latin typeface="Arial"/>
              </a:rPr>
              <a:t>Open the saved HR Employee Agent. Compare a cited readiness answer with an absent leave-policy fact.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Access</a:t>
            </a:r>
          </a:p>
          <a:p>
            <a:pPr algn="l">
              <a:spcAft>
                <a:spcPts val="300"/>
              </a:spcAft>
            </a:pPr>
            <a:r>
              <a:rPr sz="1200" b="0">
                <a:solidFill>
                  <a:srgbClr val="5B6372"/>
                </a:solidFill>
                <a:latin typeface="Arial"/>
              </a:rPr>
              <a:t>Admin, training1 and training2 are members. Site and agent access require tenant sign-in.</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33</a:t>
            </a:r>
          </a:p>
        </p:txBody>
      </p:sp>
      <p:sp>
        <p:nvSpPr>
          <p:cNvPr id="30" name="TextBox 29"/>
          <p:cNvSpPr txBox="1"/>
          <p:nvPr/>
        </p:nvSpPr>
        <p:spPr>
          <a:xfrm>
            <a:off x="731520" y="6080760"/>
            <a:ext cx="10789920" cy="274320"/>
          </a:xfrm>
          <a:prstGeom prst="rect">
            <a:avLst/>
          </a:prstGeom>
          <a:noFill/>
        </p:spPr>
        <p:txBody>
          <a:bodyPr wrap="square" anchor="t" lIns="54864" rIns="54864" tIns="54864" bIns="54864">
            <a:spAutoFit/>
          </a:bodyPr>
          <a:lstStyle/>
          <a:p>
            <a:pPr algn="l">
              <a:spcAft>
                <a:spcPts val="300"/>
              </a:spcAft>
            </a:pPr>
            <a:r>
              <a:rPr sz="1400" b="1">
                <a:solidFill>
                  <a:srgbClr val="1F6FEB"/>
                </a:solidFill>
                <a:latin typeface="Arial"/>
                <a:hlinkClick r:id="rId2"/>
              </a:rPr>
              <a:t>Open TGS-2024043856-LuminaCopilot</a:t>
            </a:r>
          </a:p>
        </p:txBody>
      </p:sp>
    </p:spTree>
  </p:cSld>
  <p:clrMapOvr>
    <a:masterClrMapping/>
  </p:clrMapOvr>
  <p:transition spd="slow">
    <p:fade/>
  </p:transition>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Prompting is an iterative control loop</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Draft: Start with a complete task contract.</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Inspect: Check facts, omissions and ambiguity.</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Refine: Add constraints or request alternatives.</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Verify: Compare with authoritative evidence before release.</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34</a:t>
            </a:r>
          </a:p>
        </p:txBody>
      </p:sp>
    </p:spTree>
  </p:cSld>
  <p:clrMapOvr>
    <a:masterClrMapping/>
  </p:clrMapOvr>
  <p:transition spd="slow">
    <p:fade/>
  </p:transition>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Responsible AI in daily work</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Fairness</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Check whether wording or recommendations disadvantage groups.</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Reliability</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Test important outputs and edge cases.</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Privacy</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Use approved data, surfaces and retention rules.</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35</a:t>
            </a:r>
          </a:p>
        </p:txBody>
      </p:sp>
    </p:spTree>
  </p:cSld>
  <p:clrMapOvr>
    <a:masterClrMapping/>
  </p:clrMapOvr>
  <p:transition spd="slow">
    <p:fade/>
  </p:transition>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Common transition risks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Licensing — Capabilities differ by plan, tenant and rollout.</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Data — Weak source quality produces fluent but unreliable outputs.</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Process — Automating an unclear process accelerates confusion.</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Adoption — Users need role-based practice, support and feedback.</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36</a:t>
            </a:r>
          </a:p>
        </p:txBody>
      </p:sp>
    </p:spTree>
  </p:cSld>
  <p:clrMapOvr>
    <a:masterClrMapping/>
  </p:clrMapOvr>
  <p:transition spd="slow">
    <p:fade/>
  </p:transition>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Word Copilot across the document lifecycle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Draft</a:t>
            </a:r>
          </a:p>
          <a:p>
            <a:pPr algn="l">
              <a:spcAft>
                <a:spcPts val="300"/>
              </a:spcAft>
            </a:pPr>
            <a:r>
              <a:rPr sz="1100" b="0">
                <a:solidFill>
                  <a:srgbClr val="5B6372"/>
                </a:solidFill>
                <a:latin typeface="Arial"/>
              </a:rPr>
              <a:t>Create structured content from a prompt and sources.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Transform</a:t>
            </a:r>
          </a:p>
          <a:p>
            <a:pPr algn="l">
              <a:spcAft>
                <a:spcPts val="300"/>
              </a:spcAft>
            </a:pPr>
            <a:r>
              <a:rPr sz="1100" b="0">
                <a:solidFill>
                  <a:srgbClr val="5B6372"/>
                </a:solidFill>
                <a:latin typeface="Arial"/>
              </a:rPr>
              <a:t>Rewrite, shorten, expand or change tone.</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Interrogate</a:t>
            </a:r>
          </a:p>
          <a:p>
            <a:pPr algn="l">
              <a:spcAft>
                <a:spcPts val="300"/>
              </a:spcAft>
            </a:pPr>
            <a:r>
              <a:rPr sz="1100" b="0">
                <a:solidFill>
                  <a:srgbClr val="5B6372"/>
                </a:solidFill>
                <a:latin typeface="Arial"/>
              </a:rPr>
              <a:t>Ask questions about the current document.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Review</a:t>
            </a:r>
          </a:p>
          <a:p>
            <a:pPr algn="l">
              <a:spcAft>
                <a:spcPts val="300"/>
              </a:spcAft>
            </a:pPr>
            <a:r>
              <a:rPr sz="1100" b="0">
                <a:solidFill>
                  <a:srgbClr val="5B6372"/>
                </a:solidFill>
                <a:latin typeface="Arial"/>
              </a:rPr>
              <a:t>Use human fact, policy and audience checks.</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37</a:t>
            </a:r>
          </a:p>
        </p:txBody>
      </p:sp>
    </p:spTree>
  </p:cSld>
  <p:clrMapOvr>
    <a:masterClrMapping/>
  </p:clrMapOvr>
  <p:transition spd="slow">
    <p:fade/>
  </p:transition>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PowerPoint Copilot across the story lifecycle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Plan: Start from audience, decision and source evidence.</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Create: Generate an outline or deck from a document.</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Refine: Reorganise, rewrite and improve visual hierarchy.</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Prepare: Draft notes and anticipate audience questions.</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38</a:t>
            </a:r>
          </a:p>
        </p:txBody>
      </p:sp>
    </p:spTree>
  </p:cSld>
  <p:clrMapOvr>
    <a:masterClrMapping/>
  </p:clrMapOvr>
  <p:transition spd="slow">
    <p:fade/>
  </p:transition>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 presentation is an evidence story</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Context</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Why the issue matters now.</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Insight</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What the evidence reveals.</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Choice</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What options or trade-offs exist.</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39</a:t>
            </a:r>
          </a:p>
        </p:txBody>
      </p:sp>
    </p:spTree>
  </p:cSld>
  <p:clrMapOvr>
    <a:masterClrMapping/>
  </p:clrMapOvr>
  <p:transition spd="slow">
    <p:fade/>
  </p:transition>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Native charts preserve trust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Editable — Data and labels can be checked and updated.</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Traceable — Values link to an embedded chart data table.</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Accessible — Titles, labels and alt text improve interpretation.</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Honest — Avoid 3D distortion, false precision and missing units.</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40</a:t>
            </a:r>
          </a:p>
        </p:txBody>
      </p:sp>
    </p:spTree>
  </p:cSld>
  <p:clrMapOvr>
    <a:masterClrMapping/>
  </p:clrMapOvr>
  <p:transition spd="slow">
    <p:fade/>
  </p:transition>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01 · K1 · A1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Human review before release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Facts</a:t>
            </a:r>
          </a:p>
          <a:p>
            <a:pPr algn="l">
              <a:spcAft>
                <a:spcPts val="300"/>
              </a:spcAft>
            </a:pPr>
            <a:r>
              <a:rPr sz="1100" b="0">
                <a:solidFill>
                  <a:srgbClr val="5B6372"/>
                </a:solidFill>
                <a:latin typeface="Arial"/>
              </a:rPr>
              <a:t>Verify numbers, names, dates and citations.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Tone</a:t>
            </a:r>
          </a:p>
          <a:p>
            <a:pPr algn="l">
              <a:spcAft>
                <a:spcPts val="300"/>
              </a:spcAft>
            </a:pPr>
            <a:r>
              <a:rPr sz="1100" b="0">
                <a:solidFill>
                  <a:srgbClr val="5B6372"/>
                </a:solidFill>
                <a:latin typeface="Arial"/>
              </a:rPr>
              <a:t>Match audience and organisational voice.</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Sensitivity</a:t>
            </a:r>
          </a:p>
          <a:p>
            <a:pPr algn="l">
              <a:spcAft>
                <a:spcPts val="300"/>
              </a:spcAft>
            </a:pPr>
            <a:r>
              <a:rPr sz="1100" b="0">
                <a:solidFill>
                  <a:srgbClr val="5B6372"/>
                </a:solidFill>
                <a:latin typeface="Arial"/>
              </a:rPr>
              <a:t>Check confidential content and metadata.</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Decision</a:t>
            </a:r>
          </a:p>
          <a:p>
            <a:pPr algn="l">
              <a:spcAft>
                <a:spcPts val="300"/>
              </a:spcAft>
            </a:pPr>
            <a:r>
              <a:rPr sz="1100" b="0">
                <a:solidFill>
                  <a:srgbClr val="5B6372"/>
                </a:solidFill>
                <a:latin typeface="Arial"/>
              </a:rPr>
              <a:t>A named owner approves the final document or deck.</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41</a:t>
            </a:r>
          </a:p>
        </p:txBody>
      </p:sp>
    </p:spTree>
  </p:cSld>
  <p:clrMapOvr>
    <a:masterClrMapping/>
  </p:clrMapOvr>
  <p:transition spd="slow">
    <p:fade/>
  </p:transition>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01 · NATIVE CHART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Adoption readiness is uneven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Clustered bars expose the control gap before rollout.</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42</a:t>
            </a:r>
          </a:p>
        </p:txBody>
      </p:sp>
    </p:spTree>
  </p:cSld>
  <p:clrMapOvr>
    <a:masterClrMapping/>
  </p:clrMapOvr>
  <p:transition spd="slow">
    <p:fade/>
  </p:transition>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01 · NATIVE CHART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Evidence improves after a prompt-review loop</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Verified claims rise as unsupported statements are corrected.</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43</a:t>
            </a:r>
          </a:p>
        </p:txBody>
      </p:sp>
    </p:spTree>
  </p:cSld>
  <p:clrMapOvr>
    <a:masterClrMapping/>
  </p:clrMapOvr>
  <p:transition spd="slow">
    <p:fade/>
  </p:transition>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01 · FOUNDATION</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Set up the Lumina project and compare prompts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01</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Identify the project objective, four department owners, source authority and missing facts. Compare a vague prompt with a complete Goal–Context–Source–Expectations prompt.</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SW-2026-Source-Register.xlsx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Microsoft 365 Copilot Chat + Excel</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44</a:t>
            </a:r>
          </a:p>
        </p:txBody>
      </p:sp>
    </p:spTree>
  </p:cSld>
  <p:clrMapOvr>
    <a:masterClrMapping/>
  </p:clrMapOvr>
  <p:transition spd="slow">
    <p:fade/>
  </p:transition>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01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Set up the Lumina project and compare prompts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1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45</a:t>
            </a:r>
          </a:p>
        </p:txBody>
      </p:sp>
    </p:spTree>
  </p:cSld>
  <p:clrMapOvr>
    <a:masterClrMapping/>
  </p:clrMapOvr>
  <p:transition spd="slow">
    <p:fade/>
  </p:transition>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01 · FOUNDATION</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Draft the cross-department launch brief in Word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02</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Create a two-page launch brief with objectives, owners, dates, dependencies, HR training and business evidence needs. Cite the supplied source sections and identify unresolved questions.</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Lumina-Launch-Brief.docx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Word + 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46</a:t>
            </a:r>
          </a:p>
        </p:txBody>
      </p:sp>
    </p:spTree>
  </p:cSld>
  <p:clrMapOvr>
    <a:masterClrMapping/>
  </p:clrMapOvr>
  <p:transition spd="slow">
    <p:fade/>
  </p:transition>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02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Draft the cross-department launch brief in Word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2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47</a:t>
            </a:r>
          </a:p>
        </p:txBody>
      </p:sp>
    </p:spTree>
  </p:cSld>
  <p:clrMapOvr>
    <a:masterClrMapping/>
  </p:clrMapOvr>
  <p:transition spd="slow">
    <p:fade/>
  </p:transition>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01 · INTERMEDIATE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Create and review the HR policy in Word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03</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Create a two-page staff enablement policy with four-hour training, responsible use, review, escalation and a staff checklist. Do not invent leave, salary or remote-working entitlements. Label DRAFT FOR HR REVIEW.</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Lumina-HR-Policy.docx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Word + 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48</a:t>
            </a:r>
          </a:p>
        </p:txBody>
      </p:sp>
    </p:spTree>
  </p:cSld>
  <p:clrMapOvr>
    <a:masterClrMapping/>
  </p:clrMapOvr>
  <p:transition spd="slow">
    <p:fade/>
  </p:transition>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03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Create and review the HR policy in Word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3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49</a:t>
            </a:r>
          </a:p>
        </p:txBody>
      </p:sp>
    </p:spTree>
  </p:cSld>
  <p:clrMapOvr>
    <a:masterClrMapping/>
  </p:clrMapOvr>
  <p:transition spd="slow">
    <p:fade/>
  </p:transition>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01 · INTERMEDIATE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Generate the leadership presentation from Word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04</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Create six slides: launch decision, business evidence needed, HR readiness, campaign plan, risks and actions. Leave quantitative historical charts for the verified data handoff in Labs 5–8. Preserve source references in notes.</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Lumina-Leadership-Draft.pptx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PowerPoint + Word + 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50</a:t>
            </a:r>
          </a:p>
        </p:txBody>
      </p:sp>
    </p:spTree>
  </p:cSld>
  <p:clrMapOvr>
    <a:masterClrMapping/>
  </p:clrMapOvr>
  <p:transition spd="slow">
    <p:fade/>
  </p:transition>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04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Generate the leadership presentation from Word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4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51</a:t>
            </a:r>
          </a:p>
        </p:txBody>
      </p:sp>
    </p:spTree>
  </p:cSld>
  <p:clrMapOvr>
    <a:masterClrMapping/>
  </p:clrMapOvr>
  <p:transition spd="slow">
    <p:fade/>
  </p:transition>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01 · INTERMEDIATE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Add Excel visualizations to Word and PowerPoint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05</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Use the Monthly, Channels and HR_Readiness tables to produce three charts. Add them to the Word report and the presentation. Keep PowerPoint chart data editable, show units and source ranges, and reconcile totals.</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Lumina-Visual-Evidence.pptx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PowerPoint + 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52</a:t>
            </a:r>
          </a:p>
        </p:txBody>
      </p:sp>
    </p:spTree>
  </p:cSld>
  <p:clrMapOvr>
    <a:masterClrMapping/>
  </p:clrMapOvr>
  <p:transition spd="slow">
    <p:fade/>
  </p:transition>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05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Add Excel visualizations to Word and PowerPoint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5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53</a:t>
            </a:r>
          </a:p>
        </p:txBody>
      </p:sp>
    </p:spTree>
  </p:cSld>
  <p:clrMapOvr>
    <a:masterClrMapping/>
  </p:clrMapOvr>
  <p:transition spd="slow">
    <p:fade/>
  </p:transition>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RECAP</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Recap — Microsoft 365 Copilot Foundations, Word and PowerPoint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Knowledge</a:t>
            </a:r>
          </a:p>
          <a:p>
            <a:pPr algn="l">
              <a:spcAft>
                <a:spcPts val="300"/>
              </a:spcAft>
            </a:pPr>
            <a:r>
              <a:rPr sz="1200" b="0">
                <a:solidFill>
                  <a:srgbClr val="5B6372"/>
                </a:solidFill>
                <a:latin typeface="Arial"/>
              </a:rPr>
              <a:t>Grounding and related principles.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Ability</a:t>
            </a:r>
          </a:p>
          <a:p>
            <a:pPr algn="l">
              <a:spcAft>
                <a:spcPts val="300"/>
              </a:spcAft>
            </a:pPr>
            <a:r>
              <a:rPr sz="1200" b="0">
                <a:solidFill>
                  <a:srgbClr val="5B6372"/>
                </a:solidFill>
                <a:latin typeface="Arial"/>
              </a:rPr>
              <a:t>K1 · A1</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Evidence</a:t>
            </a:r>
          </a:p>
          <a:p>
            <a:pPr algn="l">
              <a:spcAft>
                <a:spcPts val="300"/>
              </a:spcAft>
            </a:pPr>
            <a:r>
              <a:rPr sz="1200" b="0">
                <a:solidFill>
                  <a:srgbClr val="5B6372"/>
                </a:solidFill>
                <a:latin typeface="Arial"/>
              </a:rPr>
              <a:t>A checked Excel control workbook plus the app-specific artifact.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Next</a:t>
            </a:r>
          </a:p>
          <a:p>
            <a:pPr algn="l">
              <a:spcAft>
                <a:spcPts val="300"/>
              </a:spcAft>
            </a:pPr>
            <a:r>
              <a:rPr sz="1200" b="0">
                <a:solidFill>
                  <a:srgbClr val="5B6372"/>
                </a:solidFill>
                <a:latin typeface="Arial"/>
              </a:rPr>
              <a:t>Carry the evidence and controls into the next workflow stage.</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54</a:t>
            </a:r>
          </a:p>
        </p:txBody>
      </p:sp>
    </p:spTree>
  </p:cSld>
  <p:clrMapOvr>
    <a:masterClrMapping/>
  </p:clrMapOvr>
  <p:transition spd="slow">
    <p:fade/>
  </p:transition>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2057400"/>
            <a:ext cx="118872" cy="2057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57400"/>
            <a:ext cx="8869680" cy="411480"/>
          </a:xfrm>
          <a:prstGeom prst="rect">
            <a:avLst/>
          </a:prstGeom>
          <a:noFill/>
        </p:spPr>
        <p:txBody>
          <a:bodyPr wrap="square" anchor="t" lIns="54864" rIns="54864" tIns="54864" bIns="54864">
            <a:spAutoFit/>
          </a:bodyPr>
          <a:lstStyle/>
          <a:p>
            <a:pPr algn="l">
              <a:spcAft>
                <a:spcPts val="300"/>
              </a:spcAft>
            </a:pPr>
            <a:r>
              <a:rPr sz="1500" b="1">
                <a:solidFill>
                  <a:srgbClr val="1F6FEB"/>
                </a:solidFill>
                <a:latin typeface="Arial"/>
              </a:rPr>
              <a:t>TOPIC 02</a:t>
            </a:r>
          </a:p>
        </p:txBody>
      </p:sp>
      <p:sp>
        <p:nvSpPr>
          <p:cNvPr id="6" name="TextBox 5"/>
          <p:cNvSpPr txBox="1"/>
          <p:nvPr/>
        </p:nvSpPr>
        <p:spPr>
          <a:xfrm>
            <a:off x="1188720" y="2514600"/>
            <a:ext cx="9692640" cy="1325880"/>
          </a:xfrm>
          <a:prstGeom prst="rect">
            <a:avLst/>
          </a:prstGeom>
          <a:noFill/>
        </p:spPr>
        <p:txBody>
          <a:bodyPr wrap="square" anchor="ctr" lIns="54864" rIns="54864" tIns="54864" bIns="54864">
            <a:spAutoFit/>
          </a:bodyPr>
          <a:lstStyle/>
          <a:p>
            <a:pPr algn="l">
              <a:spcAft>
                <a:spcPts val="300"/>
              </a:spcAft>
            </a:pPr>
            <a:r>
              <a:rPr sz="3600" b="1">
                <a:solidFill>
                  <a:srgbClr val="161B26"/>
                </a:solidFill>
                <a:latin typeface="Arial"/>
              </a:rPr>
              <a:t>Copilot for Excel: From Questions to Deep Analysis</a:t>
            </a:r>
          </a:p>
        </p:txBody>
      </p:sp>
      <p:sp>
        <p:nvSpPr>
          <p:cNvPr id="7" name="TextBox 6"/>
          <p:cNvSpPr txBox="1"/>
          <p:nvPr/>
        </p:nvSpPr>
        <p:spPr>
          <a:xfrm>
            <a:off x="1207008" y="3977639"/>
            <a:ext cx="9692640" cy="658368"/>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Tables · formulas · diagnostics · scenario analysis · forecasting · Analyst agent</a:t>
            </a:r>
          </a:p>
        </p:txBody>
      </p:sp>
      <p:sp>
        <p:nvSpPr>
          <p:cNvPr id="8" name="TextBox 7"/>
          <p:cNvSpPr txBox="1"/>
          <p:nvPr/>
        </p:nvSpPr>
        <p:spPr>
          <a:xfrm>
            <a:off x="9372600" y="594360"/>
            <a:ext cx="2011680" cy="1143000"/>
          </a:xfrm>
          <a:prstGeom prst="rect">
            <a:avLst/>
          </a:prstGeom>
          <a:noFill/>
        </p:spPr>
        <p:txBody>
          <a:bodyPr wrap="square" anchor="t" lIns="54864" rIns="54864" tIns="54864" bIns="54864">
            <a:spAutoFit/>
          </a:bodyPr>
          <a:lstStyle/>
          <a:p>
            <a:pPr algn="r">
              <a:spcAft>
                <a:spcPts val="300"/>
              </a:spcAft>
            </a:pPr>
            <a:r>
              <a:rPr sz="6600" b="1">
                <a:solidFill>
                  <a:srgbClr val="E2E8F0"/>
                </a:solidFill>
                <a:latin typeface="Arial"/>
              </a:rPr>
              <a:t>02</a:t>
            </a:r>
          </a:p>
        </p:txBody>
      </p:sp>
      <p:sp>
        <p:nvSpPr>
          <p:cNvPr id="9" name="TextBox 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0" name="TextBox 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55</a:t>
            </a:r>
          </a:p>
        </p:txBody>
      </p:sp>
    </p:spTree>
  </p:cSld>
  <p:clrMapOvr>
    <a:masterClrMapping/>
  </p:clrMapOvr>
  <p:transition spd="slow">
    <p:fade/>
  </p:transition>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ALIGNMENT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Key Concepts — Copilot for Excel: From Questions to Deep Analysis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0176"/>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Analysis-ready data</a:t>
            </a:r>
          </a:p>
          <a:p>
            <a:pPr algn="l">
              <a:spcAft>
                <a:spcPts val="300"/>
              </a:spcAft>
            </a:pPr>
            <a:r>
              <a:rPr sz="1000" b="0">
                <a:solidFill>
                  <a:srgbClr val="5B6372"/>
                </a:solidFill>
                <a:latin typeface="Arial"/>
              </a:rPr>
              <a:t>One header row, one record per row, stable types and an Excel Table.</a:t>
            </a:r>
          </a:p>
        </p:txBody>
      </p:sp>
      <p:sp>
        <p:nvSpPr>
          <p:cNvPr id="12" name="Rounded Rectangle 11"/>
          <p:cNvSpPr/>
          <p:nvPr/>
        </p:nvSpPr>
        <p:spPr>
          <a:xfrm>
            <a:off x="624078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170176"/>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Progressive analysis</a:t>
            </a:r>
          </a:p>
          <a:p>
            <a:pPr algn="l">
              <a:spcAft>
                <a:spcPts val="300"/>
              </a:spcAft>
            </a:pPr>
            <a:r>
              <a:rPr sz="1000" b="0">
                <a:solidFill>
                  <a:srgbClr val="5B6372"/>
                </a:solidFill>
                <a:latin typeface="Arial"/>
              </a:rPr>
              <a:t>Start descriptive, then diagnostic, predictive and prescriptive.</a:t>
            </a:r>
          </a:p>
        </p:txBody>
      </p:sp>
      <p:sp>
        <p:nvSpPr>
          <p:cNvPr id="17" name="Rounded Rectangle 16"/>
          <p:cNvSpPr/>
          <p:nvPr/>
        </p:nvSpPr>
        <p:spPr>
          <a:xfrm>
            <a:off x="77724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13228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3398520"/>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Formula audit</a:t>
            </a:r>
          </a:p>
          <a:p>
            <a:pPr algn="l">
              <a:spcAft>
                <a:spcPts val="300"/>
              </a:spcAft>
            </a:pPr>
            <a:r>
              <a:rPr sz="1000" b="0">
                <a:solidFill>
                  <a:srgbClr val="5B6372"/>
                </a:solidFill>
                <a:latin typeface="Arial"/>
              </a:rPr>
              <a:t>Accept suggested formulas only after checking logic, references and edge cases.</a:t>
            </a:r>
          </a:p>
        </p:txBody>
      </p:sp>
      <p:sp>
        <p:nvSpPr>
          <p:cNvPr id="22" name="Rounded Rectangle 21"/>
          <p:cNvSpPr/>
          <p:nvPr/>
        </p:nvSpPr>
        <p:spPr>
          <a:xfrm>
            <a:off x="624078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3307080"/>
            <a:ext cx="82296" cy="1322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3712464"/>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3398520"/>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Evidence chain</a:t>
            </a:r>
          </a:p>
          <a:p>
            <a:pPr algn="l">
              <a:spcAft>
                <a:spcPts val="300"/>
              </a:spcAft>
            </a:pPr>
            <a:r>
              <a:rPr sz="1000" b="0">
                <a:solidFill>
                  <a:srgbClr val="5B6372"/>
                </a:solidFill>
                <a:latin typeface="Arial"/>
              </a:rPr>
              <a:t>Question, method, result, caveat and action should be traceable in the workbook.</a:t>
            </a:r>
          </a:p>
        </p:txBody>
      </p:sp>
      <p:sp>
        <p:nvSpPr>
          <p:cNvPr id="27" name="Rounded Rectangle 26"/>
          <p:cNvSpPr/>
          <p:nvPr/>
        </p:nvSpPr>
        <p:spPr>
          <a:xfrm>
            <a:off x="77724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5475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709928" y="4940808"/>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Scenario thinking</a:t>
            </a:r>
          </a:p>
          <a:p>
            <a:pPr algn="l">
              <a:spcAft>
                <a:spcPts val="300"/>
              </a:spcAft>
            </a:pPr>
            <a:r>
              <a:rPr sz="1000" b="0">
                <a:solidFill>
                  <a:srgbClr val="5B6372"/>
                </a:solidFill>
                <a:latin typeface="Arial"/>
              </a:rPr>
              <a:t>Separate assumptions from formulas and compare base, downside and upside cases.</a:t>
            </a:r>
          </a:p>
        </p:txBody>
      </p:sp>
      <p:sp>
        <p:nvSpPr>
          <p:cNvPr id="32" name="Rounded Rectangle 31"/>
          <p:cNvSpPr/>
          <p:nvPr/>
        </p:nvSpPr>
        <p:spPr>
          <a:xfrm>
            <a:off x="624078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0780" y="4849368"/>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78524" y="5254752"/>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852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6</a:t>
            </a:r>
          </a:p>
        </p:txBody>
      </p:sp>
      <p:sp>
        <p:nvSpPr>
          <p:cNvPr id="36" name="TextBox 35"/>
          <p:cNvSpPr txBox="1"/>
          <p:nvPr/>
        </p:nvSpPr>
        <p:spPr>
          <a:xfrm>
            <a:off x="7173468" y="4940808"/>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Deep analysis</a:t>
            </a:r>
          </a:p>
          <a:p>
            <a:pPr algn="l">
              <a:spcAft>
                <a:spcPts val="300"/>
              </a:spcAft>
            </a:pPr>
            <a:r>
              <a:rPr sz="1000" b="0">
                <a:solidFill>
                  <a:srgbClr val="5B6372"/>
                </a:solidFill>
                <a:latin typeface="Arial"/>
              </a:rPr>
              <a:t>Use Analyst or advanced Copilot features to explore multiple files, patterns and forecasts when licensed.</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56</a:t>
            </a:r>
          </a:p>
        </p:txBody>
      </p:sp>
    </p:spTree>
  </p:cSld>
  <p:clrMapOvr>
    <a:masterClrMapping/>
  </p:clrMapOvr>
  <p:transition spd="slow">
    <p:fade/>
  </p:transition>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Excel Copilot needs structured data</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Table: Use an Excel Table with unique headers.</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Types: Dates, numbers and text must be consistent.</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Grain: One row represents one defined observation.</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Controls: Retain row counts, totals and exception checks.</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57</a:t>
            </a:r>
          </a:p>
        </p:txBody>
      </p:sp>
    </p:spTree>
  </p:cSld>
  <p:clrMapOvr>
    <a:masterClrMapping/>
  </p:clrMapOvr>
  <p:transition spd="slow">
    <p:fade/>
  </p:transition>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Question ladder for deep analysis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Descriptive</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What happened and how much?</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Diagnostic</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Where and why did it differ?</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Predictive</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What may happen under stated assumptions?</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58</a:t>
            </a:r>
          </a:p>
        </p:txBody>
      </p:sp>
    </p:spTree>
  </p:cSld>
  <p:clrMapOvr>
    <a:masterClrMapping/>
  </p:clrMapOvr>
  <p:transition spd="slow">
    <p:fade/>
  </p:transition>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Formula generation is a proposal</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Explain — Ask why the formula matches the business rule.</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Inspect — Check references, ranges and assumptions.</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Test — Use boundary, blank, zero and error cases.</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Control — Compare results with an independent total.</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59</a:t>
            </a:r>
          </a:p>
        </p:txBody>
      </p:sp>
    </p:spTree>
  </p:cSld>
  <p:clrMapOvr>
    <a:masterClrMapping/>
  </p:clrMapOvr>
  <p:transition spd="slow">
    <p:fade/>
  </p:transition>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Segment before explaining</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Time</a:t>
            </a:r>
          </a:p>
          <a:p>
            <a:pPr algn="l">
              <a:spcAft>
                <a:spcPts val="300"/>
              </a:spcAft>
            </a:pPr>
            <a:r>
              <a:rPr sz="1100" b="0">
                <a:solidFill>
                  <a:srgbClr val="5B6372"/>
                </a:solidFill>
                <a:latin typeface="Arial"/>
              </a:rPr>
              <a:t>Month, week, campaign phase.</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Place</a:t>
            </a:r>
          </a:p>
          <a:p>
            <a:pPr algn="l">
              <a:spcAft>
                <a:spcPts val="300"/>
              </a:spcAft>
            </a:pPr>
            <a:r>
              <a:rPr sz="1100" b="0">
                <a:solidFill>
                  <a:srgbClr val="5B6372"/>
                </a:solidFill>
                <a:latin typeface="Arial"/>
              </a:rPr>
              <a:t>Market, region or channel.</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Product</a:t>
            </a:r>
          </a:p>
          <a:p>
            <a:pPr algn="l">
              <a:spcAft>
                <a:spcPts val="300"/>
              </a:spcAft>
            </a:pPr>
            <a:r>
              <a:rPr sz="1100" b="0">
                <a:solidFill>
                  <a:srgbClr val="5B6372"/>
                </a:solidFill>
                <a:latin typeface="Arial"/>
              </a:rPr>
              <a:t>Category, item or offer.</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Audience</a:t>
            </a:r>
          </a:p>
          <a:p>
            <a:pPr algn="l">
              <a:spcAft>
                <a:spcPts val="300"/>
              </a:spcAft>
            </a:pPr>
            <a:r>
              <a:rPr sz="1100" b="0">
                <a:solidFill>
                  <a:srgbClr val="5B6372"/>
                </a:solidFill>
                <a:latin typeface="Arial"/>
              </a:rPr>
              <a:t>Customer or employee segment.</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60</a:t>
            </a:r>
          </a:p>
        </p:txBody>
      </p:sp>
    </p:spTree>
  </p:cSld>
  <p:clrMapOvr>
    <a:masterClrMapping/>
  </p:clrMapOvr>
  <p:transition spd="slow">
    <p:fade/>
  </p:transition>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Anomaly is a starting point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Validity: Could it be a data or type error?</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Context: Is there a known event or policy change?</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Comparison: Does it persist across segments or periods?</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Action: Assign verification rather than deleting automatically.</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61</a:t>
            </a:r>
          </a:p>
        </p:txBody>
      </p:sp>
    </p:spTree>
  </p:cSld>
  <p:clrMapOvr>
    <a:masterClrMapping/>
  </p:clrMapOvr>
  <p:transition spd="slow">
    <p:fade/>
  </p:transition>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Correlation is not causation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Association</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Variables move together in the observed data.</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Confounding</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A third factor may drive both.</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Direction</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The relationship may run the other way.</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62</a:t>
            </a:r>
          </a:p>
        </p:txBody>
      </p:sp>
    </p:spTree>
  </p:cSld>
  <p:clrMapOvr>
    <a:masterClrMapping/>
  </p:clrMapOvr>
  <p:transition spd="slow">
    <p:fade/>
  </p:transition>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Forecasts are conditional</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History — Patterns assume some continuity.</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Method — State how trend and seasonality are handled.</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Range — Show uncertainty, not only a point estimate.</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Monitor — Compare actuals and update assumptions.</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63</a:t>
            </a:r>
          </a:p>
        </p:txBody>
      </p:sp>
    </p:spTree>
  </p:cSld>
  <p:clrMapOvr>
    <a:masterClrMapping/>
  </p:clrMapOvr>
  <p:transition spd="slow">
    <p:fade/>
  </p:transition>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Scenario design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Base</a:t>
            </a:r>
          </a:p>
          <a:p>
            <a:pPr algn="l">
              <a:spcAft>
                <a:spcPts val="300"/>
              </a:spcAft>
            </a:pPr>
            <a:r>
              <a:rPr sz="1100" b="0">
                <a:solidFill>
                  <a:srgbClr val="5B6372"/>
                </a:solidFill>
                <a:latin typeface="Arial"/>
              </a:rPr>
              <a:t>Most likely assumptions with named sources.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Downside</a:t>
            </a:r>
          </a:p>
          <a:p>
            <a:pPr algn="l">
              <a:spcAft>
                <a:spcPts val="300"/>
              </a:spcAft>
            </a:pPr>
            <a:r>
              <a:rPr sz="1100" b="0">
                <a:solidFill>
                  <a:srgbClr val="5B6372"/>
                </a:solidFill>
                <a:latin typeface="Arial"/>
              </a:rPr>
              <a:t>Plausible adverse combination.</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Upside</a:t>
            </a:r>
          </a:p>
          <a:p>
            <a:pPr algn="l">
              <a:spcAft>
                <a:spcPts val="300"/>
              </a:spcAft>
            </a:pPr>
            <a:r>
              <a:rPr sz="1100" b="0">
                <a:solidFill>
                  <a:srgbClr val="5B6372"/>
                </a:solidFill>
                <a:latin typeface="Arial"/>
              </a:rPr>
              <a:t>Plausible favourable combination.</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Trigger</a:t>
            </a:r>
          </a:p>
          <a:p>
            <a:pPr algn="l">
              <a:spcAft>
                <a:spcPts val="300"/>
              </a:spcAft>
            </a:pPr>
            <a:r>
              <a:rPr sz="1100" b="0">
                <a:solidFill>
                  <a:srgbClr val="5B6372"/>
                </a:solidFill>
                <a:latin typeface="Arial"/>
              </a:rPr>
              <a:t>Define what evidence moves the plan between cases.</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64</a:t>
            </a:r>
          </a:p>
        </p:txBody>
      </p:sp>
    </p:spTree>
  </p:cSld>
  <p:clrMapOvr>
    <a:masterClrMapping/>
  </p:clrMapOvr>
  <p:transition spd="slow">
    <p:fade/>
  </p:transition>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Sensitivity reveals decision boundaries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Driver: Choose controllable or uncertain inputs.</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Range: Test realistic values, not decorative extremes.</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Output: Use the decision metric that matters.</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Boundary: Find where capacity, margin or service fails.</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65</a:t>
            </a:r>
          </a:p>
        </p:txBody>
      </p:sp>
    </p:spTree>
  </p:cSld>
  <p:clrMapOvr>
    <a:masterClrMapping/>
  </p:clrMapOvr>
  <p:transition spd="slow">
    <p:fade/>
  </p:transition>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Analyst agent extends exploration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Multiple files</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Explore related data across available sources.</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Reasoning</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Break a broad question into analytical steps.</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Artifacts</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Produce tables, charts or analysis outputs.</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66</a:t>
            </a:r>
          </a:p>
        </p:txBody>
      </p:sp>
    </p:spTree>
  </p:cSld>
  <p:clrMapOvr>
    <a:masterClrMapping/>
  </p:clrMapOvr>
  <p:transition spd="slow">
    <p:fade/>
  </p:transition>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Chart selection by question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Trend — Line across ordered time.</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Comparison — Bar or column across categories.</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Contribution — Sorted bar or waterfall for drivers.</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Relationship — Scatter for two numeric variables.</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67</a:t>
            </a:r>
          </a:p>
        </p:txBody>
      </p:sp>
    </p:spTree>
  </p:cSld>
  <p:clrMapOvr>
    <a:masterClrMapping/>
  </p:clrMapOvr>
  <p:transition spd="slow">
    <p:fade/>
  </p:transition>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02 · K3 · A2</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Evidence-ready Excel output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Source</a:t>
            </a:r>
          </a:p>
          <a:p>
            <a:pPr algn="l">
              <a:spcAft>
                <a:spcPts val="300"/>
              </a:spcAft>
            </a:pPr>
            <a:r>
              <a:rPr sz="1100" b="0">
                <a:solidFill>
                  <a:srgbClr val="5B6372"/>
                </a:solidFill>
                <a:latin typeface="Arial"/>
              </a:rPr>
              <a:t>Retain original data and extraction context.</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Method</a:t>
            </a:r>
          </a:p>
          <a:p>
            <a:pPr algn="l">
              <a:spcAft>
                <a:spcPts val="300"/>
              </a:spcAft>
            </a:pPr>
            <a:r>
              <a:rPr sz="1100" b="0">
                <a:solidFill>
                  <a:srgbClr val="5B6372"/>
                </a:solidFill>
                <a:latin typeface="Arial"/>
              </a:rPr>
              <a:t>Keep formulas, pivots and assumptions visible.</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Finding</a:t>
            </a:r>
          </a:p>
          <a:p>
            <a:pPr algn="l">
              <a:spcAft>
                <a:spcPts val="300"/>
              </a:spcAft>
            </a:pPr>
            <a:r>
              <a:rPr sz="1100" b="0">
                <a:solidFill>
                  <a:srgbClr val="5B6372"/>
                </a:solidFill>
                <a:latin typeface="Arial"/>
              </a:rPr>
              <a:t>Link every claim to a table or chart.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Caveat</a:t>
            </a:r>
          </a:p>
          <a:p>
            <a:pPr algn="l">
              <a:spcAft>
                <a:spcPts val="300"/>
              </a:spcAft>
            </a:pPr>
            <a:r>
              <a:rPr sz="1100" b="0">
                <a:solidFill>
                  <a:srgbClr val="5B6372"/>
                </a:solidFill>
                <a:latin typeface="Arial"/>
              </a:rPr>
              <a:t>State missing data, bias and uncertainty.</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68</a:t>
            </a:r>
          </a:p>
        </p:txBody>
      </p:sp>
    </p:spTree>
  </p:cSld>
  <p:clrMapOvr>
    <a:masterClrMapping/>
  </p:clrMapOvr>
  <p:transition spd="slow">
    <p:fade/>
  </p:transition>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02 · NATIVE CHART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Revenue grows, but capacity tightens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A native line chart connects forecast value with an operational constraint.</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69</a:t>
            </a:r>
          </a:p>
        </p:txBody>
      </p:sp>
    </p:spTree>
  </p:cSld>
  <p:clrMapOvr>
    <a:masterClrMapping/>
  </p:clrMapOvr>
  <p:transition spd="slow">
    <p:fade/>
  </p:transition>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02 · NATIVE CHART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Three channels drive most contribution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A sorted column chart focuses diagnostic attention.</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70</a:t>
            </a:r>
          </a:p>
        </p:txBody>
      </p:sp>
    </p:spTree>
  </p:cSld>
  <p:clrMapOvr>
    <a:masterClrMapping/>
  </p:clrMapOvr>
  <p:transition spd="slow">
    <p:fade/>
  </p:transition>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02 · FOUNDATION</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Build the sales and financial formulas in Excel</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06</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Use Copilot to analyse Lumina sales, revenue, costs, margins and targets with auditable Excel formulas.</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Lumina-Analysis.xlsx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71</a:t>
            </a:r>
          </a:p>
        </p:txBody>
      </p:sp>
    </p:spTree>
  </p:cSld>
  <p:clrMapOvr>
    <a:masterClrMapping/>
  </p:clrMapOvr>
  <p:transition spd="slow">
    <p:fade/>
  </p:transition>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06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Build the sales and financial formulas in Excel</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6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72</a:t>
            </a:r>
          </a:p>
        </p:txBody>
      </p:sp>
    </p:spTree>
  </p:cSld>
  <p:clrMapOvr>
    <a:masterClrMapping/>
  </p:clrMapOvr>
  <p:transition spd="slow">
    <p:fade/>
  </p:transition>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02 · INTERMEDIATE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Analyze sales, revenue and financial performance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07</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Explain financial performance with checked charts and a concise Word management report.</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Lumina-Management-Report.docx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73</a:t>
            </a:r>
          </a:p>
        </p:txBody>
      </p:sp>
    </p:spTree>
  </p:cSld>
  <p:clrMapOvr>
    <a:masterClrMapping/>
  </p:clrMapOvr>
  <p:transition spd="slow">
    <p:fade/>
  </p:transition>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07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Analyze sales, revenue and financial performance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7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74</a:t>
            </a:r>
          </a:p>
        </p:txBody>
      </p:sp>
    </p:spTree>
  </p:cSld>
  <p:clrMapOvr>
    <a:masterClrMapping/>
  </p:clrMapOvr>
  <p:transition spd="slow">
    <p:fade/>
  </p:transition>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02 · ADVANCED</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Test launch scenarios and update the decision pack</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08</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Test financial assumptions and maintain a controlled transition plan and strategy recommendation.</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Lumina-Scenario-Analysis.xlsx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Excel + Analyst agent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75</a:t>
            </a:r>
          </a:p>
        </p:txBody>
      </p:sp>
    </p:spTree>
  </p:cSld>
  <p:clrMapOvr>
    <a:masterClrMapping/>
  </p:clrMapOvr>
  <p:transition spd="slow">
    <p:fade/>
  </p:transition>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08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Test launch scenarios and update the decision pack</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8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76</a:t>
            </a:r>
          </a:p>
        </p:txBody>
      </p:sp>
    </p:spTree>
  </p:cSld>
  <p:clrMapOvr>
    <a:masterClrMapping/>
  </p:clrMapOvr>
  <p:transition spd="slow">
    <p:fade/>
  </p:transition>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RECAP</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Recap — Copilot for Excel: From Questions to Deep Analysis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Knowledge</a:t>
            </a:r>
          </a:p>
          <a:p>
            <a:pPr algn="l">
              <a:spcAft>
                <a:spcPts val="300"/>
              </a:spcAft>
            </a:pPr>
            <a:r>
              <a:rPr sz="1200" b="0">
                <a:solidFill>
                  <a:srgbClr val="5B6372"/>
                </a:solidFill>
                <a:latin typeface="Arial"/>
              </a:rPr>
              <a:t>Analysis-ready data and related principles.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Ability</a:t>
            </a:r>
          </a:p>
          <a:p>
            <a:pPr algn="l">
              <a:spcAft>
                <a:spcPts val="300"/>
              </a:spcAft>
            </a:pPr>
            <a:r>
              <a:rPr sz="1200" b="0">
                <a:solidFill>
                  <a:srgbClr val="5B6372"/>
                </a:solidFill>
                <a:latin typeface="Arial"/>
              </a:rPr>
              <a:t>K3 · A2</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Evidence</a:t>
            </a:r>
          </a:p>
          <a:p>
            <a:pPr algn="l">
              <a:spcAft>
                <a:spcPts val="300"/>
              </a:spcAft>
            </a:pPr>
            <a:r>
              <a:rPr sz="1200" b="0">
                <a:solidFill>
                  <a:srgbClr val="5B6372"/>
                </a:solidFill>
                <a:latin typeface="Arial"/>
              </a:rPr>
              <a:t>A checked Excel control workbook plus the app-specific artifact.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Next</a:t>
            </a:r>
          </a:p>
          <a:p>
            <a:pPr algn="l">
              <a:spcAft>
                <a:spcPts val="300"/>
              </a:spcAft>
            </a:pPr>
            <a:r>
              <a:rPr sz="1200" b="0">
                <a:solidFill>
                  <a:srgbClr val="5B6372"/>
                </a:solidFill>
                <a:latin typeface="Arial"/>
              </a:rPr>
              <a:t>Carry the evidence and controls into the next workflow stage.</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77</a:t>
            </a:r>
          </a:p>
        </p:txBody>
      </p:sp>
    </p:spTree>
  </p:cSld>
  <p:clrMapOvr>
    <a:masterClrMapping/>
  </p:clrMapOvr>
  <p:transition spd="slow">
    <p:fade/>
  </p:transition>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38544"/>
            <a:ext cx="12191695" cy="21945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331720"/>
            <a:ext cx="12191695" cy="1051560"/>
          </a:xfrm>
          <a:prstGeom prst="rect">
            <a:avLst/>
          </a:prstGeom>
          <a:noFill/>
        </p:spPr>
        <p:txBody>
          <a:bodyPr wrap="square" anchor="t" lIns="54864" rIns="54864" tIns="54864" bIns="54864">
            <a:spAutoFit/>
          </a:bodyPr>
          <a:lstStyle/>
          <a:p>
            <a:pPr algn="ctr">
              <a:spcAft>
                <a:spcPts val="300"/>
              </a:spcAft>
            </a:pPr>
            <a:r>
              <a:rPr sz="4400" b="1">
                <a:solidFill>
                  <a:srgbClr val="161B26"/>
                </a:solidFill>
                <a:latin typeface="Arial"/>
              </a:rPr>
              <a:t>End of Day 1</a:t>
            </a:r>
          </a:p>
        </p:txBody>
      </p:sp>
      <p:sp>
        <p:nvSpPr>
          <p:cNvPr id="6" name="TextBox 5"/>
          <p:cNvSpPr txBox="1"/>
          <p:nvPr/>
        </p:nvSpPr>
        <p:spPr>
          <a:xfrm>
            <a:off x="0" y="3703320"/>
            <a:ext cx="12191695" cy="502920"/>
          </a:xfrm>
          <a:prstGeom prst="rect">
            <a:avLst/>
          </a:prstGeom>
          <a:noFill/>
        </p:spPr>
        <p:txBody>
          <a:bodyPr wrap="square" anchor="t" lIns="54864" rIns="54864" tIns="54864" bIns="54864">
            <a:spAutoFit/>
          </a:bodyPr>
          <a:lstStyle/>
          <a:p>
            <a:pPr algn="ctr">
              <a:spcAft>
                <a:spcPts val="300"/>
              </a:spcAft>
            </a:pPr>
            <a:r>
              <a:rPr sz="1900" b="1">
                <a:solidFill>
                  <a:srgbClr val="10B981"/>
                </a:solidFill>
                <a:latin typeface="Arial"/>
              </a:rPr>
              <a:t>Save your work · Sign out of shared accounts</a:t>
            </a:r>
          </a:p>
        </p:txBody>
      </p:sp>
      <p:sp>
        <p:nvSpPr>
          <p:cNvPr id="7" name="TextBox 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8" name="TextBox 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9" name="TextBox 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78</a:t>
            </a:r>
          </a:p>
        </p:txBody>
      </p:sp>
    </p:spTree>
  </p:cSld>
  <p:clrMapOvr>
    <a:masterClrMapping/>
  </p:clrMapOvr>
  <p:transition spd="slow">
    <p:fade/>
  </p:transition>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2057400"/>
            <a:ext cx="118872" cy="2057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57400"/>
            <a:ext cx="8869680" cy="411480"/>
          </a:xfrm>
          <a:prstGeom prst="rect">
            <a:avLst/>
          </a:prstGeom>
          <a:noFill/>
        </p:spPr>
        <p:txBody>
          <a:bodyPr wrap="square" anchor="t" lIns="54864" rIns="54864" tIns="54864" bIns="54864">
            <a:spAutoFit/>
          </a:bodyPr>
          <a:lstStyle/>
          <a:p>
            <a:pPr algn="l">
              <a:spcAft>
                <a:spcPts val="300"/>
              </a:spcAft>
            </a:pPr>
            <a:r>
              <a:rPr sz="1500" b="1">
                <a:solidFill>
                  <a:srgbClr val="1F6FEB"/>
                </a:solidFill>
                <a:latin typeface="Arial"/>
              </a:rPr>
              <a:t>TOPIC 03</a:t>
            </a:r>
          </a:p>
        </p:txBody>
      </p:sp>
      <p:sp>
        <p:nvSpPr>
          <p:cNvPr id="6" name="TextBox 5"/>
          <p:cNvSpPr txBox="1"/>
          <p:nvPr/>
        </p:nvSpPr>
        <p:spPr>
          <a:xfrm>
            <a:off x="1188720" y="2514600"/>
            <a:ext cx="9692640" cy="1325880"/>
          </a:xfrm>
          <a:prstGeom prst="rect">
            <a:avLst/>
          </a:prstGeom>
          <a:noFill/>
        </p:spPr>
        <p:txBody>
          <a:bodyPr wrap="square" anchor="ctr" lIns="54864" rIns="54864" tIns="54864" bIns="54864">
            <a:spAutoFit/>
          </a:bodyPr>
          <a:lstStyle/>
          <a:p>
            <a:pPr algn="l">
              <a:spcAft>
                <a:spcPts val="300"/>
              </a:spcAft>
            </a:pPr>
            <a:r>
              <a:rPr sz="3600" b="1">
                <a:solidFill>
                  <a:srgbClr val="161B26"/>
                </a:solidFill>
                <a:latin typeface="Arial"/>
              </a:rPr>
              <a:t>Copilot for Outlook, Teams and Loop</a:t>
            </a:r>
          </a:p>
        </p:txBody>
      </p:sp>
      <p:sp>
        <p:nvSpPr>
          <p:cNvPr id="7" name="TextBox 6"/>
          <p:cNvSpPr txBox="1"/>
          <p:nvPr/>
        </p:nvSpPr>
        <p:spPr>
          <a:xfrm>
            <a:off x="1207008" y="3977639"/>
            <a:ext cx="9692640" cy="658368"/>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Inbox triage · thread summaries · meeting intelligence · shared plans · human-send controls</a:t>
            </a:r>
          </a:p>
        </p:txBody>
      </p:sp>
      <p:sp>
        <p:nvSpPr>
          <p:cNvPr id="8" name="TextBox 7"/>
          <p:cNvSpPr txBox="1"/>
          <p:nvPr/>
        </p:nvSpPr>
        <p:spPr>
          <a:xfrm>
            <a:off x="9372600" y="594360"/>
            <a:ext cx="2011680" cy="1143000"/>
          </a:xfrm>
          <a:prstGeom prst="rect">
            <a:avLst/>
          </a:prstGeom>
          <a:noFill/>
        </p:spPr>
        <p:txBody>
          <a:bodyPr wrap="square" anchor="t" lIns="54864" rIns="54864" tIns="54864" bIns="54864">
            <a:spAutoFit/>
          </a:bodyPr>
          <a:lstStyle/>
          <a:p>
            <a:pPr algn="r">
              <a:spcAft>
                <a:spcPts val="300"/>
              </a:spcAft>
            </a:pPr>
            <a:r>
              <a:rPr sz="6600" b="1">
                <a:solidFill>
                  <a:srgbClr val="E2E8F0"/>
                </a:solidFill>
                <a:latin typeface="Arial"/>
              </a:rPr>
              <a:t>03</a:t>
            </a:r>
          </a:p>
        </p:txBody>
      </p:sp>
      <p:sp>
        <p:nvSpPr>
          <p:cNvPr id="9" name="TextBox 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0" name="TextBox 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79</a:t>
            </a:r>
          </a:p>
        </p:txBody>
      </p:sp>
    </p:spTree>
  </p:cSld>
  <p:clrMapOvr>
    <a:masterClrMapping/>
  </p:clrMapOvr>
  <p:transition spd="slow">
    <p:fade/>
  </p:transition>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ALIGNMENT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Key Concepts — Copilot for Outlook, Teams and Loop</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0176"/>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Communication workflow</a:t>
            </a:r>
          </a:p>
          <a:p>
            <a:pPr algn="l">
              <a:spcAft>
                <a:spcPts val="300"/>
              </a:spcAft>
            </a:pPr>
            <a:r>
              <a:rPr sz="1000" b="0">
                <a:solidFill>
                  <a:srgbClr val="5B6372"/>
                </a:solidFill>
                <a:latin typeface="Arial"/>
              </a:rPr>
              <a:t>Triage, understand, draft, coach, approve and send.</a:t>
            </a:r>
          </a:p>
        </p:txBody>
      </p:sp>
      <p:sp>
        <p:nvSpPr>
          <p:cNvPr id="12" name="Rounded Rectangle 11"/>
          <p:cNvSpPr/>
          <p:nvPr/>
        </p:nvSpPr>
        <p:spPr>
          <a:xfrm>
            <a:off x="624078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170176"/>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Meeting lifecycle</a:t>
            </a:r>
          </a:p>
          <a:p>
            <a:pPr algn="l">
              <a:spcAft>
                <a:spcPts val="300"/>
              </a:spcAft>
            </a:pPr>
            <a:r>
              <a:rPr sz="1000" b="0">
                <a:solidFill>
                  <a:srgbClr val="5B6372"/>
                </a:solidFill>
                <a:latin typeface="Arial"/>
              </a:rPr>
              <a:t>Prepare, facilitate, capture, assign and follow through.</a:t>
            </a:r>
          </a:p>
        </p:txBody>
      </p:sp>
      <p:sp>
        <p:nvSpPr>
          <p:cNvPr id="17" name="Rounded Rectangle 16"/>
          <p:cNvSpPr/>
          <p:nvPr/>
        </p:nvSpPr>
        <p:spPr>
          <a:xfrm>
            <a:off x="77724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13228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3398520"/>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Work context</a:t>
            </a:r>
          </a:p>
          <a:p>
            <a:pPr algn="l">
              <a:spcAft>
                <a:spcPts val="300"/>
              </a:spcAft>
            </a:pPr>
            <a:r>
              <a:rPr sz="1000" b="0">
                <a:solidFill>
                  <a:srgbClr val="5B6372"/>
                </a:solidFill>
                <a:latin typeface="Arial"/>
              </a:rPr>
              <a:t>Ground summaries and actions in authorised files, chats, meetings and email.</a:t>
            </a:r>
          </a:p>
        </p:txBody>
      </p:sp>
      <p:sp>
        <p:nvSpPr>
          <p:cNvPr id="22" name="Rounded Rectangle 21"/>
          <p:cNvSpPr/>
          <p:nvPr/>
        </p:nvSpPr>
        <p:spPr>
          <a:xfrm>
            <a:off x="624078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3307080"/>
            <a:ext cx="82296" cy="1322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3712464"/>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3398520"/>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Human-send gate</a:t>
            </a:r>
          </a:p>
          <a:p>
            <a:pPr algn="l">
              <a:spcAft>
                <a:spcPts val="300"/>
              </a:spcAft>
            </a:pPr>
            <a:r>
              <a:rPr sz="1000" b="0">
                <a:solidFill>
                  <a:srgbClr val="5B6372"/>
                </a:solidFill>
                <a:latin typeface="Arial"/>
              </a:rPr>
              <a:t>Copilot drafts messages; a responsible person verifies recipients, facts and attachments before sending.</a:t>
            </a:r>
          </a:p>
        </p:txBody>
      </p:sp>
      <p:sp>
        <p:nvSpPr>
          <p:cNvPr id="27" name="Rounded Rectangle 26"/>
          <p:cNvSpPr/>
          <p:nvPr/>
        </p:nvSpPr>
        <p:spPr>
          <a:xfrm>
            <a:off x="77724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5475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709928" y="4940808"/>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Loop as living plan</a:t>
            </a:r>
          </a:p>
          <a:p>
            <a:pPr algn="l">
              <a:spcAft>
                <a:spcPts val="300"/>
              </a:spcAft>
            </a:pPr>
            <a:r>
              <a:rPr sz="1000" b="0">
                <a:solidFill>
                  <a:srgbClr val="5B6372"/>
                </a:solidFill>
                <a:latin typeface="Arial"/>
              </a:rPr>
              <a:t>Components keep tasks, decisions and status synchronised across apps.</a:t>
            </a:r>
          </a:p>
        </p:txBody>
      </p:sp>
      <p:sp>
        <p:nvSpPr>
          <p:cNvPr id="32" name="Rounded Rectangle 31"/>
          <p:cNvSpPr/>
          <p:nvPr/>
        </p:nvSpPr>
        <p:spPr>
          <a:xfrm>
            <a:off x="624078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0780" y="4849368"/>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78524" y="5254752"/>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852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6</a:t>
            </a:r>
          </a:p>
        </p:txBody>
      </p:sp>
      <p:sp>
        <p:nvSpPr>
          <p:cNvPr id="36" name="TextBox 35"/>
          <p:cNvSpPr txBox="1"/>
          <p:nvPr/>
        </p:nvSpPr>
        <p:spPr>
          <a:xfrm>
            <a:off x="7173468" y="4940808"/>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Opportunity evaluation</a:t>
            </a:r>
          </a:p>
          <a:p>
            <a:pPr algn="l">
              <a:spcAft>
                <a:spcPts val="300"/>
              </a:spcAft>
            </a:pPr>
            <a:r>
              <a:rPr sz="1000" b="0">
                <a:solidFill>
                  <a:srgbClr val="5B6372"/>
                </a:solidFill>
                <a:latin typeface="Arial"/>
              </a:rPr>
              <a:t>Adopt only when value, risk, readiness, owner and success measure are explicit.</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80</a:t>
            </a:r>
          </a:p>
        </p:txBody>
      </p:sp>
    </p:spTree>
  </p:cSld>
  <p:clrMapOvr>
    <a:masterClrMapping/>
  </p:clrMapOvr>
  <p:transition spd="slow">
    <p:fade/>
  </p:transition>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The inbox is a decision queue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Triage: Prioritise by risk, urgency, dependency and value.</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Understand: Summarise thread, attachments and open questions.</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Respond: Draft a proportional, evidence-based reply.</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Track: Record owner, commitment and follow-up.</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81</a:t>
            </a:r>
          </a:p>
        </p:txBody>
      </p:sp>
    </p:spTree>
  </p:cSld>
  <p:clrMapOvr>
    <a:masterClrMapping/>
  </p:clrMapOvr>
  <p:transition spd="slow">
    <p:fade/>
  </p:transition>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 reliable email summary</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Issue</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What is being asked or reported?</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History</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What decisions or actions already occurred?</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Open</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What remains unanswered or disputed?</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82</a:t>
            </a:r>
          </a:p>
        </p:txBody>
      </p:sp>
    </p:spTree>
  </p:cSld>
  <p:clrMapOvr>
    <a:masterClrMapping/>
  </p:clrMapOvr>
  <p:transition spd="slow">
    <p:fade/>
  </p:transition>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Draft Instructions shape Outlook output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Audience — Relationship, role and expected knowledge.</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Tone — Direct, diplomatic, reassuring or formal.</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Structure — Opening, answer, actions and close.</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Constraints — Length, prohibited commitments and approval needs.</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83</a:t>
            </a:r>
          </a:p>
        </p:txBody>
      </p:sp>
    </p:spTree>
  </p:cSld>
  <p:clrMapOvr>
    <a:masterClrMapping/>
  </p:clrMapOvr>
  <p:transition spd="slow">
    <p:fade/>
  </p:transition>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Human-send gate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Recipients</a:t>
            </a:r>
          </a:p>
          <a:p>
            <a:pPr algn="l">
              <a:spcAft>
                <a:spcPts val="300"/>
              </a:spcAft>
            </a:pPr>
            <a:r>
              <a:rPr sz="1100" b="0">
                <a:solidFill>
                  <a:srgbClr val="5B6372"/>
                </a:solidFill>
                <a:latin typeface="Arial"/>
              </a:rPr>
              <a:t>Check To, Cc and unintended exposure.</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Facts</a:t>
            </a:r>
          </a:p>
          <a:p>
            <a:pPr algn="l">
              <a:spcAft>
                <a:spcPts val="300"/>
              </a:spcAft>
            </a:pPr>
            <a:r>
              <a:rPr sz="1100" b="0">
                <a:solidFill>
                  <a:srgbClr val="5B6372"/>
                </a:solidFill>
                <a:latin typeface="Arial"/>
              </a:rPr>
              <a:t>Verify dates, commitments and attachment names.</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Policy</a:t>
            </a:r>
          </a:p>
          <a:p>
            <a:pPr algn="l">
              <a:spcAft>
                <a:spcPts val="300"/>
              </a:spcAft>
            </a:pPr>
            <a:r>
              <a:rPr sz="1100" b="0">
                <a:solidFill>
                  <a:srgbClr val="5B6372"/>
                </a:solidFill>
                <a:latin typeface="Arial"/>
              </a:rPr>
              <a:t>Check confidentiality and authorisation.</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Approval</a:t>
            </a:r>
          </a:p>
          <a:p>
            <a:pPr algn="l">
              <a:spcAft>
                <a:spcPts val="300"/>
              </a:spcAft>
            </a:pPr>
            <a:r>
              <a:rPr sz="1100" b="0">
                <a:solidFill>
                  <a:srgbClr val="5B6372"/>
                </a:solidFill>
                <a:latin typeface="Arial"/>
              </a:rPr>
              <a:t>A responsible person chooses Send.</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84</a:t>
            </a:r>
          </a:p>
        </p:txBody>
      </p:sp>
    </p:spTree>
  </p:cSld>
  <p:clrMapOvr>
    <a:masterClrMapping/>
  </p:clrMapOvr>
  <p:transition spd="slow">
    <p:fade/>
  </p:transition>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Meeting preparation with Copilot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Outcome: Define the decision or alignment required.</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Pre-read: Bring evidence before discussion.</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Agenda: Allocate time to the hardest decisions.</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Questions: Frame options, criteria and trade-offs.</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85</a:t>
            </a:r>
          </a:p>
        </p:txBody>
      </p:sp>
    </p:spTree>
  </p:cSld>
  <p:clrMapOvr>
    <a:masterClrMapping/>
  </p:clrMapOvr>
  <p:transition spd="slow">
    <p:fade/>
  </p:transition>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Facilitator and recap</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During</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Support agenda, time and shared notes when enabled.</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After</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Summarise decisions, actions and unresolved points.</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Audio</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Catch up where the licensed experience supports it.</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86</a:t>
            </a:r>
          </a:p>
        </p:txBody>
      </p:sp>
    </p:spTree>
  </p:cSld>
  <p:clrMapOvr>
    <a:masterClrMapping/>
  </p:clrMapOvr>
  <p:transition spd="slow">
    <p:fade/>
  </p:transition>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Action quality</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Specific — One clear deliverable.</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Owner — One accountable person.</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Due — A real date or trigger.</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Evidence — Definition of done and status source.</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87</a:t>
            </a:r>
          </a:p>
        </p:txBody>
      </p:sp>
    </p:spTree>
  </p:cSld>
  <p:clrMapOvr>
    <a:masterClrMapping/>
  </p:clrMapOvr>
  <p:transition spd="slow">
    <p:fade/>
  </p:transition>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Loop components are portable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Page</a:t>
            </a:r>
          </a:p>
          <a:p>
            <a:pPr algn="l">
              <a:spcAft>
                <a:spcPts val="300"/>
              </a:spcAft>
            </a:pPr>
            <a:r>
              <a:rPr sz="1100" b="0">
                <a:solidFill>
                  <a:srgbClr val="5B6372"/>
                </a:solidFill>
                <a:latin typeface="Arial"/>
              </a:rPr>
              <a:t>Provides context and structure.</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Table</a:t>
            </a:r>
          </a:p>
          <a:p>
            <a:pPr algn="l">
              <a:spcAft>
                <a:spcPts val="300"/>
              </a:spcAft>
            </a:pPr>
            <a:r>
              <a:rPr sz="1100" b="0">
                <a:solidFill>
                  <a:srgbClr val="5B6372"/>
                </a:solidFill>
                <a:latin typeface="Arial"/>
              </a:rPr>
              <a:t>Tracks repeated records and fields.</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Task list</a:t>
            </a:r>
          </a:p>
          <a:p>
            <a:pPr algn="l">
              <a:spcAft>
                <a:spcPts val="300"/>
              </a:spcAft>
            </a:pPr>
            <a:r>
              <a:rPr sz="1100" b="0">
                <a:solidFill>
                  <a:srgbClr val="5B6372"/>
                </a:solidFill>
                <a:latin typeface="Arial"/>
              </a:rPr>
              <a:t>Makes owner and status explicit.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Share</a:t>
            </a:r>
          </a:p>
          <a:p>
            <a:pPr algn="l">
              <a:spcAft>
                <a:spcPts val="300"/>
              </a:spcAft>
            </a:pPr>
            <a:r>
              <a:rPr sz="1100" b="0">
                <a:solidFill>
                  <a:srgbClr val="5B6372"/>
                </a:solidFill>
                <a:latin typeface="Arial"/>
              </a:rPr>
              <a:t>The same component can appear across supported apps.</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88</a:t>
            </a:r>
          </a:p>
        </p:txBody>
      </p:sp>
    </p:spTree>
  </p:cSld>
  <p:clrMapOvr>
    <a:masterClrMapping/>
  </p:clrMapOvr>
  <p:transition spd="slow">
    <p:fade/>
  </p:transition>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 living implementation plan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Backlog: Workstreams and milestones.</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Decisions: Approved choices and rationale.</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Risks: Triggers, controls and owners.</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Measures: Adoption, quality, time saved and exception rate.</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89</a:t>
            </a:r>
          </a:p>
        </p:txBody>
      </p:sp>
    </p:spTree>
  </p:cSld>
  <p:clrMapOvr>
    <a:masterClrMapping/>
  </p:clrMapOvr>
  <p:transition spd="slow">
    <p:fade/>
  </p:transition>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Evaluate an opportunity before adopting</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Value</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What measurable outcome improves?</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Feasibility</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Are data, licence and process ready?</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Risk</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What could fail or cause harm?</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90</a:t>
            </a:r>
          </a:p>
        </p:txBody>
      </p:sp>
    </p:spTree>
  </p:cSld>
  <p:clrMapOvr>
    <a:masterClrMapping/>
  </p:clrMapOvr>
  <p:transition spd="slow">
    <p:fade/>
  </p:transition>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Work IQ and organisational context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People — Roles and collaboration relationships.</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Content — Permitted documents, messages and meetings.</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Activity — Current work patterns and signals.</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Control — Context is valuable only when governed.</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91</a:t>
            </a:r>
          </a:p>
        </p:txBody>
      </p:sp>
    </p:spTree>
  </p:cSld>
  <p:clrMapOvr>
    <a:masterClrMapping/>
  </p:clrMapOvr>
  <p:transition spd="slow">
    <p:fade/>
  </p:transition>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03 · K2 · A3</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Communication evidence chain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Source</a:t>
            </a:r>
          </a:p>
          <a:p>
            <a:pPr algn="l">
              <a:spcAft>
                <a:spcPts val="300"/>
              </a:spcAft>
            </a:pPr>
            <a:r>
              <a:rPr sz="1100" b="0">
                <a:solidFill>
                  <a:srgbClr val="5B6372"/>
                </a:solidFill>
                <a:latin typeface="Arial"/>
              </a:rPr>
              <a:t>Email, meeting, file or register.</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Summary</a:t>
            </a:r>
          </a:p>
          <a:p>
            <a:pPr algn="l">
              <a:spcAft>
                <a:spcPts val="300"/>
              </a:spcAft>
            </a:pPr>
            <a:r>
              <a:rPr sz="1100" b="0">
                <a:solidFill>
                  <a:srgbClr val="5B6372"/>
                </a:solidFill>
                <a:latin typeface="Arial"/>
              </a:rPr>
              <a:t>A concise, checked interpretation.</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Action</a:t>
            </a:r>
          </a:p>
          <a:p>
            <a:pPr algn="l">
              <a:spcAft>
                <a:spcPts val="300"/>
              </a:spcAft>
            </a:pPr>
            <a:r>
              <a:rPr sz="1100" b="0">
                <a:solidFill>
                  <a:srgbClr val="5B6372"/>
                </a:solidFill>
                <a:latin typeface="Arial"/>
              </a:rPr>
              <a:t>Owner, due date and status.</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Follow-up</a:t>
            </a:r>
          </a:p>
          <a:p>
            <a:pPr algn="l">
              <a:spcAft>
                <a:spcPts val="300"/>
              </a:spcAft>
            </a:pPr>
            <a:r>
              <a:rPr sz="1100" b="0">
                <a:solidFill>
                  <a:srgbClr val="5B6372"/>
                </a:solidFill>
                <a:latin typeface="Arial"/>
              </a:rPr>
              <a:t>Draft, approval and retained record.</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92</a:t>
            </a:r>
          </a:p>
        </p:txBody>
      </p:sp>
    </p:spTree>
  </p:cSld>
  <p:clrMapOvr>
    <a:masterClrMapping/>
  </p:clrMapOvr>
  <p:transition spd="slow">
    <p:fade/>
  </p:transition>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03 · NATIVE CHART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Risk and deadlines shape inbox priority</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Priority is a business rule, not the order messages arrived.</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93</a:t>
            </a:r>
          </a:p>
        </p:txBody>
      </p:sp>
    </p:spTree>
  </p:cSld>
  <p:clrMapOvr>
    <a:masterClrMapping/>
  </p:clrMapOvr>
  <p:transition spd="slow">
    <p:fade/>
  </p:transition>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03 · NATIVE CHART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Reviewed actions close faster</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Ownership and due dates improve meeting follow-through.</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94</a:t>
            </a:r>
          </a:p>
        </p:txBody>
      </p:sp>
    </p:spTree>
  </p:cSld>
  <p:clrMapOvr>
    <a:masterClrMapping/>
  </p:clrMapOvr>
  <p:transition spd="slow">
    <p:fade/>
  </p:transition>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03 · INTERMEDIATE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Draft the launch review email in Outlook</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09</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Draft a 150-word review email to the trainer-assigned reviewers. Include the launch decision, readiness gap, A01–A04 owners/dates and reviewed artifact links. Save as a draft; check recipients, links and figures before any manual sandbox send.</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Lumina-Outlook-Draft.txt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Outlook + 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95</a:t>
            </a:r>
          </a:p>
        </p:txBody>
      </p:sp>
    </p:spTree>
  </p:cSld>
  <p:clrMapOvr>
    <a:masterClrMapping/>
  </p:clrMapOvr>
  <p:transition spd="slow">
    <p:fade/>
  </p:transition>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09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Draft the launch review email in Outlook</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9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96</a:t>
            </a:r>
          </a:p>
        </p:txBody>
      </p:sp>
    </p:spTree>
  </p:cSld>
  <p:clrMapOvr>
    <a:masterClrMapping/>
  </p:clrMapOvr>
  <p:transition spd="slow">
    <p:fade/>
  </p:transition>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03 · INTERMEDIATE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Run the launch review and post the Teams update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10</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Summarize decisions separately from proposals. Create a 120-word Teams update with A01–A04, owners and dates. Post only to the trainer-assigned sandbox after review, and retain the actual post link.</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Lumina-Teams-Update.md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Teams + 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97</a:t>
            </a:r>
          </a:p>
        </p:txBody>
      </p:sp>
    </p:spTree>
  </p:cSld>
  <p:clrMapOvr>
    <a:masterClrMapping/>
  </p:clrMapOvr>
  <p:transition spd="slow">
    <p:fade/>
  </p:transition>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10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Run the launch review and post the Teams update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10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98</a:t>
            </a:r>
          </a:p>
        </p:txBody>
      </p:sp>
    </p:spTree>
  </p:cSld>
  <p:clrMapOvr>
    <a:masterClrMapping/>
  </p:clrMapOvr>
  <p:transition spd="slow">
    <p:fade/>
  </p:transition>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03 · ADVANCED</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Monitor launch readiness in Loop</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11</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Create one shared SW-2026 Loop task table. Keep action IDs, owners, dates, statuses, evidence links and last review. Embed the same component in Teams and an Outlook draft, then verify an edit through both views.</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Lumina-Loop-Evidence.xlsx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Loop + Teams + Excel + Copilot</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99</a:t>
            </a:r>
          </a:p>
        </p:txBody>
      </p:sp>
    </p:spTree>
  </p:cSld>
  <p:clrMapOvr>
    <a:masterClrMapping/>
  </p:clrMapOvr>
  <p:transition spd="slow">
    <p:fade/>
  </p:transition>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11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Monitor launch readiness in Loop</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11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100</a:t>
            </a:r>
          </a:p>
        </p:txBody>
      </p:sp>
    </p:spTree>
  </p:cSld>
  <p:clrMapOvr>
    <a:masterClrMapping/>
  </p:clrMapOvr>
  <p:transition spd="slow">
    <p:fade/>
  </p:transition>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RECAP</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Recap — Copilot for Outlook, Teams and Loop</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Knowledge</a:t>
            </a:r>
          </a:p>
          <a:p>
            <a:pPr algn="l">
              <a:spcAft>
                <a:spcPts val="300"/>
              </a:spcAft>
            </a:pPr>
            <a:r>
              <a:rPr sz="1200" b="0">
                <a:solidFill>
                  <a:srgbClr val="5B6372"/>
                </a:solidFill>
                <a:latin typeface="Arial"/>
              </a:rPr>
              <a:t>Communication workflow and related principles.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Ability</a:t>
            </a:r>
          </a:p>
          <a:p>
            <a:pPr algn="l">
              <a:spcAft>
                <a:spcPts val="300"/>
              </a:spcAft>
            </a:pPr>
            <a:r>
              <a:rPr sz="1200" b="0">
                <a:solidFill>
                  <a:srgbClr val="5B6372"/>
                </a:solidFill>
                <a:latin typeface="Arial"/>
              </a:rPr>
              <a:t>K2 · A3 · A4</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Evidence</a:t>
            </a:r>
          </a:p>
          <a:p>
            <a:pPr algn="l">
              <a:spcAft>
                <a:spcPts val="300"/>
              </a:spcAft>
            </a:pPr>
            <a:r>
              <a:rPr sz="1200" b="0">
                <a:solidFill>
                  <a:srgbClr val="5B6372"/>
                </a:solidFill>
                <a:latin typeface="Arial"/>
              </a:rPr>
              <a:t>A checked Excel control workbook plus the app-specific artifact.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Next</a:t>
            </a:r>
          </a:p>
          <a:p>
            <a:pPr algn="l">
              <a:spcAft>
                <a:spcPts val="300"/>
              </a:spcAft>
            </a:pPr>
            <a:r>
              <a:rPr sz="1200" b="0">
                <a:solidFill>
                  <a:srgbClr val="5B6372"/>
                </a:solidFill>
                <a:latin typeface="Arial"/>
              </a:rPr>
              <a:t>Carry the evidence and controls into the next workflow stage.</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101</a:t>
            </a:r>
          </a:p>
        </p:txBody>
      </p:sp>
    </p:spTree>
  </p:cSld>
  <p:clrMapOvr>
    <a:masterClrMapping/>
  </p:clrMapOvr>
  <p:transition spd="slow">
    <p:fade/>
  </p:transition>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6638544"/>
            <a:ext cx="12191695" cy="21945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0" y="2331720"/>
            <a:ext cx="12191695" cy="1051560"/>
          </a:xfrm>
          <a:prstGeom prst="rect">
            <a:avLst/>
          </a:prstGeom>
          <a:noFill/>
        </p:spPr>
        <p:txBody>
          <a:bodyPr wrap="square" anchor="t" lIns="54864" rIns="54864" tIns="54864" bIns="54864">
            <a:spAutoFit/>
          </a:bodyPr>
          <a:lstStyle/>
          <a:p>
            <a:pPr algn="ctr">
              <a:spcAft>
                <a:spcPts val="300"/>
              </a:spcAft>
            </a:pPr>
            <a:r>
              <a:rPr sz="4400" b="1">
                <a:solidFill>
                  <a:srgbClr val="161B26"/>
                </a:solidFill>
                <a:latin typeface="Arial"/>
              </a:rPr>
              <a:t>Lunch Break</a:t>
            </a:r>
          </a:p>
        </p:txBody>
      </p:sp>
      <p:sp>
        <p:nvSpPr>
          <p:cNvPr id="6" name="TextBox 5"/>
          <p:cNvSpPr txBox="1"/>
          <p:nvPr/>
        </p:nvSpPr>
        <p:spPr>
          <a:xfrm>
            <a:off x="0" y="3703320"/>
            <a:ext cx="12191695" cy="502920"/>
          </a:xfrm>
          <a:prstGeom prst="rect">
            <a:avLst/>
          </a:prstGeom>
          <a:noFill/>
        </p:spPr>
        <p:txBody>
          <a:bodyPr wrap="square" anchor="t" lIns="54864" rIns="54864" tIns="54864" bIns="54864">
            <a:spAutoFit/>
          </a:bodyPr>
          <a:lstStyle/>
          <a:p>
            <a:pPr algn="ctr">
              <a:spcAft>
                <a:spcPts val="300"/>
              </a:spcAft>
            </a:pPr>
            <a:r>
              <a:rPr sz="1900" b="1">
                <a:solidFill>
                  <a:srgbClr val="F59E0B"/>
                </a:solidFill>
                <a:latin typeface="Arial"/>
              </a:rPr>
              <a:t>45 minutes</a:t>
            </a:r>
          </a:p>
        </p:txBody>
      </p:sp>
      <p:sp>
        <p:nvSpPr>
          <p:cNvPr id="7" name="TextBox 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8" name="TextBox 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9" name="TextBox 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102</a:t>
            </a:r>
          </a:p>
        </p:txBody>
      </p:sp>
    </p:spTree>
  </p:cSld>
  <p:clrMapOvr>
    <a:masterClrMapping/>
  </p:clrMapOvr>
  <p:transition spd="slow">
    <p:fade/>
  </p:transition>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2057400"/>
            <a:ext cx="118872" cy="2057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57400"/>
            <a:ext cx="8869680" cy="411480"/>
          </a:xfrm>
          <a:prstGeom prst="rect">
            <a:avLst/>
          </a:prstGeom>
          <a:noFill/>
        </p:spPr>
        <p:txBody>
          <a:bodyPr wrap="square" anchor="t" lIns="54864" rIns="54864" tIns="54864" bIns="54864">
            <a:spAutoFit/>
          </a:bodyPr>
          <a:lstStyle/>
          <a:p>
            <a:pPr algn="l">
              <a:spcAft>
                <a:spcPts val="300"/>
              </a:spcAft>
            </a:pPr>
            <a:r>
              <a:rPr sz="1500" b="1">
                <a:solidFill>
                  <a:srgbClr val="1F6FEB"/>
                </a:solidFill>
                <a:latin typeface="Arial"/>
              </a:rPr>
              <a:t>TOPIC 04</a:t>
            </a:r>
          </a:p>
        </p:txBody>
      </p:sp>
      <p:sp>
        <p:nvSpPr>
          <p:cNvPr id="6" name="TextBox 5"/>
          <p:cNvSpPr txBox="1"/>
          <p:nvPr/>
        </p:nvSpPr>
        <p:spPr>
          <a:xfrm>
            <a:off x="1188720" y="2514600"/>
            <a:ext cx="9692640" cy="1325880"/>
          </a:xfrm>
          <a:prstGeom prst="rect">
            <a:avLst/>
          </a:prstGeom>
          <a:noFill/>
        </p:spPr>
        <p:txBody>
          <a:bodyPr wrap="square" anchor="ctr" lIns="54864" rIns="54864" tIns="54864" bIns="54864">
            <a:spAutoFit/>
          </a:bodyPr>
          <a:lstStyle/>
          <a:p>
            <a:pPr algn="l">
              <a:spcAft>
                <a:spcPts val="300"/>
              </a:spcAft>
            </a:pPr>
            <a:r>
              <a:rPr sz="3600" b="1">
                <a:solidFill>
                  <a:srgbClr val="161B26"/>
                </a:solidFill>
                <a:latin typeface="Arial"/>
              </a:rPr>
              <a:t>Microsoft 365 Copilot Agents and Governed Pipelines</a:t>
            </a:r>
          </a:p>
        </p:txBody>
      </p:sp>
      <p:sp>
        <p:nvSpPr>
          <p:cNvPr id="7" name="TextBox 6"/>
          <p:cNvSpPr txBox="1"/>
          <p:nvPr/>
        </p:nvSpPr>
        <p:spPr>
          <a:xfrm>
            <a:off x="1207008" y="3977639"/>
            <a:ext cx="9692640" cy="658368"/>
          </a:xfrm>
          <a:prstGeom prst="rect">
            <a:avLst/>
          </a:prstGeom>
          <a:noFill/>
        </p:spPr>
        <p:txBody>
          <a:bodyPr wrap="square" anchor="t" lIns="54864" rIns="54864" tIns="54864" bIns="54864">
            <a:spAutoFit/>
          </a:bodyPr>
          <a:lstStyle/>
          <a:p>
            <a:pPr algn="l">
              <a:spcAft>
                <a:spcPts val="300"/>
              </a:spcAft>
            </a:pPr>
            <a:r>
              <a:rPr sz="1500" b="0">
                <a:solidFill>
                  <a:srgbClr val="5B6372"/>
                </a:solidFill>
                <a:latin typeface="Arial"/>
              </a:rPr>
              <a:t>Agent types · instructions · knowledge · actions · approvals · monitoring · staff enablement</a:t>
            </a:r>
          </a:p>
        </p:txBody>
      </p:sp>
      <p:sp>
        <p:nvSpPr>
          <p:cNvPr id="8" name="TextBox 7"/>
          <p:cNvSpPr txBox="1"/>
          <p:nvPr/>
        </p:nvSpPr>
        <p:spPr>
          <a:xfrm>
            <a:off x="9372600" y="594360"/>
            <a:ext cx="2011680" cy="1143000"/>
          </a:xfrm>
          <a:prstGeom prst="rect">
            <a:avLst/>
          </a:prstGeom>
          <a:noFill/>
        </p:spPr>
        <p:txBody>
          <a:bodyPr wrap="square" anchor="t" lIns="54864" rIns="54864" tIns="54864" bIns="54864">
            <a:spAutoFit/>
          </a:bodyPr>
          <a:lstStyle/>
          <a:p>
            <a:pPr algn="r">
              <a:spcAft>
                <a:spcPts val="300"/>
              </a:spcAft>
            </a:pPr>
            <a:r>
              <a:rPr sz="6600" b="1">
                <a:solidFill>
                  <a:srgbClr val="E2E8F0"/>
                </a:solidFill>
                <a:latin typeface="Arial"/>
              </a:rPr>
              <a:t>04</a:t>
            </a:r>
          </a:p>
        </p:txBody>
      </p:sp>
      <p:sp>
        <p:nvSpPr>
          <p:cNvPr id="9" name="TextBox 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0" name="TextBox 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1" name="TextBox 1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103</a:t>
            </a:r>
          </a:p>
        </p:txBody>
      </p:sp>
    </p:spTree>
  </p:cSld>
  <p:clrMapOvr>
    <a:masterClrMapping/>
  </p:clrMapOvr>
  <p:transition spd="slow">
    <p:fade/>
  </p:transition>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ALIGNMENT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Key Concepts — Microsoft 365 Copilot Agents and Governed Pipelines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0176"/>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Agent role</a:t>
            </a:r>
          </a:p>
          <a:p>
            <a:pPr algn="l">
              <a:spcAft>
                <a:spcPts val="300"/>
              </a:spcAft>
            </a:pPr>
            <a:r>
              <a:rPr sz="1000" b="0">
                <a:solidFill>
                  <a:srgbClr val="5B6372"/>
                </a:solidFill>
                <a:latin typeface="Arial"/>
              </a:rPr>
              <a:t>An agent applies scoped instructions and knowledge to a repeatable business outcome.</a:t>
            </a:r>
          </a:p>
        </p:txBody>
      </p:sp>
      <p:sp>
        <p:nvSpPr>
          <p:cNvPr id="12" name="Rounded Rectangle 11"/>
          <p:cNvSpPr/>
          <p:nvPr/>
        </p:nvSpPr>
        <p:spPr>
          <a:xfrm>
            <a:off x="624078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170176"/>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Agent spectrum</a:t>
            </a:r>
          </a:p>
          <a:p>
            <a:pPr algn="l">
              <a:spcAft>
                <a:spcPts val="300"/>
              </a:spcAft>
            </a:pPr>
            <a:r>
              <a:rPr sz="1000" b="0">
                <a:solidFill>
                  <a:srgbClr val="5B6372"/>
                </a:solidFill>
                <a:latin typeface="Arial"/>
              </a:rPr>
              <a:t>Retrieval agents answer; task agents act; autonomous agents coordinate multi-step work.</a:t>
            </a:r>
          </a:p>
        </p:txBody>
      </p:sp>
      <p:sp>
        <p:nvSpPr>
          <p:cNvPr id="17" name="Rounded Rectangle 16"/>
          <p:cNvSpPr/>
          <p:nvPr/>
        </p:nvSpPr>
        <p:spPr>
          <a:xfrm>
            <a:off x="77724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13228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3398520"/>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Pipeline</a:t>
            </a:r>
          </a:p>
          <a:p>
            <a:pPr algn="l">
              <a:spcAft>
                <a:spcPts val="300"/>
              </a:spcAft>
            </a:pPr>
            <a:r>
              <a:rPr sz="1000" b="0">
                <a:solidFill>
                  <a:srgbClr val="5B6372"/>
                </a:solidFill>
                <a:latin typeface="Arial"/>
              </a:rPr>
              <a:t>Intake, validate, classify, enrich, produce, approve, deliver and monitor.</a:t>
            </a:r>
          </a:p>
        </p:txBody>
      </p:sp>
      <p:sp>
        <p:nvSpPr>
          <p:cNvPr id="22" name="Rounded Rectangle 21"/>
          <p:cNvSpPr/>
          <p:nvPr/>
        </p:nvSpPr>
        <p:spPr>
          <a:xfrm>
            <a:off x="624078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3307080"/>
            <a:ext cx="82296" cy="1322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3712464"/>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3398520"/>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Least privilege</a:t>
            </a:r>
          </a:p>
          <a:p>
            <a:pPr algn="l">
              <a:spcAft>
                <a:spcPts val="300"/>
              </a:spcAft>
            </a:pPr>
            <a:r>
              <a:rPr sz="1000" b="0">
                <a:solidFill>
                  <a:srgbClr val="5B6372"/>
                </a:solidFill>
                <a:latin typeface="Arial"/>
              </a:rPr>
              <a:t>Give the agent only the data and actions required for its defined role.</a:t>
            </a:r>
          </a:p>
        </p:txBody>
      </p:sp>
      <p:sp>
        <p:nvSpPr>
          <p:cNvPr id="27" name="Rounded Rectangle 26"/>
          <p:cNvSpPr/>
          <p:nvPr/>
        </p:nvSpPr>
        <p:spPr>
          <a:xfrm>
            <a:off x="77724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5475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709928" y="4940808"/>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Approval boundary</a:t>
            </a:r>
          </a:p>
          <a:p>
            <a:pPr algn="l">
              <a:spcAft>
                <a:spcPts val="300"/>
              </a:spcAft>
            </a:pPr>
            <a:r>
              <a:rPr sz="1000" b="0">
                <a:solidFill>
                  <a:srgbClr val="5B6372"/>
                </a:solidFill>
                <a:latin typeface="Arial"/>
              </a:rPr>
              <a:t>Consequential writes, sends and status changes require visible human approval.</a:t>
            </a:r>
          </a:p>
        </p:txBody>
      </p:sp>
      <p:sp>
        <p:nvSpPr>
          <p:cNvPr id="32" name="Rounded Rectangle 31"/>
          <p:cNvSpPr/>
          <p:nvPr/>
        </p:nvSpPr>
        <p:spPr>
          <a:xfrm>
            <a:off x="624078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240780" y="4849368"/>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478524" y="5254752"/>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7852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6</a:t>
            </a:r>
          </a:p>
        </p:txBody>
      </p:sp>
      <p:sp>
        <p:nvSpPr>
          <p:cNvPr id="36" name="TextBox 35"/>
          <p:cNvSpPr txBox="1"/>
          <p:nvPr/>
        </p:nvSpPr>
        <p:spPr>
          <a:xfrm>
            <a:off x="7173468" y="4940808"/>
            <a:ext cx="4046220" cy="1176528"/>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Operational readiness</a:t>
            </a:r>
          </a:p>
          <a:p>
            <a:pPr algn="l">
              <a:spcAft>
                <a:spcPts val="300"/>
              </a:spcAft>
            </a:pPr>
            <a:r>
              <a:rPr sz="1000" b="0">
                <a:solidFill>
                  <a:srgbClr val="5B6372"/>
                </a:solidFill>
                <a:latin typeface="Arial"/>
              </a:rPr>
              <a:t>Pilot with test cases, exception handling, owners, metrics, training and rollback.</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104</a:t>
            </a:r>
          </a:p>
        </p:txBody>
      </p:sp>
    </p:spTree>
  </p:cSld>
  <p:clrMapOvr>
    <a:masterClrMapping/>
  </p:clrMapOvr>
  <p:transition spd="slow">
    <p:fade/>
  </p:transition>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Copilot versus Copilot agent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Copilot: General assistant across supported work surfaces.</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Agent: Scoped role with instructions, knowledge and sometimes actions.</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Boundary: The agent should have a narrower job than the user.</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Value: Repeatable outcomes with consistent controls.</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105</a:t>
            </a:r>
          </a:p>
        </p:txBody>
      </p:sp>
    </p:spTree>
  </p:cSld>
  <p:clrMapOvr>
    <a:masterClrMapping/>
  </p:clrMapOvr>
  <p:transition spd="slow">
    <p:fade/>
  </p:transition>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Types of agents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Retrieval</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Find and explain approved knowledge.</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Task</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Complete a defined step using tools.</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Orchestrator</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Coordinate multiple steps and agents.</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106</a:t>
            </a:r>
          </a:p>
        </p:txBody>
      </p:sp>
    </p:spTree>
  </p:cSld>
  <p:clrMapOvr>
    <a:masterClrMapping/>
  </p:clrMapOvr>
  <p:transition spd="slow">
    <p:fade/>
  </p:transition>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Agent design canvas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Outcome — Measurable business result.</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Inputs — Required fields and approved context.</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Outputs — Defined response or artifact.</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Non-actions — What the agent must refuse or escalate.</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107</a:t>
            </a:r>
          </a:p>
        </p:txBody>
      </p:sp>
    </p:spTree>
  </p:cSld>
  <p:clrMapOvr>
    <a:masterClrMapping/>
  </p:clrMapOvr>
  <p:transition spd="slow">
    <p:fade/>
  </p:transition>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Knowledge grounding</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Curated</a:t>
            </a:r>
          </a:p>
          <a:p>
            <a:pPr algn="l">
              <a:spcAft>
                <a:spcPts val="300"/>
              </a:spcAft>
            </a:pPr>
            <a:r>
              <a:rPr sz="1100" b="0">
                <a:solidFill>
                  <a:srgbClr val="5B6372"/>
                </a:solidFill>
                <a:latin typeface="Arial"/>
              </a:rPr>
              <a:t>Use the smallest authoritative source set.</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Current</a:t>
            </a:r>
          </a:p>
          <a:p>
            <a:pPr algn="l">
              <a:spcAft>
                <a:spcPts val="300"/>
              </a:spcAft>
            </a:pPr>
            <a:r>
              <a:rPr sz="1100" b="0">
                <a:solidFill>
                  <a:srgbClr val="5B6372"/>
                </a:solidFill>
                <a:latin typeface="Arial"/>
              </a:rPr>
              <a:t>Assign content owner and review date.</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Citable</a:t>
            </a:r>
          </a:p>
          <a:p>
            <a:pPr algn="l">
              <a:spcAft>
                <a:spcPts val="300"/>
              </a:spcAft>
            </a:pPr>
            <a:r>
              <a:rPr sz="1100" b="0">
                <a:solidFill>
                  <a:srgbClr val="5B6372"/>
                </a:solidFill>
                <a:latin typeface="Arial"/>
              </a:rPr>
              <a:t>Responses should identify supporting evidence.</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Safe</a:t>
            </a:r>
          </a:p>
          <a:p>
            <a:pPr algn="l">
              <a:spcAft>
                <a:spcPts val="300"/>
              </a:spcAft>
            </a:pPr>
            <a:r>
              <a:rPr sz="1100" b="0">
                <a:solidFill>
                  <a:srgbClr val="5B6372"/>
                </a:solidFill>
                <a:latin typeface="Arial"/>
              </a:rPr>
              <a:t>Exclude unrelated or overly broad repositories.</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108</a:t>
            </a:r>
          </a:p>
        </p:txBody>
      </p:sp>
    </p:spTree>
  </p:cSld>
  <p:clrMapOvr>
    <a:masterClrMapping/>
  </p:clrMapOvr>
  <p:transition spd="slow">
    <p:fade/>
  </p:transition>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Instructions as operational policy</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Role: Who the agent represents.</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Procedure: How it handles common paths.</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Guardrails: Prohibited content and actions.</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Escalation: When and how a human takes over.</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109</a:t>
            </a:r>
          </a:p>
        </p:txBody>
      </p:sp>
    </p:spTree>
  </p:cSld>
  <p:clrMapOvr>
    <a:masterClrMapping/>
  </p:clrMapOvr>
  <p:transition spd="slow">
    <p:fade/>
  </p:transition>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Actions need contracts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Inputs</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Typed, required and validated.</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Operation</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One clear side effect.</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Outputs</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Status, ID and explanation.</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110</a:t>
            </a:r>
          </a:p>
        </p:txBody>
      </p:sp>
    </p:spTree>
  </p:cSld>
  <p:clrMapOvr>
    <a:masterClrMapping/>
  </p:clrMapOvr>
  <p:transition spd="slow">
    <p:fade/>
  </p:transition>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Pipeline architecture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Intake — Capture structured request.</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Process — Validate, classify and enrich.</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Control — Approve consequential transitions.</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Deliver — Create artifact, draft or controlled record.</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111</a:t>
            </a:r>
          </a:p>
        </p:txBody>
      </p:sp>
    </p:spTree>
  </p:cSld>
  <p:clrMapOvr>
    <a:masterClrMapping/>
  </p:clrMapOvr>
  <p:transition spd="slow">
    <p:fade/>
  </p:transition>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Human approval patterns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Pre-action</a:t>
            </a:r>
          </a:p>
          <a:p>
            <a:pPr algn="l">
              <a:spcAft>
                <a:spcPts val="300"/>
              </a:spcAft>
            </a:pPr>
            <a:r>
              <a:rPr sz="1100" b="0">
                <a:solidFill>
                  <a:srgbClr val="5B6372"/>
                </a:solidFill>
                <a:latin typeface="Arial"/>
              </a:rPr>
              <a:t>Approve before write or send.</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Post-draft</a:t>
            </a:r>
          </a:p>
          <a:p>
            <a:pPr algn="l">
              <a:spcAft>
                <a:spcPts val="300"/>
              </a:spcAft>
            </a:pPr>
            <a:r>
              <a:rPr sz="1100" b="0">
                <a:solidFill>
                  <a:srgbClr val="5B6372"/>
                </a:solidFill>
                <a:latin typeface="Arial"/>
              </a:rPr>
              <a:t>Review generated artifact before release.</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Exception</a:t>
            </a:r>
          </a:p>
          <a:p>
            <a:pPr algn="l">
              <a:spcAft>
                <a:spcPts val="300"/>
              </a:spcAft>
            </a:pPr>
            <a:r>
              <a:rPr sz="1100" b="0">
                <a:solidFill>
                  <a:srgbClr val="5B6372"/>
                </a:solidFill>
                <a:latin typeface="Arial"/>
              </a:rPr>
              <a:t>Route uncertain or restricted cases.</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Override</a:t>
            </a:r>
          </a:p>
          <a:p>
            <a:pPr algn="l">
              <a:spcAft>
                <a:spcPts val="300"/>
              </a:spcAft>
            </a:pPr>
            <a:r>
              <a:rPr sz="1100" b="0">
                <a:solidFill>
                  <a:srgbClr val="5B6372"/>
                </a:solidFill>
                <a:latin typeface="Arial"/>
              </a:rPr>
              <a:t>Record who changed the outcome and why.</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112</a:t>
            </a:r>
          </a:p>
        </p:txBody>
      </p:sp>
    </p:spTree>
  </p:cSld>
  <p:clrMapOvr>
    <a:masterClrMapping/>
  </p:clrMapOvr>
  <p:transition spd="slow">
    <p:fade/>
  </p:transition>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Idempotency and duplicate control</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CONCEPT</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Key: Use a stable request or campaign ID.</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Check: Detect prior active processing.</a:t>
            </a:r>
          </a:p>
        </p:txBody>
      </p:sp>
      <p:sp>
        <p:nvSpPr>
          <p:cNvPr id="16" name="Rounded Rectangle 15"/>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CONTROL / DECISION</a:t>
            </a:r>
          </a:p>
        </p:txBody>
      </p:sp>
      <p:sp>
        <p:nvSpPr>
          <p:cNvPr id="19" name="Oval 18"/>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1" name="TextBox 20"/>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Result: Return existing status instead of duplicating.</a:t>
            </a:r>
          </a:p>
        </p:txBody>
      </p:sp>
      <p:sp>
        <p:nvSpPr>
          <p:cNvPr id="22" name="Oval 21"/>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4" name="TextBox 23"/>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Audit: Record input hash, run ID and outcome.</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113</a:t>
            </a:r>
          </a:p>
        </p:txBody>
      </p:sp>
    </p:spTree>
  </p:cSld>
  <p:clrMapOvr>
    <a:masterClrMapping/>
  </p:clrMapOvr>
  <p:transition spd="slow">
    <p:fade/>
  </p:transition>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Agent evaluation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Correctness</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Does it answer or route accurately?</a:t>
            </a:r>
          </a:p>
        </p:txBody>
      </p:sp>
      <p:sp>
        <p:nvSpPr>
          <p:cNvPr id="11" name="Rounded Rectangle 10"/>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Grounding</a:t>
            </a:r>
          </a:p>
        </p:txBody>
      </p:sp>
      <p:sp>
        <p:nvSpPr>
          <p:cNvPr id="14" name="TextBox 13"/>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Does it cite approved evidence?</a:t>
            </a:r>
          </a:p>
        </p:txBody>
      </p:sp>
      <p:sp>
        <p:nvSpPr>
          <p:cNvPr id="15" name="Rounded Rectangle 14"/>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Safety</a:t>
            </a:r>
          </a:p>
        </p:txBody>
      </p:sp>
      <p:sp>
        <p:nvSpPr>
          <p:cNvPr id="18" name="TextBox 17"/>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Does it refuse prohibited cases?</a:t>
            </a:r>
          </a:p>
        </p:txBody>
      </p:sp>
      <p:sp>
        <p:nvSpPr>
          <p:cNvPr id="19" name="TextBox 18"/>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0" name="TextBox 19"/>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1" name="TextBox 20"/>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114</a:t>
            </a:r>
          </a:p>
        </p:txBody>
      </p:sp>
    </p:spTree>
  </p:cSld>
  <p:clrMapOvr>
    <a:masterClrMapping/>
  </p:clrMapOvr>
  <p:transition spd="slow">
    <p:fade/>
  </p:transition>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Monitoring the pipeline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Throughput — Cases completed per period.</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Cycle time — Time from intake to approved output.</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Exception rate — Share diverted for human handling.</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Override rate — How often humans correct the agent.</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115</a:t>
            </a:r>
          </a:p>
        </p:txBody>
      </p:sp>
    </p:spTree>
  </p:cSld>
  <p:clrMapOvr>
    <a:masterClrMapping/>
  </p:clrMapOvr>
  <p:transition spd="slow">
    <p:fade/>
  </p:transition>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F59E0B"/>
                </a:solidFill>
                <a:latin typeface="Arial"/>
              </a:rPr>
              <a:t>TOPIC 04 · K4 · A4</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Staff enablement for agents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Role</a:t>
            </a:r>
          </a:p>
          <a:p>
            <a:pPr algn="l">
              <a:spcAft>
                <a:spcPts val="300"/>
              </a:spcAft>
            </a:pPr>
            <a:r>
              <a:rPr sz="1100" b="0">
                <a:solidFill>
                  <a:srgbClr val="5B6372"/>
                </a:solidFill>
                <a:latin typeface="Arial"/>
              </a:rPr>
              <a:t>Who uses, approves, owns and supports.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Practice</a:t>
            </a:r>
          </a:p>
          <a:p>
            <a:pPr algn="l">
              <a:spcAft>
                <a:spcPts val="300"/>
              </a:spcAft>
            </a:pPr>
            <a:r>
              <a:rPr sz="1100" b="0">
                <a:solidFill>
                  <a:srgbClr val="5B6372"/>
                </a:solidFill>
                <a:latin typeface="Arial"/>
              </a:rPr>
              <a:t>Scenario-based exercises and test cases.</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Evidence</a:t>
            </a:r>
          </a:p>
          <a:p>
            <a:pPr algn="l">
              <a:spcAft>
                <a:spcPts val="300"/>
              </a:spcAft>
            </a:pPr>
            <a:r>
              <a:rPr sz="1100" b="0">
                <a:solidFill>
                  <a:srgbClr val="5B6372"/>
                </a:solidFill>
                <a:latin typeface="Arial"/>
              </a:rPr>
              <a:t>Demonstrated competent use and control checks.</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Support</a:t>
            </a:r>
          </a:p>
          <a:p>
            <a:pPr algn="l">
              <a:spcAft>
                <a:spcPts val="300"/>
              </a:spcAft>
            </a:pPr>
            <a:r>
              <a:rPr sz="1100" b="0">
                <a:solidFill>
                  <a:srgbClr val="5B6372"/>
                </a:solidFill>
                <a:latin typeface="Arial"/>
              </a:rPr>
              <a:t>Office hours, issue channel and refresher trigger.</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116</a:t>
            </a:r>
          </a:p>
        </p:txBody>
      </p:sp>
    </p:spTree>
  </p:cSld>
  <p:clrMapOvr>
    <a:masterClrMapping/>
  </p:clrMapOvr>
  <p:transition spd="slow">
    <p:fade/>
  </p:transition>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04 · NATIVE CHART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The pipeline narrows through controls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Validation and approval prevent low-quality work reaching delivery.</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117</a:t>
            </a:r>
          </a:p>
        </p:txBody>
      </p:sp>
    </p:spTree>
  </p:cSld>
  <p:clrMapOvr>
    <a:masterClrMapping/>
  </p:clrMapOvr>
  <p:transition spd="slow">
    <p:fade/>
  </p:transition>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TOPIC 04 · NATIVE CHART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Pilot evidence determines scale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7" name="Chart 6"/>
          <p:cNvGraphicFramePr>
            <a:graphicFrameLocks noGrp="1"/>
          </p:cNvGraphicFramePr>
          <p:nvPr/>
        </p:nvGraphicFramePr>
        <p:xfrm>
          <a:off x="777240" y="1874519"/>
          <a:ext cx="7452360" cy="4069080"/>
        </p:xfrm>
        <a:graphic>
          <a:graphicData uri="http://schemas.openxmlformats.org/drawingml/2006/chart">
            <c:chart xmlns:c="http://schemas.openxmlformats.org/drawingml/2006/chart" r:id="rId2"/>
          </a:graphicData>
        </a:graphic>
      </p:graphicFrame>
      <p:sp>
        <p:nvSpPr>
          <p:cNvPr id="8" name="Rounded Rectangle 7"/>
          <p:cNvSpPr/>
          <p:nvPr/>
        </p:nvSpPr>
        <p:spPr>
          <a:xfrm>
            <a:off x="8503920" y="1874519"/>
            <a:ext cx="2926080" cy="406908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796528" y="2221992"/>
            <a:ext cx="2331720" cy="384048"/>
          </a:xfrm>
          <a:prstGeom prst="rect">
            <a:avLst/>
          </a:prstGeom>
          <a:noFill/>
        </p:spPr>
        <p:txBody>
          <a:bodyPr wrap="square" anchor="t" lIns="54864" rIns="54864" tIns="54864" bIns="54864">
            <a:spAutoFit/>
          </a:bodyPr>
          <a:lstStyle/>
          <a:p>
            <a:pPr algn="l">
              <a:spcAft>
                <a:spcPts val="300"/>
              </a:spcAft>
            </a:pPr>
            <a:r>
              <a:rPr sz="1200" b="1">
                <a:solidFill>
                  <a:srgbClr val="7C3AED"/>
                </a:solidFill>
                <a:latin typeface="Arial"/>
              </a:rPr>
              <a:t>DECISION LENS</a:t>
            </a:r>
          </a:p>
        </p:txBody>
      </p:sp>
      <p:sp>
        <p:nvSpPr>
          <p:cNvPr id="10" name="TextBox 9"/>
          <p:cNvSpPr txBox="1"/>
          <p:nvPr/>
        </p:nvSpPr>
        <p:spPr>
          <a:xfrm>
            <a:off x="8796528" y="2788920"/>
            <a:ext cx="2331720" cy="1463040"/>
          </a:xfrm>
          <a:prstGeom prst="rect">
            <a:avLst/>
          </a:prstGeom>
          <a:noFill/>
        </p:spPr>
        <p:txBody>
          <a:bodyPr wrap="square" anchor="ctr" lIns="54864" rIns="54864" tIns="54864" bIns="54864">
            <a:spAutoFit/>
          </a:bodyPr>
          <a:lstStyle/>
          <a:p>
            <a:pPr algn="l">
              <a:spcAft>
                <a:spcPts val="300"/>
              </a:spcAft>
            </a:pPr>
            <a:r>
              <a:rPr sz="1800" b="1">
                <a:solidFill>
                  <a:srgbClr val="161B26"/>
                </a:solidFill>
                <a:latin typeface="Arial"/>
              </a:rPr>
              <a:t>Cycle time falls while exceptions and overrides reveal where redesign is needed.</a:t>
            </a:r>
          </a:p>
        </p:txBody>
      </p:sp>
      <p:sp>
        <p:nvSpPr>
          <p:cNvPr id="11" name="TextBox 10"/>
          <p:cNvSpPr txBox="1"/>
          <p:nvPr/>
        </p:nvSpPr>
        <p:spPr>
          <a:xfrm>
            <a:off x="8796528" y="4572000"/>
            <a:ext cx="2331720" cy="822960"/>
          </a:xfrm>
          <a:prstGeom prst="rect">
            <a:avLst/>
          </a:prstGeom>
          <a:noFill/>
        </p:spPr>
        <p:txBody>
          <a:bodyPr wrap="square" anchor="t" lIns="54864" rIns="54864" tIns="54864" bIns="54864">
            <a:spAutoFit/>
          </a:bodyPr>
          <a:lstStyle/>
          <a:p>
            <a:pPr algn="l">
              <a:spcAft>
                <a:spcPts val="300"/>
              </a:spcAft>
            </a:pPr>
            <a:r>
              <a:rPr sz="1100" b="0">
                <a:solidFill>
                  <a:srgbClr val="5B6372"/>
                </a:solidFill>
                <a:latin typeface="Arial"/>
              </a:rPr>
              <a:t>Native PowerPoint chart · editable data · verify source and units</a:t>
            </a:r>
          </a:p>
        </p:txBody>
      </p:sp>
      <p:sp>
        <p:nvSpPr>
          <p:cNvPr id="12" name="TextBox 1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3" name="TextBox 1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4" name="TextBox 1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118</a:t>
            </a:r>
          </a:p>
        </p:txBody>
      </p:sp>
    </p:spTree>
  </p:cSld>
  <p:clrMapOvr>
    <a:masterClrMapping/>
  </p:clrMapOvr>
  <p:transition spd="slow">
    <p:fade/>
  </p:transition>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04 · FOUNDATION AGENT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Create a source-grounded HR and policy agent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12</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Build a source-scoped HR/campaign agent and record six grounded acceptance tests.</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Lumina-HR-Agent-Test-Register.xlsx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Microsoft 365 Copilot agents + Excel</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119</a:t>
            </a:r>
          </a:p>
        </p:txBody>
      </p:sp>
    </p:spTree>
  </p:cSld>
  <p:clrMapOvr>
    <a:masterClrMapping/>
  </p:clrMapOvr>
  <p:transition spd="slow">
    <p:fade/>
  </p:transition>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12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Create a source-grounded HR and policy agent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12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120</a:t>
            </a:r>
          </a:p>
        </p:txBody>
      </p:sp>
    </p:spTree>
  </p:cSld>
  <p:clrMapOvr>
    <a:masterClrMapping/>
  </p:clrMapOvr>
  <p:transition spd="slow">
    <p:fade/>
  </p:transition>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04 · INTERMEDIATE AGENT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Route a launch service issue with an agent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13</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For SW-2026 request REQ-101, a chair is damaged and delivery is due tomorrow. Recommend queue and priority, cite SR-01, ask for missing facts and do not submit a ticket. Preserve the request ID in the evidence register.</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Lumina-Routing-Test-Register.xlsx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Copilot Studio / Agent Builder + Excel</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121</a:t>
            </a:r>
          </a:p>
        </p:txBody>
      </p:sp>
    </p:spTree>
  </p:cSld>
  <p:clrMapOvr>
    <a:masterClrMapping/>
  </p:clrMapOvr>
  <p:transition spd="slow">
    <p:fade/>
  </p:transition>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13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Route a launch service issue with an agent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13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122</a:t>
            </a:r>
          </a:p>
        </p:txBody>
      </p:sp>
    </p:spTree>
  </p:cSld>
  <p:clrMapOvr>
    <a:masterClrMapping/>
  </p:clrMapOvr>
  <p:transition spd="slow">
    <p:fade/>
  </p:transition>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04 · ADVANCED AGENT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Connect the recommendation to a reviewed action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14</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Pass a reviewed routing recommendation to a separately configured training flow. Validate required fields, require human review and record the returned item/run ID. If no flow is configured, record Not run rather than claiming success.</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Lumina-Action-Run-Register.xlsx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Copilot Studio + Power Automate + Excel</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123</a:t>
            </a:r>
          </a:p>
        </p:txBody>
      </p:sp>
    </p:spTree>
  </p:cSld>
  <p:clrMapOvr>
    <a:masterClrMapping/>
  </p:clrMapOvr>
  <p:transition spd="slow">
    <p:fade/>
  </p:transition>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14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Connect the recommendation to a reviewed action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14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124</a:t>
            </a:r>
          </a:p>
        </p:txBody>
      </p:sp>
    </p:spTree>
  </p:cSld>
  <p:clrMapOvr>
    <a:masterClrMapping/>
  </p:clrMapOvr>
  <p:transition spd="slow">
    <p:fade/>
  </p:transition>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04 · ADVANCED PIPELINE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Integrate the analysis into a decision presentation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15</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Use Copilot to generate a professional six-slide financial or marketing presentation from reviewed reports.</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Lumina-Decision-Deck.pptx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Microsoft 365 Copilot + Analyst + PowerPoint + Excel</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125</a:t>
            </a:r>
          </a:p>
        </p:txBody>
      </p:sp>
    </p:spTree>
  </p:cSld>
  <p:clrMapOvr>
    <a:masterClrMapping/>
  </p:clrMapOvr>
  <p:transition spd="slow">
    <p:fade/>
  </p:transition>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15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Integrate the analysis into a decision presentation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15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126</a:t>
            </a:r>
          </a:p>
        </p:txBody>
      </p:sp>
    </p:spTree>
  </p:cSld>
  <p:clrMapOvr>
    <a:masterClrMapping/>
  </p:clrMapOvr>
  <p:transition spd="slow">
    <p:fade/>
  </p:transition>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TOPIC 04 · CAPSTONE PIPELINE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Deliver and monitor the complete Lumina workflow</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55648"/>
            <a:ext cx="1417320" cy="457200"/>
          </a:xfrm>
          <a:prstGeom prst="round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755648"/>
            <a:ext cx="1417320" cy="457200"/>
          </a:xfrm>
          <a:prstGeom prst="rect">
            <a:avLst/>
          </a:prstGeom>
          <a:noFill/>
        </p:spPr>
        <p:txBody>
          <a:bodyPr wrap="square" anchor="ctr" lIns="54864" rIns="54864" tIns="54864" bIns="54864">
            <a:spAutoFit/>
          </a:bodyPr>
          <a:lstStyle/>
          <a:p>
            <a:pPr algn="ctr">
              <a:spcAft>
                <a:spcPts val="300"/>
              </a:spcAft>
            </a:pPr>
            <a:r>
              <a:rPr sz="1400" b="1">
                <a:solidFill>
                  <a:srgbClr val="FFFFFF"/>
                </a:solidFill>
                <a:latin typeface="Arial"/>
              </a:rPr>
              <a:t>LAB 16</a:t>
            </a:r>
          </a:p>
        </p:txBody>
      </p:sp>
      <p:sp>
        <p:nvSpPr>
          <p:cNvPr id="9" name="TextBox 8"/>
          <p:cNvSpPr txBox="1"/>
          <p:nvPr/>
        </p:nvSpPr>
        <p:spPr>
          <a:xfrm>
            <a:off x="777240" y="2414016"/>
            <a:ext cx="10652760" cy="1143000"/>
          </a:xfrm>
          <a:prstGeom prst="rect">
            <a:avLst/>
          </a:prstGeom>
          <a:noFill/>
        </p:spPr>
        <p:txBody>
          <a:bodyPr wrap="square" anchor="ctr" lIns="54864" rIns="54864" tIns="54864" bIns="54864">
            <a:spAutoFit/>
          </a:bodyPr>
          <a:lstStyle/>
          <a:p>
            <a:pPr algn="l">
              <a:spcAft>
                <a:spcPts val="300"/>
              </a:spcAft>
            </a:pPr>
            <a:r>
              <a:rPr sz="1900" b="0">
                <a:solidFill>
                  <a:srgbClr val="161B26"/>
                </a:solidFill>
                <a:latin typeface="Arial"/>
              </a:rPr>
              <a:t>Complete the handoff: review Word and Excel, approve the deck, save the Outlook draft, post a reviewed update in the training Teams channel, and monitor the same Loop actions. Record actual links, recipients, approvals and outcomes; do not mark unperformed actions complete.</a:t>
            </a:r>
          </a:p>
        </p:txBody>
      </p:sp>
      <p:sp>
        <p:nvSpPr>
          <p:cNvPr id="10" name="Rounded Rectangle 9"/>
          <p:cNvSpPr/>
          <p:nvPr/>
        </p:nvSpPr>
        <p:spPr>
          <a:xfrm>
            <a:off x="777240" y="3822191"/>
            <a:ext cx="10652760" cy="1874519"/>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4041648"/>
            <a:ext cx="1828800" cy="320040"/>
          </a:xfrm>
          <a:prstGeom prst="rect">
            <a:avLst/>
          </a:prstGeom>
          <a:noFill/>
        </p:spPr>
        <p:txBody>
          <a:bodyPr wrap="square" anchor="t" lIns="54864" rIns="54864" tIns="54864" bIns="54864">
            <a:spAutoFit/>
          </a:bodyPr>
          <a:lstStyle/>
          <a:p>
            <a:pPr algn="l">
              <a:spcAft>
                <a:spcPts val="300"/>
              </a:spcAft>
            </a:pPr>
            <a:r>
              <a:rPr sz="1100" b="1">
                <a:solidFill>
                  <a:srgbClr val="1F6FEB"/>
                </a:solidFill>
                <a:latin typeface="Arial"/>
              </a:rPr>
              <a:t>EXPECTED OUTPUT</a:t>
            </a:r>
          </a:p>
        </p:txBody>
      </p:sp>
      <p:sp>
        <p:nvSpPr>
          <p:cNvPr id="12" name="TextBox 11"/>
          <p:cNvSpPr txBox="1"/>
          <p:nvPr/>
        </p:nvSpPr>
        <p:spPr>
          <a:xfrm>
            <a:off x="1051560" y="4416552"/>
            <a:ext cx="9921240" cy="603504"/>
          </a:xfrm>
          <a:prstGeom prst="rect">
            <a:avLst/>
          </a:prstGeom>
          <a:noFill/>
        </p:spPr>
        <p:txBody>
          <a:bodyPr wrap="square" anchor="t" lIns="54864" rIns="54864" tIns="54864" bIns="54864">
            <a:spAutoFit/>
          </a:bodyPr>
          <a:lstStyle/>
          <a:p>
            <a:pPr algn="l">
              <a:spcAft>
                <a:spcPts val="300"/>
              </a:spcAft>
            </a:pPr>
            <a:r>
              <a:rPr sz="1700" b="1">
                <a:solidFill>
                  <a:srgbClr val="161B26"/>
                </a:solidFill>
                <a:latin typeface="Arial"/>
              </a:rPr>
              <a:t>Save Lumina-Release-Evidence.xlsx with reviewed source evidence and your own Copilot prompt/result.</a:t>
            </a:r>
          </a:p>
        </p:txBody>
      </p:sp>
      <p:sp>
        <p:nvSpPr>
          <p:cNvPr id="13" name="TextBox 12"/>
          <p:cNvSpPr txBox="1"/>
          <p:nvPr/>
        </p:nvSpPr>
        <p:spPr>
          <a:xfrm>
            <a:off x="1051560" y="5166360"/>
            <a:ext cx="9921240" cy="347472"/>
          </a:xfrm>
          <a:prstGeom prst="rect">
            <a:avLst/>
          </a:prstGeom>
          <a:noFill/>
        </p:spPr>
        <p:txBody>
          <a:bodyPr wrap="square" anchor="t" lIns="54864" rIns="54864" tIns="54864" bIns="54864">
            <a:spAutoFit/>
          </a:bodyPr>
          <a:lstStyle/>
          <a:p>
            <a:pPr algn="l">
              <a:spcAft>
                <a:spcPts val="300"/>
              </a:spcAft>
            </a:pPr>
            <a:r>
              <a:rPr sz="1100" b="1">
                <a:solidFill>
                  <a:srgbClr val="10B981"/>
                </a:solidFill>
                <a:latin typeface="Arial"/>
              </a:rPr>
              <a:t>TOOLS  </a:t>
            </a:r>
            <a:r>
              <a:rPr sz="1200" b="0">
                <a:solidFill>
                  <a:srgbClr val="5B6372"/>
                </a:solidFill>
                <a:latin typeface="Arial"/>
              </a:rPr>
              <a:t>Microsoft 365 Copilot agents + Outlook + Teams + Excel</a:t>
            </a:r>
          </a:p>
        </p:txBody>
      </p:sp>
      <p:sp>
        <p:nvSpPr>
          <p:cNvPr id="14" name="TextBox 1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5" name="TextBox 1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6" name="TextBox 1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127</a:t>
            </a:r>
          </a:p>
        </p:txBody>
      </p:sp>
    </p:spTree>
  </p:cSld>
  <p:clrMapOvr>
    <a:masterClrMapping/>
  </p:clrMapOvr>
  <p:transition spd="slow">
    <p:fade/>
  </p:transition>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0B981"/>
                </a:solidFill>
                <a:latin typeface="Arial"/>
              </a:rPr>
              <a:t>LAB 16 · ACCEPTANCE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Deliver and monitor the complete Lumina workflow</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03120"/>
            <a:ext cx="10652760" cy="2514600"/>
          </a:xfrm>
          <a:prstGeom prst="roundRect">
            <a:avLst/>
          </a:prstGeom>
          <a:solidFill>
            <a:srgbClr val="E8F7EE"/>
          </a:solidFill>
          <a:ln w="12700">
            <a:solidFill>
              <a:srgbClr val="10B98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97280" y="2423160"/>
            <a:ext cx="9966960" cy="475488"/>
          </a:xfrm>
          <a:prstGeom prst="rect">
            <a:avLst/>
          </a:prstGeom>
          <a:noFill/>
        </p:spPr>
        <p:txBody>
          <a:bodyPr wrap="square" anchor="t" lIns="54864" rIns="54864" tIns="54864" bIns="54864">
            <a:spAutoFit/>
          </a:bodyPr>
          <a:lstStyle/>
          <a:p>
            <a:pPr algn="l">
              <a:spcAft>
                <a:spcPts val="300"/>
              </a:spcAft>
            </a:pPr>
            <a:r>
              <a:rPr sz="1600" b="1">
                <a:solidFill>
                  <a:srgbClr val="10B981"/>
                </a:solidFill>
                <a:latin typeface="Arial"/>
              </a:rPr>
              <a:t>ACCEPTANCE CHECK</a:t>
            </a:r>
          </a:p>
        </p:txBody>
      </p:sp>
      <p:sp>
        <p:nvSpPr>
          <p:cNvPr id="9" name="TextBox 8"/>
          <p:cNvSpPr txBox="1"/>
          <p:nvPr/>
        </p:nvSpPr>
        <p:spPr>
          <a:xfrm>
            <a:off x="1097280" y="3063240"/>
            <a:ext cx="9829800" cy="1143000"/>
          </a:xfrm>
          <a:prstGeom prst="rect">
            <a:avLst/>
          </a:prstGeom>
          <a:noFill/>
        </p:spPr>
        <p:txBody>
          <a:bodyPr wrap="square" anchor="ctr" lIns="54864" rIns="54864" tIns="54864" bIns="54864">
            <a:spAutoFit/>
          </a:bodyPr>
          <a:lstStyle/>
          <a:p>
            <a:pPr algn="l">
              <a:spcAft>
                <a:spcPts val="300"/>
              </a:spcAft>
            </a:pPr>
            <a:r>
              <a:rPr sz="1800" b="0">
                <a:solidFill>
                  <a:srgbClr val="161B26"/>
                </a:solidFill>
                <a:latin typeface="Arial"/>
              </a:rPr>
              <a:t>Source facts and formulas are verified; required outputs and evidence are saved. Follow the current Lab 16 acceptance checks in the LG and activity folder.</a:t>
            </a:r>
          </a:p>
        </p:txBody>
      </p:sp>
      <p:sp>
        <p:nvSpPr>
          <p:cNvPr id="10" name="TextBox 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11" name="TextBox 1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2" name="TextBox 1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128</a:t>
            </a:r>
          </a:p>
        </p:txBody>
      </p:sp>
    </p:spTree>
  </p:cSld>
  <p:clrMapOvr>
    <a:masterClrMapping/>
  </p:clrMapOvr>
  <p:transition spd="slow">
    <p:fade/>
  </p:transition>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TOPIC RECAP</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Recap — Microsoft 365 Copilot Agents and Governed Pipelines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Knowledge</a:t>
            </a:r>
          </a:p>
          <a:p>
            <a:pPr algn="l">
              <a:spcAft>
                <a:spcPts val="300"/>
              </a:spcAft>
            </a:pPr>
            <a:r>
              <a:rPr sz="1200" b="0">
                <a:solidFill>
                  <a:srgbClr val="5B6372"/>
                </a:solidFill>
                <a:latin typeface="Arial"/>
              </a:rPr>
              <a:t>Agent role and related principles.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Ability</a:t>
            </a:r>
          </a:p>
          <a:p>
            <a:pPr algn="l">
              <a:spcAft>
                <a:spcPts val="300"/>
              </a:spcAft>
            </a:pPr>
            <a:r>
              <a:rPr sz="1200" b="0">
                <a:solidFill>
                  <a:srgbClr val="5B6372"/>
                </a:solidFill>
                <a:latin typeface="Arial"/>
              </a:rPr>
              <a:t>K1-K4 · A1-A4</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Evidence</a:t>
            </a:r>
          </a:p>
          <a:p>
            <a:pPr algn="l">
              <a:spcAft>
                <a:spcPts val="300"/>
              </a:spcAft>
            </a:pPr>
            <a:r>
              <a:rPr sz="1200" b="0">
                <a:solidFill>
                  <a:srgbClr val="5B6372"/>
                </a:solidFill>
                <a:latin typeface="Arial"/>
              </a:rPr>
              <a:t>A checked Excel control workbook plus the app-specific artifact.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500" b="1">
                <a:solidFill>
                  <a:srgbClr val="161B26"/>
                </a:solidFill>
                <a:latin typeface="Arial"/>
              </a:rPr>
              <a:t>Next</a:t>
            </a:r>
          </a:p>
          <a:p>
            <a:pPr algn="l">
              <a:spcAft>
                <a:spcPts val="300"/>
              </a:spcAft>
            </a:pPr>
            <a:r>
              <a:rPr sz="1200" b="0">
                <a:solidFill>
                  <a:srgbClr val="5B6372"/>
                </a:solidFill>
                <a:latin typeface="Arial"/>
              </a:rPr>
              <a:t>Carry the evidence and controls into the next workflow stage.</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129</a:t>
            </a:r>
          </a:p>
        </p:txBody>
      </p:sp>
    </p:spTree>
  </p:cSld>
  <p:clrMapOvr>
    <a:masterClrMapping/>
  </p:clrMapOvr>
  <p:transition spd="slow">
    <p:fade/>
  </p:transition>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LABS 12–16 · SHAREPOINT EXTENSION</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From SharePoint source to verified response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Source document</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Scoped agent</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Cited answer</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Human review</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130</a:t>
            </a:r>
          </a:p>
        </p:txBody>
      </p:sp>
    </p:spTree>
  </p:cSld>
  <p:clrMapOvr>
    <a:masterClrMapping/>
  </p:clrMapOvr>
  <p:transition spd="slow">
    <p:fade/>
  </p:transition>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KNOWLEDGE DESIGN</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Three agents, three source contracts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AGENT AND SOURCE</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Policy agent: EXP-01 expense rules</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Campaign agent: CAM-2026-Q4 brief</a:t>
            </a:r>
          </a:p>
        </p:txBody>
      </p:sp>
      <p:sp>
        <p:nvSpPr>
          <p:cNvPr id="16" name="Oval 15"/>
          <p:cNvSpPr/>
          <p:nvPr/>
        </p:nvSpPr>
        <p:spPr>
          <a:xfrm>
            <a:off x="1033272" y="4187952"/>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18" name="TextBox 17"/>
          <p:cNvSpPr txBox="1"/>
          <p:nvPr/>
        </p:nvSpPr>
        <p:spPr>
          <a:xfrm>
            <a:off x="1527048"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Routing agent: SR-01 service guide</a:t>
            </a:r>
          </a:p>
        </p:txBody>
      </p:sp>
      <p:sp>
        <p:nvSpPr>
          <p:cNvPr id="19" name="Rounded Rectangle 18"/>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RESPONSE CONTRACT</a:t>
            </a:r>
          </a:p>
        </p:txBody>
      </p:sp>
      <p:sp>
        <p:nvSpPr>
          <p:cNvPr id="22" name="Oval 21"/>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4" name="TextBox 23"/>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Cite the exact source and section</a:t>
            </a:r>
          </a:p>
        </p:txBody>
      </p:sp>
      <p:sp>
        <p:nvSpPr>
          <p:cNvPr id="25" name="Oval 24"/>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7" name="TextBox 26"/>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Ask when a required fact is missing</a:t>
            </a:r>
          </a:p>
        </p:txBody>
      </p:sp>
      <p:sp>
        <p:nvSpPr>
          <p:cNvPr id="28" name="Oval 27"/>
          <p:cNvSpPr/>
          <p:nvPr/>
        </p:nvSpPr>
        <p:spPr>
          <a:xfrm>
            <a:off x="6492240" y="4187952"/>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30" name="TextBox 29"/>
          <p:cNvSpPr txBox="1"/>
          <p:nvPr/>
        </p:nvSpPr>
        <p:spPr>
          <a:xfrm>
            <a:off x="6986016"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Produce a draft; preserve human approval</a:t>
            </a:r>
          </a:p>
        </p:txBody>
      </p:sp>
      <p:sp>
        <p:nvSpPr>
          <p:cNvPr id="31" name="TextBox 30"/>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2" name="TextBox 31"/>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3" name="TextBox 32"/>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131</a:t>
            </a:r>
          </a:p>
        </p:txBody>
      </p:sp>
    </p:spTree>
  </p:cSld>
  <p:clrMapOvr>
    <a:masterClrMapping/>
  </p:clrMapOvr>
  <p:transition spd="slow">
    <p:fade/>
  </p:transition>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TGS-2024043856 · PERMISSIONS FOLLOW THE USER</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The course knowledge architecture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Private Lumina site</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Three DOCX sources</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Three .agent files</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Training accounts</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132</a:t>
            </a:r>
          </a:p>
        </p:txBody>
      </p:sp>
    </p:spTree>
  </p:cSld>
  <p:clrMapOvr>
    <a:masterClrMapping/>
  </p:clrMapOvr>
  <p:transition spd="slow">
    <p:fade/>
  </p:transition>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LAB 12 · SOURCE CONTRACT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Source selection is a design decision</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SOURCE CHOICE</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 file gives a narrow factual scope</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 folder groups a maintained topic</a:t>
            </a:r>
          </a:p>
        </p:txBody>
      </p:sp>
      <p:sp>
        <p:nvSpPr>
          <p:cNvPr id="16" name="Oval 15"/>
          <p:cNvSpPr/>
          <p:nvPr/>
        </p:nvSpPr>
        <p:spPr>
          <a:xfrm>
            <a:off x="1033272" y="4187952"/>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18" name="TextBox 17"/>
          <p:cNvSpPr txBox="1"/>
          <p:nvPr/>
        </p:nvSpPr>
        <p:spPr>
          <a:xfrm>
            <a:off x="1527048"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 whole site widens retrieval scope</a:t>
            </a:r>
          </a:p>
        </p:txBody>
      </p:sp>
      <p:sp>
        <p:nvSpPr>
          <p:cNvPr id="19" name="Rounded Rectangle 18"/>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QUALITY CONTROL</a:t>
            </a:r>
          </a:p>
        </p:txBody>
      </p:sp>
      <p:sp>
        <p:nvSpPr>
          <p:cNvPr id="22" name="Oval 21"/>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4" name="TextBox 23"/>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Verify owner, version and effective date</a:t>
            </a:r>
          </a:p>
        </p:txBody>
      </p:sp>
      <p:sp>
        <p:nvSpPr>
          <p:cNvPr id="25" name="Oval 24"/>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7" name="TextBox 26"/>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Exclude unrelated sites and test fixtures</a:t>
            </a:r>
          </a:p>
        </p:txBody>
      </p:sp>
      <p:sp>
        <p:nvSpPr>
          <p:cNvPr id="28" name="Oval 27"/>
          <p:cNvSpPr/>
          <p:nvPr/>
        </p:nvSpPr>
        <p:spPr>
          <a:xfrm>
            <a:off x="6492240" y="4187952"/>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30" name="TextBox 29"/>
          <p:cNvSpPr txBox="1"/>
          <p:nvPr/>
        </p:nvSpPr>
        <p:spPr>
          <a:xfrm>
            <a:off x="6986016"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Inspect citations rather than trusting tone</a:t>
            </a:r>
          </a:p>
        </p:txBody>
      </p:sp>
      <p:sp>
        <p:nvSpPr>
          <p:cNvPr id="31" name="TextBox 30"/>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2" name="TextBox 31"/>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3" name="TextBox 32"/>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133</a:t>
            </a:r>
          </a:p>
        </p:txBody>
      </p:sp>
    </p:spTree>
  </p:cSld>
  <p:clrMapOvr>
    <a:masterClrMapping/>
  </p:clrMapOvr>
  <p:transition spd="slow">
    <p:fade/>
  </p:transition>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SYNTHETIC EXP-01</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Worked policy decision: SGD 48 taxi fare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SOURCE FACTS</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Business taxi: potentially claimable</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SGD 48 exceeds the SGD 40 threshold</a:t>
            </a:r>
          </a:p>
        </p:txBody>
      </p:sp>
      <p:sp>
        <p:nvSpPr>
          <p:cNvPr id="16" name="Oval 15"/>
          <p:cNvSpPr/>
          <p:nvPr/>
        </p:nvSpPr>
        <p:spPr>
          <a:xfrm>
            <a:off x="1033272" y="4187952"/>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18" name="TextBox 17"/>
          <p:cNvSpPr txBox="1"/>
          <p:nvPr/>
        </p:nvSpPr>
        <p:spPr>
          <a:xfrm>
            <a:off x="1527048"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Receipt and purpose are required</a:t>
            </a:r>
          </a:p>
        </p:txBody>
      </p:sp>
      <p:sp>
        <p:nvSpPr>
          <p:cNvPr id="19" name="Oval 18"/>
          <p:cNvSpPr/>
          <p:nvPr/>
        </p:nvSpPr>
        <p:spPr>
          <a:xfrm>
            <a:off x="1033272" y="4974336"/>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21" name="TextBox 20"/>
          <p:cNvSpPr txBox="1"/>
          <p:nvPr/>
        </p:nvSpPr>
        <p:spPr>
          <a:xfrm>
            <a:off x="1527048"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Submit within 14 calendar days</a:t>
            </a:r>
          </a:p>
        </p:txBody>
      </p:sp>
      <p:sp>
        <p:nvSpPr>
          <p:cNvPr id="22" name="Rounded Rectangle 21"/>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VERIFIED OUTPUT</a:t>
            </a:r>
          </a:p>
        </p:txBody>
      </p:sp>
      <p:sp>
        <p:nvSpPr>
          <p:cNvPr id="25" name="Oval 24"/>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7" name="TextBox 26"/>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Manager approval is required</a:t>
            </a:r>
          </a:p>
        </p:txBody>
      </p:sp>
      <p:sp>
        <p:nvSpPr>
          <p:cNvPr id="28" name="Oval 27"/>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30" name="TextBox 29"/>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Agent explains; it cannot approve</a:t>
            </a:r>
          </a:p>
        </p:txBody>
      </p:sp>
      <p:sp>
        <p:nvSpPr>
          <p:cNvPr id="31" name="Oval 30"/>
          <p:cNvSpPr/>
          <p:nvPr/>
        </p:nvSpPr>
        <p:spPr>
          <a:xfrm>
            <a:off x="6492240" y="4187952"/>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33" name="TextBox 32"/>
          <p:cNvSpPr txBox="1"/>
          <p:nvPr/>
        </p:nvSpPr>
        <p:spPr>
          <a:xfrm>
            <a:off x="6986016"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Cite EXP-01 local travel and evidence</a:t>
            </a:r>
          </a:p>
        </p:txBody>
      </p:sp>
      <p:sp>
        <p:nvSpPr>
          <p:cNvPr id="34" name="Oval 33"/>
          <p:cNvSpPr/>
          <p:nvPr/>
        </p:nvSpPr>
        <p:spPr>
          <a:xfrm>
            <a:off x="6492240" y="4974336"/>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0"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36" name="TextBox 35"/>
          <p:cNvSpPr txBox="1"/>
          <p:nvPr/>
        </p:nvSpPr>
        <p:spPr>
          <a:xfrm>
            <a:off x="6986016"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Record the actual response in Excel</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134</a:t>
            </a:r>
          </a:p>
        </p:txBody>
      </p:sp>
    </p:spTree>
  </p:cSld>
  <p:clrMapOvr>
    <a:masterClrMapping/>
  </p:clrMapOvr>
  <p:transition spd="slow">
    <p:fade/>
  </p:transition>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CONFIGURATION · NO CLAIM SUBMISSION OR PAYMENT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Policy instructions make the boundary visible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Read EXP-01</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Cite the section</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Identify missing facts</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Refer approval</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135</a:t>
            </a:r>
          </a:p>
        </p:txBody>
      </p:sp>
    </p:spTree>
  </p:cSld>
  <p:clrMapOvr>
    <a:masterClrMapping/>
  </p:clrMapOvr>
  <p:transition spd="slow">
    <p:fade/>
  </p:transition>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LAB 13 · SYNTHETIC SERVICE CASE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Worked routing: damaged chair due tomorrow</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INPUT AND RULE</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REQ-101: damaged chair reported</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Due tomorrow: within two business days</a:t>
            </a:r>
          </a:p>
        </p:txBody>
      </p:sp>
      <p:sp>
        <p:nvSpPr>
          <p:cNvPr id="16" name="Oval 15"/>
          <p:cNvSpPr/>
          <p:nvPr/>
        </p:nvSpPr>
        <p:spPr>
          <a:xfrm>
            <a:off x="1033272" y="4187952"/>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18" name="TextBox 17"/>
          <p:cNvSpPr txBox="1"/>
          <p:nvPr/>
        </p:nvSpPr>
        <p:spPr>
          <a:xfrm>
            <a:off x="1527048"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SR-01 routes damage to Operations</a:t>
            </a:r>
          </a:p>
        </p:txBody>
      </p:sp>
      <p:sp>
        <p:nvSpPr>
          <p:cNvPr id="19" name="Rounded Rectangle 18"/>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RECOMMENDATION</a:t>
            </a:r>
          </a:p>
        </p:txBody>
      </p:sp>
      <p:sp>
        <p:nvSpPr>
          <p:cNvPr id="22" name="Oval 21"/>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4" name="TextBox 23"/>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Queue recommendation: Operations</a:t>
            </a:r>
          </a:p>
        </p:txBody>
      </p:sp>
      <p:sp>
        <p:nvSpPr>
          <p:cNvPr id="25" name="Oval 24"/>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7" name="TextBox 26"/>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Priority recommendation: High</a:t>
            </a:r>
          </a:p>
        </p:txBody>
      </p:sp>
      <p:sp>
        <p:nvSpPr>
          <p:cNvPr id="28" name="Oval 27"/>
          <p:cNvSpPr/>
          <p:nvPr/>
        </p:nvSpPr>
        <p:spPr>
          <a:xfrm>
            <a:off x="6492240" y="4187952"/>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30" name="TextBox 29"/>
          <p:cNvSpPr txBox="1"/>
          <p:nvPr/>
        </p:nvSpPr>
        <p:spPr>
          <a:xfrm>
            <a:off x="6986016"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Unsafe product requires supporting facts</a:t>
            </a:r>
          </a:p>
        </p:txBody>
      </p:sp>
      <p:sp>
        <p:nvSpPr>
          <p:cNvPr id="31" name="Oval 30"/>
          <p:cNvSpPr/>
          <p:nvPr/>
        </p:nvSpPr>
        <p:spPr>
          <a:xfrm>
            <a:off x="6492240" y="4974336"/>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33" name="TextBox 32"/>
          <p:cNvSpPr txBox="1"/>
          <p:nvPr/>
        </p:nvSpPr>
        <p:spPr>
          <a:xfrm>
            <a:off x="6986016"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No ticket write is implied</a:t>
            </a:r>
          </a:p>
        </p:txBody>
      </p:sp>
      <p:sp>
        <p:nvSpPr>
          <p:cNvPr id="34" name="TextBox 3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5" name="TextBox 3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6" name="TextBox 3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136</a:t>
            </a:r>
          </a:p>
        </p:txBody>
      </p:sp>
    </p:spTree>
  </p:cSld>
  <p:clrMapOvr>
    <a:masterClrMapping/>
  </p:clrMapOvr>
  <p:transition spd="slow">
    <p:fade/>
  </p:transition>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LAB 14 · RECORD EACH STATE SEPARATELY</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 knowledge source is not an action connector</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Agent recommendation</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Human review</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Configured action</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Verified run result</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137</a:t>
            </a:r>
          </a:p>
        </p:txBody>
      </p:sp>
    </p:spTree>
  </p:cSld>
  <p:clrMapOvr>
    <a:masterClrMapping/>
  </p:clrMapOvr>
  <p:transition spd="slow">
    <p:fade/>
  </p:transition>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LAB 15 · SYNTHETIC CAMPAIGN</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Campaign facts that can travel into a deck</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SOURCE FACTS</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Budget: SGD 18000</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Target: 120 qualified enquiries</a:t>
            </a:r>
          </a:p>
        </p:txBody>
      </p:sp>
      <p:sp>
        <p:nvSpPr>
          <p:cNvPr id="16" name="Oval 15"/>
          <p:cNvSpPr/>
          <p:nvPr/>
        </p:nvSpPr>
        <p:spPr>
          <a:xfrm>
            <a:off x="1033272" y="4187952"/>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18" name="TextBox 17"/>
          <p:cNvSpPr txBox="1"/>
          <p:nvPr/>
        </p:nvSpPr>
        <p:spPr>
          <a:xfrm>
            <a:off x="1527048"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Launch: 1 October 2026</a:t>
            </a:r>
          </a:p>
        </p:txBody>
      </p:sp>
      <p:sp>
        <p:nvSpPr>
          <p:cNvPr id="19" name="Oval 18"/>
          <p:cNvSpPr/>
          <p:nvPr/>
        </p:nvSpPr>
        <p:spPr>
          <a:xfrm>
            <a:off x="1033272" y="4974336"/>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21" name="TextBox 20"/>
          <p:cNvSpPr txBox="1"/>
          <p:nvPr/>
        </p:nvSpPr>
        <p:spPr>
          <a:xfrm>
            <a:off x="1527048"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Authority: CAM-2026-Q4</a:t>
            </a:r>
          </a:p>
        </p:txBody>
      </p:sp>
      <p:sp>
        <p:nvSpPr>
          <p:cNvPr id="22" name="Rounded Rectangle 21"/>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RELEASE CONTROL</a:t>
            </a:r>
          </a:p>
        </p:txBody>
      </p:sp>
      <p:sp>
        <p:nvSpPr>
          <p:cNvPr id="25" name="Oval 24"/>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7" name="TextBox 26"/>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Cite every factual claim</a:t>
            </a:r>
          </a:p>
        </p:txBody>
      </p:sp>
      <p:sp>
        <p:nvSpPr>
          <p:cNvPr id="28" name="Oval 27"/>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30" name="TextBox 29"/>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Label copy DRAFT FOR MARKETING REVIEW</a:t>
            </a:r>
          </a:p>
        </p:txBody>
      </p:sp>
      <p:sp>
        <p:nvSpPr>
          <p:cNvPr id="31" name="Oval 30"/>
          <p:cNvSpPr/>
          <p:nvPr/>
        </p:nvSpPr>
        <p:spPr>
          <a:xfrm>
            <a:off x="6492240" y="4187952"/>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33" name="TextBox 32"/>
          <p:cNvSpPr txBox="1"/>
          <p:nvPr/>
        </p:nvSpPr>
        <p:spPr>
          <a:xfrm>
            <a:off x="6986016"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Reject unsupported carbon-neutral claims</a:t>
            </a:r>
          </a:p>
        </p:txBody>
      </p:sp>
      <p:sp>
        <p:nvSpPr>
          <p:cNvPr id="34" name="Oval 33"/>
          <p:cNvSpPr/>
          <p:nvPr/>
        </p:nvSpPr>
        <p:spPr>
          <a:xfrm>
            <a:off x="6492240" y="4974336"/>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0"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36" name="TextBox 35"/>
          <p:cNvSpPr txBox="1"/>
          <p:nvPr/>
        </p:nvSpPr>
        <p:spPr>
          <a:xfrm>
            <a:off x="6986016"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Carry verified facts into Word and PPT</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138</a:t>
            </a:r>
          </a:p>
        </p:txBody>
      </p:sp>
    </p:spTree>
  </p:cSld>
  <p:clrMapOvr>
    <a:masterClrMapping/>
  </p:clrMapOvr>
  <p:transition spd="slow">
    <p:fade/>
  </p:transition>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LAB 16 · ACCESS VERIFICATION</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Sharing has two access checks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CHECKS</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Can the intended user open the agent?</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Can that user open the cited source?</a:t>
            </a:r>
          </a:p>
        </p:txBody>
      </p:sp>
      <p:sp>
        <p:nvSpPr>
          <p:cNvPr id="16" name="Oval 15"/>
          <p:cNvSpPr/>
          <p:nvPr/>
        </p:nvSpPr>
        <p:spPr>
          <a:xfrm>
            <a:off x="1033272" y="4187952"/>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18" name="TextBox 17"/>
          <p:cNvSpPr txBox="1"/>
          <p:nvPr/>
        </p:nvSpPr>
        <p:spPr>
          <a:xfrm>
            <a:off x="1527048"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Site membership supports collaboration</a:t>
            </a:r>
          </a:p>
        </p:txBody>
      </p:sp>
      <p:sp>
        <p:nvSpPr>
          <p:cNvPr id="19" name="Rounded Rectangle 18"/>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COURSE WORKSPACE</a:t>
            </a:r>
          </a:p>
        </p:txBody>
      </p:sp>
      <p:sp>
        <p:nvSpPr>
          <p:cNvPr id="22" name="Oval 21"/>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4" name="TextBox 23"/>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Training 1: site owner</a:t>
            </a:r>
          </a:p>
        </p:txBody>
      </p:sp>
      <p:sp>
        <p:nvSpPr>
          <p:cNvPr id="25" name="Oval 24"/>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27" name="TextBox 26"/>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Training 2 and admin: site members</a:t>
            </a:r>
          </a:p>
        </p:txBody>
      </p:sp>
      <p:sp>
        <p:nvSpPr>
          <p:cNvPr id="28" name="Oval 27"/>
          <p:cNvSpPr/>
          <p:nvPr/>
        </p:nvSpPr>
        <p:spPr>
          <a:xfrm>
            <a:off x="6492240" y="4187952"/>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30" name="TextBox 29"/>
          <p:cNvSpPr txBox="1"/>
          <p:nvPr/>
        </p:nvSpPr>
        <p:spPr>
          <a:xfrm>
            <a:off x="6986016"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Test each identity; log the actual outcome</a:t>
            </a:r>
          </a:p>
        </p:txBody>
      </p:sp>
      <p:sp>
        <p:nvSpPr>
          <p:cNvPr id="31" name="Oval 30"/>
          <p:cNvSpPr/>
          <p:nvPr/>
        </p:nvSpPr>
        <p:spPr>
          <a:xfrm>
            <a:off x="6492240" y="4974336"/>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33" name="TextBox 32"/>
          <p:cNvSpPr txBox="1"/>
          <p:nvPr/>
        </p:nvSpPr>
        <p:spPr>
          <a:xfrm>
            <a:off x="6986016"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Site/agent sign-in required; public links unavailable</a:t>
            </a:r>
          </a:p>
        </p:txBody>
      </p:sp>
      <p:sp>
        <p:nvSpPr>
          <p:cNvPr id="34" name="TextBox 33"/>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5" name="TextBox 34"/>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6" name="TextBox 35"/>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139</a:t>
            </a:r>
          </a:p>
        </p:txBody>
      </p:sp>
    </p:spTree>
  </p:cSld>
  <p:clrMapOvr>
    <a:masterClrMapping/>
  </p:clrMapOvr>
  <p:transition spd="slow">
    <p:fade/>
  </p:transition>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LAB 16 · USE A LEARNER COPY FOR CHANGE TESTS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Maintain the source, then repeat the test</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65849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65849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Versioned source edit</a:t>
            </a:r>
          </a:p>
        </p:txBody>
      </p:sp>
      <p:sp>
        <p:nvSpPr>
          <p:cNvPr id="12" name="TextBox 11"/>
          <p:cNvSpPr txBox="1"/>
          <p:nvPr/>
        </p:nvSpPr>
        <p:spPr>
          <a:xfrm>
            <a:off x="323469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350901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50901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439026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9026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63702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Readiness check</a:t>
            </a:r>
          </a:p>
        </p:txBody>
      </p:sp>
      <p:sp>
        <p:nvSpPr>
          <p:cNvPr id="18" name="TextBox 17"/>
          <p:cNvSpPr txBox="1"/>
          <p:nvPr/>
        </p:nvSpPr>
        <p:spPr>
          <a:xfrm>
            <a:off x="596646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624078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24078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712203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2203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636879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Same test question</a:t>
            </a:r>
          </a:p>
        </p:txBody>
      </p:sp>
      <p:sp>
        <p:nvSpPr>
          <p:cNvPr id="24" name="TextBox 23"/>
          <p:cNvSpPr txBox="1"/>
          <p:nvPr/>
        </p:nvSpPr>
        <p:spPr>
          <a:xfrm>
            <a:off x="8698230"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8972550" y="2176272"/>
            <a:ext cx="2457450"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972550" y="2176272"/>
            <a:ext cx="2457450"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9853803"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853803"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9100566" y="3547872"/>
            <a:ext cx="2201418"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Citation comparison</a:t>
            </a:r>
          </a:p>
        </p:txBody>
      </p:sp>
      <p:sp>
        <p:nvSpPr>
          <p:cNvPr id="30" name="TextBox 29"/>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1" name="TextBox 30"/>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2" name="TextBox 31"/>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140</a:t>
            </a:r>
          </a:p>
        </p:txBody>
      </p:sp>
    </p:spTree>
  </p:cSld>
  <p:clrMapOvr>
    <a:masterClrMapping/>
  </p:clrMapOvr>
  <p:transition spd="slow">
    <p:fade/>
  </p:transition>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EVIDENCE · EXISTING EXCEL WORKBOOKS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Failures belong in the evidence register</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92224"/>
            <a:ext cx="5193792" cy="100584"/>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33272"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F6FEB"/>
                </a:solidFill>
                <a:latin typeface="Arial"/>
              </a:rPr>
              <a:t>FAILURE CASE</a:t>
            </a:r>
          </a:p>
        </p:txBody>
      </p:sp>
      <p:sp>
        <p:nvSpPr>
          <p:cNvPr id="10" name="Oval 9"/>
          <p:cNvSpPr/>
          <p:nvPr/>
        </p:nvSpPr>
        <p:spPr>
          <a:xfrm>
            <a:off x="1033272" y="2615184"/>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33272"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12" name="TextBox 11"/>
          <p:cNvSpPr txBox="1"/>
          <p:nvPr/>
        </p:nvSpPr>
        <p:spPr>
          <a:xfrm>
            <a:off x="1527048"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Unknown fact: source does not establish it</a:t>
            </a:r>
          </a:p>
        </p:txBody>
      </p:sp>
      <p:sp>
        <p:nvSpPr>
          <p:cNvPr id="13" name="Oval 12"/>
          <p:cNvSpPr/>
          <p:nvPr/>
        </p:nvSpPr>
        <p:spPr>
          <a:xfrm>
            <a:off x="1033272" y="3401568"/>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33272"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15" name="TextBox 14"/>
          <p:cNvSpPr txBox="1"/>
          <p:nvPr/>
        </p:nvSpPr>
        <p:spPr>
          <a:xfrm>
            <a:off x="1527048"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Preparing: response test remains pending</a:t>
            </a:r>
          </a:p>
        </p:txBody>
      </p:sp>
      <p:sp>
        <p:nvSpPr>
          <p:cNvPr id="16" name="Oval 15"/>
          <p:cNvSpPr/>
          <p:nvPr/>
        </p:nvSpPr>
        <p:spPr>
          <a:xfrm>
            <a:off x="1033272" y="4187952"/>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33272"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18" name="TextBox 17"/>
          <p:cNvSpPr txBox="1"/>
          <p:nvPr/>
        </p:nvSpPr>
        <p:spPr>
          <a:xfrm>
            <a:off x="1527048"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Missing date: ask a clarification</a:t>
            </a:r>
          </a:p>
        </p:txBody>
      </p:sp>
      <p:sp>
        <p:nvSpPr>
          <p:cNvPr id="19" name="Oval 18"/>
          <p:cNvSpPr/>
          <p:nvPr/>
        </p:nvSpPr>
        <p:spPr>
          <a:xfrm>
            <a:off x="1033272" y="4974336"/>
            <a:ext cx="347472" cy="347472"/>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33272"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21" name="TextBox 20"/>
          <p:cNvSpPr txBox="1"/>
          <p:nvPr/>
        </p:nvSpPr>
        <p:spPr>
          <a:xfrm>
            <a:off x="1527048"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No action result: no verified write</a:t>
            </a:r>
          </a:p>
        </p:txBody>
      </p:sp>
      <p:sp>
        <p:nvSpPr>
          <p:cNvPr id="22" name="Rounded Rectangle 21"/>
          <p:cNvSpPr/>
          <p:nvPr/>
        </p:nvSpPr>
        <p:spPr>
          <a:xfrm>
            <a:off x="6236208" y="1792224"/>
            <a:ext cx="5193792" cy="4315968"/>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36208" y="1792224"/>
            <a:ext cx="5193792" cy="100584"/>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492240" y="2039112"/>
            <a:ext cx="4690872" cy="384048"/>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REQUIRED TRACE</a:t>
            </a:r>
          </a:p>
        </p:txBody>
      </p:sp>
      <p:sp>
        <p:nvSpPr>
          <p:cNvPr id="25" name="Oval 24"/>
          <p:cNvSpPr/>
          <p:nvPr/>
        </p:nvSpPr>
        <p:spPr>
          <a:xfrm>
            <a:off x="6492240" y="2615184"/>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615184"/>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1</a:t>
            </a:r>
          </a:p>
        </p:txBody>
      </p:sp>
      <p:sp>
        <p:nvSpPr>
          <p:cNvPr id="27" name="TextBox 26"/>
          <p:cNvSpPr txBox="1"/>
          <p:nvPr/>
        </p:nvSpPr>
        <p:spPr>
          <a:xfrm>
            <a:off x="6986016" y="2560320"/>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Log prompt and actual response</a:t>
            </a:r>
          </a:p>
        </p:txBody>
      </p:sp>
      <p:sp>
        <p:nvSpPr>
          <p:cNvPr id="28" name="Oval 27"/>
          <p:cNvSpPr/>
          <p:nvPr/>
        </p:nvSpPr>
        <p:spPr>
          <a:xfrm>
            <a:off x="6492240" y="3401568"/>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401568"/>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2</a:t>
            </a:r>
          </a:p>
        </p:txBody>
      </p:sp>
      <p:sp>
        <p:nvSpPr>
          <p:cNvPr id="30" name="TextBox 29"/>
          <p:cNvSpPr txBox="1"/>
          <p:nvPr/>
        </p:nvSpPr>
        <p:spPr>
          <a:xfrm>
            <a:off x="6986016" y="3346704"/>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Open and verify each citation</a:t>
            </a:r>
          </a:p>
        </p:txBody>
      </p:sp>
      <p:sp>
        <p:nvSpPr>
          <p:cNvPr id="31" name="Oval 30"/>
          <p:cNvSpPr/>
          <p:nvPr/>
        </p:nvSpPr>
        <p:spPr>
          <a:xfrm>
            <a:off x="6492240" y="4187952"/>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187952"/>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3</a:t>
            </a:r>
          </a:p>
        </p:txBody>
      </p:sp>
      <p:sp>
        <p:nvSpPr>
          <p:cNvPr id="33" name="TextBox 32"/>
          <p:cNvSpPr txBox="1"/>
          <p:nvPr/>
        </p:nvSpPr>
        <p:spPr>
          <a:xfrm>
            <a:off x="6986016" y="4133088"/>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Record source version and account role</a:t>
            </a:r>
          </a:p>
        </p:txBody>
      </p:sp>
      <p:sp>
        <p:nvSpPr>
          <p:cNvPr id="34" name="Oval 33"/>
          <p:cNvSpPr/>
          <p:nvPr/>
        </p:nvSpPr>
        <p:spPr>
          <a:xfrm>
            <a:off x="6492240" y="4974336"/>
            <a:ext cx="347472" cy="347472"/>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92240" y="4974336"/>
            <a:ext cx="347472" cy="347472"/>
          </a:xfrm>
          <a:prstGeom prst="rect">
            <a:avLst/>
          </a:prstGeom>
          <a:noFill/>
        </p:spPr>
        <p:txBody>
          <a:bodyPr wrap="square" anchor="ctr" lIns="54864" rIns="54864" tIns="54864" bIns="54864">
            <a:spAutoFit/>
          </a:bodyPr>
          <a:lstStyle/>
          <a:p>
            <a:pPr algn="ctr">
              <a:spcAft>
                <a:spcPts val="300"/>
              </a:spcAft>
            </a:pPr>
            <a:r>
              <a:rPr sz="1100" b="1">
                <a:solidFill>
                  <a:srgbClr val="FFFFFF"/>
                </a:solidFill>
                <a:latin typeface="Arial"/>
              </a:rPr>
              <a:t>4</a:t>
            </a:r>
          </a:p>
        </p:txBody>
      </p:sp>
      <p:sp>
        <p:nvSpPr>
          <p:cNvPr id="36" name="TextBox 35"/>
          <p:cNvSpPr txBox="1"/>
          <p:nvPr/>
        </p:nvSpPr>
        <p:spPr>
          <a:xfrm>
            <a:off x="6986016" y="4919472"/>
            <a:ext cx="4206240" cy="548640"/>
          </a:xfrm>
          <a:prstGeom prst="rect">
            <a:avLst/>
          </a:prstGeom>
          <a:noFill/>
        </p:spPr>
        <p:txBody>
          <a:bodyPr wrap="square" anchor="ctr" lIns="54864" rIns="54864" tIns="54864" bIns="54864">
            <a:spAutoFit/>
          </a:bodyPr>
          <a:lstStyle/>
          <a:p>
            <a:pPr algn="l">
              <a:spcAft>
                <a:spcPts val="300"/>
              </a:spcAft>
            </a:pPr>
            <a:r>
              <a:rPr sz="1400" b="0">
                <a:solidFill>
                  <a:srgbClr val="161B26"/>
                </a:solidFill>
                <a:latin typeface="Arial"/>
              </a:rPr>
              <a:t>Retain failures and reviewer corrections</a:t>
            </a:r>
          </a:p>
        </p:txBody>
      </p:sp>
      <p:sp>
        <p:nvSpPr>
          <p:cNvPr id="37" name="TextBox 3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8" name="TextBox 3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9" name="TextBox 3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141</a:t>
            </a:r>
          </a:p>
        </p:txBody>
      </p:sp>
    </p:spTree>
  </p:cSld>
  <p:clrMapOvr>
    <a:masterClrMapping/>
  </p:clrMapOvr>
  <p:transition spd="slow">
    <p:fade/>
  </p:transition>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LIVE TRAINING WORKSPACE</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Open the Lumina SharePoint workspace</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Course site</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TGS-2024043856</a:t>
            </a:r>
          </a:p>
        </p:txBody>
      </p:sp>
      <p:sp>
        <p:nvSpPr>
          <p:cNvPr id="11" name="TextBox 10"/>
          <p:cNvSpPr txBox="1"/>
          <p:nvPr/>
        </p:nvSpPr>
        <p:spPr>
          <a:xfrm>
            <a:off x="1024128"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Private synthetic company workspace</a:t>
            </a:r>
          </a:p>
        </p:txBody>
      </p:sp>
      <p:sp>
        <p:nvSpPr>
          <p:cNvPr id="12" name="TextBox 11"/>
          <p:cNvSpPr txBox="1"/>
          <p:nvPr/>
        </p:nvSpPr>
        <p:spPr>
          <a:xfrm>
            <a:off x="1024128"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Use your assigned work account</a:t>
            </a:r>
          </a:p>
        </p:txBody>
      </p:sp>
      <p:sp>
        <p:nvSpPr>
          <p:cNvPr id="13" name="Rounded Rectangle 12"/>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Source documents</a:t>
            </a:r>
          </a:p>
        </p:txBody>
      </p:sp>
      <p:sp>
        <p:nvSpPr>
          <p:cNvPr id="16" name="TextBox 15"/>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Travel and expenses</a:t>
            </a:r>
          </a:p>
        </p:txBody>
      </p:sp>
      <p:sp>
        <p:nvSpPr>
          <p:cNvPr id="17" name="TextBox 16"/>
          <p:cNvSpPr txBox="1"/>
          <p:nvPr/>
        </p:nvSpPr>
        <p:spPr>
          <a:xfrm>
            <a:off x="4736591"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Campaign brief</a:t>
            </a:r>
          </a:p>
        </p:txBody>
      </p:sp>
      <p:sp>
        <p:nvSpPr>
          <p:cNvPr id="18" name="TextBox 17"/>
          <p:cNvSpPr txBox="1"/>
          <p:nvPr/>
        </p:nvSpPr>
        <p:spPr>
          <a:xfrm>
            <a:off x="4736591"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Service routing guide</a:t>
            </a:r>
          </a:p>
        </p:txBody>
      </p:sp>
      <p:sp>
        <p:nvSpPr>
          <p:cNvPr id="19" name="Rounded Rectangle 18"/>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Practice evidence</a:t>
            </a:r>
          </a:p>
        </p:txBody>
      </p:sp>
      <p:sp>
        <p:nvSpPr>
          <p:cNvPr id="22" name="TextBox 21"/>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Keep existing Labs 12–16</a:t>
            </a:r>
          </a:p>
        </p:txBody>
      </p:sp>
      <p:sp>
        <p:nvSpPr>
          <p:cNvPr id="23" name="TextBox 22"/>
          <p:cNvSpPr txBox="1"/>
          <p:nvPr/>
        </p:nvSpPr>
        <p:spPr>
          <a:xfrm>
            <a:off x="8449054"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Full procedures in the Learner Guide</a:t>
            </a:r>
          </a:p>
        </p:txBody>
      </p:sp>
      <p:sp>
        <p:nvSpPr>
          <p:cNvPr id="24" name="TextBox 23"/>
          <p:cNvSpPr txBox="1"/>
          <p:nvPr/>
        </p:nvSpPr>
        <p:spPr>
          <a:xfrm>
            <a:off x="8449054"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Use the original Excel registers</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142</a:t>
            </a:r>
          </a:p>
        </p:txBody>
      </p:sp>
      <p:sp>
        <p:nvSpPr>
          <p:cNvPr id="28" name="TextBox 27"/>
          <p:cNvSpPr txBox="1"/>
          <p:nvPr/>
        </p:nvSpPr>
        <p:spPr>
          <a:xfrm>
            <a:off x="1005840" y="6199632"/>
            <a:ext cx="10058400" cy="219456"/>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hlinkClick r:id="rId2"/>
              </a:rPr>
              <a:t>Open TGS-2024043856 Lumina Living Copilot</a:t>
            </a:r>
          </a:p>
        </p:txBody>
      </p:sp>
    </p:spTree>
  </p:cSld>
  <p:clrMapOvr>
    <a:masterClrMapping/>
  </p:clrMapOvr>
  <p:transition spd="slow">
    <p:fade/>
  </p:transition>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841248" y="2057400"/>
            <a:ext cx="118872" cy="20574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88720" y="2057400"/>
            <a:ext cx="8869680" cy="411480"/>
          </a:xfrm>
          <a:prstGeom prst="rect">
            <a:avLst/>
          </a:prstGeom>
          <a:noFill/>
        </p:spPr>
        <p:txBody>
          <a:bodyPr wrap="square" anchor="t" lIns="54864" rIns="54864" tIns="54864" bIns="54864">
            <a:spAutoFit/>
          </a:bodyPr>
          <a:lstStyle/>
          <a:p>
            <a:pPr algn="l">
              <a:spcAft>
                <a:spcPts val="300"/>
              </a:spcAft>
            </a:pPr>
            <a:r>
              <a:rPr sz="1500" b="1">
                <a:solidFill>
                  <a:srgbClr val="1F6FEB"/>
                </a:solidFill>
                <a:latin typeface="Arial"/>
              </a:rPr>
              <a:t>WRAP-UP</a:t>
            </a:r>
          </a:p>
        </p:txBody>
      </p:sp>
      <p:sp>
        <p:nvSpPr>
          <p:cNvPr id="6" name="TextBox 5"/>
          <p:cNvSpPr txBox="1"/>
          <p:nvPr/>
        </p:nvSpPr>
        <p:spPr>
          <a:xfrm>
            <a:off x="1188720" y="2514600"/>
            <a:ext cx="9692640" cy="1325880"/>
          </a:xfrm>
          <a:prstGeom prst="rect">
            <a:avLst/>
          </a:prstGeom>
          <a:noFill/>
        </p:spPr>
        <p:txBody>
          <a:bodyPr wrap="square" anchor="ctr" lIns="54864" rIns="54864" tIns="54864" bIns="54864">
            <a:spAutoFit/>
          </a:bodyPr>
          <a:lstStyle/>
          <a:p>
            <a:pPr algn="l">
              <a:spcAft>
                <a:spcPts val="300"/>
              </a:spcAft>
            </a:pPr>
            <a:r>
              <a:rPr sz="3600" b="1">
                <a:solidFill>
                  <a:srgbClr val="161B26"/>
                </a:solidFill>
                <a:latin typeface="Arial"/>
              </a:rPr>
              <a:t>Evidence, Assessment &amp; Next Steps</a:t>
            </a:r>
          </a:p>
        </p:txBody>
      </p:sp>
      <p:sp>
        <p:nvSpPr>
          <p:cNvPr id="7" name="TextBox 6"/>
          <p:cNvSpPr txBox="1"/>
          <p:nvPr/>
        </p:nvSpPr>
        <p:spPr>
          <a:xfrm>
            <a:off x="9372600" y="594360"/>
            <a:ext cx="2011680" cy="1143000"/>
          </a:xfrm>
          <a:prstGeom prst="rect">
            <a:avLst/>
          </a:prstGeom>
          <a:noFill/>
        </p:spPr>
        <p:txBody>
          <a:bodyPr wrap="square" anchor="t" lIns="54864" rIns="54864" tIns="54864" bIns="54864">
            <a:spAutoFit/>
          </a:bodyPr>
          <a:lstStyle/>
          <a:p>
            <a:pPr algn="r">
              <a:spcAft>
                <a:spcPts val="300"/>
              </a:spcAft>
            </a:pPr>
            <a:r>
              <a:rPr sz="6600" b="1">
                <a:solidFill>
                  <a:srgbClr val="E2E8F0"/>
                </a:solidFill>
                <a:latin typeface="Arial"/>
              </a:rPr>
              <a:t>99</a:t>
            </a:r>
          </a:p>
        </p:txBody>
      </p:sp>
      <p:sp>
        <p:nvSpPr>
          <p:cNvPr id="8" name="TextBox 7"/>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9" name="TextBox 8"/>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10" name="TextBox 9"/>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143</a:t>
            </a:r>
          </a:p>
        </p:txBody>
      </p:sp>
    </p:spTree>
  </p:cSld>
  <p:clrMapOvr>
    <a:masterClrMapping/>
  </p:clrMapOvr>
  <p:transition spd="slow">
    <p:fade/>
  </p:transition>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LEARNING OUTCOMES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What You Achieved</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LO1</a:t>
            </a:r>
          </a:p>
          <a:p>
            <a:pPr algn="l">
              <a:spcAft>
                <a:spcPts val="300"/>
              </a:spcAft>
            </a:pPr>
            <a:r>
              <a:rPr sz="1000" b="0">
                <a:solidFill>
                  <a:srgbClr val="5B6372"/>
                </a:solidFill>
                <a:latin typeface="Arial"/>
              </a:rPr>
              <a:t>Predict and mitigate challenges in integrating Microsoft 365 Copilot into a workflow.</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LO2</a:t>
            </a:r>
          </a:p>
          <a:p>
            <a:pPr algn="l">
              <a:spcAft>
                <a:spcPts val="300"/>
              </a:spcAft>
            </a:pPr>
            <a:r>
              <a:rPr sz="1000" b="0">
                <a:solidFill>
                  <a:srgbClr val="5B6372"/>
                </a:solidFill>
                <a:latin typeface="Arial"/>
              </a:rPr>
              <a:t>Develop a plan for implementing Microsoft 365 Copilot and transitioning from a legacy workflow.</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LO3</a:t>
            </a:r>
          </a:p>
          <a:p>
            <a:pPr algn="l">
              <a:spcAft>
                <a:spcPts val="300"/>
              </a:spcAft>
            </a:pPr>
            <a:r>
              <a:rPr sz="1000" b="0">
                <a:solidFill>
                  <a:srgbClr val="5B6372"/>
                </a:solidFill>
                <a:latin typeface="Arial"/>
              </a:rPr>
              <a:t>Evaluate productivity opportunities across Teams, Outlook and Microsoft 365 Copilot Chat.</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300" b="1">
                <a:solidFill>
                  <a:srgbClr val="161B26"/>
                </a:solidFill>
                <a:latin typeface="Arial"/>
              </a:rPr>
              <a:t>LO4</a:t>
            </a:r>
          </a:p>
          <a:p>
            <a:pPr algn="l">
              <a:spcAft>
                <a:spcPts val="300"/>
              </a:spcAft>
            </a:pPr>
            <a:r>
              <a:rPr sz="1000" b="0">
                <a:solidFill>
                  <a:srgbClr val="5B6372"/>
                </a:solidFill>
                <a:latin typeface="Arial"/>
              </a:rPr>
              <a:t>Design a staff enablement plan and a governed Copilot agent pipeline.</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144</a:t>
            </a:r>
          </a:p>
        </p:txBody>
      </p:sp>
    </p:spTree>
  </p:cSld>
  <p:clrMapOvr>
    <a:masterClrMapping/>
  </p:clrMapOvr>
  <p:transition spd="slow">
    <p:fade/>
  </p:transition>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LMS / TMS</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Courseware and Assessment on the LMS</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828800"/>
            <a:ext cx="3401568" cy="109728"/>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05840"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F6FEB"/>
                </a:solidFill>
                <a:latin typeface="Arial"/>
              </a:rPr>
              <a:t>Courseware</a:t>
            </a:r>
          </a:p>
        </p:txBody>
      </p:sp>
      <p:sp>
        <p:nvSpPr>
          <p:cNvPr id="10" name="TextBox 9"/>
          <p:cNvSpPr txBox="1"/>
          <p:nvPr/>
        </p:nvSpPr>
        <p:spPr>
          <a:xfrm>
            <a:off x="1024128"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Learner slide PDF</a:t>
            </a:r>
          </a:p>
        </p:txBody>
      </p:sp>
      <p:sp>
        <p:nvSpPr>
          <p:cNvPr id="11" name="TextBox 10"/>
          <p:cNvSpPr txBox="1"/>
          <p:nvPr/>
        </p:nvSpPr>
        <p:spPr>
          <a:xfrm>
            <a:off x="1024128"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Learner Guide PDF</a:t>
            </a:r>
          </a:p>
        </p:txBody>
      </p:sp>
      <p:sp>
        <p:nvSpPr>
          <p:cNvPr id="12" name="TextBox 11"/>
          <p:cNvSpPr txBox="1"/>
          <p:nvPr/>
        </p:nvSpPr>
        <p:spPr>
          <a:xfrm>
            <a:off x="1024128"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F6FEB"/>
                </a:solidFill>
                <a:latin typeface="Arial"/>
              </a:rPr>
              <a:t>●</a:t>
            </a:r>
            <a:r>
              <a:rPr sz="1300" b="0">
                <a:solidFill>
                  <a:srgbClr val="161B26"/>
                </a:solidFill>
                <a:latin typeface="Arial"/>
              </a:rPr>
              <a:t>  Sixteen activity folders</a:t>
            </a:r>
          </a:p>
        </p:txBody>
      </p:sp>
      <p:sp>
        <p:nvSpPr>
          <p:cNvPr id="13" name="Rounded Rectangle 12"/>
          <p:cNvSpPr/>
          <p:nvPr/>
        </p:nvSpPr>
        <p:spPr>
          <a:xfrm>
            <a:off x="4489703"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489703" y="1828800"/>
            <a:ext cx="3401568" cy="109728"/>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718303"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10B981"/>
                </a:solidFill>
                <a:latin typeface="Arial"/>
              </a:rPr>
              <a:t>Assessment</a:t>
            </a:r>
          </a:p>
        </p:txBody>
      </p:sp>
      <p:sp>
        <p:nvSpPr>
          <p:cNvPr id="16" name="TextBox 15"/>
          <p:cNvSpPr txBox="1"/>
          <p:nvPr/>
        </p:nvSpPr>
        <p:spPr>
          <a:xfrm>
            <a:off x="4736591"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WA question paper</a:t>
            </a:r>
          </a:p>
        </p:txBody>
      </p:sp>
      <p:sp>
        <p:nvSpPr>
          <p:cNvPr id="17" name="TextBox 16"/>
          <p:cNvSpPr txBox="1"/>
          <p:nvPr/>
        </p:nvSpPr>
        <p:spPr>
          <a:xfrm>
            <a:off x="4736591"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PP question paper</a:t>
            </a:r>
          </a:p>
        </p:txBody>
      </p:sp>
      <p:sp>
        <p:nvSpPr>
          <p:cNvPr id="18" name="TextBox 17"/>
          <p:cNvSpPr txBox="1"/>
          <p:nvPr/>
        </p:nvSpPr>
        <p:spPr>
          <a:xfrm>
            <a:off x="4736591"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10B981"/>
                </a:solidFill>
                <a:latin typeface="Arial"/>
              </a:rPr>
              <a:t>●</a:t>
            </a:r>
            <a:r>
              <a:rPr sz="1300" b="0">
                <a:solidFill>
                  <a:srgbClr val="161B26"/>
                </a:solidFill>
                <a:latin typeface="Arial"/>
              </a:rPr>
              <a:t>  Submit required evidence</a:t>
            </a:r>
          </a:p>
        </p:txBody>
      </p:sp>
      <p:sp>
        <p:nvSpPr>
          <p:cNvPr id="19" name="Rounded Rectangle 18"/>
          <p:cNvSpPr/>
          <p:nvPr/>
        </p:nvSpPr>
        <p:spPr>
          <a:xfrm>
            <a:off x="8202166" y="1828800"/>
            <a:ext cx="3401568" cy="423367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202166" y="1828800"/>
            <a:ext cx="3401568"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30766" y="2084831"/>
            <a:ext cx="2944368" cy="658368"/>
          </a:xfrm>
          <a:prstGeom prst="rect">
            <a:avLst/>
          </a:prstGeom>
          <a:noFill/>
        </p:spPr>
        <p:txBody>
          <a:bodyPr wrap="square" anchor="ctr" lIns="54864" rIns="54864" tIns="54864" bIns="54864">
            <a:spAutoFit/>
          </a:bodyPr>
          <a:lstStyle/>
          <a:p>
            <a:pPr algn="l">
              <a:spcAft>
                <a:spcPts val="300"/>
              </a:spcAft>
            </a:pPr>
            <a:r>
              <a:rPr sz="1800" b="1">
                <a:solidFill>
                  <a:srgbClr val="7C3AED"/>
                </a:solidFill>
                <a:latin typeface="Arial"/>
              </a:rPr>
              <a:t>Support</a:t>
            </a:r>
          </a:p>
        </p:txBody>
      </p:sp>
      <p:sp>
        <p:nvSpPr>
          <p:cNvPr id="22" name="TextBox 21"/>
          <p:cNvSpPr txBox="1"/>
          <p:nvPr/>
        </p:nvSpPr>
        <p:spPr>
          <a:xfrm>
            <a:off x="8449054" y="2907792"/>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Check the current TGS code</a:t>
            </a:r>
          </a:p>
        </p:txBody>
      </p:sp>
      <p:sp>
        <p:nvSpPr>
          <p:cNvPr id="23" name="TextBox 22"/>
          <p:cNvSpPr txBox="1"/>
          <p:nvPr/>
        </p:nvSpPr>
        <p:spPr>
          <a:xfrm>
            <a:off x="8449054" y="3584448"/>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Use the current release</a:t>
            </a:r>
          </a:p>
        </p:txBody>
      </p:sp>
      <p:sp>
        <p:nvSpPr>
          <p:cNvPr id="24" name="TextBox 23"/>
          <p:cNvSpPr txBox="1"/>
          <p:nvPr/>
        </p:nvSpPr>
        <p:spPr>
          <a:xfrm>
            <a:off x="8449054" y="4261104"/>
            <a:ext cx="2907792" cy="530352"/>
          </a:xfrm>
          <a:prstGeom prst="rect">
            <a:avLst/>
          </a:prstGeom>
          <a:noFill/>
        </p:spPr>
        <p:txBody>
          <a:bodyPr wrap="square" anchor="ctr" lIns="54864" rIns="54864" tIns="54864" bIns="54864">
            <a:spAutoFit/>
          </a:bodyPr>
          <a:lstStyle/>
          <a:p>
            <a:pPr algn="l">
              <a:spcAft>
                <a:spcPts val="300"/>
              </a:spcAft>
            </a:pPr>
            <a:r>
              <a:rPr sz="1000" b="1">
                <a:solidFill>
                  <a:srgbClr val="7C3AED"/>
                </a:solidFill>
                <a:latin typeface="Arial"/>
              </a:rPr>
              <a:t>●</a:t>
            </a:r>
            <a:r>
              <a:rPr sz="1300" b="0">
                <a:solidFill>
                  <a:srgbClr val="161B26"/>
                </a:solidFill>
                <a:latin typeface="Arial"/>
              </a:rPr>
              <a:t>  Contact the trainer or academy</a:t>
            </a:r>
          </a:p>
        </p:txBody>
      </p:sp>
      <p:sp>
        <p:nvSpPr>
          <p:cNvPr id="25" name="TextBox 24"/>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6" name="TextBox 25"/>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7" name="TextBox 26"/>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145</a:t>
            </a:r>
          </a:p>
        </p:txBody>
      </p:sp>
      <p:sp>
        <p:nvSpPr>
          <p:cNvPr id="28" name="TextBox 27"/>
          <p:cNvSpPr txBox="1"/>
          <p:nvPr/>
        </p:nvSpPr>
        <p:spPr>
          <a:xfrm>
            <a:off x="1051560" y="5852160"/>
            <a:ext cx="9966960" cy="274320"/>
          </a:xfrm>
          <a:prstGeom prst="rect">
            <a:avLst/>
          </a:prstGeom>
          <a:noFill/>
        </p:spPr>
        <p:txBody>
          <a:bodyPr wrap="square" anchor="t" lIns="54864" rIns="54864" tIns="54864" bIns="54864">
            <a:spAutoFit/>
          </a:bodyPr>
          <a:lstStyle/>
          <a:p>
            <a:pPr algn="ctr">
              <a:spcAft>
                <a:spcPts val="300"/>
              </a:spcAft>
            </a:pPr>
            <a:r>
              <a:rPr sz="1000" b="1">
                <a:solidFill>
                  <a:srgbClr val="1F6FEB"/>
                </a:solidFill>
                <a:latin typeface="Arial"/>
                <a:hlinkClick r:id="rId2"/>
              </a:rPr>
              <a:t>https://lms-tms.tertiaryinfotech.com/</a:t>
            </a:r>
          </a:p>
        </p:txBody>
      </p:sp>
    </p:spTree>
  </p:cSld>
  <p:clrMapOvr>
    <a:masterClrMapping/>
  </p:clrMapOvr>
  <p:transition spd="slow">
    <p:fade/>
  </p:transition>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FINAL ASSESSMENT</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Assessment Reminder</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170176"/>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WA</a:t>
            </a:r>
          </a:p>
          <a:p>
            <a:pPr algn="l">
              <a:spcAft>
                <a:spcPts val="300"/>
              </a:spcAft>
            </a:pPr>
            <a:r>
              <a:rPr sz="1100" b="0">
                <a:solidFill>
                  <a:srgbClr val="5B6372"/>
                </a:solidFill>
                <a:latin typeface="Arial"/>
              </a:rPr>
              <a:t>4 open-ended knowledge questions, 60 minutes.</a:t>
            </a:r>
          </a:p>
        </p:txBody>
      </p:sp>
      <p:sp>
        <p:nvSpPr>
          <p:cNvPr id="12" name="Rounded Rectangle 11"/>
          <p:cNvSpPr/>
          <p:nvPr/>
        </p:nvSpPr>
        <p:spPr>
          <a:xfrm>
            <a:off x="6240780" y="1764792"/>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1322832"/>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170176"/>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170176"/>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PP</a:t>
            </a:r>
          </a:p>
          <a:p>
            <a:pPr algn="l">
              <a:spcAft>
                <a:spcPts val="300"/>
              </a:spcAft>
            </a:pPr>
            <a:r>
              <a:rPr sz="1100" b="0">
                <a:solidFill>
                  <a:srgbClr val="5B6372"/>
                </a:solidFill>
                <a:latin typeface="Arial"/>
              </a:rPr>
              <a:t>4 connected Microsoft 365 tasks, 60 minutes.</a:t>
            </a:r>
          </a:p>
        </p:txBody>
      </p:sp>
      <p:sp>
        <p:nvSpPr>
          <p:cNvPr id="17" name="Rounded Rectangle 16"/>
          <p:cNvSpPr/>
          <p:nvPr/>
        </p:nvSpPr>
        <p:spPr>
          <a:xfrm>
            <a:off x="77724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3307080"/>
            <a:ext cx="82296" cy="1322832"/>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3712464"/>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3398520"/>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Open book</a:t>
            </a:r>
          </a:p>
          <a:p>
            <a:pPr algn="l">
              <a:spcAft>
                <a:spcPts val="300"/>
              </a:spcAft>
            </a:pPr>
            <a:r>
              <a:rPr sz="1100" b="0">
                <a:solidFill>
                  <a:srgbClr val="5B6372"/>
                </a:solidFill>
                <a:latin typeface="Arial"/>
              </a:rPr>
              <a:t>slides, Learner Guide and approved materials.</a:t>
            </a:r>
          </a:p>
        </p:txBody>
      </p:sp>
      <p:sp>
        <p:nvSpPr>
          <p:cNvPr id="22" name="Rounded Rectangle 21"/>
          <p:cNvSpPr/>
          <p:nvPr/>
        </p:nvSpPr>
        <p:spPr>
          <a:xfrm>
            <a:off x="6240780" y="3307080"/>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3307080"/>
            <a:ext cx="82296" cy="1322832"/>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3712464"/>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3712464"/>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3398520"/>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Attendance</a:t>
            </a:r>
          </a:p>
          <a:p>
            <a:pPr algn="l">
              <a:spcAft>
                <a:spcPts val="300"/>
              </a:spcAft>
            </a:pPr>
            <a:r>
              <a:rPr sz="1100" b="0">
                <a:solidFill>
                  <a:srgbClr val="5B6372"/>
                </a:solidFill>
                <a:latin typeface="Arial"/>
              </a:rPr>
              <a:t>Complete assessment digital attendance before starting.</a:t>
            </a:r>
          </a:p>
        </p:txBody>
      </p:sp>
      <p:sp>
        <p:nvSpPr>
          <p:cNvPr id="27" name="Rounded Rectangle 26"/>
          <p:cNvSpPr/>
          <p:nvPr/>
        </p:nvSpPr>
        <p:spPr>
          <a:xfrm>
            <a:off x="777240" y="4849368"/>
            <a:ext cx="5189220" cy="1322832"/>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777240" y="4849368"/>
            <a:ext cx="82296" cy="1322832"/>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Oval 28"/>
          <p:cNvSpPr/>
          <p:nvPr/>
        </p:nvSpPr>
        <p:spPr>
          <a:xfrm>
            <a:off x="1014984" y="5254752"/>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14984" y="5254752"/>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5</a:t>
            </a:r>
          </a:p>
        </p:txBody>
      </p:sp>
      <p:sp>
        <p:nvSpPr>
          <p:cNvPr id="31" name="TextBox 30"/>
          <p:cNvSpPr txBox="1"/>
          <p:nvPr/>
        </p:nvSpPr>
        <p:spPr>
          <a:xfrm>
            <a:off x="1709928" y="4940808"/>
            <a:ext cx="4046220" cy="1176528"/>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Submission</a:t>
            </a:r>
          </a:p>
          <a:p>
            <a:pPr algn="l">
              <a:spcAft>
                <a:spcPts val="300"/>
              </a:spcAft>
            </a:pPr>
            <a:r>
              <a:rPr sz="1100" b="0">
                <a:solidFill>
                  <a:srgbClr val="5B6372"/>
                </a:solidFill>
                <a:latin typeface="Arial"/>
              </a:rPr>
              <a:t>Upload only your own completed papers and evidence.</a:t>
            </a:r>
          </a:p>
        </p:txBody>
      </p:sp>
      <p:sp>
        <p:nvSpPr>
          <p:cNvPr id="32" name="TextBox 31"/>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3" name="TextBox 32"/>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4" name="TextBox 33"/>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146</a:t>
            </a:r>
          </a:p>
        </p:txBody>
      </p:sp>
    </p:spTree>
  </p:cSld>
  <p:clrMapOvr>
    <a:masterClrMapping/>
  </p:clrMapOvr>
  <p:transition spd="slow">
    <p:fade/>
  </p:transition>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ON ASSESSMENT DAY</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Assessment Flow</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385316"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385316"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1</a:t>
            </a:r>
          </a:p>
        </p:txBody>
      </p:sp>
      <p:sp>
        <p:nvSpPr>
          <p:cNvPr id="11" name="TextBox 10"/>
          <p:cNvSpPr txBox="1"/>
          <p:nvPr/>
        </p:nvSpPr>
        <p:spPr>
          <a:xfrm>
            <a:off x="905256"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TRAQOM digital attendance</a:t>
            </a:r>
          </a:p>
        </p:txBody>
      </p:sp>
      <p:sp>
        <p:nvSpPr>
          <p:cNvPr id="12" name="TextBox 11"/>
          <p:cNvSpPr txBox="1"/>
          <p:nvPr/>
        </p:nvSpPr>
        <p:spPr>
          <a:xfrm>
            <a:off x="2688336"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3" name="Rounded Rectangle 12"/>
          <p:cNvSpPr/>
          <p:nvPr/>
        </p:nvSpPr>
        <p:spPr>
          <a:xfrm>
            <a:off x="2962656"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2962656"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3570732"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70732"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2</a:t>
            </a:r>
          </a:p>
        </p:txBody>
      </p:sp>
      <p:sp>
        <p:nvSpPr>
          <p:cNvPr id="17" name="TextBox 16"/>
          <p:cNvSpPr txBox="1"/>
          <p:nvPr/>
        </p:nvSpPr>
        <p:spPr>
          <a:xfrm>
            <a:off x="3090672"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Assessment digital attendance</a:t>
            </a:r>
          </a:p>
        </p:txBody>
      </p:sp>
      <p:sp>
        <p:nvSpPr>
          <p:cNvPr id="18" name="TextBox 17"/>
          <p:cNvSpPr txBox="1"/>
          <p:nvPr/>
        </p:nvSpPr>
        <p:spPr>
          <a:xfrm>
            <a:off x="4873752"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19" name="Rounded Rectangle 18"/>
          <p:cNvSpPr/>
          <p:nvPr/>
        </p:nvSpPr>
        <p:spPr>
          <a:xfrm>
            <a:off x="5148072"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148072"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5756148"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756148"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3</a:t>
            </a:r>
          </a:p>
        </p:txBody>
      </p:sp>
      <p:sp>
        <p:nvSpPr>
          <p:cNvPr id="23" name="TextBox 22"/>
          <p:cNvSpPr txBox="1"/>
          <p:nvPr/>
        </p:nvSpPr>
        <p:spPr>
          <a:xfrm>
            <a:off x="5276088"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Sit WA then PP</a:t>
            </a:r>
          </a:p>
        </p:txBody>
      </p:sp>
      <p:sp>
        <p:nvSpPr>
          <p:cNvPr id="24" name="TextBox 23"/>
          <p:cNvSpPr txBox="1"/>
          <p:nvPr/>
        </p:nvSpPr>
        <p:spPr>
          <a:xfrm>
            <a:off x="7059168"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25" name="Rounded Rectangle 24"/>
          <p:cNvSpPr/>
          <p:nvPr/>
        </p:nvSpPr>
        <p:spPr>
          <a:xfrm>
            <a:off x="7333488"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7333488"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7941564"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941564"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4</a:t>
            </a:r>
          </a:p>
        </p:txBody>
      </p:sp>
      <p:sp>
        <p:nvSpPr>
          <p:cNvPr id="29" name="TextBox 28"/>
          <p:cNvSpPr txBox="1"/>
          <p:nvPr/>
        </p:nvSpPr>
        <p:spPr>
          <a:xfrm>
            <a:off x="7461504"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Submit on the LMS</a:t>
            </a:r>
          </a:p>
        </p:txBody>
      </p:sp>
      <p:sp>
        <p:nvSpPr>
          <p:cNvPr id="30" name="TextBox 29"/>
          <p:cNvSpPr txBox="1"/>
          <p:nvPr/>
        </p:nvSpPr>
        <p:spPr>
          <a:xfrm>
            <a:off x="9244584" y="3419856"/>
            <a:ext cx="274320" cy="457200"/>
          </a:xfrm>
          <a:prstGeom prst="rect">
            <a:avLst/>
          </a:prstGeom>
          <a:noFill/>
        </p:spPr>
        <p:txBody>
          <a:bodyPr wrap="square" anchor="t" lIns="54864" rIns="54864" tIns="54864" bIns="54864">
            <a:spAutoFit/>
          </a:bodyPr>
          <a:lstStyle/>
          <a:p>
            <a:pPr algn="ctr">
              <a:spcAft>
                <a:spcPts val="300"/>
              </a:spcAft>
            </a:pPr>
            <a:r>
              <a:rPr sz="2200" b="1">
                <a:solidFill>
                  <a:srgbClr val="1F6FEB"/>
                </a:solidFill>
                <a:latin typeface="Arial"/>
              </a:rPr>
              <a:t>›</a:t>
            </a:r>
          </a:p>
        </p:txBody>
      </p:sp>
      <p:sp>
        <p:nvSpPr>
          <p:cNvPr id="31" name="Rounded Rectangle 30"/>
          <p:cNvSpPr/>
          <p:nvPr/>
        </p:nvSpPr>
        <p:spPr>
          <a:xfrm>
            <a:off x="9518904" y="2176272"/>
            <a:ext cx="1911096" cy="2971800"/>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9518904" y="2176272"/>
            <a:ext cx="1911096" cy="9144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10126980" y="2578608"/>
            <a:ext cx="694944" cy="69494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0126980" y="2578608"/>
            <a:ext cx="694944" cy="694944"/>
          </a:xfrm>
          <a:prstGeom prst="rect">
            <a:avLst/>
          </a:prstGeom>
          <a:noFill/>
        </p:spPr>
        <p:txBody>
          <a:bodyPr wrap="square" anchor="ctr" lIns="54864" rIns="54864" tIns="54864" bIns="54864">
            <a:spAutoFit/>
          </a:bodyPr>
          <a:lstStyle/>
          <a:p>
            <a:pPr algn="ctr">
              <a:spcAft>
                <a:spcPts val="300"/>
              </a:spcAft>
            </a:pPr>
            <a:r>
              <a:rPr sz="2200" b="1">
                <a:solidFill>
                  <a:srgbClr val="FFFFFF"/>
                </a:solidFill>
                <a:latin typeface="Arial"/>
              </a:rPr>
              <a:t>5</a:t>
            </a:r>
          </a:p>
        </p:txBody>
      </p:sp>
      <p:sp>
        <p:nvSpPr>
          <p:cNvPr id="35" name="TextBox 34"/>
          <p:cNvSpPr txBox="1"/>
          <p:nvPr/>
        </p:nvSpPr>
        <p:spPr>
          <a:xfrm>
            <a:off x="9646920" y="3547872"/>
            <a:ext cx="1655064" cy="1261872"/>
          </a:xfrm>
          <a:prstGeom prst="rect">
            <a:avLst/>
          </a:prstGeom>
          <a:noFill/>
        </p:spPr>
        <p:txBody>
          <a:bodyPr wrap="square" anchor="ctr" lIns="54864" rIns="54864" tIns="54864" bIns="54864">
            <a:spAutoFit/>
          </a:bodyPr>
          <a:lstStyle/>
          <a:p>
            <a:pPr algn="ctr">
              <a:spcAft>
                <a:spcPts val="300"/>
              </a:spcAft>
            </a:pPr>
            <a:r>
              <a:rPr sz="1200" b="0">
                <a:solidFill>
                  <a:srgbClr val="161B26"/>
                </a:solidFill>
                <a:latin typeface="Arial"/>
              </a:rPr>
              <a:t>Sign Assessment Summary Record</a:t>
            </a:r>
          </a:p>
        </p:txBody>
      </p:sp>
      <p:sp>
        <p:nvSpPr>
          <p:cNvPr id="36" name="TextBox 35"/>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37" name="TextBox 36"/>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38" name="TextBox 37"/>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147</a:t>
            </a:r>
          </a:p>
        </p:txBody>
      </p:sp>
    </p:spTree>
  </p:cSld>
  <p:clrMapOvr>
    <a:masterClrMapping/>
  </p:clrMapOvr>
  <p:transition spd="slow">
    <p:fade/>
  </p:transition>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28600" cy="1417320"/>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77240" y="365760"/>
            <a:ext cx="10515600" cy="292608"/>
          </a:xfrm>
          <a:prstGeom prst="rect">
            <a:avLst/>
          </a:prstGeom>
          <a:noFill/>
        </p:spPr>
        <p:txBody>
          <a:bodyPr wrap="square" anchor="t" lIns="54864" rIns="54864" tIns="54864" bIns="54864">
            <a:spAutoFit/>
          </a:bodyPr>
          <a:lstStyle/>
          <a:p>
            <a:pPr algn="l">
              <a:spcAft>
                <a:spcPts val="300"/>
              </a:spcAft>
            </a:pPr>
            <a:r>
              <a:rPr sz="1200" b="1">
                <a:solidFill>
                  <a:srgbClr val="1F6FEB"/>
                </a:solidFill>
                <a:latin typeface="Arial"/>
              </a:rPr>
              <a:t>TRAQOM · SSG</a:t>
            </a:r>
          </a:p>
        </p:txBody>
      </p:sp>
      <p:sp>
        <p:nvSpPr>
          <p:cNvPr id="5" name="TextBox 4"/>
          <p:cNvSpPr txBox="1"/>
          <p:nvPr/>
        </p:nvSpPr>
        <p:spPr>
          <a:xfrm>
            <a:off x="777240" y="694944"/>
            <a:ext cx="10698480" cy="694944"/>
          </a:xfrm>
          <a:prstGeom prst="rect">
            <a:avLst/>
          </a:prstGeom>
          <a:noFill/>
        </p:spPr>
        <p:txBody>
          <a:bodyPr wrap="square" anchor="ctr" lIns="54864" rIns="54864" tIns="54864" bIns="54864">
            <a:spAutoFit/>
          </a:bodyPr>
          <a:lstStyle/>
          <a:p>
            <a:pPr algn="l">
              <a:spcAft>
                <a:spcPts val="300"/>
              </a:spcAft>
            </a:pPr>
            <a:r>
              <a:rPr sz="2800" b="1">
                <a:solidFill>
                  <a:srgbClr val="161B26"/>
                </a:solidFill>
                <a:latin typeface="Arial"/>
              </a:rPr>
              <a:t>Digital Attendance (Mandatory)</a:t>
            </a:r>
          </a:p>
        </p:txBody>
      </p:sp>
      <p:sp>
        <p:nvSpPr>
          <p:cNvPr id="6" name="Rectangle 5"/>
          <p:cNvSpPr/>
          <p:nvPr/>
        </p:nvSpPr>
        <p:spPr>
          <a:xfrm>
            <a:off x="777240" y="1517904"/>
            <a:ext cx="10652760" cy="12700"/>
          </a:xfrm>
          <a:prstGeom prst="rect">
            <a:avLst/>
          </a:prstGeom>
          <a:solidFill>
            <a:srgbClr val="E2E8F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77724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77240" y="1764792"/>
            <a:ext cx="82296" cy="2093976"/>
          </a:xfrm>
          <a:prstGeom prst="rect">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014984" y="2555748"/>
            <a:ext cx="512064" cy="512064"/>
          </a:xfrm>
          <a:prstGeom prst="ellipse">
            <a:avLst/>
          </a:prstGeom>
          <a:solidFill>
            <a:srgbClr val="1F6F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1498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1</a:t>
            </a:r>
          </a:p>
        </p:txBody>
      </p:sp>
      <p:sp>
        <p:nvSpPr>
          <p:cNvPr id="11" name="TextBox 10"/>
          <p:cNvSpPr txBox="1"/>
          <p:nvPr/>
        </p:nvSpPr>
        <p:spPr>
          <a:xfrm>
            <a:off x="170992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Assessment attendance</a:t>
            </a:r>
          </a:p>
          <a:p>
            <a:pPr algn="l">
              <a:spcAft>
                <a:spcPts val="300"/>
              </a:spcAft>
            </a:pPr>
            <a:r>
              <a:rPr sz="1100" b="0">
                <a:solidFill>
                  <a:srgbClr val="5B6372"/>
                </a:solidFill>
                <a:latin typeface="Arial"/>
              </a:rPr>
              <a:t>Scan the SSG QR code before the papers.</a:t>
            </a:r>
          </a:p>
        </p:txBody>
      </p:sp>
      <p:sp>
        <p:nvSpPr>
          <p:cNvPr id="12" name="Rounded Rectangle 11"/>
          <p:cNvSpPr/>
          <p:nvPr/>
        </p:nvSpPr>
        <p:spPr>
          <a:xfrm>
            <a:off x="6240780" y="1764792"/>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40780" y="1764792"/>
            <a:ext cx="82296" cy="2093976"/>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78524" y="2555748"/>
            <a:ext cx="512064" cy="512064"/>
          </a:xfrm>
          <a:prstGeom prst="ellipse">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8524" y="2555748"/>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2</a:t>
            </a:r>
          </a:p>
        </p:txBody>
      </p:sp>
      <p:sp>
        <p:nvSpPr>
          <p:cNvPr id="16" name="TextBox 15"/>
          <p:cNvSpPr txBox="1"/>
          <p:nvPr/>
        </p:nvSpPr>
        <p:spPr>
          <a:xfrm>
            <a:off x="7173468" y="1856232"/>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Training attendance</a:t>
            </a:r>
          </a:p>
          <a:p>
            <a:pPr algn="l">
              <a:spcAft>
                <a:spcPts val="300"/>
              </a:spcAft>
            </a:pPr>
            <a:r>
              <a:rPr sz="1100" b="0">
                <a:solidFill>
                  <a:srgbClr val="5B6372"/>
                </a:solidFill>
                <a:latin typeface="Arial"/>
              </a:rPr>
              <a:t>Confirm AM and PM records for both days.</a:t>
            </a:r>
          </a:p>
        </p:txBody>
      </p:sp>
      <p:sp>
        <p:nvSpPr>
          <p:cNvPr id="17" name="Rounded Rectangle 16"/>
          <p:cNvSpPr/>
          <p:nvPr/>
        </p:nvSpPr>
        <p:spPr>
          <a:xfrm>
            <a:off x="77724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240" y="4078224"/>
            <a:ext cx="82296" cy="20939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1014984" y="4869180"/>
            <a:ext cx="512064" cy="512064"/>
          </a:xfrm>
          <a:prstGeom prst="ellipse">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1498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3</a:t>
            </a:r>
          </a:p>
        </p:txBody>
      </p:sp>
      <p:sp>
        <p:nvSpPr>
          <p:cNvPr id="21" name="TextBox 20"/>
          <p:cNvSpPr txBox="1"/>
          <p:nvPr/>
        </p:nvSpPr>
        <p:spPr>
          <a:xfrm>
            <a:off x="170992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Minimum attendance</a:t>
            </a:r>
          </a:p>
          <a:p>
            <a:pPr algn="l">
              <a:spcAft>
                <a:spcPts val="300"/>
              </a:spcAft>
            </a:pPr>
            <a:r>
              <a:rPr sz="1100" b="0">
                <a:solidFill>
                  <a:srgbClr val="5B6372"/>
                </a:solidFill>
                <a:latin typeface="Arial"/>
              </a:rPr>
              <a:t>At least 75% is required.</a:t>
            </a:r>
          </a:p>
        </p:txBody>
      </p:sp>
      <p:sp>
        <p:nvSpPr>
          <p:cNvPr id="22" name="Rounded Rectangle 21"/>
          <p:cNvSpPr/>
          <p:nvPr/>
        </p:nvSpPr>
        <p:spPr>
          <a:xfrm>
            <a:off x="6240780" y="4078224"/>
            <a:ext cx="5189220" cy="2093976"/>
          </a:xfrm>
          <a:prstGeom prst="roundRect">
            <a:avLst/>
          </a:prstGeom>
          <a:solidFill>
            <a:srgbClr val="F5F8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240780" y="4078224"/>
            <a:ext cx="82296" cy="2093976"/>
          </a:xfrm>
          <a:prstGeom prst="rect">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Oval 23"/>
          <p:cNvSpPr/>
          <p:nvPr/>
        </p:nvSpPr>
        <p:spPr>
          <a:xfrm>
            <a:off x="6478524" y="4869180"/>
            <a:ext cx="512064" cy="512064"/>
          </a:xfrm>
          <a:prstGeom prst="ellipse">
            <a:avLst/>
          </a:prstGeom>
          <a:solidFill>
            <a:srgbClr val="F59E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78524" y="4869180"/>
            <a:ext cx="512064" cy="512064"/>
          </a:xfrm>
          <a:prstGeom prst="rect">
            <a:avLst/>
          </a:prstGeom>
          <a:noFill/>
        </p:spPr>
        <p:txBody>
          <a:bodyPr wrap="square" anchor="ctr" lIns="54864" rIns="54864" tIns="54864" bIns="54864">
            <a:spAutoFit/>
          </a:bodyPr>
          <a:lstStyle/>
          <a:p>
            <a:pPr algn="ctr">
              <a:spcAft>
                <a:spcPts val="300"/>
              </a:spcAft>
            </a:pPr>
            <a:r>
              <a:rPr sz="1600" b="1">
                <a:solidFill>
                  <a:srgbClr val="FFFFFF"/>
                </a:solidFill>
                <a:latin typeface="Arial"/>
              </a:rPr>
              <a:t>4</a:t>
            </a:r>
          </a:p>
        </p:txBody>
      </p:sp>
      <p:sp>
        <p:nvSpPr>
          <p:cNvPr id="26" name="TextBox 25"/>
          <p:cNvSpPr txBox="1"/>
          <p:nvPr/>
        </p:nvSpPr>
        <p:spPr>
          <a:xfrm>
            <a:off x="7173468" y="4169664"/>
            <a:ext cx="4046220" cy="1947672"/>
          </a:xfrm>
          <a:prstGeom prst="rect">
            <a:avLst/>
          </a:prstGeom>
          <a:noFill/>
        </p:spPr>
        <p:txBody>
          <a:bodyPr wrap="square" anchor="ctr" lIns="54864" rIns="54864" tIns="54864" bIns="54864">
            <a:spAutoFit/>
          </a:bodyPr>
          <a:lstStyle/>
          <a:p>
            <a:pPr algn="l">
              <a:spcAft>
                <a:spcPts val="300"/>
              </a:spcAft>
            </a:pPr>
            <a:r>
              <a:rPr sz="1400" b="1">
                <a:solidFill>
                  <a:srgbClr val="161B26"/>
                </a:solidFill>
                <a:latin typeface="Arial"/>
              </a:rPr>
              <a:t>Ask for help</a:t>
            </a:r>
          </a:p>
          <a:p>
            <a:pPr algn="l">
              <a:spcAft>
                <a:spcPts val="300"/>
              </a:spcAft>
            </a:pPr>
            <a:r>
              <a:rPr sz="1100" b="0">
                <a:solidFill>
                  <a:srgbClr val="5B6372"/>
                </a:solidFill>
                <a:latin typeface="Arial"/>
              </a:rPr>
              <a:t>Tell the trainer immediately if submission fails.</a:t>
            </a:r>
          </a:p>
        </p:txBody>
      </p:sp>
      <p:sp>
        <p:nvSpPr>
          <p:cNvPr id="27" name="TextBox 2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28" name="TextBox 2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29" name="TextBox 2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148</a:t>
            </a:r>
          </a:p>
        </p:txBody>
      </p:sp>
    </p:spTree>
  </p:cSld>
  <p:clrMapOvr>
    <a:masterClrMapping/>
  </p:clrMapOvr>
  <p:transition spd="slow">
    <p:fade/>
  </p:transition>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56032" cy="6858000"/>
          </a:xfrm>
          <a:prstGeom prst="rect">
            <a:avLst/>
          </a:prstGeom>
          <a:solidFill>
            <a:srgbClr val="10B98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87552" y="1874519"/>
            <a:ext cx="10241280" cy="320040"/>
          </a:xfrm>
          <a:prstGeom prst="rect">
            <a:avLst/>
          </a:prstGeom>
          <a:noFill/>
        </p:spPr>
        <p:txBody>
          <a:bodyPr wrap="square" anchor="t" lIns="54864" rIns="54864" tIns="54864" bIns="54864">
            <a:spAutoFit/>
          </a:bodyPr>
          <a:lstStyle/>
          <a:p>
            <a:pPr algn="l">
              <a:spcAft>
                <a:spcPts val="300"/>
              </a:spcAft>
            </a:pPr>
            <a:r>
              <a:rPr sz="1300" b="1">
                <a:solidFill>
                  <a:srgbClr val="10B981"/>
                </a:solidFill>
                <a:latin typeface="Arial"/>
              </a:rPr>
              <a:t>THANK YOU</a:t>
            </a:r>
          </a:p>
        </p:txBody>
      </p:sp>
      <p:sp>
        <p:nvSpPr>
          <p:cNvPr id="5" name="TextBox 4"/>
          <p:cNvSpPr txBox="1"/>
          <p:nvPr/>
        </p:nvSpPr>
        <p:spPr>
          <a:xfrm>
            <a:off x="987552" y="2377440"/>
            <a:ext cx="10241280" cy="1600200"/>
          </a:xfrm>
          <a:prstGeom prst="rect">
            <a:avLst/>
          </a:prstGeom>
          <a:noFill/>
        </p:spPr>
        <p:txBody>
          <a:bodyPr wrap="square" anchor="ctr" lIns="54864" rIns="54864" tIns="54864" bIns="54864">
            <a:spAutoFit/>
          </a:bodyPr>
          <a:lstStyle/>
          <a:p>
            <a:pPr algn="l">
              <a:spcAft>
                <a:spcPts val="300"/>
              </a:spcAft>
            </a:pPr>
            <a:r>
              <a:rPr sz="3600" b="1">
                <a:solidFill>
                  <a:srgbClr val="161B26"/>
                </a:solidFill>
                <a:latin typeface="Arial"/>
              </a:rPr>
              <a:t>Copilot accelerates work only when evidence and control travel with it.</a:t>
            </a:r>
          </a:p>
        </p:txBody>
      </p:sp>
      <p:sp>
        <p:nvSpPr>
          <p:cNvPr id="6" name="TextBox 5"/>
          <p:cNvSpPr txBox="1"/>
          <p:nvPr/>
        </p:nvSpPr>
        <p:spPr>
          <a:xfrm>
            <a:off x="1005840" y="4224528"/>
            <a:ext cx="9966960" cy="914400"/>
          </a:xfrm>
          <a:prstGeom prst="rect">
            <a:avLst/>
          </a:prstGeom>
          <a:noFill/>
        </p:spPr>
        <p:txBody>
          <a:bodyPr wrap="square" anchor="t" lIns="54864" rIns="54864" tIns="54864" bIns="54864">
            <a:spAutoFit/>
          </a:bodyPr>
          <a:lstStyle/>
          <a:p>
            <a:pPr algn="l">
              <a:spcAft>
                <a:spcPts val="300"/>
              </a:spcAft>
            </a:pPr>
            <a:r>
              <a:rPr sz="1800" b="0">
                <a:solidFill>
                  <a:srgbClr val="5B6372"/>
                </a:solidFill>
                <a:latin typeface="Arial"/>
              </a:rPr>
              <a:t>Ground, verify, approve and monitor every workflow—from first prompt to governed agent pipeline.</a:t>
            </a:r>
          </a:p>
        </p:txBody>
      </p:sp>
      <p:sp>
        <p:nvSpPr>
          <p:cNvPr id="7" name="TextBox 6"/>
          <p:cNvSpPr txBox="1"/>
          <p:nvPr/>
        </p:nvSpPr>
        <p:spPr>
          <a:xfrm>
            <a:off x="411480" y="6473952"/>
            <a:ext cx="5303520" cy="219456"/>
          </a:xfrm>
          <a:prstGeom prst="rect">
            <a:avLst/>
          </a:prstGeom>
          <a:noFill/>
        </p:spPr>
        <p:txBody>
          <a:bodyPr wrap="square" anchor="t" lIns="54864" rIns="54864" tIns="54864" bIns="54864">
            <a:spAutoFit/>
          </a:bodyPr>
          <a:lstStyle/>
          <a:p>
            <a:pPr algn="l">
              <a:spcAft>
                <a:spcPts val="300"/>
              </a:spcAft>
            </a:pPr>
            <a:r>
              <a:rPr sz="800" b="0">
                <a:solidFill>
                  <a:srgbClr val="5B6372"/>
                </a:solidFill>
                <a:latin typeface="Arial"/>
              </a:rPr>
              <a:t>Enhance Work Productivity with Microsoft 365 Copilot · TGS-2024043856</a:t>
            </a:r>
          </a:p>
        </p:txBody>
      </p:sp>
      <p:sp>
        <p:nvSpPr>
          <p:cNvPr id="8" name="TextBox 7"/>
          <p:cNvSpPr txBox="1"/>
          <p:nvPr/>
        </p:nvSpPr>
        <p:spPr>
          <a:xfrm>
            <a:off x="4480560" y="6473952"/>
            <a:ext cx="3474720" cy="219456"/>
          </a:xfrm>
          <a:prstGeom prst="rect">
            <a:avLst/>
          </a:prstGeom>
          <a:noFill/>
        </p:spPr>
        <p:txBody>
          <a:bodyPr wrap="square" anchor="t" lIns="54864" rIns="54864" tIns="54864" bIns="54864">
            <a:spAutoFit/>
          </a:bodyPr>
          <a:lstStyle/>
          <a:p>
            <a:pPr algn="ctr">
              <a:spcAft>
                <a:spcPts val="300"/>
              </a:spcAft>
            </a:pPr>
            <a:r>
              <a:rPr sz="800" b="0">
                <a:solidFill>
                  <a:srgbClr val="5B6372"/>
                </a:solidFill>
                <a:latin typeface="Arial"/>
              </a:rPr>
              <a:t>© 2026 Tertiary Infotech Academy Pte Ltd</a:t>
            </a:r>
          </a:p>
        </p:txBody>
      </p:sp>
      <p:sp>
        <p:nvSpPr>
          <p:cNvPr id="9" name="TextBox 8"/>
          <p:cNvSpPr txBox="1"/>
          <p:nvPr/>
        </p:nvSpPr>
        <p:spPr>
          <a:xfrm>
            <a:off x="11292840" y="6473952"/>
            <a:ext cx="457200" cy="219456"/>
          </a:xfrm>
          <a:prstGeom prst="rect">
            <a:avLst/>
          </a:prstGeom>
          <a:noFill/>
        </p:spPr>
        <p:txBody>
          <a:bodyPr wrap="square" anchor="t" lIns="54864" rIns="54864" tIns="54864" bIns="54864">
            <a:spAutoFit/>
          </a:bodyPr>
          <a:lstStyle/>
          <a:p>
            <a:pPr algn="r">
              <a:spcAft>
                <a:spcPts val="300"/>
              </a:spcAft>
            </a:pPr>
            <a:r>
              <a:rPr sz="800" b="0">
                <a:solidFill>
                  <a:srgbClr val="5B6372"/>
                </a:solidFill>
                <a:latin typeface="Arial"/>
              </a:rPr>
              <a:t>149</a:t>
            </a:r>
          </a:p>
        </p:txBody>
      </p:sp>
    </p:spTree>
  </p:cSld>
  <p:clrMapOvr>
    <a:masterClrMapping/>
  </p:clrMapOvr>
  <p:transition spd="slow">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