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Descending overdue counts</c:v>
                </c:pt>
              </c:strCache>
            </c:strRef>
          </c:tx>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18</c:v>
                </c:pt>
                <c:pt idx="1">
                  <c:v>12</c:v>
                </c:pt>
                <c:pt idx="2">
                  <c:v>8</c:v>
                </c:pt>
                <c:pt idx="3">
                  <c:v>8</c:v>
                </c:pt>
                <c:pt idx="4">
                  <c:v>4</c:v>
                </c:pt>
              </c:numCache>
            </c:numRef>
          </c:val>
        </c:ser>
        <c:dLbls>
          <c:txPr>
            <a:bodyPr/>
            <a:lstStyle/>
            <a:p>
              <a:pPr>
                <a:defRPr sz="12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share (%)</c:v>
                </c:pt>
              </c:strCache>
            </c:strRef>
          </c:tx>
          <c:marker>
            <c:symbol val="none"/>
          </c:marker>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36</c:v>
                </c:pt>
                <c:pt idx="1">
                  <c:v>60</c:v>
                </c:pt>
                <c:pt idx="2">
                  <c:v>76</c:v>
                </c:pt>
                <c:pt idx="3">
                  <c:v>92</c:v>
                </c:pt>
                <c:pt idx="4">
                  <c:v>100</c:v>
                </c:pt>
              </c:numCache>
            </c:numRef>
          </c:val>
          <c:smooth val="0"/>
        </c:ser>
        <c:dLbls>
          <c:txPr>
            <a:bodyPr/>
            <a:lstStyle/>
            <a:p>
              <a:pPr>
                <a:defRPr sz="12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12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c:v>
                </c:pt>
              </c:strCache>
            </c:strRef>
          </c:tx>
          <c:spPr>
            <a:solidFill>
              <a:srgbClr val="3A7D7B"/>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txPr>
            <a:bodyPr/>
            <a:lstStyle/>
            <a:p>
              <a:pPr>
                <a:defRPr sz="16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10561320" y="411480"/>
            <a:ext cx="777240" cy="777240"/>
          </a:xfrm>
          <a:prstGeom prst="rect">
            <a:avLst/>
          </a:prstGeom>
        </p:spPr>
      </p:pic>
      <p:sp>
        <p:nvSpPr>
          <p:cNvPr id="6" name="TextBox 5"/>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WSQ Course Code: TGS-2024043856</a:t>
            </a:r>
          </a:p>
        </p:txBody>
      </p:sp>
      <p:sp>
        <p:nvSpPr>
          <p:cNvPr id="7" name="TextBox 6"/>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v9.1  ·  18 October 2026</a:t>
            </a:r>
          </a:p>
        </p:txBody>
      </p:sp>
      <p:sp>
        <p:nvSpPr>
          <p:cNvPr id="8" name="TextBox 7"/>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Enhance Work Productivity with Microsoft 365 Copilot</a:t>
            </a:r>
          </a:p>
        </p:txBody>
      </p:sp>
      <p:sp>
        <p:nvSpPr>
          <p:cNvPr id="9" name="TextBox 8"/>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10" name="TextBox 9"/>
          <p:cNvSpPr txBox="1"/>
          <p:nvPr/>
        </p:nvSpPr>
        <p:spPr>
          <a:xfrm>
            <a:off x="822960" y="6099048"/>
            <a:ext cx="10515600" cy="256032"/>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 survey</a:t>
            </a:r>
          </a:p>
          <a:p>
            <a:pPr algn="l">
              <a:spcAft>
                <a:spcPts val="300"/>
              </a:spcAft>
            </a:pPr>
            <a:r>
              <a:rPr sz="1300" b="0">
                <a:solidFill>
                  <a:srgbClr val="6B6862"/>
                </a:solidFill>
                <a:latin typeface="Calibri"/>
              </a:rPr>
              <a:t>Complete the SSG Training Quality and Outcome Measurement survey when instructed.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a:t>
            </a:r>
          </a:p>
          <a:p>
            <a:pPr algn="l">
              <a:spcAft>
                <a:spcPts val="300"/>
              </a:spcAft>
            </a:pPr>
            <a:r>
              <a:rPr sz="1300" b="0">
                <a:solidFill>
                  <a:srgbClr val="6B6862"/>
                </a:solidFill>
                <a:latin typeface="Calibri"/>
              </a:rPr>
              <a:t>Complete the separate assessment attendance before the papers.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Scan</a:t>
            </a:r>
          </a:p>
          <a:p>
            <a:pPr algn="l">
              <a:spcAft>
                <a:spcPts val="300"/>
              </a:spcAft>
            </a:pPr>
            <a:r>
              <a:rPr sz="1300" b="0">
                <a:solidFill>
                  <a:srgbClr val="6B6862"/>
                </a:solidFill>
                <a:latin typeface="Calibri"/>
              </a:rPr>
              <a:t>Use the QR code shown by the trainer or administrator.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Maintain at least 75% attendance and achieve a Competent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GENERAL TRAINER TEMPLATE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D97757"/>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Your Trainer</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Complete before class</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NAME</a:t>
            </a:r>
          </a:p>
          <a:p>
            <a:pPr algn="l">
              <a:spcAft>
                <a:spcPts val="300"/>
              </a:spcAft>
            </a:pPr>
            <a:r>
              <a:rPr sz="1300" b="0">
                <a:solidFill>
                  <a:srgbClr val="DCD8CF"/>
                </a:solidFill>
                <a:latin typeface="Calibri"/>
              </a:rPr>
              <a:t>____________________________________________</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TITLE / DESIGNATION</a:t>
            </a:r>
          </a:p>
          <a:p>
            <a:pPr algn="l">
              <a:spcAft>
                <a:spcPts val="300"/>
              </a:spcAft>
            </a:pPr>
            <a:r>
              <a:rPr sz="1300" b="0">
                <a:solidFill>
                  <a:srgbClr val="DCD8CF"/>
                </a:solidFill>
                <a:latin typeface="Calibri"/>
              </a:rPr>
              <a:t>____________________________________________</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QUALIFICATIONS</a:t>
            </a:r>
          </a:p>
          <a:p>
            <a:pPr algn="l">
              <a:spcAft>
                <a:spcPts val="300"/>
              </a:spcAft>
            </a:pPr>
            <a:r>
              <a:rPr sz="1300" b="0">
                <a:solidFill>
                  <a:srgbClr val="DCD8CF"/>
                </a:solidFill>
                <a:latin typeface="Calibri"/>
              </a:rPr>
              <a:t>____________________________________________</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EXPERTISE</a:t>
            </a:r>
          </a:p>
          <a:p>
            <a:pPr algn="l">
              <a:spcAft>
                <a:spcPts val="300"/>
              </a:spcAft>
            </a:pPr>
            <a:r>
              <a:rPr sz="1300" b="0">
                <a:solidFill>
                  <a:srgbClr val="DCD8CF"/>
                </a:solidFill>
                <a:latin typeface="Calibri"/>
              </a:rPr>
              <a:t>____________________________________________</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300" b="0">
                <a:solidFill>
                  <a:srgbClr val="DCD8CF"/>
                </a:solidFill>
                <a:latin typeface="Calibri"/>
              </a:rPr>
              <a:t>____________________________________________</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300" b="0">
                <a:solidFill>
                  <a:srgbClr val="DCD8CF"/>
                </a:solidFill>
                <a:latin typeface="Calibri"/>
              </a:rPr>
              <a:t>____________________________________________</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NAMED TRAINER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3A7D7B"/>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AA</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Dr Alfred Ang</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Principal Trainer · Tertiary Infotech Academy</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ROLE</a:t>
            </a:r>
          </a:p>
          <a:p>
            <a:pPr algn="l">
              <a:spcAft>
                <a:spcPts val="300"/>
              </a:spcAft>
            </a:pPr>
            <a:r>
              <a:rPr sz="1400" b="0">
                <a:solidFill>
                  <a:srgbClr val="21201C"/>
                </a:solidFill>
                <a:latin typeface="Calibri"/>
              </a:rPr>
              <a:t>Principal Trainer and Chief Instructional Designer</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EXPERTISE</a:t>
            </a:r>
          </a:p>
          <a:p>
            <a:pPr algn="l">
              <a:spcAft>
                <a:spcPts val="300"/>
              </a:spcAft>
            </a:pPr>
            <a:r>
              <a:rPr sz="1400" b="0">
                <a:solidFill>
                  <a:srgbClr val="21201C"/>
                </a:solidFill>
                <a:latin typeface="Calibri"/>
              </a:rPr>
              <a:t>Microsoft 365, AI, automation and business productivity</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CERTIFICATION</a:t>
            </a:r>
          </a:p>
          <a:p>
            <a:pPr algn="l">
              <a:spcAft>
                <a:spcPts val="300"/>
              </a:spcAft>
            </a:pPr>
            <a:r>
              <a:rPr sz="1400" b="0">
                <a:solidFill>
                  <a:srgbClr val="21201C"/>
                </a:solidFill>
                <a:latin typeface="Calibri"/>
              </a:rPr>
              <a:t>ACLP-certified adult educator</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DELIVERS</a:t>
            </a:r>
          </a:p>
          <a:p>
            <a:pPr algn="l">
              <a:spcAft>
                <a:spcPts val="300"/>
              </a:spcAft>
            </a:pPr>
            <a:r>
              <a:rPr sz="1400" b="0">
                <a:solidFill>
                  <a:srgbClr val="21201C"/>
                </a:solidFill>
                <a:latin typeface="Calibri"/>
              </a:rPr>
              <a:t>WSQ and professional technology programmes</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400" b="0">
                <a:solidFill>
                  <a:srgbClr val="21201C"/>
                </a:solidFill>
                <a:latin typeface="Calibri"/>
              </a:rPr>
              <a:t>Cross-industry transformation and workforce training</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400" b="0">
                <a:solidFill>
                  <a:srgbClr val="21201C"/>
                </a:solidFill>
                <a:latin typeface="Calibri"/>
              </a:rPr>
              <a:t>enquiry@tertiaryinfotech.com</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role and one HR service reporting task.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app holds the HR-case source?</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date and status definitions determine overdue work?</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Check which Copilot buttons and skills menus are available in your assigned apps.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slides explain concepts and evidence boundaries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Learner Guide contains detailed procedures and troubleshooting</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14 lab folders provide prompts, synthetic data and checkpoints</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Prompt page supports clean copy and paste by app</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outputs in one dated Lumina working folder</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https://www.tertiarycourses.com.sg/wsq-enhance-work-productivity-with-microsoft-365-copilot.html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2 Days, 14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Day 1 — Copilot fundamentals, reusable Skills and controlled transition</a:t>
            </a:r>
          </a:p>
          <a:p>
            <a:pPr>
              <a:spcAft>
                <a:spcPts val="1000"/>
              </a:spcAft>
            </a:pPr>
            <a:r>
              <a:rPr sz="1400" b="0">
                <a:solidFill>
                  <a:srgbClr val="6B6862"/>
                </a:solidFill>
                <a:latin typeface="Calibri"/>
              </a:rPr>
              <a:t>–  Topic 1: Microsoft 365 Copilot Fundamentals (Labs 1–2)</a:t>
            </a:r>
          </a:p>
          <a:p>
            <a:pPr>
              <a:spcAft>
                <a:spcPts val="1000"/>
              </a:spcAft>
            </a:pPr>
            <a:r>
              <a:rPr sz="1400" b="0">
                <a:solidFill>
                  <a:srgbClr val="6B6862"/>
                </a:solidFill>
                <a:latin typeface="Calibri"/>
              </a:rPr>
              <a:t>–  Topic 2: Skills, Rules and Personalisation (Labs 3–6)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Day 2 — Interactive dashboard, professional presentation and Microsoft 365 business agents</a:t>
            </a:r>
          </a:p>
          <a:p>
            <a:pPr>
              <a:spcAft>
                <a:spcPts val="1000"/>
              </a:spcAft>
            </a:pPr>
            <a:r>
              <a:rPr sz="1400" b="0">
                <a:solidFill>
                  <a:srgbClr val="6B6862"/>
                </a:solidFill>
                <a:latin typeface="Calibri"/>
              </a:rPr>
              <a:t>–  Topic 3: Create Interactive Dashboard and Professional Presentation (Labs 7–10)</a:t>
            </a:r>
          </a:p>
          <a:p>
            <a:pPr>
              <a:spcAft>
                <a:spcPts val="1000"/>
              </a:spcAft>
            </a:pPr>
            <a:r>
              <a:rPr sz="1400" b="0">
                <a:solidFill>
                  <a:srgbClr val="6B6862"/>
                </a:solidFill>
                <a:latin typeface="Calibri"/>
              </a:rPr>
              <a:t>–  Topic 4: Create Microsoft 365 Agents for Businesses (Labs 11–14)</a:t>
            </a:r>
          </a:p>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9:00 am - 6:30 pm (1-hour lunch; two 15-minute breaks excluded; 7 instructional hours plus 1 assessment hour)</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Teams and Outlook opportunities</a:t>
            </a:r>
          </a:p>
          <a:p>
            <a:pPr algn="l">
              <a:spcAft>
                <a:spcPts val="300"/>
              </a:spcAft>
            </a:pPr>
            <a:r>
              <a:rPr sz="1300" b="0">
                <a:solidFill>
                  <a:srgbClr val="6B6862"/>
                </a:solidFill>
                <a:latin typeface="Calibri"/>
              </a:rPr>
              <a:t>Evaluate opportunities in using Microsoft Copilot for Teams and Outlook.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Loop and Copilot Studio.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WSQ 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and Assessment Route</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technical mechanism</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and verify it in a connected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WA-SAQ: 60 minutes · K1-K4</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PP: 60 minutes · A1-A4</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Competent outcome + minimum 75% attendance</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DIGITAL TECHNOLOGY ADOPTION AND INNOVATION · ACC-ICT-4004-1.1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Framework Alignment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K1</a:t>
            </a:r>
          </a:p>
          <a:p>
            <a:pPr algn="l">
              <a:spcAft>
                <a:spcPts val="300"/>
              </a:spcAft>
            </a:pPr>
            <a:r>
              <a:rPr sz="1200" b="0">
                <a:solidFill>
                  <a:srgbClr val="6B6862"/>
                </a:solidFill>
                <a:latin typeface="Calibri"/>
              </a:rPr>
              <a:t>Relevant systems and software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K2</a:t>
            </a:r>
          </a:p>
          <a:p>
            <a:pPr algn="l">
              <a:spcAft>
                <a:spcPts val="300"/>
              </a:spcAft>
            </a:pPr>
            <a:r>
              <a:rPr sz="1200" b="0">
                <a:solidFill>
                  <a:srgbClr val="6B6862"/>
                </a:solidFill>
                <a:latin typeface="Calibri"/>
              </a:rPr>
              <a:t>Organisation's processes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K3</a:t>
            </a:r>
          </a:p>
          <a:p>
            <a:pPr algn="l">
              <a:spcAft>
                <a:spcPts val="300"/>
              </a:spcAft>
            </a:pPr>
            <a:r>
              <a:rPr sz="1200" b="0">
                <a:solidFill>
                  <a:srgbClr val="6B6862"/>
                </a:solidFill>
                <a:latin typeface="Calibri"/>
              </a:rPr>
              <a:t>Systems transition process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K4</a:t>
            </a:r>
          </a:p>
          <a:p>
            <a:pPr algn="l">
              <a:spcAft>
                <a:spcPts val="300"/>
              </a:spcAft>
            </a:pPr>
            <a:r>
              <a:rPr sz="1200" b="0">
                <a:solidFill>
                  <a:srgbClr val="6B6862"/>
                </a:solidFill>
                <a:latin typeface="Calibri"/>
              </a:rPr>
              <a:t>Emerging technological trends such as machine learning, artificial intelligence and robotic process automation</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A1–A4</a:t>
            </a:r>
          </a:p>
          <a:p>
            <a:pPr algn="l">
              <a:spcAft>
                <a:spcPts val="300"/>
              </a:spcAft>
            </a:pPr>
            <a:r>
              <a:rPr sz="1200" b="0">
                <a:solidFill>
                  <a:srgbClr val="6B6862"/>
                </a:solidFill>
                <a:latin typeface="Calibri"/>
              </a:rPr>
              <a:t>Transition risks, controlled implementation, opportunity evaluation and staff enablement are practised across 14 labs.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Microsoft 365 Copilot Fundamentals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Grounding, HR-case grain, prompts and verified handoffs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K1 · A1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Microsoft 365 Copilot Fundamentals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Grounding</a:t>
            </a:r>
          </a:p>
          <a:p>
            <a:pPr algn="l">
              <a:spcAft>
                <a:spcPts val="300"/>
              </a:spcAft>
            </a:pPr>
            <a:r>
              <a:rPr sz="1400" b="0">
                <a:solidFill>
                  <a:srgbClr val="6B6862"/>
                </a:solidFill>
                <a:latin typeface="Calibri"/>
              </a:rPr>
              <a:t>Select actual sources in every app.</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HR cases</a:t>
            </a:r>
          </a:p>
          <a:p>
            <a:pPr algn="l">
              <a:spcAft>
                <a:spcPts val="300"/>
              </a:spcAft>
            </a:pPr>
            <a:r>
              <a:rPr sz="1400" b="0">
                <a:solidFill>
                  <a:srgbClr val="6B6862"/>
                </a:solidFill>
                <a:latin typeface="Calibri"/>
              </a:rPr>
              <a:t>Keep IDs, dates, status and current ownership stable.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Prompt contract</a:t>
            </a:r>
          </a:p>
          <a:p>
            <a:pPr algn="l">
              <a:spcAft>
                <a:spcPts val="300"/>
              </a:spcAft>
            </a:pPr>
            <a:r>
              <a:rPr sz="1400" b="0">
                <a:solidFill>
                  <a:srgbClr val="6B6862"/>
                </a:solidFill>
                <a:latin typeface="Calibri"/>
              </a:rPr>
              <a:t>Goal, context, source and expected output.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risk</a:t>
            </a:r>
          </a:p>
          <a:p>
            <a:pPr algn="l">
              <a:spcAft>
                <a:spcPts val="300"/>
              </a:spcAft>
            </a:pPr>
            <a:r>
              <a:rPr sz="1400" b="0">
                <a:solidFill>
                  <a:srgbClr val="6B6862"/>
                </a:solidFill>
                <a:latin typeface="Calibri"/>
              </a:rPr>
              <a:t>Verify licences, permissions, data quality and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Microsoft 365 Copilot Fundamentals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Excel to Word</a:t>
            </a:r>
          </a:p>
          <a:p>
            <a:pPr>
              <a:spcAft>
                <a:spcPts val="900"/>
              </a:spcAft>
            </a:pPr>
            <a:r>
              <a:rPr sz="1200" b="0">
                <a:solidFill>
                  <a:srgbClr val="6B6862"/>
                </a:solidFill>
                <a:latin typeface="Calibri"/>
              </a:rPr>
              <a:t>–  Prepare HR Cases and Draft the HR Service Brief</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Word to PowerPoint and Outlook</a:t>
            </a:r>
          </a:p>
          <a:p>
            <a:pPr>
              <a:spcAft>
                <a:spcPts val="900"/>
              </a:spcAft>
            </a:pPr>
            <a:r>
              <a:rPr sz="1200" b="0">
                <a:solidFill>
                  <a:srgbClr val="6B6862"/>
                </a:solidFill>
                <a:latin typeface="Calibri"/>
              </a:rPr>
              <a:t>–  Create the Cross-App HR Service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CONNECTED USE CASE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Lumina HR Service Evidence Chain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Excel: clean and check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Word: HR service brief</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PowerPoint: decision story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Outlook: reviewed draft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DATA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HR Case Has State, Scope and Ownership</a:t>
            </a:r>
          </a:p>
        </p:txBody>
      </p:sp>
      <p:sp>
        <p:nvSpPr>
          <p:cNvPr id="5" name="Rounded Rectangle 4"/>
          <p:cNvSpPr/>
          <p:nvPr/>
        </p:nvSpPr>
        <p:spPr>
          <a:xfrm>
            <a:off x="7772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ID</a:t>
            </a:r>
          </a:p>
        </p:txBody>
      </p:sp>
      <p:sp>
        <p:nvSpPr>
          <p:cNvPr id="7" name="TextBox 6"/>
          <p:cNvSpPr txBox="1"/>
          <p:nvPr/>
        </p:nvSpPr>
        <p:spPr>
          <a:xfrm>
            <a:off x="9144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HR-2026-0003</a:t>
            </a:r>
          </a:p>
        </p:txBody>
      </p:sp>
      <p:sp>
        <p:nvSpPr>
          <p:cNvPr id="8" name="Rounded Rectangle 7"/>
          <p:cNvSpPr/>
          <p:nvPr/>
        </p:nvSpPr>
        <p:spPr>
          <a:xfrm>
            <a:off x="44348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720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Department</a:t>
            </a:r>
          </a:p>
        </p:txBody>
      </p:sp>
      <p:sp>
        <p:nvSpPr>
          <p:cNvPr id="10" name="TextBox 9"/>
          <p:cNvSpPr txBox="1"/>
          <p:nvPr/>
        </p:nvSpPr>
        <p:spPr>
          <a:xfrm>
            <a:off x="45720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Retail Sales</a:t>
            </a:r>
          </a:p>
        </p:txBody>
      </p:sp>
      <p:sp>
        <p:nvSpPr>
          <p:cNvPr id="11" name="Rounded Rectangle 10"/>
          <p:cNvSpPr/>
          <p:nvPr/>
        </p:nvSpPr>
        <p:spPr>
          <a:xfrm>
            <a:off x="80924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296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Category</a:t>
            </a:r>
          </a:p>
        </p:txBody>
      </p:sp>
      <p:sp>
        <p:nvSpPr>
          <p:cNvPr id="13" name="TextBox 12"/>
          <p:cNvSpPr txBox="1"/>
          <p:nvPr/>
        </p:nvSpPr>
        <p:spPr>
          <a:xfrm>
            <a:off x="82296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Leave Request</a:t>
            </a:r>
          </a:p>
        </p:txBody>
      </p:sp>
      <p:sp>
        <p:nvSpPr>
          <p:cNvPr id="14" name="Rounded Rectangle 13"/>
          <p:cNvSpPr/>
          <p:nvPr/>
        </p:nvSpPr>
        <p:spPr>
          <a:xfrm>
            <a:off x="7772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144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Status</a:t>
            </a:r>
          </a:p>
        </p:txBody>
      </p:sp>
      <p:sp>
        <p:nvSpPr>
          <p:cNvPr id="16" name="TextBox 15"/>
          <p:cNvSpPr txBox="1"/>
          <p:nvPr/>
        </p:nvSpPr>
        <p:spPr>
          <a:xfrm>
            <a:off x="9144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In Progress</a:t>
            </a:r>
          </a:p>
        </p:txBody>
      </p:sp>
      <p:sp>
        <p:nvSpPr>
          <p:cNvPr id="17" name="Rounded Rectangle 16"/>
          <p:cNvSpPr/>
          <p:nvPr/>
        </p:nvSpPr>
        <p:spPr>
          <a:xfrm>
            <a:off x="44348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720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Owner</a:t>
            </a:r>
          </a:p>
        </p:txBody>
      </p:sp>
      <p:sp>
        <p:nvSpPr>
          <p:cNvPr id="19" name="TextBox 18"/>
          <p:cNvSpPr txBox="1"/>
          <p:nvPr/>
        </p:nvSpPr>
        <p:spPr>
          <a:xfrm>
            <a:off x="45720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Chloe Goh</a:t>
            </a:r>
          </a:p>
        </p:txBody>
      </p:sp>
      <p:sp>
        <p:nvSpPr>
          <p:cNvPr id="20" name="TextBox 19"/>
          <p:cNvSpPr txBox="1"/>
          <p:nvPr/>
        </p:nvSpPr>
        <p:spPr>
          <a:xfrm>
            <a:off x="868680" y="5212080"/>
            <a:ext cx="10332720" cy="457200"/>
          </a:xfrm>
          <a:prstGeom prst="rect">
            <a:avLst/>
          </a:prstGeom>
          <a:noFill/>
        </p:spPr>
        <p:txBody>
          <a:bodyPr wrap="square" anchor="t">
            <a:spAutoFit/>
          </a:bodyPr>
          <a:lstStyle/>
          <a:p>
            <a:pPr algn="l">
              <a:spcAft>
                <a:spcPts val="400"/>
              </a:spcAft>
            </a:pPr>
            <a:r>
              <a:rPr sz="2100" b="0">
                <a:solidFill>
                  <a:srgbClr val="21201C"/>
                </a:solidFill>
                <a:latin typeface="Calibri"/>
              </a:rPr>
              <a:t>Current owner is evidence. Proposed owner is a separate planning output.</a:t>
            </a:r>
          </a:p>
        </p:txBody>
      </p:sp>
      <p:sp>
        <p:nvSpPr>
          <p:cNvPr id="21" name="TextBox 20"/>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Grounding gives an AI request the specific evidence it should use.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HR service figure can be correct in Excel yet become wrong in an email when the source, reporting date or filter scope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analyses tblHRCases; Word receives the checked 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the authoritative HR-case table.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goal, context, source and expected output.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against the named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a verified snapshot to the next app.</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Grounding Across Microsoft 365</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PowerPoint receives the reviewed Word brief; Outlook receives the same checked values.</a:t>
            </a:r>
          </a:p>
          <a:p>
            <a:pPr>
              <a:spcAft>
                <a:spcPts val="1000"/>
              </a:spcAft>
            </a:pPr>
            <a:r>
              <a:rPr sz="1600" b="0">
                <a:solidFill>
                  <a:srgbClr val="21201C"/>
                </a:solidFill>
                <a:latin typeface="Calibri"/>
              </a:rPr>
              <a:t>•  An Excel chat transcript is not an automatic PowerPoint data source.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Across Microsoft 365</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Excel analyses tblHRCases; Word receives the checked 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PowerPoint receives the reviewed Word brief; Outlook receives the same checked values.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prompt assumes access to another app chat or local path.</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row represents one HR case, identified by Case_ID.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exact duplicated export row changes counts and cost without representing new work.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122 raw rows contain 120 distinct HR-case IDs.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one ID per HR case.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exact repeated export records.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Standardise labels without inventing facts.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cleaned counts and cost.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HR-Case Grain and Reporting Measures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Total = Closed + Cancelled + Backlog after exact duplicate removal.</a:t>
            </a:r>
          </a:p>
          <a:p>
            <a:pPr>
              <a:spcAft>
                <a:spcPts val="1000"/>
              </a:spcAft>
            </a:pPr>
            <a:r>
              <a:rPr sz="1600" b="0">
                <a:solidFill>
                  <a:srgbClr val="21201C"/>
                </a:solidFill>
                <a:latin typeface="Calibri"/>
              </a:rPr>
              <a:t>•  Due on 30 September is not overdue at the 30 September snapshot.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HR-Case Grain and Reporting Measures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122 raw rows contain 120 distinct HR-case IDs.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Total = Closed + Cancelled + Backlog after exact duplicate removal.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Duplicate IDs contain conflicting records or reporting scope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EXCEL TO WORD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Prepare HR Cases and Draft the HR Service Brief</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You are Lumina Living’s HR operations executive. A Q3 export contains repeated IDs and inconsistent category labels.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Lumina_Clean_HR_Cases.xlsx and Lumina_HR_Service_Brief.docx, with reconciled counts, reporting scope and a source register.</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Inspect: Using Lumina_HR_Cases.xlsx, confirm 120 unique Case_ID values, preserve Current_Assignee, and report data-quality exceptions at 30 September 2026.</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Brief: Draft the Lumina HR Service Brief from the verified 120-row snapshot; cite backlog 60 and overdue 50 and label missing causes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Clean table</a:t>
            </a:r>
          </a:p>
          <a:p>
            <a:pPr algn="l">
              <a:spcAft>
                <a:spcPts val="300"/>
              </a:spcAft>
            </a:pPr>
            <a:r>
              <a:rPr sz="1300" b="0">
                <a:solidFill>
                  <a:srgbClr val="6B6862"/>
                </a:solidFill>
                <a:latin typeface="Calibri"/>
              </a:rPr>
              <a:t>120 unique Case_ID rows; five canonical request types.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Portfolio identity</a:t>
            </a:r>
          </a:p>
          <a:p>
            <a:pPr algn="l">
              <a:spcAft>
                <a:spcPts val="300"/>
              </a:spcAft>
            </a:pPr>
            <a:r>
              <a:rPr sz="1300" b="0">
                <a:solidFill>
                  <a:srgbClr val="6B6862"/>
                </a:solidFill>
                <a:latin typeface="Calibri"/>
              </a:rPr>
              <a:t>120 = 48 Closed + 12 Cancelled + 60 backlog.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handoff</a:t>
            </a:r>
          </a:p>
          <a:p>
            <a:pPr algn="l">
              <a:spcAft>
                <a:spcPts val="300"/>
              </a:spcAft>
            </a:pPr>
            <a:r>
              <a:rPr sz="1300" b="0">
                <a:solidFill>
                  <a:srgbClr val="6B6862"/>
                </a:solidFill>
                <a:latin typeface="Calibri"/>
              </a:rPr>
              <a:t>Overdue 50; unassigned backlog 6; total cost S$35,827.50. Word agrees with Excel.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No guessed owner</a:t>
            </a:r>
          </a:p>
          <a:p>
            <a:pPr algn="l">
              <a:spcAft>
                <a:spcPts val="300"/>
              </a:spcAft>
            </a:pPr>
            <a:r>
              <a:rPr sz="1300" b="0">
                <a:solidFill>
                  <a:srgbClr val="6B6862"/>
                </a:solidFill>
                <a:latin typeface="Calibri"/>
              </a:rPr>
              <a:t>Blank assignments remain blank; proposals labelled unapproved.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useful prompt combines the intended goal, operational context, named source and output expectations.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number may have different meaning when a chart counts all HR cases while an email calls it open backlog.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Goal: draft an HR service update for the HR manager.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goal and audience.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Attach or select the actual source.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Specify definitions and missing-value behaviour.</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the returned claims.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Prompts and Verified App Handoffs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Source: reviewed Lumina HR service brief, all filters All, 30 September.</a:t>
            </a:r>
          </a:p>
          <a:p>
            <a:pPr>
              <a:spcAft>
                <a:spcPts val="1000"/>
              </a:spcAft>
            </a:pPr>
            <a:r>
              <a:rPr sz="1600" b="0">
                <a:solidFill>
                  <a:srgbClr val="21201C"/>
                </a:solidFill>
                <a:latin typeface="Calibri"/>
              </a:rPr>
              <a:t>•  Expectation: label assignment suggestions as proposals and leave unknown approvals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Prompts and Verified App Handoffs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Goal: draft an HR service update for the HR manager.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Source: reviewed Lumina HR service brief, all filters All,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Only an unverified summary is available.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help structure a draft email from supplied context.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apparently routine update can accidentally promise HR officer reassignment or imply that a manager approved a recovery plan.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Current owner blank; proposed owner Aisha remains unapproved.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the synthetic thread and checked 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Draft a concise update.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recipients, facts and action wording.</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 unsent draft and evidence.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Outlook Drafting and Operational Decisions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draft addressed to example.invalid is a training artifact.</a:t>
            </a:r>
          </a:p>
          <a:p>
            <a:pPr>
              <a:spcAft>
                <a:spcPts val="1000"/>
              </a:spcAft>
            </a:pPr>
            <a:r>
              <a:rPr sz="1600" b="0">
                <a:solidFill>
                  <a:srgbClr val="21201C"/>
                </a:solidFill>
                <a:latin typeface="Calibri"/>
              </a:rPr>
              <a:t>•  The handoff says decision requested, not decision approved.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Outlook Drafting and Operational Decisions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Current owner blank; proposed owner Aisha remains unapproved.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draft addressed to example.invalid is a training artifact.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would imply a real approval or send without review.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WORD TO POWERPOINT AND OUTLOOK</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Create the Cross-App HR Service Update</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verified HR service brief from Lab 1. You will turn it into an initial PowerPoint update, then prepare an Outlook reply to a synthetic HR service thread.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Lumina_Initial_Update.pptx, an unsent Outlook draft and Lumina_Cross_App_Evidence.csv with Excel, Word, PowerPoint and Outlook figures reconciled.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Handoff: Using the verified Lumina HR Service Brief, create a five-slide HR service update and an unsent Outlook draft with the same 30 September 2026 scope.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Reconcile every count, date and current assignment in the deck and email against Lumina_HR_Cases.xlsx.</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Four apps</a:t>
            </a:r>
          </a:p>
          <a:p>
            <a:pPr algn="l">
              <a:spcAft>
                <a:spcPts val="300"/>
              </a:spcAft>
            </a:pPr>
            <a:r>
              <a:rPr sz="1300" b="0">
                <a:solidFill>
                  <a:srgbClr val="6B6862"/>
                </a:solidFill>
                <a:latin typeface="Calibri"/>
              </a:rPr>
              <a:t>Excel Checks, Word brief, four-slide update and unsent Outlook draft share the same date and values.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Cross-app grounding</a:t>
            </a:r>
          </a:p>
          <a:p>
            <a:pPr algn="l">
              <a:spcAft>
                <a:spcPts val="300"/>
              </a:spcAft>
            </a:pPr>
            <a:r>
              <a:rPr sz="1300" b="0">
                <a:solidFill>
                  <a:srgbClr val="6B6862"/>
                </a:solidFill>
                <a:latin typeface="Calibri"/>
              </a:rPr>
              <a:t>Named file or pasted verified evidence is provided in each app; no assumed shared chat.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Draft boundary</a:t>
            </a:r>
          </a:p>
          <a:p>
            <a:pPr algn="l">
              <a:spcAft>
                <a:spcPts val="300"/>
              </a:spcAft>
            </a:pPr>
            <a:r>
              <a:rPr sz="1300" b="0">
                <a:solidFill>
                  <a:srgbClr val="6B6862"/>
                </a:solidFill>
                <a:latin typeface="Calibri"/>
              </a:rPr>
              <a:t>example.invalid recipient; nothing sent and no assignment approved.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LO1 checkpoint</a:t>
            </a:r>
          </a:p>
          <a:p>
            <a:pPr algn="l">
              <a:spcAft>
                <a:spcPts val="300"/>
              </a:spcAft>
            </a:pPr>
            <a:r>
              <a:rPr sz="1300" b="0">
                <a:solidFill>
                  <a:srgbClr val="6B6862"/>
                </a:solidFill>
                <a:latin typeface="Calibri"/>
              </a:rPr>
              <a:t>Integration Risk Register has all three rows, fixed date/baseline evidence and no invented cause or approval.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Microsoft 365 Copilot Fundamentals</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LO1: Integration risks and verified cross-app handoffs documented.</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120 unique IDs; facts and proposals separate.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Skills, Rules and Personalisation</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Account preferences, workbook conventions and reusable methods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K3 · A2</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Skills, Rules and Personalisation</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Personalisation</a:t>
            </a:r>
          </a:p>
          <a:p>
            <a:pPr algn="l">
              <a:spcAft>
                <a:spcPts val="300"/>
              </a:spcAft>
            </a:pPr>
            <a:r>
              <a:rPr sz="1400" b="0">
                <a:solidFill>
                  <a:srgbClr val="6B6862"/>
                </a:solidFill>
                <a:latin typeface="Calibri"/>
              </a:rPr>
              <a:t>Account preferences across workbooks.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.Rules</a:t>
            </a:r>
          </a:p>
          <a:p>
            <a:pPr algn="l">
              <a:spcAft>
                <a:spcPts val="300"/>
              </a:spcAft>
            </a:pPr>
            <a:r>
              <a:rPr sz="1400" b="0">
                <a:solidFill>
                  <a:srgbClr val="6B6862"/>
                </a:solidFill>
                <a:latin typeface="Calibri"/>
              </a:rPr>
              <a:t>Visible instructions travel with the workbook.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Skills</a:t>
            </a:r>
          </a:p>
          <a:p>
            <a:pPr algn="l">
              <a:spcAft>
                <a:spcPts val="300"/>
              </a:spcAft>
            </a:pPr>
            <a:r>
              <a:rPr sz="1400" b="0">
                <a:solidFill>
                  <a:srgbClr val="6B6862"/>
                </a:solidFill>
                <a:latin typeface="Calibri"/>
              </a:rPr>
              <a:t>Reusable Pareto, reporting and dashboard methods.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plan</a:t>
            </a:r>
          </a:p>
          <a:p>
            <a:pPr algn="l">
              <a:spcAft>
                <a:spcPts val="300"/>
              </a:spcAft>
            </a:pPr>
            <a:r>
              <a:rPr sz="1400" b="0">
                <a:solidFill>
                  <a:srgbClr val="6B6862"/>
                </a:solidFill>
                <a:latin typeface="Calibri"/>
              </a:rPr>
              <a:t>Protect source, test reruns and preserve rollback.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Skills, Rules and Personalisation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3–4</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Personalisation</a:t>
            </a:r>
          </a:p>
          <a:p>
            <a:pPr>
              <a:spcAft>
                <a:spcPts val="900"/>
              </a:spcAft>
            </a:pPr>
            <a:r>
              <a:rPr sz="1200" b="0">
                <a:solidFill>
                  <a:srgbClr val="6B6862"/>
                </a:solidFill>
                <a:latin typeface="Calibri"/>
              </a:rPr>
              <a:t>–  Personalise Copilot in Excel for Consistent HR Service Reports</a:t>
            </a:r>
          </a:p>
          <a:p>
            <a:pPr>
              <a:spcAft>
                <a:spcPts val="900"/>
              </a:spcAft>
            </a:pPr>
            <a:r>
              <a:rPr sz="1400" b="1">
                <a:solidFill>
                  <a:srgbClr val="21201C"/>
                </a:solidFill>
                <a:latin typeface="Calibri"/>
              </a:rPr>
              <a:t>•  Workbook .Rules</a:t>
            </a:r>
          </a:p>
          <a:p>
            <a:pPr>
              <a:spcAft>
                <a:spcPts val="900"/>
              </a:spcAft>
            </a:pPr>
            <a:r>
              <a:rPr sz="1200" b="0">
                <a:solidFill>
                  <a:srgbClr val="6B6862"/>
                </a:solidFill>
                <a:latin typeface="Calibri"/>
              </a:rPr>
              <a:t>–  Create and Test Workbook .Rules for HR Service Reporting</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5–6</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Pareto Chart Skill</a:t>
            </a:r>
          </a:p>
          <a:p>
            <a:pPr>
              <a:spcAft>
                <a:spcPts val="900"/>
              </a:spcAft>
            </a:pPr>
            <a:r>
              <a:rPr sz="1200" b="0">
                <a:solidFill>
                  <a:srgbClr val="6B6862"/>
                </a:solidFill>
                <a:latin typeface="Calibri"/>
              </a:rPr>
              <a:t>–  Create a Custom Pareto Chart Skill and Apply It</a:t>
            </a:r>
          </a:p>
          <a:p>
            <a:pPr>
              <a:spcAft>
                <a:spcPts val="900"/>
              </a:spcAft>
            </a:pPr>
            <a:r>
              <a:rPr sz="1400" b="1">
                <a:solidFill>
                  <a:srgbClr val="21201C"/>
                </a:solidFill>
                <a:latin typeface="Calibri"/>
              </a:rPr>
              <a:t>•  Reporting Skill</a:t>
            </a:r>
          </a:p>
          <a:p>
            <a:pPr>
              <a:spcAft>
                <a:spcPts val="900"/>
              </a:spcAft>
            </a:pPr>
            <a:r>
              <a:rPr sz="1200" b="0">
                <a:solidFill>
                  <a:srgbClr val="6B6862"/>
                </a:solidFill>
                <a:latin typeface="Calibri"/>
              </a:rPr>
              <a:t>–  Create, Use and Improve the HR Service Reporting Skill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SCOPE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Four Scopes of Customisation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Personalisation: your account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.Rules: this workbook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Skill: repeated method</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Prompt: this request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Copilot Personalisation stores account-level preferences for display, writing style and formula conventions.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S$ display and short explanations reduce repetitive requests without changing numeric values.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value of 35827.5 can display as S$35,827.50 or S$35,827.5000.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recurring display preferences.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them to the account.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two workbook outputs.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 specific request and restore.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Account Personalisation and Specific Requests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Changing a number format does not change its numeric value.</a:t>
            </a:r>
          </a:p>
          <a:p>
            <a:pPr>
              <a:spcAft>
                <a:spcPts val="1000"/>
              </a:spcAft>
            </a:pPr>
            <a:r>
              <a:rPr sz="1600" b="0">
                <a:solidFill>
                  <a:srgbClr val="21201C"/>
                </a:solidFill>
                <a:latin typeface="Calibri"/>
              </a:rPr>
              <a:t>•  Another user opening the file does not receive your account preferences.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Account Personalisation and Specific Requests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https://support.microsoft.com/en-us/excel/copilot/copilot-in-excel-personalization</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 value of 35827.5 can display as S$35,827.50 or S$35,827.5000.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Changing a number format does not change its numeric value.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instruction is a workbook-specific business rule or source change.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Personalise Copilot in Excel for Consistent HR Service Reports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Configure temporary account-level display and explanation preferences, test them in two copies of the same verified Lumina workbook, and distinguish preferences from workbook-specific definitions. A task-specific prompt can supersede Personalisation.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Lumina_Personalisation_Test.xlsx, a two-workbook preference comparison and a private note confirming settings restored.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Personalise: For Lumina HR service reports, prefer concise headings, SGD currency, DD MMM YYYY dates and a Sources and Limitations section.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Test: Summarise Lumina backlog 60 and overdue 50 with and without the saved preference; record the observed difference.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controls</a:t>
            </a:r>
          </a:p>
          <a:p>
            <a:pPr algn="l">
              <a:spcAft>
                <a:spcPts val="300"/>
              </a:spcAft>
            </a:pPr>
            <a:r>
              <a:rPr sz="1300" b="0">
                <a:solidFill>
                  <a:srgbClr val="6B6862"/>
                </a:solidFill>
                <a:latin typeface="Calibri"/>
              </a:rPr>
              <a:t>Both copies retain120 unique IDs, original owners/statuses and exact cost 35827.50.</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Display check</a:t>
            </a:r>
          </a:p>
          <a:p>
            <a:pPr algn="l">
              <a:spcAft>
                <a:spcPts val="300"/>
              </a:spcAft>
            </a:pPr>
            <a:r>
              <a:rPr sz="1300" b="0">
                <a:solidFill>
                  <a:srgbClr val="6B6862"/>
                </a:solidFill>
                <a:latin typeface="Calibri"/>
              </a:rPr>
              <a:t>Saved S$ two-decimal/date/explanation preferences are checked in two workbooks; observed misses are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Specific request</a:t>
            </a:r>
          </a:p>
          <a:p>
            <a:pPr algn="l">
              <a:spcAft>
                <a:spcPts val="300"/>
              </a:spcAft>
            </a:pPr>
            <a:r>
              <a:rPr sz="1300" b="0">
                <a:solidFill>
                  <a:srgbClr val="6B6862"/>
                </a:solidFill>
                <a:latin typeface="Calibri"/>
              </a:rPr>
              <a:t>The output can show35,827.5000 without changing its value or the saved preferences.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Restoration</a:t>
            </a:r>
          </a:p>
          <a:p>
            <a:pPr algn="l">
              <a:spcAft>
                <a:spcPts val="300"/>
              </a:spcAft>
            </a:pPr>
            <a:r>
              <a:rPr sz="1300" b="0">
                <a:solidFill>
                  <a:srgbClr val="6B6862"/>
                </a:solidFill>
                <a:latin typeface="Calibri"/>
              </a:rPr>
              <a:t>Previous account preferences restored; private baseline note stays outside public courseware.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WORKBOOK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Visible .Rules: Instructions Travel with the Workbook</a:t>
            </a:r>
          </a:p>
        </p:txBody>
      </p:sp>
      <p:sp>
        <p:nvSpPr>
          <p:cNvPr id="5" name="Rounded Rectangle 4"/>
          <p:cNvSpPr/>
          <p:nvPr/>
        </p:nvSpPr>
        <p:spPr>
          <a:xfrm>
            <a:off x="822960" y="182880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1005840" y="192024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A1</a:t>
            </a:r>
          </a:p>
        </p:txBody>
      </p:sp>
      <p:sp>
        <p:nvSpPr>
          <p:cNvPr id="7" name="TextBox 6"/>
          <p:cNvSpPr txBox="1"/>
          <p:nvPr/>
        </p:nvSpPr>
        <p:spPr>
          <a:xfrm>
            <a:off x="2286000" y="192024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Lumina reporting conventions</a:t>
            </a:r>
          </a:p>
        </p:txBody>
      </p:sp>
      <p:sp>
        <p:nvSpPr>
          <p:cNvPr id="8" name="Rounded Rectangle 7"/>
          <p:cNvSpPr/>
          <p:nvPr/>
        </p:nvSpPr>
        <p:spPr>
          <a:xfrm>
            <a:off x="822960" y="260604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1005840" y="269748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A2</a:t>
            </a:r>
          </a:p>
        </p:txBody>
      </p:sp>
      <p:sp>
        <p:nvSpPr>
          <p:cNvPr id="10" name="TextBox 9"/>
          <p:cNvSpPr txBox="1"/>
          <p:nvPr/>
        </p:nvSpPr>
        <p:spPr>
          <a:xfrm>
            <a:off x="2286000" y="269748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Preserve original IDs and current owners</a:t>
            </a:r>
          </a:p>
        </p:txBody>
      </p:sp>
      <p:sp>
        <p:nvSpPr>
          <p:cNvPr id="11" name="Rounded Rectangle 10"/>
          <p:cNvSpPr/>
          <p:nvPr/>
        </p:nvSpPr>
        <p:spPr>
          <a:xfrm>
            <a:off x="822960" y="338328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1005840" y="347472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A3</a:t>
            </a:r>
          </a:p>
        </p:txBody>
      </p:sp>
      <p:sp>
        <p:nvSpPr>
          <p:cNvPr id="13" name="TextBox 12"/>
          <p:cNvSpPr txBox="1"/>
          <p:nvPr/>
        </p:nvSpPr>
        <p:spPr>
          <a:xfrm>
            <a:off x="2286000" y="347472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Backlog excludes Closed and Cancelled</a:t>
            </a:r>
          </a:p>
        </p:txBody>
      </p:sp>
      <p:sp>
        <p:nvSpPr>
          <p:cNvPr id="14" name="Rounded Rectangle 13"/>
          <p:cNvSpPr/>
          <p:nvPr/>
        </p:nvSpPr>
        <p:spPr>
          <a:xfrm>
            <a:off x="822960" y="416052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1005840" y="4251959"/>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A4</a:t>
            </a:r>
          </a:p>
        </p:txBody>
      </p:sp>
      <p:sp>
        <p:nvSpPr>
          <p:cNvPr id="16" name="TextBox 15"/>
          <p:cNvSpPr txBox="1"/>
          <p:nvPr/>
        </p:nvSpPr>
        <p:spPr>
          <a:xfrm>
            <a:off x="2286000" y="4251959"/>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Reporting date: 2026-09-30</a:t>
            </a:r>
          </a:p>
        </p:txBody>
      </p:sp>
      <p:sp>
        <p:nvSpPr>
          <p:cNvPr id="17" name="TextBox 16"/>
          <p:cNvSpPr txBox="1"/>
          <p:nvPr/>
        </p:nvSpPr>
        <p:spPr>
          <a:xfrm>
            <a:off x="914400" y="5212080"/>
            <a:ext cx="10058400" cy="411480"/>
          </a:xfrm>
          <a:prstGeom prst="rect">
            <a:avLst/>
          </a:prstGeom>
          <a:noFill/>
        </p:spPr>
        <p:txBody>
          <a:bodyPr wrap="square" anchor="t">
            <a:spAutoFit/>
          </a:bodyPr>
          <a:lstStyle/>
          <a:p>
            <a:pPr algn="l">
              <a:spcAft>
                <a:spcPts val="400"/>
              </a:spcAft>
            </a:pPr>
            <a:r>
              <a:rPr sz="1800" b="0">
                <a:solidFill>
                  <a:srgbClr val="21201C"/>
                </a:solidFill>
                <a:latin typeface="Calibri"/>
              </a:rPr>
              <a:t>Formula rule reads Control!B2; Copilot uses the recalculated result on the next request.</a:t>
            </a:r>
          </a:p>
        </p:txBody>
      </p:sp>
      <p:sp>
        <p:nvSpPr>
          <p:cNvPr id="18" name="TextBox 1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19" name="TextBox 1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1" name="TextBox 2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worksheet named exactly .Rules, including the dot, supplies workbook-specific Copilot instructions in column 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workbook can carry stable scope, status, cost-display and preservation instructions alongside the source.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date rule returns Reporting date: 2026-09-30 from Control!B2.</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visible sheet exactly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Place one instruction per column-A cell.</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 formula-driven rule.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 next output and copied workbook.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Visible Workbook .Rules and Formula Results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Hidden .Rules is not used; keep the final sheet visible.</a:t>
            </a:r>
          </a:p>
          <a:p>
            <a:pPr>
              <a:spcAft>
                <a:spcPts val="1000"/>
              </a:spcAft>
            </a:pPr>
            <a:r>
              <a:rPr sz="1600" b="0">
                <a:solidFill>
                  <a:srgbClr val="21201C"/>
                </a:solidFill>
                <a:latin typeface="Calibri"/>
              </a:rPr>
              <a:t>•  No universal precedence among rules, preferences and Skills is assumed.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Visible Workbook .Rules and Formula Results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https://support.microsoft.com/en-us/excel/copilot/copilot-in-excel-rules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The date rule returns Reporting date: 2026-09-30 from Control!B2.</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Hidden .Rules is not used; keep the final sheet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You need a security boundary or are assuming hidden rules apply.</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Test Workbook .Rules for HR Service Reporting</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Turn Lumina’s workbook conventions into a visible .Rules worksheet. Keep one rule per cell in column A, include a formula-driven reporting-date rule, test the output, and verify that the sheet travels with a copied workbook.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Lumina_Rules_Workbook.xlsx with visible .Rules column A, a checked Rules_Test output and a copied-workbook sharing check.</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.Rules: In the visible .Rules sheet, require 30 September 2026, UNKNOWN for missing evidence, and separate Current_Assignee from Proposed_Assignee.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Boundary: Test one request that lacks a reporting date and verify that Copilot asks for it instead of guessing.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Recognition</a:t>
            </a:r>
          </a:p>
          <a:p>
            <a:pPr algn="l">
              <a:spcAft>
                <a:spcPts val="300"/>
              </a:spcAft>
            </a:pPr>
            <a:r>
              <a:rPr sz="1300" b="0">
                <a:solidFill>
                  <a:srgbClr val="6B6862"/>
                </a:solidFill>
                <a:latin typeface="Calibri"/>
              </a:rPr>
              <a:t>Exactly .Rules; visible worksheet; instructions in column A, one idea per cell.</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Formula rule</a:t>
            </a:r>
          </a:p>
          <a:p>
            <a:pPr algn="l">
              <a:spcAft>
                <a:spcPts val="300"/>
              </a:spcAft>
            </a:pPr>
            <a:r>
              <a:rPr sz="1300" b="0">
                <a:solidFill>
                  <a:srgbClr val="6B6862"/>
                </a:solidFill>
                <a:latin typeface="Calibri"/>
              </a:rPr>
              <a:t>Reporting-date formula recalculates and displays2026-09-30; no source values changed.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Output controls</a:t>
            </a:r>
          </a:p>
          <a:p>
            <a:pPr algn="l">
              <a:spcAft>
                <a:spcPts val="300"/>
              </a:spcAft>
            </a:pPr>
            <a:r>
              <a:rPr sz="1300" b="0">
                <a:solidFill>
                  <a:srgbClr val="6B6862"/>
                </a:solidFill>
                <a:latin typeface="Calibri"/>
              </a:rPr>
              <a:t>120 total;60 backlog;50 overdue;30/48 on-time;S$35,827.50 at All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Workbook copy</a:t>
            </a:r>
          </a:p>
          <a:p>
            <a:pPr algn="l">
              <a:spcAft>
                <a:spcPts val="300"/>
              </a:spcAft>
            </a:pPr>
            <a:r>
              <a:rPr sz="1300" b="0">
                <a:solidFill>
                  <a:srgbClr val="6B6862"/>
                </a:solidFill>
                <a:latin typeface="Calibri"/>
              </a:rPr>
              <a:t>Visible .Rules travels with the copy; account preferences are not exported.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PARETO EVIDENCE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Overdue Contribution: 50 HR Cases, Five Categories</a:t>
            </a:r>
          </a:p>
        </p:txBody>
      </p:sp>
      <p:graphicFrame>
        <p:nvGraphicFramePr>
          <p:cNvPr id="5" name="Chart 4"/>
          <p:cNvGraphicFramePr>
            <a:graphicFrameLocks noGrp="1"/>
          </p:cNvGraphicFramePr>
          <p:nvPr/>
        </p:nvGraphicFramePr>
        <p:xfrm>
          <a:off x="822960" y="1828800"/>
          <a:ext cx="5029200" cy="35661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17920" y="1828800"/>
          <a:ext cx="5029200" cy="3566160"/>
        </p:xfrm>
        <a:graphic>
          <a:graphicData uri="http://schemas.openxmlformats.org/drawingml/2006/chart">
            <c:chart xmlns:c="http://schemas.openxmlformats.org/drawingml/2006/chart" r:id="rId3"/>
          </a:graphicData>
        </a:graphic>
      </p:graphicFrame>
      <p:sp>
        <p:nvSpPr>
          <p:cNvPr id="7" name="TextBox 6"/>
          <p:cNvSpPr txBox="1"/>
          <p:nvPr/>
        </p:nvSpPr>
        <p:spPr>
          <a:xfrm>
            <a:off x="914400" y="5486400"/>
            <a:ext cx="10058400" cy="365760"/>
          </a:xfrm>
          <a:prstGeom prst="rect">
            <a:avLst/>
          </a:prstGeom>
          <a:noFill/>
        </p:spPr>
        <p:txBody>
          <a:bodyPr wrap="square" anchor="t">
            <a:spAutoFit/>
          </a:bodyPr>
          <a:lstStyle/>
          <a:p>
            <a:pPr algn="l">
              <a:spcAft>
                <a:spcPts val="400"/>
              </a:spcAft>
            </a:pPr>
            <a:r>
              <a:rPr sz="1700" b="0">
                <a:solidFill>
                  <a:srgbClr val="21201C"/>
                </a:solidFill>
                <a:latin typeface="Calibri"/>
              </a:rPr>
              <a:t>Four categories first reach 80%. Equal counts use alphabetical ties. Contribution is not cause.</a:t>
            </a:r>
          </a:p>
        </p:txBody>
      </p:sp>
      <p:sp>
        <p:nvSpPr>
          <p:cNvPr id="8" name="TextBox 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Pareto contribution chart cases category counts from largest to smallest and adds a cumulative-percentage line.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turns a recurring grouping-and-charting method into reusable instructions.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Payroll 18; Benefits 12; Leave 8; Training 8; Onboarding 4: total 50.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population, date and grouping.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Count and sort with stable ties.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Calculate cumulative count / eligible total.</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Build and verify an editable dual-axis chart.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Pareto Skill: Counts, Sorting and Cumulative Share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Cumulative percentages are 36%, 60%, 76%, 92%, 100%.</a:t>
            </a:r>
          </a:p>
          <a:p>
            <a:pPr>
              <a:spcAft>
                <a:spcPts val="1000"/>
              </a:spcAft>
            </a:pPr>
            <a:r>
              <a:rPr sz="1600" b="0">
                <a:solidFill>
                  <a:srgbClr val="21201C"/>
                </a:solidFill>
                <a:latin typeface="Calibri"/>
              </a:rPr>
              <a:t>•  Four of five categories first reach 80%; do not force an 80/20 conclusion.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Pareto Skill: Counts, Sorting and Cumulative Share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Payroll 18; Benefits 12; Leave 8; Training 8; Onboarding 4: total 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Cumulative percentages are 36%, 60%, 76%, 92%, 100%.</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Categories are being called causes or zero-total shares treated as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CUSTOM PARETO CHART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 Custom Pareto Chart Skill and Apply It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Author hr-case-pareto/SKILL.md with Copilot, install it in Excel and apply it to the same overdue HR-case queue. Build a descending count chart plus cumulative-percentage line, then check a controlled rerun and a second grouping.</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hr-case-pareto/SKILL.md, Lumina_Pareto.xlsx with Pareto_Request_Type and Pareto_Department, and a verified rerun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@hr-case-pareto to Lumina_HR_Cases.xlsx for overdue work at 30 September 2026; verify category counts 18, 12, 8, 8, 4 and cumulative 100%.</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Zero case: Run the zero-overdue test and return N/A rather than dividing by zero.</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Eligible population</a:t>
            </a:r>
          </a:p>
          <a:p>
            <a:pPr algn="l">
              <a:spcAft>
                <a:spcPts val="300"/>
              </a:spcAft>
            </a:pPr>
            <a:r>
              <a:rPr sz="1300" b="0">
                <a:solidFill>
                  <a:srgbClr val="6B6862"/>
                </a:solidFill>
                <a:latin typeface="Calibri"/>
              </a:rPr>
              <a:t>Overdue backlog50; no Closed or Cancelled records included.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Category counts</a:t>
            </a:r>
          </a:p>
          <a:p>
            <a:pPr algn="l">
              <a:spcAft>
                <a:spcPts val="300"/>
              </a:spcAft>
            </a:pPr>
            <a:r>
              <a:rPr sz="1300" b="0">
                <a:solidFill>
                  <a:srgbClr val="6B6862"/>
                </a:solidFill>
                <a:latin typeface="Calibri"/>
              </a:rPr>
              <a:t>Payroll Query=18; Benefits Claim=12; Leave Request=8; Training Request=8; Onboarding=4</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Cumulative percentages</a:t>
            </a:r>
          </a:p>
          <a:p>
            <a:pPr algn="l">
              <a:spcAft>
                <a:spcPts val="300"/>
              </a:spcAft>
            </a:pPr>
            <a:r>
              <a:rPr sz="1300" b="0">
                <a:solidFill>
                  <a:srgbClr val="6B6862"/>
                </a:solidFill>
                <a:latin typeface="Calibri"/>
              </a:rPr>
              <a:t>36%,60%,76%,92%,100%; Leave Request precedes Training Request in the8-count tie.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 and rerun</a:t>
            </a:r>
          </a:p>
          <a:p>
            <a:pPr algn="l">
              <a:spcAft>
                <a:spcPts val="300"/>
              </a:spcAft>
            </a:pPr>
            <a:r>
              <a:rPr sz="1300" b="0">
                <a:solidFill>
                  <a:srgbClr val="6B6862"/>
                </a:solidFill>
                <a:latin typeface="Calibri"/>
              </a:rPr>
              <a:t>Editable columns plus cumulative line; right axis0%-100%; matching output replaced only after review, without duplicates.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and interpretation</a:t>
            </a:r>
          </a:p>
          <a:p>
            <a:pPr algn="l">
              <a:spcAft>
                <a:spcPts val="300"/>
              </a:spcAft>
            </a:pPr>
            <a:r>
              <a:rPr sz="1300" b="0">
                <a:solidFill>
                  <a:srgbClr val="6B6862"/>
                </a:solidFill>
                <a:latin typeface="Calibri"/>
              </a:rPr>
              <a:t>120 original records preserved; Department grouping also totals50; no invented root cause.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SKILL CONTRACT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Anatomy of the HR Service Skill</a:t>
            </a:r>
          </a:p>
        </p:txBody>
      </p:sp>
      <p:sp>
        <p:nvSpPr>
          <p:cNvPr id="5" name="Rounded Rectangle 4"/>
          <p:cNvSpPr/>
          <p:nvPr/>
        </p:nvSpPr>
        <p:spPr>
          <a:xfrm>
            <a:off x="777240" y="1645920"/>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755648"/>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Discovery</a:t>
            </a:r>
          </a:p>
        </p:txBody>
      </p:sp>
      <p:sp>
        <p:nvSpPr>
          <p:cNvPr id="7" name="TextBox 6"/>
          <p:cNvSpPr txBox="1"/>
          <p:nvPr/>
        </p:nvSpPr>
        <p:spPr>
          <a:xfrm>
            <a:off x="3108960" y="1755648"/>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name + description</a:t>
            </a:r>
          </a:p>
        </p:txBody>
      </p:sp>
      <p:sp>
        <p:nvSpPr>
          <p:cNvPr id="8" name="TextBox 7"/>
          <p:cNvSpPr txBox="1"/>
          <p:nvPr/>
        </p:nvSpPr>
        <p:spPr>
          <a:xfrm>
            <a:off x="7315200" y="1755648"/>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When should Copilot use it?</a:t>
            </a:r>
          </a:p>
        </p:txBody>
      </p:sp>
      <p:sp>
        <p:nvSpPr>
          <p:cNvPr id="9" name="Rounded Rectangle 8"/>
          <p:cNvSpPr/>
          <p:nvPr/>
        </p:nvSpPr>
        <p:spPr>
          <a:xfrm>
            <a:off x="777240" y="2432304"/>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TextBox 9"/>
          <p:cNvSpPr txBox="1"/>
          <p:nvPr/>
        </p:nvSpPr>
        <p:spPr>
          <a:xfrm>
            <a:off x="914400" y="2542032"/>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Input guard</a:t>
            </a:r>
          </a:p>
        </p:txBody>
      </p:sp>
      <p:sp>
        <p:nvSpPr>
          <p:cNvPr id="11" name="TextBox 10"/>
          <p:cNvSpPr txBox="1"/>
          <p:nvPr/>
        </p:nvSpPr>
        <p:spPr>
          <a:xfrm>
            <a:off x="3108960" y="2542032"/>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table or snapshot + date + scope</a:t>
            </a:r>
          </a:p>
        </p:txBody>
      </p:sp>
      <p:sp>
        <p:nvSpPr>
          <p:cNvPr id="12" name="TextBox 11"/>
          <p:cNvSpPr txBox="1"/>
          <p:nvPr/>
        </p:nvSpPr>
        <p:spPr>
          <a:xfrm>
            <a:off x="7315200" y="2542032"/>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evidence is missing?</a:t>
            </a:r>
          </a:p>
        </p:txBody>
      </p:sp>
      <p:sp>
        <p:nvSpPr>
          <p:cNvPr id="13" name="Rounded Rectangle 12"/>
          <p:cNvSpPr/>
          <p:nvPr/>
        </p:nvSpPr>
        <p:spPr>
          <a:xfrm>
            <a:off x="777240" y="3218688"/>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TextBox 13"/>
          <p:cNvSpPr txBox="1"/>
          <p:nvPr/>
        </p:nvSpPr>
        <p:spPr>
          <a:xfrm>
            <a:off x="914400" y="3328416"/>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Method</a:t>
            </a:r>
          </a:p>
        </p:txBody>
      </p:sp>
      <p:sp>
        <p:nvSpPr>
          <p:cNvPr id="15" name="TextBox 14"/>
          <p:cNvSpPr txBox="1"/>
          <p:nvPr/>
        </p:nvSpPr>
        <p:spPr>
          <a:xfrm>
            <a:off x="3108960" y="3328416"/>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definitions + source preservation</a:t>
            </a:r>
          </a:p>
        </p:txBody>
      </p:sp>
      <p:sp>
        <p:nvSpPr>
          <p:cNvPr id="16" name="TextBox 15"/>
          <p:cNvSpPr txBox="1"/>
          <p:nvPr/>
        </p:nvSpPr>
        <p:spPr>
          <a:xfrm>
            <a:off x="7315200" y="3328416"/>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How should measures be calculated?</a:t>
            </a:r>
          </a:p>
        </p:txBody>
      </p:sp>
      <p:sp>
        <p:nvSpPr>
          <p:cNvPr id="17" name="Rounded Rectangle 16"/>
          <p:cNvSpPr/>
          <p:nvPr/>
        </p:nvSpPr>
        <p:spPr>
          <a:xfrm>
            <a:off x="777240" y="4005072"/>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914400" y="4114800"/>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Outputs</a:t>
            </a:r>
          </a:p>
        </p:txBody>
      </p:sp>
      <p:sp>
        <p:nvSpPr>
          <p:cNvPr id="19" name="TextBox 18"/>
          <p:cNvSpPr txBox="1"/>
          <p:nvPr/>
        </p:nvSpPr>
        <p:spPr>
          <a:xfrm>
            <a:off x="3108960" y="4114800"/>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summary / charts / proposals</a:t>
            </a:r>
          </a:p>
        </p:txBody>
      </p:sp>
      <p:sp>
        <p:nvSpPr>
          <p:cNvPr id="20" name="TextBox 19"/>
          <p:cNvSpPr txBox="1"/>
          <p:nvPr/>
        </p:nvSpPr>
        <p:spPr>
          <a:xfrm>
            <a:off x="7315200" y="4114800"/>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Which named areas may change?</a:t>
            </a:r>
          </a:p>
        </p:txBody>
      </p:sp>
      <p:sp>
        <p:nvSpPr>
          <p:cNvPr id="21" name="Rounded Rectangle 20"/>
          <p:cNvSpPr/>
          <p:nvPr/>
        </p:nvSpPr>
        <p:spPr>
          <a:xfrm>
            <a:off x="777240" y="4791456"/>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2" name="TextBox 21"/>
          <p:cNvSpPr txBox="1"/>
          <p:nvPr/>
        </p:nvSpPr>
        <p:spPr>
          <a:xfrm>
            <a:off x="914400" y="4901184"/>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Verification</a:t>
            </a:r>
          </a:p>
        </p:txBody>
      </p:sp>
      <p:sp>
        <p:nvSpPr>
          <p:cNvPr id="23" name="TextBox 22"/>
          <p:cNvSpPr txBox="1"/>
          <p:nvPr/>
        </p:nvSpPr>
        <p:spPr>
          <a:xfrm>
            <a:off x="3108960" y="4901184"/>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counts + denominators + reruns</a:t>
            </a:r>
          </a:p>
        </p:txBody>
      </p:sp>
      <p:sp>
        <p:nvSpPr>
          <p:cNvPr id="24" name="TextBox 23"/>
          <p:cNvSpPr txBox="1"/>
          <p:nvPr/>
        </p:nvSpPr>
        <p:spPr>
          <a:xfrm>
            <a:off x="7315200" y="4901184"/>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proves the result?</a:t>
            </a:r>
          </a:p>
        </p:txBody>
      </p:sp>
      <p:sp>
        <p:nvSpPr>
          <p:cNvPr id="25" name="TextBox 24"/>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6" name="TextBox 25"/>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8" name="TextBox 27"/>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REPEATABLE IMPROVEMENT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Skill Improves Through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v1 instructions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on verified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one concrete defect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v2 + repeat the check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prompt is one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makes stable definitions and review boundaries reusable: backlog excludes two terminal statuses, overdue uses a fixed date, missing owners stay missing and output reruns do not duplicate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hr-case-reporting contains definitions and output boundaries.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a recurring task.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Separate stable rules from current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name, description and instructions.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invoke and inspect the result.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Skills, Prompts and Workbook Rules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Each request still supplies this month’s source, date and scope.</a:t>
            </a:r>
          </a:p>
          <a:p>
            <a:pPr>
              <a:spcAft>
                <a:spcPts val="1000"/>
              </a:spcAft>
            </a:pPr>
            <a:r>
              <a:rPr sz="1600" b="0">
                <a:solidFill>
                  <a:srgbClr val="21201C"/>
                </a:solidFill>
                <a:latin typeface="Calibri"/>
              </a:rPr>
              <a:t>•  Native skill use and pasted manual instructions are recorded differently.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Prompts and Workbook Rules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hr-case-reporting contains definitions and output boundaries.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Each request still supplies this month’s source, date and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Inputs or desired behaviour are still undefined.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uses its Manage plugins &amp; skills interface and an app-created OneDrive skills folder.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Folder-name/frontmatter mismatches, an extra .txt extension, unavailable licence features and disabled skills can all prevent discovery.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hr-case-reporting matches YAML name hr-case-reporting.</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complete UTF-8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the app-created skills location.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and verify the matching name.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and record a smoke 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Custom Skill Discovery in Each App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Excel and PowerPoint both show the skill before native invocation.</a:t>
            </a:r>
          </a:p>
          <a:p>
            <a:pPr>
              <a:spcAft>
                <a:spcPts val="1000"/>
              </a:spcAft>
            </a:pPr>
            <a:r>
              <a:rPr sz="1600" b="0">
                <a:solidFill>
                  <a:srgbClr val="21201C"/>
                </a:solidFill>
                <a:latin typeface="Calibri"/>
              </a:rPr>
              <a:t>•  If a menu is absent, manual practice is labelled feature unavailable.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Custom Skill Discovery in Each App</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Folder hr-case-reporting matches YAML name hr-case-reporting.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Excel and PowerPoint both show the skill before native invocation.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missing menu is being treated as successful installation.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Repeatability means the same verified inputs and method yield equivalent business measures and a controlled output structure.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Reporting skills may be used every week or month, so uncontrolled output accumulation quickly creates conflicting summaries.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120 source IDs remain 120 after rerunning HR_Case_Summary.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Capture the source fingerprint and outputs.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reviewed rerun plan.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Replace only named output areas.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source and measures again.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Repeatability and Safe Skill Reruns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Missing report date causes a clarification request, not invented numbers.</a:t>
            </a:r>
          </a:p>
          <a:p>
            <a:pPr>
              <a:spcAft>
                <a:spcPts val="1000"/>
              </a:spcAft>
            </a:pPr>
            <a:r>
              <a:rPr sz="1600" b="0">
                <a:solidFill>
                  <a:srgbClr val="21201C"/>
                </a:solidFill>
                <a:latin typeface="Calibri"/>
              </a:rPr>
              <a:t>•  A second output sheet is a defect when replacement was requested.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Repeatability and Safe Skill Reruns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120 source IDs remain 120 after rerunning HR_Case_Summary.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Missing report date causes a clarification request, not invented numbers.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can overwrite source rows or unrelated sheets.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Assignment planning combines the work category, existing owner, estimated hours, HR officer primary category and available hours.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skill can improve Excel analysis and PowerPoint wording by preserving this boundary.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Unassigned work is counted only within nonterminal statuses.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unassigned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category and available hours.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the proposal and assumptions.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the manager decision.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Assignment Proposals and Capacity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 hours minus proposed effort is a planning check.</a:t>
            </a:r>
          </a:p>
          <a:p>
            <a:pPr>
              <a:spcAft>
                <a:spcPts val="1000"/>
              </a:spcAft>
            </a:pPr>
            <a:r>
              <a:rPr sz="1600" b="0">
                <a:solidFill>
                  <a:srgbClr val="21201C"/>
                </a:solidFill>
                <a:latin typeface="Calibri"/>
              </a:rPr>
              <a:t>•  The source Assigned_To stays unchanged until a real authorised operational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Assignment Proposals and Capacity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Unassigned work is counted only within nonterminal statuses.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 hours minus proposed effort is a planning check.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report claims automatic approval or verified policy competence.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REPORTING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Use and Improve the HR Service Reporting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Reuse the Skill-authoring and installation method from Lab 5 to create hr-case-reporting. Apply it in Excel and PowerPoint, test missing inputs and a controlled rerun, then refine v2 using actual evidence.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Lumina_Skill_Report.xlsx with HR_Case_Summary and Assignment_Proposals, Lumina_Skill_Update.pptx, SKILL.md v2 and a before/after improvement log.</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and PowerPoint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@hr-case-reporting to the verified Lumina snapshot; include total 120, backlog 60, overdue 50, source, scope and limitations.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Rerun: Change one filter only, rerun the Skill and reconcile the new result to the unchanged source table.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preserved</a:t>
            </a:r>
          </a:p>
          <a:p>
            <a:pPr algn="l">
              <a:spcAft>
                <a:spcPts val="300"/>
              </a:spcAft>
            </a:pPr>
            <a:r>
              <a:rPr sz="1300" b="0">
                <a:solidFill>
                  <a:srgbClr val="6B6862"/>
                </a:solidFill>
                <a:latin typeface="Calibri"/>
              </a:rPr>
              <a:t>120 unique cases; current owner/status unchanged.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 outputs</a:t>
            </a:r>
          </a:p>
          <a:p>
            <a:pPr algn="l">
              <a:spcAft>
                <a:spcPts val="300"/>
              </a:spcAft>
            </a:pPr>
            <a:r>
              <a:rPr sz="1300" b="0">
                <a:solidFill>
                  <a:srgbClr val="6B6862"/>
                </a:solidFill>
                <a:latin typeface="Calibri"/>
              </a:rPr>
              <a:t>Backlog 60; overdue 50; on-time closed 30/48; cost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Improvement evidence</a:t>
            </a:r>
          </a:p>
          <a:p>
            <a:pPr algn="l">
              <a:spcAft>
                <a:spcPts val="300"/>
              </a:spcAft>
            </a:pPr>
            <a:r>
              <a:rPr sz="1300" b="0">
                <a:solidFill>
                  <a:srgbClr val="6B6862"/>
                </a:solidFill>
                <a:latin typeface="Calibri"/>
              </a:rPr>
              <a:t>Input guard and rerun tested; v1/v2 retained; PowerPoint four-slide output accurate.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LO2 checkpoint</a:t>
            </a:r>
          </a:p>
          <a:p>
            <a:pPr algn="l">
              <a:spcAft>
                <a:spcPts val="300"/>
              </a:spcAft>
            </a:pPr>
            <a:r>
              <a:rPr sz="1300" b="0">
                <a:solidFill>
                  <a:srgbClr val="6B6862"/>
                </a:solidFill>
                <a:latin typeface="Calibri"/>
              </a:rPr>
              <a:t>Four transition stages have owners, evidence, success measures and rollback triggers.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Skills, Rules and Personalisation</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LO2: Personalisation, .Rules and Skills support controlled transition.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Source, rerun and rollback checks pass.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Interactive Dashboard and Professional Presentation</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Shared-scope measures, refresh tests, evidence story and reviewed handoff</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K2 · A3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Create Interactive Dashboard and Professional Presentation</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Dashboard</a:t>
            </a:r>
          </a:p>
          <a:p>
            <a:pPr algn="l">
              <a:spcAft>
                <a:spcPts val="300"/>
              </a:spcAft>
            </a:pPr>
            <a:r>
              <a:rPr sz="1400" b="0">
                <a:solidFill>
                  <a:srgbClr val="6B6862"/>
                </a:solidFill>
                <a:latin typeface="Calibri"/>
              </a:rPr>
              <a:t>Six measures and three charts share filter scope.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Refresh</a:t>
            </a:r>
          </a:p>
          <a:p>
            <a:pPr algn="l">
              <a:spcAft>
                <a:spcPts val="300"/>
              </a:spcAft>
            </a:pPr>
            <a:r>
              <a:rPr sz="1400" b="0">
                <a:solidFill>
                  <a:srgbClr val="6B6862"/>
                </a:solidFill>
                <a:latin typeface="Calibri"/>
              </a:rPr>
              <a:t>Known deltas in a 122-row sandbox.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Presentation</a:t>
            </a:r>
          </a:p>
          <a:p>
            <a:pPr algn="l">
              <a:spcAft>
                <a:spcPts val="300"/>
              </a:spcAft>
            </a:pPr>
            <a:r>
              <a:rPr sz="1400" b="0">
                <a:solidFill>
                  <a:srgbClr val="6B6862"/>
                </a:solidFill>
                <a:latin typeface="Calibri"/>
              </a:rPr>
              <a:t>Claims trace to the untouched baseline.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Teams and Outlook</a:t>
            </a:r>
          </a:p>
          <a:p>
            <a:pPr algn="l">
              <a:spcAft>
                <a:spcPts val="300"/>
              </a:spcAft>
            </a:pPr>
            <a:r>
              <a:rPr sz="1400" b="0">
                <a:solidFill>
                  <a:srgbClr val="6B6862"/>
                </a:solidFill>
                <a:latin typeface="Calibri"/>
              </a:rPr>
              <a:t>Evaluate collaboration with human-send controls.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Create Interactive Dashboard and Professional Presentation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7–8</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Dashboard Skill</a:t>
            </a:r>
          </a:p>
          <a:p>
            <a:pPr>
              <a:spcAft>
                <a:spcPts val="900"/>
              </a:spcAft>
            </a:pPr>
            <a:r>
              <a:rPr sz="1200" b="0">
                <a:solidFill>
                  <a:srgbClr val="6B6862"/>
                </a:solidFill>
                <a:latin typeface="Calibri"/>
              </a:rPr>
              <a:t>–  Create and Apply a Custom Interactive Dashboard Skill</a:t>
            </a:r>
          </a:p>
          <a:p>
            <a:pPr>
              <a:spcAft>
                <a:spcPts val="900"/>
              </a:spcAft>
            </a:pPr>
            <a:r>
              <a:rPr sz="1400" b="1">
                <a:solidFill>
                  <a:srgbClr val="21201C"/>
                </a:solidFill>
                <a:latin typeface="Calibri"/>
              </a:rPr>
              <a:t>•  Interactive Filters and Refresh</a:t>
            </a:r>
          </a:p>
          <a:p>
            <a:pPr>
              <a:spcAft>
                <a:spcPts val="900"/>
              </a:spcAft>
            </a:pPr>
            <a:r>
              <a:rPr sz="1200" b="0">
                <a:solidFill>
                  <a:srgbClr val="6B6862"/>
                </a:solidFill>
                <a:latin typeface="Calibri"/>
              </a:rPr>
              <a:t>–  Use the Dashboard Skill for Filters, Refresh and Safe Reruns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9–10</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to presentation</a:t>
            </a:r>
          </a:p>
          <a:p>
            <a:pPr>
              <a:spcAft>
                <a:spcPts val="900"/>
              </a:spcAft>
            </a:pPr>
            <a:r>
              <a:rPr sz="1200" b="0">
                <a:solidFill>
                  <a:srgbClr val="6B6862"/>
                </a:solidFill>
                <a:latin typeface="Calibri"/>
              </a:rPr>
              <a:t>–  Turn Dashboard Evidence into a Management Story</a:t>
            </a:r>
          </a:p>
          <a:p>
            <a:pPr>
              <a:spcAft>
                <a:spcPts val="900"/>
              </a:spcAft>
            </a:pPr>
            <a:r>
              <a:rPr sz="1400" b="1">
                <a:solidFill>
                  <a:srgbClr val="21201C"/>
                </a:solidFill>
                <a:latin typeface="Calibri"/>
              </a:rPr>
              <a:t>•  Professional handoff</a:t>
            </a:r>
          </a:p>
          <a:p>
            <a:pPr>
              <a:spcAft>
                <a:spcPts val="900"/>
              </a:spcAft>
            </a:pPr>
            <a:r>
              <a:rPr sz="1200" b="0">
                <a:solidFill>
                  <a:srgbClr val="6B6862"/>
                </a:solidFill>
                <a:latin typeface="Calibri"/>
              </a:rPr>
              <a:t>–  Refine and Present the HR Service Decision Deck</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WORKED DASHBOARD SNAPSHOT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Lumina Portfolio at a Glance</a:t>
            </a:r>
          </a:p>
        </p:txBody>
      </p:sp>
      <p:sp>
        <p:nvSpPr>
          <p:cNvPr id="5" name="Rounded Rectangle 4"/>
          <p:cNvSpPr/>
          <p:nvPr/>
        </p:nvSpPr>
        <p:spPr>
          <a:xfrm>
            <a:off x="7772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41832"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Total cases</a:t>
            </a:r>
          </a:p>
        </p:txBody>
      </p:sp>
      <p:sp>
        <p:nvSpPr>
          <p:cNvPr id="7" name="TextBox 6"/>
          <p:cNvSpPr txBox="1"/>
          <p:nvPr/>
        </p:nvSpPr>
        <p:spPr>
          <a:xfrm>
            <a:off x="941832"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120</a:t>
            </a:r>
          </a:p>
        </p:txBody>
      </p:sp>
      <p:sp>
        <p:nvSpPr>
          <p:cNvPr id="8" name="Rounded Rectangle 7"/>
          <p:cNvSpPr/>
          <p:nvPr/>
        </p:nvSpPr>
        <p:spPr>
          <a:xfrm>
            <a:off x="44348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994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Backlog</a:t>
            </a:r>
          </a:p>
        </p:txBody>
      </p:sp>
      <p:sp>
        <p:nvSpPr>
          <p:cNvPr id="10" name="TextBox 9"/>
          <p:cNvSpPr txBox="1"/>
          <p:nvPr/>
        </p:nvSpPr>
        <p:spPr>
          <a:xfrm>
            <a:off x="45994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60</a:t>
            </a:r>
          </a:p>
        </p:txBody>
      </p:sp>
      <p:sp>
        <p:nvSpPr>
          <p:cNvPr id="11" name="Rounded Rectangle 10"/>
          <p:cNvSpPr/>
          <p:nvPr/>
        </p:nvSpPr>
        <p:spPr>
          <a:xfrm>
            <a:off x="80924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570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Overdue</a:t>
            </a:r>
          </a:p>
        </p:txBody>
      </p:sp>
      <p:sp>
        <p:nvSpPr>
          <p:cNvPr id="13" name="TextBox 12"/>
          <p:cNvSpPr txBox="1"/>
          <p:nvPr/>
        </p:nvSpPr>
        <p:spPr>
          <a:xfrm>
            <a:off x="82570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50</a:t>
            </a:r>
          </a:p>
        </p:txBody>
      </p:sp>
      <p:sp>
        <p:nvSpPr>
          <p:cNvPr id="14" name="Rounded Rectangle 13"/>
          <p:cNvSpPr/>
          <p:nvPr/>
        </p:nvSpPr>
        <p:spPr>
          <a:xfrm>
            <a:off x="7772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41832"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Closed</a:t>
            </a:r>
          </a:p>
        </p:txBody>
      </p:sp>
      <p:sp>
        <p:nvSpPr>
          <p:cNvPr id="16" name="TextBox 15"/>
          <p:cNvSpPr txBox="1"/>
          <p:nvPr/>
        </p:nvSpPr>
        <p:spPr>
          <a:xfrm>
            <a:off x="941832"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48</a:t>
            </a:r>
          </a:p>
        </p:txBody>
      </p:sp>
      <p:sp>
        <p:nvSpPr>
          <p:cNvPr id="17" name="Rounded Rectangle 16"/>
          <p:cNvSpPr/>
          <p:nvPr/>
        </p:nvSpPr>
        <p:spPr>
          <a:xfrm>
            <a:off x="44348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994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On-time closed</a:t>
            </a:r>
          </a:p>
        </p:txBody>
      </p:sp>
      <p:sp>
        <p:nvSpPr>
          <p:cNvPr id="19" name="TextBox 18"/>
          <p:cNvSpPr txBox="1"/>
          <p:nvPr/>
        </p:nvSpPr>
        <p:spPr>
          <a:xfrm>
            <a:off x="45994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30/48</a:t>
            </a:r>
          </a:p>
        </p:txBody>
      </p:sp>
      <p:sp>
        <p:nvSpPr>
          <p:cNvPr id="20" name="Rounded Rectangle 19"/>
          <p:cNvSpPr/>
          <p:nvPr/>
        </p:nvSpPr>
        <p:spPr>
          <a:xfrm>
            <a:off x="80924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2570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Recorded cost</a:t>
            </a:r>
          </a:p>
        </p:txBody>
      </p:sp>
      <p:sp>
        <p:nvSpPr>
          <p:cNvPr id="22" name="TextBox 21"/>
          <p:cNvSpPr txBox="1"/>
          <p:nvPr/>
        </p:nvSpPr>
        <p:spPr>
          <a:xfrm>
            <a:off x="82570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S$35,828</a:t>
            </a:r>
          </a:p>
        </p:txBody>
      </p:sp>
      <p:sp>
        <p:nvSpPr>
          <p:cNvPr id="23" name="TextBox 22"/>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4" name="TextBox 2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6" name="TextBox 2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Backlog by Department: Count the Nonterminal Work</a:t>
            </a:r>
          </a:p>
        </p:txBody>
      </p:sp>
      <p:graphicFrame>
        <p:nvGraphicFramePr>
          <p:cNvPr id="5" name="Chart 4"/>
          <p:cNvGraphicFramePr>
            <a:graphicFrameLocks noGrp="1"/>
          </p:cNvGraphicFramePr>
          <p:nvPr/>
        </p:nvGraphicFramePr>
        <p:xfrm>
          <a:off x="868680" y="1691640"/>
          <a:ext cx="103327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7" name="TextBox 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9" name="TextBox 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REUSABLE DASHBOARD METHOD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Interactive Dashboard Skill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Named source + date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Six shared-scope KPIs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Four filters + three charts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 safe rerun checks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hr-case-dashboard is a separate custom Skill whose instructions define inputs, six KPI formulas, four shared filter selectors, three editable charts and controlled output boundaries.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contract makes every KPI and chart obey the same AND filter logic and allows a safe refresh using table references.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Dashboard B2:B5 select department, category, status and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Author and review the complete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and verify the dashboard name.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Invoke a plan and build the reviewed output.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common filters, append refresh and reruns.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Custom Dashboard Skill as a Reusable Contract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B7:B12 and all chart summaries use the identical selected rows.</a:t>
            </a:r>
          </a:p>
          <a:p>
            <a:pPr>
              <a:spcAft>
                <a:spcPts val="1000"/>
              </a:spcAft>
            </a:pPr>
            <a:r>
              <a:rPr sz="1600" b="0">
                <a:solidFill>
                  <a:srgbClr val="21201C"/>
                </a:solidFill>
                <a:latin typeface="Calibri"/>
              </a:rPr>
              <a:t>•  A 122-row sandbox is separate from the untouched 120-row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Custom Dashboard Skill as a Reusable Contract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Dashboard B2:B5 select department, category, status and owner.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B7:B12 and all chart summaries use the identical selected rows.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Tenant Skill access or source preservation is being assumed.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measure needs a business definition, numerator, denominator where relevant, date rule and filter scope.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Changing the denominator can make an attractive rate meaningless.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Closed-only rate is different from closed/total completion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fields and scope.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Compute count and denominator.</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Handle empty selections explicitly.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against controls.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Dashboard Measures and Denominators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due-today backlog item is not overdue under a strict before-date rule.</a:t>
            </a:r>
          </a:p>
          <a:p>
            <a:pPr>
              <a:spcAft>
                <a:spcPts val="1000"/>
              </a:spcAft>
            </a:pPr>
            <a:r>
              <a:rPr sz="1600" b="0">
                <a:solidFill>
                  <a:srgbClr val="21201C"/>
                </a:solidFill>
                <a:latin typeface="Calibri"/>
              </a:rPr>
              <a:t>•  All selected status/chart counts reconcile to total selected HR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Dashboard Measures and Denominators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Closed-only rate is different from closed/total completion share.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due-today backlog item is not overdue under a strict before-date rule.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zero denominator is being represented as a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should make an operational decision easier.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chart scales, short labels, whitespace and limited accents help a manager compare the work queue quickly.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Status count chart shows the portfolio mix.</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HR service decision.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the measure and comparison.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an appropriate labelled chart.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meaning and readability.</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Visual Dashboard Design for HR Service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Department backlog chart excludes Closed and Cancelled.</a:t>
            </a:r>
          </a:p>
          <a:p>
            <a:pPr>
              <a:spcAft>
                <a:spcPts val="1000"/>
              </a:spcAft>
            </a:pPr>
            <a:r>
              <a:rPr sz="1600" b="0">
                <a:solidFill>
                  <a:srgbClr val="21201C"/>
                </a:solidFill>
                <a:latin typeface="Calibri"/>
              </a:rPr>
              <a:t>•  A category count does not establish the root cause of overdue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Visual Dashboard Design for HR Service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Status count chart shows the portfolio mix.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Department backlog chart excludes Closed and Cancelled.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Decorative charts hide an ambiguous metric.</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CUSTOM DASHBOARD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Apply a Custom Interactive Dashboard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Create hr-case-dashboard/SKILL.md for the Lumina HR service workflow, install it in Excel, then invoke it to plan and build an interactive dashboard. Six KPIs and three charts share four filter selections.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a Dashboard layout, six verified measures, three labelled charts and a measure dictionary ready for Lab 8 filters.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Build: Apply @hr-case-dashboard to Lumina_HR_Cases.xlsx using six KPIs, Department/Category/Status/Owner filters and three editable chart summaries.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At All filters confirm total 120, backlog 60, overdue 50, closed 48, on-time rate 62.5% and recorded cost SGD 35,827.50.</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Baseline</a:t>
            </a:r>
          </a:p>
          <a:p>
            <a:pPr algn="l">
              <a:spcAft>
                <a:spcPts val="300"/>
              </a:spcAft>
            </a:pPr>
            <a:r>
              <a:rPr sz="1300" b="0">
                <a:solidFill>
                  <a:srgbClr val="6B6862"/>
                </a:solidFill>
                <a:latin typeface="Calibri"/>
              </a:rPr>
              <a:t>Total 120; backlog 60; overdue 50; closed 48.</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SLA and cost</a:t>
            </a:r>
          </a:p>
          <a:p>
            <a:pPr algn="l">
              <a:spcAft>
                <a:spcPts val="300"/>
              </a:spcAft>
            </a:pPr>
            <a:r>
              <a:rPr sz="1300" b="0">
                <a:solidFill>
                  <a:srgbClr val="6B6862"/>
                </a:solidFill>
                <a:latin typeface="Calibri"/>
              </a:rPr>
              <a:t>30/48 = 62.5%;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reconciliation</a:t>
            </a:r>
          </a:p>
          <a:p>
            <a:pPr algn="l">
              <a:spcAft>
                <a:spcPts val="300"/>
              </a:spcAft>
            </a:pPr>
            <a:r>
              <a:rPr sz="1300" b="0">
                <a:solidFill>
                  <a:srgbClr val="6B6862"/>
                </a:solidFill>
                <a:latin typeface="Calibri"/>
              </a:rPr>
              <a:t>Three count summaries each total 120; formulas reference tblHRCases.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Decision design</a:t>
            </a:r>
          </a:p>
          <a:p>
            <a:pPr algn="l">
              <a:spcAft>
                <a:spcPts val="300"/>
              </a:spcAft>
            </a:pPr>
            <a:r>
              <a:rPr sz="1300" b="0">
                <a:solidFill>
                  <a:srgbClr val="6B6862"/>
                </a:solidFill>
                <a:latin typeface="Calibri"/>
              </a:rPr>
              <a:t>Measures dictionary and source/date visible; no unsupported cause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WORKED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Same Data, Different Filter Scope</a:t>
            </a:r>
          </a:p>
        </p:txBody>
      </p:sp>
      <p:sp>
        <p:nvSpPr>
          <p:cNvPr id="5" name="Rounded Rectangle 4"/>
          <p:cNvSpPr/>
          <p:nvPr/>
        </p:nvSpPr>
        <p:spPr>
          <a:xfrm>
            <a:off x="7772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601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All departments</a:t>
            </a:r>
          </a:p>
        </p:txBody>
      </p:sp>
      <p:sp>
        <p:nvSpPr>
          <p:cNvPr id="7" name="TextBox 6"/>
          <p:cNvSpPr txBox="1"/>
          <p:nvPr/>
        </p:nvSpPr>
        <p:spPr>
          <a:xfrm>
            <a:off x="9601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120</a:t>
            </a:r>
          </a:p>
        </p:txBody>
      </p:sp>
      <p:sp>
        <p:nvSpPr>
          <p:cNvPr id="8" name="TextBox 7"/>
          <p:cNvSpPr txBox="1"/>
          <p:nvPr/>
        </p:nvSpPr>
        <p:spPr>
          <a:xfrm>
            <a:off x="9601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60</a:t>
            </a:r>
          </a:p>
        </p:txBody>
      </p:sp>
      <p:sp>
        <p:nvSpPr>
          <p:cNvPr id="9" name="TextBox 8"/>
          <p:cNvSpPr txBox="1"/>
          <p:nvPr/>
        </p:nvSpPr>
        <p:spPr>
          <a:xfrm>
            <a:off x="9601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50</a:t>
            </a:r>
          </a:p>
        </p:txBody>
      </p:sp>
      <p:sp>
        <p:nvSpPr>
          <p:cNvPr id="10" name="TextBox 9"/>
          <p:cNvSpPr txBox="1"/>
          <p:nvPr/>
        </p:nvSpPr>
        <p:spPr>
          <a:xfrm>
            <a:off x="9601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48</a:t>
            </a:r>
          </a:p>
        </p:txBody>
      </p:sp>
      <p:sp>
        <p:nvSpPr>
          <p:cNvPr id="11" name="TextBox 10"/>
          <p:cNvSpPr txBox="1"/>
          <p:nvPr/>
        </p:nvSpPr>
        <p:spPr>
          <a:xfrm>
            <a:off x="9601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30/48</a:t>
            </a:r>
          </a:p>
        </p:txBody>
      </p:sp>
      <p:sp>
        <p:nvSpPr>
          <p:cNvPr id="12" name="Rounded Rectangle 11"/>
          <p:cNvSpPr/>
          <p:nvPr/>
        </p:nvSpPr>
        <p:spPr>
          <a:xfrm>
            <a:off x="62636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13" name="TextBox 12"/>
          <p:cNvSpPr txBox="1"/>
          <p:nvPr/>
        </p:nvSpPr>
        <p:spPr>
          <a:xfrm>
            <a:off x="64465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Retail Sales</a:t>
            </a:r>
          </a:p>
        </p:txBody>
      </p:sp>
      <p:sp>
        <p:nvSpPr>
          <p:cNvPr id="14" name="TextBox 13"/>
          <p:cNvSpPr txBox="1"/>
          <p:nvPr/>
        </p:nvSpPr>
        <p:spPr>
          <a:xfrm>
            <a:off x="64465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24</a:t>
            </a:r>
          </a:p>
        </p:txBody>
      </p:sp>
      <p:sp>
        <p:nvSpPr>
          <p:cNvPr id="15" name="TextBox 14"/>
          <p:cNvSpPr txBox="1"/>
          <p:nvPr/>
        </p:nvSpPr>
        <p:spPr>
          <a:xfrm>
            <a:off x="64465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8</a:t>
            </a:r>
          </a:p>
        </p:txBody>
      </p:sp>
      <p:sp>
        <p:nvSpPr>
          <p:cNvPr id="16" name="TextBox 15"/>
          <p:cNvSpPr txBox="1"/>
          <p:nvPr/>
        </p:nvSpPr>
        <p:spPr>
          <a:xfrm>
            <a:off x="64465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7</a:t>
            </a:r>
          </a:p>
        </p:txBody>
      </p:sp>
      <p:sp>
        <p:nvSpPr>
          <p:cNvPr id="17" name="TextBox 16"/>
          <p:cNvSpPr txBox="1"/>
          <p:nvPr/>
        </p:nvSpPr>
        <p:spPr>
          <a:xfrm>
            <a:off x="64465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16</a:t>
            </a:r>
          </a:p>
        </p:txBody>
      </p:sp>
      <p:sp>
        <p:nvSpPr>
          <p:cNvPr id="18" name="TextBox 17"/>
          <p:cNvSpPr txBox="1"/>
          <p:nvPr/>
        </p:nvSpPr>
        <p:spPr>
          <a:xfrm>
            <a:off x="64465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10/16</a:t>
            </a:r>
          </a:p>
        </p:txBody>
      </p:sp>
      <p:sp>
        <p:nvSpPr>
          <p:cNvPr id="19" name="TextBox 18"/>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Interactive means a learner-controlled selection changes the evidence shown.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can appear interactive while only one chart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Retail Sales plus All in other selectors isolates that department.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the selector cells.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same AND mask everywhere.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each control and edge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selected chart and KPI totals.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One Filter Scope for Every Visual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Status New gives zero Closed and N/A closure rate.</a:t>
            </a:r>
          </a:p>
          <a:p>
            <a:pPr>
              <a:spcAft>
                <a:spcPts val="1000"/>
              </a:spcAft>
            </a:pPr>
            <a:r>
              <a:rPr sz="1600" b="0">
                <a:solidFill>
                  <a:srgbClr val="21201C"/>
                </a:solidFill>
                <a:latin typeface="Calibri"/>
              </a:rPr>
              <a:t>•  A slicer must connect to every intended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One Filter Scope for Every Visual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https://support.microsoft.com/en-us/excel/get-started/use-slicers-to-filter-data</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Retail Sales plus All in other selectors isolates that department.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Status New gives zero Closed and N/A closure 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selector only changes a decorative title or one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refresh test deliberately introduces known new records and verifies the expected delta.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correct dashboard today may fail after the next export if formulas reference a fixed cell range.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Two test rows increase total by 2 and recorded cost by S$400.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an isolated sandbox copy.</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Append known unique test rows.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and verify expected deltas.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Handoff the untouched baseline.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Refresh Tests and Static Snapshots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Only one new row adds to backlog/overdue; the other adds to on-time Closed.</a:t>
            </a:r>
          </a:p>
          <a:p>
            <a:pPr>
              <a:spcAft>
                <a:spcPts val="1000"/>
              </a:spcAft>
            </a:pPr>
            <a:r>
              <a:rPr sz="1600" b="0">
                <a:solidFill>
                  <a:srgbClr val="21201C"/>
                </a:solidFill>
                <a:latin typeface="Calibri"/>
              </a:rPr>
              <a:t>•  The final deck uses the untouched 120-row baseline, not the test copy.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Refresh Tests and Static Snapshots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Two test rows increase total by 2 and recorded cost by S$400.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Only one new row adds to backlog/overdue; the other adds to on-time Closed.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 rows are being mixed into the report without disclosure.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INTERACTIVE FILTERS AND REFRESH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Use the Dashboard Skill for Filters, Refresh and Safe Reruns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Lab 7 by making four dropdown selectors control every KPI and chart. Test a single department, a zero-denominator selection and a combined category/owner filter.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four working filters plus Lumina_Dashboard_Refresh_Test.xlsx, filter evidence and a verified baseline snapshot for PowerPoint.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Refresh: Append Refresh_Test_Rows.csv in the sandbox, refresh @hr-case-dashboard and verify total 122, backlog 61, overdue 51 and closed 49.</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Empty scope: Filter Retail Sales, Leave Request and Daniel Lee; show an explicit empty state rather than a zero-data chart.</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Retail Sales control</a:t>
            </a:r>
          </a:p>
          <a:p>
            <a:pPr algn="l">
              <a:spcAft>
                <a:spcPts val="300"/>
              </a:spcAft>
            </a:pPr>
            <a:r>
              <a:rPr sz="1300" b="0">
                <a:solidFill>
                  <a:srgbClr val="6B6862"/>
                </a:solidFill>
                <a:latin typeface="Calibri"/>
              </a:rPr>
              <a:t>Total 24; backlog 8; overdue 7; closed 16; cost S$6,668.50; on-time 10/16.</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Interactive scope</a:t>
            </a:r>
          </a:p>
          <a:p>
            <a:pPr algn="l">
              <a:spcAft>
                <a:spcPts val="300"/>
              </a:spcAft>
            </a:pPr>
            <a:r>
              <a:rPr sz="1300" b="0">
                <a:solidFill>
                  <a:srgbClr val="6B6862"/>
                </a:solidFill>
                <a:latin typeface="Calibri"/>
              </a:rPr>
              <a:t>Changing any of four filters affects all six KPI measures and all chart counts.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Edge case</a:t>
            </a:r>
          </a:p>
          <a:p>
            <a:pPr algn="l">
              <a:spcAft>
                <a:spcPts val="300"/>
              </a:spcAft>
            </a:pPr>
            <a:r>
              <a:rPr sz="1300" b="0">
                <a:solidFill>
                  <a:srgbClr val="6B6862"/>
                </a:solidFill>
                <a:latin typeface="Calibri"/>
              </a:rPr>
              <a:t>No Closed -&gt; N/A; no rows -&gt; zero count/cost and N/A rate.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sandbox</a:t>
            </a:r>
          </a:p>
          <a:p>
            <a:pPr algn="l">
              <a:spcAft>
                <a:spcPts val="300"/>
              </a:spcAft>
            </a:pPr>
            <a:r>
              <a:rPr sz="1300" b="0">
                <a:solidFill>
                  <a:srgbClr val="6B6862"/>
                </a:solidFill>
                <a:latin typeface="Calibri"/>
              </a:rPr>
              <a:t>122 total;49 closed;61 backlog;51 overdue;S$36,227.50;31/49 on-time.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Handoff baseline</a:t>
            </a:r>
          </a:p>
          <a:p>
            <a:pPr algn="l">
              <a:spcAft>
                <a:spcPts val="300"/>
              </a:spcAft>
            </a:pPr>
            <a:r>
              <a:rPr sz="1300" b="0">
                <a:solidFill>
                  <a:srgbClr val="6B6862"/>
                </a:solidFill>
                <a:latin typeface="Calibri"/>
              </a:rPr>
              <a:t>Return to 120-row untouched baseline; date and All scope recorded.</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EVIDENCE TO NARRATIVE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Verified Chart Becomes a Decision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Observed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Operational implication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Proposed recovery action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Manager decision requested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management presentation transforms evidence into a sequence of observations, implications, proposed actions and a decision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accelerate outlines and drafting, but a persuasive invented conclusion is still wrong.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Backlog by department supports prioritisation, not a proven cause.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the verified dashboard snapshot.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Register each proposed claim.</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a reviewed Word brief.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Generate and reconcile the deck.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From Dashboard Evidence to a Decision Story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Available-hours evidence supports a capacity discussion, not confirmed allocation.</a:t>
            </a:r>
          </a:p>
          <a:p>
            <a:pPr>
              <a:spcAft>
                <a:spcPts val="1000"/>
              </a:spcAft>
            </a:pPr>
            <a:r>
              <a:rPr sz="1600" b="0">
                <a:solidFill>
                  <a:srgbClr val="21201C"/>
                </a:solidFill>
                <a:latin typeface="Calibri"/>
              </a:rPr>
              <a:t>•  The final slide asks management to decide on a proposed plan.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From Dashboard Evidence to a Decision Story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Backlog by department supports prioritisation, not a proven cause.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Available-hours evidence supports a capacity discussion, not confirmed allocation.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story introduces savings, causes or approvals absent from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template supplies slide layouts, typography and colours; it does not supply correct facts.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Approximate AI-generated charts can contradict source values while looking plausible.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editable embedded chart remains a copy rather than a tested live link.</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Select the reviewed brief.</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existing template.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Insert verified charts or tables.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source and snapshot scope.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Charts, Templates and Source Provenance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An image is labelled as a snapshot at 30 September.</a:t>
            </a:r>
          </a:p>
          <a:p>
            <a:pPr>
              <a:spcAft>
                <a:spcPts val="1000"/>
              </a:spcAft>
            </a:pPr>
            <a:r>
              <a:rPr sz="1600" b="0">
                <a:solidFill>
                  <a:srgbClr val="21201C"/>
                </a:solidFill>
                <a:latin typeface="Calibri"/>
              </a:rPr>
              <a:t>•  All eight slides use one reviewed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Charts, Templates and Source Provenance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https://support.microsoft.com/en-us/powerpoint/copilot/add-a-slide-from-a-file-with-copilot-in-powerpoint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 editable embedded chart remains a copy rather than a tested live link.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An image is labelled as a snapshot at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visual is assumed accurate because Copilot produced it.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THEME · DASHBOARD TO PRESENTATION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Turn Dashboard Evidence into a Management Story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9</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baseline dashboard from Topic 3. Build a slide evidence register and a Word presentation brief before asking PowerPoint Copilot for an eight-slide management deck.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Lumina_Presentation_Brief.docx, Lumina_HR_Management_Draft.pptx and a slide-by-slide evidence register tied to the 120-row dashboard snapshot.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9</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Story: Using the verified dashboard snapshot, outline an eight-slide Lumina management story with claim, value, source, scope, as-at date and limitation for each slide.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Outlook: Draft an unsent Outlook review request that names the deck version and asks the HR manager to confirm proposed assignments.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9</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continuity</a:t>
            </a:r>
          </a:p>
          <a:p>
            <a:pPr algn="l">
              <a:spcAft>
                <a:spcPts val="300"/>
              </a:spcAft>
            </a:pPr>
            <a:r>
              <a:rPr sz="1300" b="0">
                <a:solidFill>
                  <a:srgbClr val="6B6862"/>
                </a:solidFill>
                <a:latin typeface="Calibri"/>
              </a:rPr>
              <a:t>Every deck figure maps to the 120-row Lab 8 baseline and slide evidence register.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Eight-slide narrative</a:t>
            </a:r>
          </a:p>
          <a:p>
            <a:pPr algn="l">
              <a:spcAft>
                <a:spcPts val="300"/>
              </a:spcAft>
            </a:pPr>
            <a:r>
              <a:rPr sz="1300" b="0">
                <a:solidFill>
                  <a:srgbClr val="6B6862"/>
                </a:solidFill>
                <a:latin typeface="Calibri"/>
              </a:rPr>
              <a:t>Observation -&gt; implication -&gt; proposed action -&gt; decision; no invented cause/savings.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semantics</a:t>
            </a:r>
          </a:p>
          <a:p>
            <a:pPr algn="l">
              <a:spcAft>
                <a:spcPts val="300"/>
              </a:spcAft>
            </a:pPr>
            <a:r>
              <a:rPr sz="1300" b="0">
                <a:solidFill>
                  <a:srgbClr val="6B6862"/>
                </a:solidFill>
                <a:latin typeface="Calibri"/>
              </a:rPr>
              <a:t>Backlog charts exclude Closed/Cancelled; embedded/image copies labelled snapshot.</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ARTIFACT LIFECYCLE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HR Service Reporting Handoff</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Interactive workbook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Dated Word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Static PPTX + PDF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Reviewed unsent email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Refinement improves the clarity of the existing evidence without changing its meaning.</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well-designed deck can still fail when the speaker’s notes contain different numbers or a proposal is spoken as an approved action.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message per slide; chart labels remain readable.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Audit the draft against evidence.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reviewed design changes.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Rehearse and record actual feedback.</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Inspect PPTX and exported PDF.</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Professional Refinement and Rehearsal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45-second note explains evidence and limitation.</a:t>
            </a:r>
          </a:p>
          <a:p>
            <a:pPr>
              <a:spcAft>
                <a:spcPts val="1000"/>
              </a:spcAft>
            </a:pPr>
            <a:r>
              <a:rPr sz="1600" b="0">
                <a:solidFill>
                  <a:srgbClr val="21201C"/>
                </a:solidFill>
                <a:latin typeface="Calibri"/>
              </a:rPr>
              <a:t>•  Partner feedback leads to one recorded revision.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Professional Refinement and Rehearsal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https://support.microsoft.com/en-us/powerpoint/copilot/copilot-in-powerpoint-skills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One message per slide; chart labels remain readable.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45-second note explains evidence and limitation.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hides an unsupported claim or unreadable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final pack contains an interactive Excel dashboard, a fixed reporting brief, a static PowerPoint/PDF snapshot, the custom skill and a reviewed communication draft.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Updating one artifact without the others creates inconsistent communication.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PowerPoint and PDF both show eight slides/pages from the same baseline.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final artifacts.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actual filenames and links.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the handoff draft.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Preserve the dated snapshot and skill.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Reviewed Handoff and Artifact Lifecycle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Outlook does not claim a missing attachment was sent.</a:t>
            </a:r>
          </a:p>
          <a:p>
            <a:pPr>
              <a:spcAft>
                <a:spcPts val="1000"/>
              </a:spcAft>
            </a:pPr>
            <a:r>
              <a:rPr sz="1600" b="0">
                <a:solidFill>
                  <a:srgbClr val="21201C"/>
                </a:solidFill>
                <a:latin typeface="Calibri"/>
              </a:rPr>
              <a:t>•  The next update reruns the method with new verified inputs.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Reviewed Handoff and Artifact Lifecycle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PowerPoint and PDF both show eight slides/pages from the same baseline.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Outlook does not claim a missing attachment was sent.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refreshed dashboard is assumed to rewrite an old presentation.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THEME · PROFESSIONAL HANDOFF</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Refine and Present the HR Service Decision Deck</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10</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Refine the management deck using the same custom skill and reviewed dashboard evidence. Improve hierarchy, consistency and speaker notes, test the story in a short rehearsal, and prepare a reviewed Outlook handoff draft.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Lumina_HR_Management_Final.pptx/PDF, a rehearsal record, final evidence register and unsent Outlook handoff draft with accurate artifact links.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10</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Refine: Refine Lumina_HR_Decision_Deck.pptx for readable titles, editable charts, source notes and a clear current-versus-proposed assignment boundary.</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Rehearse: Use Rehearsal_Log.csv to record feedback, evidence, change and retest before the final handoff.</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10</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Presentation integrity</a:t>
            </a:r>
          </a:p>
          <a:p>
            <a:pPr algn="l">
              <a:spcAft>
                <a:spcPts val="300"/>
              </a:spcAft>
            </a:pPr>
            <a:r>
              <a:rPr sz="1300" b="0">
                <a:solidFill>
                  <a:srgbClr val="6B6862"/>
                </a:solidFill>
                <a:latin typeface="Calibri"/>
              </a:rPr>
              <a:t>Eight slides and eight PDF pages; visible figures agree with verified register.</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Professional delivery</a:t>
            </a:r>
          </a:p>
          <a:p>
            <a:pPr algn="l">
              <a:spcAft>
                <a:spcPts val="300"/>
              </a:spcAft>
            </a:pPr>
            <a:r>
              <a:rPr sz="1300" b="0">
                <a:solidFill>
                  <a:srgbClr val="6B6862"/>
                </a:solidFill>
                <a:latin typeface="Calibri"/>
              </a:rPr>
              <a:t>Readable chart labels, consistent design, evidence-specific notes and actual rehearsal improvement.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Final continuity</a:t>
            </a:r>
          </a:p>
          <a:p>
            <a:pPr algn="l">
              <a:spcAft>
                <a:spcPts val="300"/>
              </a:spcAft>
            </a:pPr>
            <a:r>
              <a:rPr sz="1300" b="0">
                <a:solidFill>
                  <a:srgbClr val="6B6862"/>
                </a:solidFill>
                <a:latin typeface="Calibri"/>
              </a:rPr>
              <a:t>Baseline dashboard, brief, deck and unsent draft agree; static snapshot stated.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Decision boundary</a:t>
            </a:r>
          </a:p>
          <a:p>
            <a:pPr algn="l">
              <a:spcAft>
                <a:spcPts val="300"/>
              </a:spcAft>
            </a:pPr>
            <a:r>
              <a:rPr sz="1300" b="0">
                <a:solidFill>
                  <a:srgbClr val="6B6862"/>
                </a:solidFill>
                <a:latin typeface="Calibri"/>
              </a:rPr>
              <a:t>No real email sent or HR case reassigned; proposed actions remain proposed.</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LO3 checkpoint</a:t>
            </a:r>
          </a:p>
          <a:p>
            <a:pPr algn="l">
              <a:spcAft>
                <a:spcPts val="300"/>
              </a:spcAft>
            </a:pPr>
            <a:r>
              <a:rPr sz="1300" b="0">
                <a:solidFill>
                  <a:srgbClr val="6B6862"/>
                </a:solidFill>
                <a:latin typeface="Calibri"/>
              </a:rPr>
              <a:t>Outlook and Teams rows use supplied evidence, observable value, readiness, risk/control and a human gate.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Create Interactive Dashboard and Professional Presentation</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LO3: Dashboard and presentation support Teams/Outlook opportunity evaluation.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Claims use untouched fixed-date baseline.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4</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Microsoft 365 Agents for Businesses</a:t>
            </a:r>
          </a:p>
        </p:txBody>
      </p:sp>
      <p:sp>
        <p:nvSpPr>
          <p:cNvPr id="7" name="Rectangle 6"/>
          <p:cNvSpPr/>
          <p:nvPr/>
        </p:nvSpPr>
        <p:spPr>
          <a:xfrm>
            <a:off x="841248" y="4206240"/>
            <a:ext cx="1143000" cy="64008"/>
          </a:xfrm>
          <a:prstGeom prst="rect">
            <a:avLst/>
          </a:prstGeom>
          <a:solidFill>
            <a:srgbClr val="C2603F"/>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Build a grounded HR agent: scope, knowledge, Skill, tests, sharing and staff enablement</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K4 · A4</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Create Microsoft 365 Agents for Businesses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Boundary</a:t>
            </a:r>
          </a:p>
          <a:p>
            <a:pPr algn="l">
              <a:spcAft>
                <a:spcPts val="300"/>
              </a:spcAft>
            </a:pPr>
            <a:r>
              <a:rPr sz="1400" b="0">
                <a:solidFill>
                  <a:srgbClr val="6B6862"/>
                </a:solidFill>
                <a:latin typeface="Calibri"/>
              </a:rPr>
              <a:t>HR helpdesk answers;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Knowledge</a:t>
            </a:r>
          </a:p>
          <a:p>
            <a:pPr algn="l">
              <a:spcAft>
                <a:spcPts val="300"/>
              </a:spcAft>
            </a:pPr>
            <a:r>
              <a:rPr sz="1400" b="0">
                <a:solidFill>
                  <a:srgbClr val="6B6862"/>
                </a:solidFill>
                <a:latin typeface="Calibri"/>
              </a:rPr>
              <a:t>Permission-aware HR handbook and verified case snapshot.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a:t>
            </a:r>
          </a:p>
          <a:p>
            <a:pPr algn="l">
              <a:spcAft>
                <a:spcPts val="300"/>
              </a:spcAft>
            </a:pPr>
            <a:r>
              <a:rPr sz="1400" b="0">
                <a:solidFill>
                  <a:srgbClr val="6B6862"/>
                </a:solidFill>
                <a:latin typeface="Calibri"/>
              </a:rPr>
              <a:t>hr-policy-qa sets format, citations and privacy rules.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Evaluation</a:t>
            </a:r>
          </a:p>
          <a:p>
            <a:pPr algn="l">
              <a:spcAft>
                <a:spcPts val="300"/>
              </a:spcAft>
            </a:pPr>
            <a:r>
              <a:rPr sz="1400" b="0">
                <a:solidFill>
                  <a:srgbClr val="6B6862"/>
                </a:solidFill>
                <a:latin typeface="Calibri"/>
              </a:rPr>
              <a:t>Known-answer, privacy and guardrail tests before named-user sharing.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Create Microsoft 365 Agents for Businesses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11–12</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Scope and Knowledge</a:t>
            </a:r>
          </a:p>
          <a:p>
            <a:pPr>
              <a:spcAft>
                <a:spcPts val="900"/>
              </a:spcAft>
            </a:pPr>
            <a:r>
              <a:rPr sz="1200" b="0">
                <a:solidFill>
                  <a:srgbClr val="6B6862"/>
                </a:solidFill>
                <a:latin typeface="Calibri"/>
              </a:rPr>
              <a:t>–  Design the HR Policy Agent: Users, Knowledge and Skill</a:t>
            </a:r>
          </a:p>
          <a:p>
            <a:pPr>
              <a:spcAft>
                <a:spcPts val="900"/>
              </a:spcAft>
            </a:pPr>
            <a:r>
              <a:rPr sz="1400" b="1">
                <a:solidFill>
                  <a:srgbClr val="21201C"/>
                </a:solidFill>
                <a:latin typeface="Calibri"/>
              </a:rPr>
              <a:t>•  Agent Configuration</a:t>
            </a:r>
          </a:p>
          <a:p>
            <a:pPr>
              <a:spcAft>
                <a:spcPts val="900"/>
              </a:spcAft>
            </a:pPr>
            <a:r>
              <a:rPr sz="1200" b="0">
                <a:solidFill>
                  <a:srgbClr val="6B6862"/>
                </a:solidFill>
                <a:latin typeface="Calibri"/>
              </a:rPr>
              <a:t>–  Build the HR Agent: Instructions, Knowledge, Skill and Starter Prompts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13–14</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Test and Evaluation</a:t>
            </a:r>
          </a:p>
          <a:p>
            <a:pPr>
              <a:spcAft>
                <a:spcPts val="900"/>
              </a:spcAft>
            </a:pPr>
            <a:r>
              <a:rPr sz="1200" b="0">
                <a:solidFill>
                  <a:srgbClr val="6B6862"/>
                </a:solidFill>
                <a:latin typeface="Calibri"/>
              </a:rPr>
              <a:t>–  Test Grounded HR Answers, Citations and Guardrails</a:t>
            </a:r>
          </a:p>
          <a:p>
            <a:pPr>
              <a:spcAft>
                <a:spcPts val="900"/>
              </a:spcAft>
            </a:pPr>
            <a:r>
              <a:rPr sz="1400" b="1">
                <a:solidFill>
                  <a:srgbClr val="21201C"/>
                </a:solidFill>
                <a:latin typeface="Calibri"/>
              </a:rPr>
              <a:t>•  Governed Sharing and Enablement</a:t>
            </a:r>
          </a:p>
          <a:p>
            <a:pPr>
              <a:spcAft>
                <a:spcPts val="900"/>
              </a:spcAft>
            </a:pPr>
            <a:r>
              <a:rPr sz="1200" b="0">
                <a:solidFill>
                  <a:srgbClr val="6B6862"/>
                </a:solidFill>
                <a:latin typeface="Calibri"/>
              </a:rPr>
              <a:t>–  Share the HR Agent with Named Users and Deliver Staff Enablement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Builder creates declarative agents for focused retrieval and drafting in Microsoft 365 Copilot.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precise boundary keeps a helpful HR assistant from being mistaken for an approval system or a source of other people’s data.</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 answer cites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users and questions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List approved knowledge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refused requests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success and escalation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An HR Agent Answers from Approved Knowledge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No approvals, sends or record changes</a:t>
            </a:r>
          </a:p>
          <a:p>
            <a:pPr>
              <a:spcAft>
                <a:spcPts val="1000"/>
              </a:spcAft>
            </a:pPr>
            <a:r>
              <a:rPr sz="1600" b="0">
                <a:solidFill>
                  <a:srgbClr val="21201C"/>
                </a:solidFill>
                <a:latin typeface="Calibri"/>
              </a:rPr>
              <a:t>•  HR Business Partner handles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An HR Agent Answers from Approved Knowledge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 answer cites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No approvals, sends or record changes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needs approvals, live HR records or another employee’s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Knowledge can include SharePoint, OneDrive, embedded files and other licensed sources.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success can hide user-access failure.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Existing permissions stay in force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Inventory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owner and 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user permission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as a representative user</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Knowledge Inventory and Permission Model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Restricted case notes are excluded</a:t>
            </a:r>
          </a:p>
          <a:p>
            <a:pPr>
              <a:spcAft>
                <a:spcPts val="1000"/>
              </a:spcAft>
            </a:pPr>
            <a:r>
              <a:rPr sz="1600" b="0">
                <a:solidFill>
                  <a:srgbClr val="21201C"/>
                </a:solidFill>
                <a:latin typeface="Calibri"/>
              </a:rPr>
              <a:t>•  A local path is not cloud knowledge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Knowledge Inventory and Permission Model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Existing permissions stay in force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Restricted case notes are excluded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Ownership or intended-user access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 is a reusable SKILL.md instruction package.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Without a consistent method, two correct sources can still produce uncited, over-confident or privacy-breaking answers.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conditions, next step,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Skill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them against the handbook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Compress the folder to .zip</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Upload and verify it is enabled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Skills Shape Every Agent Answer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UNKNOWN plus HR Business Partner referral</a:t>
            </a:r>
          </a:p>
          <a:p>
            <a:pPr>
              <a:spcAft>
                <a:spcPts val="1000"/>
              </a:spcAft>
            </a:pPr>
            <a:r>
              <a:rPr sz="1600" b="0">
                <a:solidFill>
                  <a:srgbClr val="21201C"/>
                </a:solidFill>
                <a:latin typeface="Calibri"/>
              </a:rPr>
              <a:t>•  Never reveal another employee’s data</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Shape Every Agent Answer</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conditions, next step,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UNKNOWN plus HR Business Partner referral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is used to smuggle in facts that belong in knowledge.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THEME · AGENT SCOPE AND KNOWLEDGE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Design the HR Policy Agent: Users, Knowledge and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Design Lumina HR Policy Agent, an HR helpdesk agent that answers employees’ HR questions from approved knowledge. Decide who it serves and which questions it must answer, inventory and check the HR Policy Handbook and case snapshot it will use, review the hr-policy-qa Skill that shapes every answer, and draft the agent in Agent Builder.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reviewed design brief, a completed knowledge inventory with owners and access, the four knowledge files in OneDrive, hr-policy-qa.zip and a private agent draft (or a labelled configuration-only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Scope: Using Lumina_HR_Agent_Design_Brief.md, define a private HR helpdesk agent that cites the HR Policy Handbook and never approves, sends or reveals another employee’s data.</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Inventory: Record owner, as-at date, type and user access for the handbook, snapshot, workbook and enablement plan; exclude the restricted case notes.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Scope</a:t>
            </a:r>
          </a:p>
          <a:p>
            <a:pPr algn="l">
              <a:spcAft>
                <a:spcPts val="300"/>
              </a:spcAft>
            </a:pPr>
            <a:r>
              <a:rPr sz="1300" b="0">
                <a:solidFill>
                  <a:srgbClr val="6B6862"/>
                </a:solidFill>
                <a:latin typeface="Calibri"/>
              </a:rPr>
              <a:t>One HR helpdesk outcome: cited policy answers and case figures;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files with owner, date, type and verified user access; restricted notes excluded.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reviewed against the handbook and compressed to hr-policy-qa.zip.</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State</a:t>
            </a:r>
          </a:p>
          <a:p>
            <a:pPr algn="l">
              <a:spcAft>
                <a:spcPts val="300"/>
              </a:spcAft>
            </a:pPr>
            <a:r>
              <a:rPr sz="1300" b="0">
                <a:solidFill>
                  <a:srgbClr val="6B6862"/>
                </a:solidFill>
                <a:latin typeface="Calibri"/>
              </a:rPr>
              <a:t>Private draft or accurately labelled configuration-only route.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Instructions define role, sources, answer style and boundaries; Agent Builder documents an 8,000-character limit.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Specific instructions create observable pass rules for citations, UNKNOWN, conflicts, privacy and refused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plus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sources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UNKNOWN and conflicts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refused requests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Instruction Contract and Response Format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Conflict answered from approved version</a:t>
            </a:r>
          </a:p>
          <a:p>
            <a:pPr>
              <a:spcAft>
                <a:spcPts val="1000"/>
              </a:spcAft>
            </a:pPr>
            <a:r>
              <a:rPr sz="1600" b="0">
                <a:solidFill>
                  <a:srgbClr val="21201C"/>
                </a:solidFill>
                <a:latin typeface="Calibri"/>
              </a:rPr>
              <a:t>•  Approval requests routed to the HR portal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Instruction Contract and Response Format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plus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Conflict answered from approved version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Instructions are treated as a security control.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Configure tab adds knowledge and optional web search.</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and known-answer tests give stronger evidence than a web-search toggle alone.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entitlement cited to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Add approved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web state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Require citations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supported and unsupported questions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Grounding: Only Use Specified Sources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Sabbatical returns UNKNOWN</a:t>
            </a:r>
          </a:p>
          <a:p>
            <a:pPr>
              <a:spcAft>
                <a:spcPts val="1000"/>
              </a:spcAft>
            </a:pPr>
            <a:r>
              <a:rPr sz="1600" b="0">
                <a:solidFill>
                  <a:srgbClr val="21201C"/>
                </a:solidFill>
                <a:latin typeface="Calibri"/>
              </a:rPr>
              <a:t>•  No uncited policy claim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Only Use Specified Sources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Leave entitlement cited to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Sabbatical returns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An uncited answer passes because web search is off.</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173</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Starter prompts show employees which questions the agent is designed to answer; they do not expand permissions or capability.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Prompts mapped to handbook sections and tests teach correct use and support onboarding.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174</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Map prompt to section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expected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in Try it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Keep passing cases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175</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Starter Prompts as Discoverable Test Cases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GP claim limit</a:t>
            </a:r>
          </a:p>
          <a:p>
            <a:pPr>
              <a:spcAft>
                <a:spcPts val="1000"/>
              </a:spcAft>
            </a:pPr>
            <a:r>
              <a:rPr sz="1600" b="0">
                <a:solidFill>
                  <a:srgbClr val="21201C"/>
                </a:solidFill>
                <a:latin typeface="Calibri"/>
              </a:rPr>
              <a:t>•  Training request route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176</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Starter Prompts as Discoverable Test Cases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GP claim limit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prompt implies approval or live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THEME · AGENT CONFIGURATION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the HR Agent: Instructions, Knowledge, Skill and Starter Prompts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Configure Lumina HR Policy Agent with reviewed instructions, the four OneDrive knowledge files and the hr-policy-qa Skill, add starter prompts, then preview a grounded answer and a missing-evidence answer before you create it. Grounding comes from the knowledge; the Skill sets how every answer is structured, cited and bounded.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private configured HR agent (or an evidence-complete configuration record) whose preview answers are cited and whose missing-evidence answer is UNKNOWN.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178</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Configure: Configure Lumina HR Policy Agent with the reviewed instructions, four OneDrive knowledge files, the hr-policy-qa Skill and four starter prompts; keep it private.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Preview: Ask the year-3 annual leave question (expect 18 days, cited) and the sabbatical question (expect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179</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Instructions</a:t>
            </a:r>
          </a:p>
          <a:p>
            <a:pPr algn="l">
              <a:spcAft>
                <a:spcPts val="300"/>
              </a:spcAft>
            </a:pPr>
            <a:r>
              <a:rPr sz="1300" b="0">
                <a:solidFill>
                  <a:srgbClr val="6B6862"/>
                </a:solidFill>
                <a:latin typeface="Calibri"/>
              </a:rPr>
              <a:t>Role, sources, citation, UNKNOWN, privacy and approval boundaries explicit.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OneDrive files match the inventory; Only use specified sources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enabled, or the manual route labelled.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Preview</a:t>
            </a:r>
          </a:p>
          <a:p>
            <a:pPr algn="l">
              <a:spcAft>
                <a:spcPts val="300"/>
              </a:spcAft>
            </a:pPr>
            <a:r>
              <a:rPr sz="1300" b="0">
                <a:solidFill>
                  <a:srgbClr val="6B6862"/>
                </a:solidFill>
                <a:latin typeface="Calibri"/>
              </a:rPr>
              <a:t>18 days cited to section 1; sabbatical returns UNKNOWN before Create.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180</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test matrix fixes prompt, configuration version, expected evidence and pass rule across retrieval and boundary cases.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Known answers such as 18 days of year-3 leave make grounding deterministic; boundary cases reveal unsafe answers before employees see them.</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T01 returns 18 days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181</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configuration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exact prompt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answer and citation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Repair or block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182</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HR Test Matrix and Known Answers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T05 approves nothing</a:t>
            </a:r>
          </a:p>
          <a:p>
            <a:pPr>
              <a:spcAft>
                <a:spcPts val="1000"/>
              </a:spcAft>
            </a:pPr>
            <a:r>
              <a:rPr sz="1600" b="0">
                <a:solidFill>
                  <a:srgbClr val="21201C"/>
                </a:solidFill>
                <a:latin typeface="Calibri"/>
              </a:rPr>
              <a:t>•  T08 answers from the approved version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183</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 Test Matrix and Known Answers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T01 returns 18 days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T05 approves nothing</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substitutes for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Grounded answers identify the handbook section or snapshot for entitlements, amounts, deadlines and case figures; conflicting sources trigger a flag, not a merged answer.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reveal source drift and outdated pages before they reach employees.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S$40 per GP visit cited to section 4</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185</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Ask a known answer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citation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section and version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Inject a conflict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186</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Citation and Conflict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Overdue cases cited to the snapshot</a:t>
            </a:r>
          </a:p>
          <a:p>
            <a:pPr>
              <a:spcAft>
                <a:spcPts val="1000"/>
              </a:spcAft>
            </a:pPr>
            <a:r>
              <a:rPr sz="1600" b="0">
                <a:solidFill>
                  <a:srgbClr val="21201C"/>
                </a:solidFill>
                <a:latin typeface="Calibri"/>
              </a:rPr>
              <a:t>•  Old intranet page flagged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187</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Evidence Trace — Citation and Conflict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S$40 per GP visit cited to section 4</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Overdue cases cited to the snapshot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agent averages or merges conflicting values.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188</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as an intended user for another employee’s data, restricted files, live balances and approve/send requests.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access conceals permission defects; a policy handbook cannot answer live balances; Agent Builder does not perform external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salary or medical disclosure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 named tester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privacy case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live-data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prohibited action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190</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Privacy, Live-Data and Approval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Leave balance UNKNOWN, see HR portal</a:t>
            </a:r>
          </a:p>
          <a:p>
            <a:pPr>
              <a:spcAft>
                <a:spcPts val="1000"/>
              </a:spcAft>
            </a:pPr>
            <a:r>
              <a:rPr sz="1600" b="0">
                <a:solidFill>
                  <a:srgbClr val="21201C"/>
                </a:solidFill>
                <a:latin typeface="Calibri"/>
              </a:rPr>
              <a:t>•  No approval or email claimed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191</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Privacy, Live-Data and Approval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No salary or medical disclosure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Leave balance UNKNOWN, see HR portal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Testing needs broad permissions or simulated success.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192</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THEME · AGENT TEST AND EVALUATION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Test Grounded HR Answers, Citations and Guardrails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Run the eight-case evaluation against instruction version v1.0. Policy and case-figure questions must return the known answer with a cited section; unknown, live-data, privacy, conflict and approval requests must be handled safely.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completed eight-case test matrix with actual answers, citations and pass/fail, one corrected defect with a clean retest, and a sharing decision.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193</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Evaluate: Run T01 through T08 against instruction v1.0; record actual answer, citation, pass/fail, defect and retest.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Guardrail: Verify T01 returns 18 days cited, T03 returns 50 overdue, T05 approves nothing and T06 discloses nothing.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194</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Coverage</a:t>
            </a:r>
          </a:p>
          <a:p>
            <a:pPr algn="l">
              <a:spcAft>
                <a:spcPts val="300"/>
              </a:spcAft>
            </a:pPr>
            <a:r>
              <a:rPr sz="1300" b="0">
                <a:solidFill>
                  <a:srgbClr val="6B6862"/>
                </a:solidFill>
                <a:latin typeface="Calibri"/>
              </a:rPr>
              <a:t>All eight tests have actual answers, citations and results.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Grounding</a:t>
            </a:r>
          </a:p>
          <a:p>
            <a:pPr algn="l">
              <a:spcAft>
                <a:spcPts val="300"/>
              </a:spcAft>
            </a:pPr>
            <a:r>
              <a:rPr sz="1300" b="0">
                <a:solidFill>
                  <a:srgbClr val="6B6862"/>
                </a:solidFill>
                <a:latin typeface="Calibri"/>
              </a:rPr>
              <a:t>T01 18 days; T02 S$40/S$500/30 days; T03 50 overdue - each cited.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Boundaries</a:t>
            </a:r>
          </a:p>
          <a:p>
            <a:pPr algn="l">
              <a:spcAft>
                <a:spcPts val="300"/>
              </a:spcAft>
            </a:pPr>
            <a:r>
              <a:rPr sz="1300" b="0">
                <a:solidFill>
                  <a:srgbClr val="6B6862"/>
                </a:solidFill>
                <a:latin typeface="Calibri"/>
              </a:rPr>
              <a:t>T05 approves and sends nothing; T06 discloses nothing; T07 balance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Repair</a:t>
            </a:r>
          </a:p>
          <a:p>
            <a:pPr algn="l">
              <a:spcAft>
                <a:spcPts val="300"/>
              </a:spcAft>
            </a:pPr>
            <a:r>
              <a:rPr sz="1300" b="0">
                <a:solidFill>
                  <a:srgbClr val="6B6862"/>
                </a:solidFill>
                <a:latin typeface="Calibri"/>
              </a:rPr>
              <a:t>One weakness corrected and retested, or a no-defect result critically documented.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195</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sharing supports user (Can chat) and owner (Can edit) roles, but access to the agent does not guarantee retrieval from every SharePoint or OneDrive source.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link that opens without grounded retrieval is not a successful rollout.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Named tester: chat and open citations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196</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blocking tests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named roles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Verify sources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Acquire and retest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197</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Sharing Roles and Knowledge Access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Named owner: update, share and manage</a:t>
            </a:r>
          </a:p>
          <a:p>
            <a:pPr>
              <a:spcAft>
                <a:spcPts val="1000"/>
              </a:spcAft>
            </a:pPr>
            <a:r>
              <a:rPr sz="1600" b="0">
                <a:solidFill>
                  <a:srgbClr val="21201C"/>
                </a:solidFill>
                <a:latin typeface="Calibri"/>
              </a:rPr>
              <a:t>•  T06 privacy result blocks release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198</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Sharing Roles and Knowledge Access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Named tester: chat and open citations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Named owner: update, share and manage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Organisation-wide sharing bypasses missing source access.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199</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shared agent needs owners, instruction and Skill versions, a test log, a review trigger and a rollback record.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handbook, permissions, product behaviour and tenant policy change; retesting protects current use.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 v1.0 plus handbook version 2026.3</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200</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owners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Version configuration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triggers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Retest and keep rollback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201</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Agent Lifecycle Ownership and Rollback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Retest T01, T05 and T06 monthly or after change</a:t>
            </a:r>
          </a:p>
          <a:p>
            <a:pPr>
              <a:spcAft>
                <a:spcPts val="1000"/>
              </a:spcAft>
            </a:pPr>
            <a:r>
              <a:rPr sz="1600" b="0">
                <a:solidFill>
                  <a:srgbClr val="21201C"/>
                </a:solidFill>
                <a:latin typeface="Calibri"/>
              </a:rPr>
              <a:t>•  Keep previous passing configuration and defect log</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202</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Agent Lifecycle Ownership and Rollback</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Instruction v1.0 plus handbook version 2026.3</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Retest T01, T05 and T06 monthly or after change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shared link is treated as the end of the lifecycle.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203</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Microsoft Loop Staff Enablement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Loop component can record roster, practice, evidence, defect, owner, retest and status; it does not prove agent action or approval.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LO4 requires a staff training plan with observed evidence and support ownership.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Loop columns: User, Role, Practice test, Evidence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204</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Microsoft Loop Staff Enablement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roles and cases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tests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retest and support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205</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Microsoft Loop Staff Enablement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Defect, Owner, Retest and Status stay observable</a:t>
            </a:r>
          </a:p>
          <a:p>
            <a:pPr>
              <a:spcAft>
                <a:spcPts val="1000"/>
              </a:spcAft>
            </a:pPr>
            <a:r>
              <a:rPr sz="1600" b="0">
                <a:solidFill>
                  <a:srgbClr val="21201C"/>
                </a:solidFill>
                <a:latin typeface="Calibri"/>
              </a:rPr>
              <a:t>•  Practice includes cited leave answer, UNKNOWN and refusal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206</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Microsoft Loop Staff Enablement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Loop columns: User, Role, Practice test, Evidence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Defect, Owner, Retest and Status stay observable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prefilled checklist is presented as completion.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207</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THEME · GOVERNED SHARING AND ENABLEMENT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Share the HR Agent with Named Users and Deliver Staff Enablement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Share Lumina HR Policy Agent only after the blocking tests pass. Verify that named users already have access to every knowledge file, retest as a user, then use Microsoft Loop to track staff practice, defects and retests as part of the LO4 staff training plan.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A named-user sharing record, a test-user result, a Microsoft Loop enablement tracker and a rollback-ready owner plan.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208</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Share: After T01-T08 pass, share Lumina HR Policy Agent with one named test user (Can chat) who already has access to the knowledge files.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Enable: Create a Microsoft Loop tracker with User, Role, Practice test, Evidence, Defect, Owner, Retest and Status; do not prefill completion.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Gate</a:t>
            </a:r>
          </a:p>
          <a:p>
            <a:pPr algn="l">
              <a:spcAft>
                <a:spcPts val="300"/>
              </a:spcAft>
            </a:pPr>
            <a:r>
              <a:rPr sz="1300" b="0">
                <a:solidFill>
                  <a:srgbClr val="6B6862"/>
                </a:solidFill>
                <a:latin typeface="Calibri"/>
              </a:rPr>
              <a:t>All blocking retrieval, privacy and approval tests pass before sharing.</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Sharing</a:t>
            </a:r>
          </a:p>
          <a:p>
            <a:pPr algn="l">
              <a:spcAft>
                <a:spcPts val="300"/>
              </a:spcAft>
            </a:pPr>
            <a:r>
              <a:rPr sz="1300" b="0">
                <a:solidFill>
                  <a:srgbClr val="6B6862"/>
                </a:solidFill>
                <a:latin typeface="Calibri"/>
              </a:rPr>
              <a:t>Named users only, with Can chat; knowledge access verified.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Loop plan</a:t>
            </a:r>
          </a:p>
          <a:p>
            <a:pPr algn="l">
              <a:spcAft>
                <a:spcPts val="300"/>
              </a:spcAft>
            </a:pPr>
            <a:r>
              <a:rPr sz="1300" b="0">
                <a:solidFill>
                  <a:srgbClr val="6B6862"/>
                </a:solidFill>
                <a:latin typeface="Calibri"/>
              </a:rPr>
              <a:t>Actual practice evidence, defect owner and retest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Lifecycle</a:t>
            </a:r>
          </a:p>
          <a:p>
            <a:pPr algn="l">
              <a:spcAft>
                <a:spcPts val="300"/>
              </a:spcAft>
            </a:pPr>
            <a:r>
              <a:rPr sz="1300" b="0">
                <a:solidFill>
                  <a:srgbClr val="6B6862"/>
                </a:solidFill>
                <a:latin typeface="Calibri"/>
              </a:rPr>
              <a:t>Owners, review trigger and rollback assigned.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210</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Recap - Create Microsoft 365 Agents for Businesses</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LO4: Staff training covers Agent Builder, Loop practice, owners and support.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Eight tests and named-user access pass before sharing.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211</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212</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Teams and Outlook opportunities</a:t>
            </a:r>
          </a:p>
          <a:p>
            <a:pPr algn="l">
              <a:spcAft>
                <a:spcPts val="300"/>
              </a:spcAft>
            </a:pPr>
            <a:r>
              <a:rPr sz="1300" b="0">
                <a:solidFill>
                  <a:srgbClr val="6B6862"/>
                </a:solidFill>
                <a:latin typeface="Calibri"/>
              </a:rPr>
              <a:t>Evaluate opportunities in using Microsoft Copilot for Teams and Outlook.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Loop and Copilot Studio.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213</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Next Governed HR Copilot Workflow</a:t>
            </a:r>
          </a:p>
        </p:txBody>
      </p:sp>
      <p:sp>
        <p:nvSpPr>
          <p:cNvPr id="5" name="Rounded Rectangle 4"/>
          <p:cNvSpPr/>
          <p:nvPr/>
        </p:nvSpPr>
        <p:spPr>
          <a:xfrm>
            <a:off x="777240" y="1828800"/>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Use a new verified date and keep the prior snapshot.</a:t>
            </a:r>
          </a:p>
        </p:txBody>
      </p:sp>
      <p:sp>
        <p:nvSpPr>
          <p:cNvPr id="10" name="Rounded Rectangle 9"/>
          <p:cNvSpPr/>
          <p:nvPr/>
        </p:nvSpPr>
        <p:spPr>
          <a:xfrm>
            <a:off x="777240" y="3316224"/>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3316224"/>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Retest Skills and the HR agent after any handbook, permission, model or policy change.</a:t>
            </a:r>
          </a:p>
        </p:txBody>
      </p:sp>
      <p:sp>
        <p:nvSpPr>
          <p:cNvPr id="15" name="Rounded Rectangle 14"/>
          <p:cNvSpPr/>
          <p:nvPr/>
        </p:nvSpPr>
        <p:spPr>
          <a:xfrm>
            <a:off x="777240" y="4803648"/>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803648"/>
            <a:ext cx="10634472"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Keep sends, approvals, HR decisions and case assignments under visible human control.</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214</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TGS-2024043856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215</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CLOSING MESSAGE · AI SECURITY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5 Principles of AI Security</a:t>
            </a:r>
          </a:p>
        </p:txBody>
      </p:sp>
      <p:sp>
        <p:nvSpPr>
          <p:cNvPr id="5" name="Rounded Rectangle 4"/>
          <p:cNvSpPr/>
          <p:nvPr/>
        </p:nvSpPr>
        <p:spPr>
          <a:xfrm>
            <a:off x="777240"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61944"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1 · Data control</a:t>
            </a:r>
          </a:p>
          <a:p>
            <a:pPr algn="l">
              <a:spcAft>
                <a:spcPts val="300"/>
              </a:spcAft>
            </a:pPr>
            <a:r>
              <a:rPr sz="1100" b="0">
                <a:solidFill>
                  <a:srgbClr val="6B6862"/>
                </a:solidFill>
                <a:latin typeface="Calibri"/>
              </a:rPr>
              <a:t>Share only the data a task needs. Use synthetic or sanitised HR data; never paste personal data into an unapproved tool.</a:t>
            </a:r>
          </a:p>
        </p:txBody>
      </p:sp>
      <p:sp>
        <p:nvSpPr>
          <p:cNvPr id="10" name="Rounded Rectangle 9"/>
          <p:cNvSpPr/>
          <p:nvPr/>
        </p:nvSpPr>
        <p:spPr>
          <a:xfrm>
            <a:off x="4413504"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4413504" y="1783080"/>
            <a:ext cx="3361944" cy="64008"/>
          </a:xfrm>
          <a:prstGeom prst="rect">
            <a:avLst/>
          </a:prstGeom>
          <a:solidFill>
            <a:srgbClr val="3A7D7B"/>
          </a:solidFill>
          <a:ln>
            <a:noFill/>
          </a:ln>
          <a:effectLst/>
        </p:spPr>
        <p:txBody>
          <a:bodyPr rtlCol="0" anchor="ctr"/>
          <a:lstStyle/>
          <a:p>
            <a:pPr algn="ctr"/>
          </a:p>
        </p:txBody>
      </p:sp>
      <p:sp>
        <p:nvSpPr>
          <p:cNvPr id="12" name="Oval 11"/>
          <p:cNvSpPr/>
          <p:nvPr/>
        </p:nvSpPr>
        <p:spPr>
          <a:xfrm>
            <a:off x="4669536"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2 · Permission control</a:t>
            </a:r>
          </a:p>
          <a:p>
            <a:pPr algn="l">
              <a:spcAft>
                <a:spcPts val="300"/>
              </a:spcAft>
            </a:pPr>
            <a:r>
              <a:rPr sz="1100" b="0">
                <a:solidFill>
                  <a:srgbClr val="6B6862"/>
                </a:solidFill>
                <a:latin typeface="Calibri"/>
              </a:rPr>
              <a:t>Least privilege for files, Skills and agents. Users get Can chat, the agent gets only approved knowledge, and access is never widened to pass a test.</a:t>
            </a:r>
          </a:p>
        </p:txBody>
      </p:sp>
      <p:sp>
        <p:nvSpPr>
          <p:cNvPr id="15" name="Rounded Rectangle 14"/>
          <p:cNvSpPr/>
          <p:nvPr/>
        </p:nvSpPr>
        <p:spPr>
          <a:xfrm>
            <a:off x="8049768"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8049768" y="1783080"/>
            <a:ext cx="3361944" cy="64008"/>
          </a:xfrm>
          <a:prstGeom prst="rect">
            <a:avLst/>
          </a:prstGeom>
          <a:solidFill>
            <a:srgbClr val="5B4B8A"/>
          </a:solidFill>
          <a:ln>
            <a:noFill/>
          </a:ln>
          <a:effectLst/>
        </p:spPr>
        <p:txBody>
          <a:bodyPr rtlCol="0" anchor="ctr"/>
          <a:lstStyle/>
          <a:p>
            <a:pPr algn="ctr"/>
          </a:p>
        </p:txBody>
      </p:sp>
      <p:sp>
        <p:nvSpPr>
          <p:cNvPr id="17" name="Oval 16"/>
          <p:cNvSpPr/>
          <p:nvPr/>
        </p:nvSpPr>
        <p:spPr>
          <a:xfrm>
            <a:off x="8305800" y="2542032"/>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3 · Human in the loop</a:t>
            </a:r>
          </a:p>
          <a:p>
            <a:pPr algn="l">
              <a:spcAft>
                <a:spcPts val="300"/>
              </a:spcAft>
            </a:pPr>
            <a:r>
              <a:rPr sz="1100" b="0">
                <a:solidFill>
                  <a:srgbClr val="6B6862"/>
                </a:solidFill>
                <a:latin typeface="Calibri"/>
              </a:rPr>
              <a:t>Plan, review and approve before an edit, email, approval or HR decision takes effect. Copilot drafts; a person decides.</a:t>
            </a:r>
          </a:p>
        </p:txBody>
      </p:sp>
      <p:sp>
        <p:nvSpPr>
          <p:cNvPr id="20" name="Rounded Rectangle 19"/>
          <p:cNvSpPr/>
          <p:nvPr/>
        </p:nvSpPr>
        <p:spPr>
          <a:xfrm>
            <a:off x="777240"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777240" y="4087368"/>
            <a:ext cx="3361944" cy="64008"/>
          </a:xfrm>
          <a:prstGeom prst="rect">
            <a:avLst/>
          </a:prstGeom>
          <a:solidFill>
            <a:srgbClr val="C2603F"/>
          </a:solidFill>
          <a:ln>
            <a:noFill/>
          </a:ln>
          <a:effectLst/>
        </p:spPr>
        <p:txBody>
          <a:bodyPr rtlCol="0" anchor="ctr"/>
          <a:lstStyle/>
          <a:p>
            <a:pPr algn="ctr"/>
          </a:p>
        </p:txBody>
      </p:sp>
      <p:sp>
        <p:nvSpPr>
          <p:cNvPr id="22" name="Oval 21"/>
          <p:cNvSpPr/>
          <p:nvPr/>
        </p:nvSpPr>
        <p:spPr>
          <a:xfrm>
            <a:off x="1033272"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4 · Traceability</a:t>
            </a:r>
          </a:p>
          <a:p>
            <a:pPr algn="l">
              <a:spcAft>
                <a:spcPts val="300"/>
              </a:spcAft>
            </a:pPr>
            <a:r>
              <a:rPr sz="1100" b="0">
                <a:solidFill>
                  <a:srgbClr val="6B6862"/>
                </a:solidFill>
                <a:latin typeface="Calibri"/>
              </a:rPr>
              <a:t>Log prompts, sources, versions and checks. Every HR answer cites its handbook section; every figure traces to the verified snapshot.</a:t>
            </a:r>
          </a:p>
        </p:txBody>
      </p:sp>
      <p:sp>
        <p:nvSpPr>
          <p:cNvPr id="25" name="Rounded Rectangle 24"/>
          <p:cNvSpPr/>
          <p:nvPr/>
        </p:nvSpPr>
        <p:spPr>
          <a:xfrm>
            <a:off x="4413504"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4413504" y="4087368"/>
            <a:ext cx="3361944" cy="64008"/>
          </a:xfrm>
          <a:prstGeom prst="rect">
            <a:avLst/>
          </a:prstGeom>
          <a:solidFill>
            <a:srgbClr val="D97757"/>
          </a:solidFill>
          <a:ln>
            <a:noFill/>
          </a:ln>
          <a:effectLst/>
        </p:spPr>
        <p:txBody>
          <a:bodyPr rtlCol="0" anchor="ctr"/>
          <a:lstStyle/>
          <a:p>
            <a:pPr algn="ctr"/>
          </a:p>
        </p:txBody>
      </p:sp>
      <p:sp>
        <p:nvSpPr>
          <p:cNvPr id="27" name="Oval 26"/>
          <p:cNvSpPr/>
          <p:nvPr/>
        </p:nvSpPr>
        <p:spPr>
          <a:xfrm>
            <a:off x="4669536" y="4846320"/>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5 · Don’t use the most powerful model</a:t>
            </a:r>
          </a:p>
          <a:p>
            <a:pPr algn="l">
              <a:spcAft>
                <a:spcPts val="300"/>
              </a:spcAft>
            </a:pPr>
            <a:r>
              <a:rPr sz="1100" b="0">
                <a:solidFill>
                  <a:srgbClr val="6B6862"/>
                </a:solidFill>
                <a:latin typeface="Calibri"/>
              </a:rPr>
              <a:t>Choose an approved, well-tested model that fits the task. The newest or most powerful model is not automatically the safest or most predictable.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216</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ASSESSMENT</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WA-SAQ &amp; Practical Performance</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217</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BEFORE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Briefing for Assessment</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Work individually; do not discuss or share answers during either paper.</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Open book: use the slides, Learner Guide and approved course materials.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WA-SAQ is 60 minutes; PP is 60 minutes.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For PP, use the blank workbook issued before timing and submit exactly one screenshot per task.</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Do not photograph or record assessment scripts; do not include credentials or personal data.</a:t>
            </a:r>
          </a:p>
        </p:txBody>
      </p:sp>
      <p:sp>
        <p:nvSpPr>
          <p:cNvPr id="30" name="Rounded Rectangle 29"/>
          <p:cNvSpPr/>
          <p:nvPr/>
        </p:nvSpPr>
        <p:spPr>
          <a:xfrm>
            <a:off x="6176772"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176772" y="4803648"/>
            <a:ext cx="5234940" cy="64008"/>
          </a:xfrm>
          <a:prstGeom prst="rect">
            <a:avLst/>
          </a:prstGeom>
          <a:solidFill>
            <a:srgbClr val="D97757"/>
          </a:solidFill>
          <a:ln>
            <a:noFill/>
          </a:ln>
          <a:effectLst/>
        </p:spPr>
        <p:txBody>
          <a:bodyPr rtlCol="0" anchor="ctr"/>
          <a:lstStyle/>
          <a:p>
            <a:pPr algn="ctr"/>
          </a:p>
        </p:txBody>
      </p:sp>
      <p:sp>
        <p:nvSpPr>
          <p:cNvPr id="32" name="Oval 31"/>
          <p:cNvSpPr/>
          <p:nvPr/>
        </p:nvSpPr>
        <p:spPr>
          <a:xfrm>
            <a:off x="6359652" y="5291328"/>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4" name="TextBox 33"/>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Re-assessment and appeal arrangements apply to a Not Yet Competent outcome.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218</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FINAL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Written Assessment</a:t>
            </a:r>
          </a:p>
          <a:p>
            <a:pPr algn="l">
              <a:spcAft>
                <a:spcPts val="300"/>
              </a:spcAft>
            </a:pPr>
            <a:r>
              <a:rPr sz="1300" b="0">
                <a:solidFill>
                  <a:srgbClr val="6B6862"/>
                </a:solidFill>
                <a:latin typeface="Calibri"/>
              </a:rPr>
              <a:t>Four short-answer questions · K1, K3, K2, K4 · 60 minutes · open book.</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Practical Performance</a:t>
            </a:r>
          </a:p>
          <a:p>
            <a:pPr algn="l">
              <a:spcAft>
                <a:spcPts val="300"/>
              </a:spcAft>
            </a:pPr>
            <a:r>
              <a:rPr sz="1300" b="0">
                <a:solidFill>
                  <a:srgbClr val="6B6862"/>
                </a:solidFill>
                <a:latin typeface="Calibri"/>
              </a:rPr>
              <a:t>Four atomic tasks · A1–A4 · exactly one screenshot per task · 60 minutes ·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Outcome</a:t>
            </a:r>
          </a:p>
          <a:p>
            <a:pPr algn="l">
              <a:spcAft>
                <a:spcPts val="300"/>
              </a:spcAft>
            </a:pPr>
            <a:r>
              <a:rPr sz="1300" b="0">
                <a:solidFill>
                  <a:srgbClr val="6B6862"/>
                </a:solidFill>
                <a:latin typeface="Calibri"/>
              </a:rPr>
              <a:t>Competent (C) or Not Yet Competent (NYC) for every question/task.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Minimum 75% attendance and a Competent assessment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219</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ASSESSMENT DAY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Flow</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Complete TRAQOM survey</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Assessment digital attendance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Sit WA-SAQ then PP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Submit on LMS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Sign Assessment Summary Record</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220</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Training attendance</a:t>
            </a:r>
          </a:p>
          <a:p>
            <a:pPr algn="l">
              <a:spcAft>
                <a:spcPts val="300"/>
              </a:spcAft>
            </a:pPr>
            <a:r>
              <a:rPr sz="1300" b="0">
                <a:solidFill>
                  <a:srgbClr val="6B6862"/>
                </a:solidFill>
                <a:latin typeface="Calibri"/>
              </a:rPr>
              <a:t>Confirm both days' AM and PM records are complete.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 attendance</a:t>
            </a:r>
          </a:p>
          <a:p>
            <a:pPr algn="l">
              <a:spcAft>
                <a:spcPts val="300"/>
              </a:spcAft>
            </a:pPr>
            <a:r>
              <a:rPr sz="1300" b="0">
                <a:solidFill>
                  <a:srgbClr val="6B6862"/>
                </a:solidFill>
                <a:latin typeface="Calibri"/>
              </a:rPr>
              <a:t>Complete the separate assessment attendance before starting.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a:t>
            </a:r>
          </a:p>
          <a:p>
            <a:pPr algn="l">
              <a:spcAft>
                <a:spcPts val="300"/>
              </a:spcAft>
            </a:pPr>
            <a:r>
              <a:rPr sz="1300" b="0">
                <a:solidFill>
                  <a:srgbClr val="6B6862"/>
                </a:solidFill>
                <a:latin typeface="Calibri"/>
              </a:rPr>
              <a:t>Complete the SSG Training Quality and Outcome Measurement survey when instructed.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Final check</a:t>
            </a:r>
          </a:p>
          <a:p>
            <a:pPr algn="l">
              <a:spcAft>
                <a:spcPts val="300"/>
              </a:spcAft>
            </a:pPr>
            <a:r>
              <a:rPr sz="1300" b="0">
                <a:solidFill>
                  <a:srgbClr val="6B6862"/>
                </a:solidFill>
                <a:latin typeface="Calibri"/>
              </a:rPr>
              <a:t>Maintain at least 75% attendance and submit both assessment methods.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221</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THANK YOU FOR ATTENDING</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Keep your HR evidence connected, your agent grounded and the 5 Principles of AI Security in every workflow.</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222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