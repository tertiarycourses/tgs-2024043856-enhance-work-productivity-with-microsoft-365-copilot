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Descending overdue counts</c:v>
                </c:pt>
              </c:strCache>
            </c:strRef>
          </c:tx>
          <c:cat>
            <c:strRef>
              <c:f>Sheet1!$A$2:$A$6</c:f>
              <c:strCache>
                <c:ptCount val="5"/>
                <c:pt idx="0">
                  <c:v>Payroll Query</c:v>
                </c:pt>
                <c:pt idx="1">
                  <c:v>Benefits Claim</c:v>
                </c:pt>
                <c:pt idx="2">
                  <c:v>Leave Request</c:v>
                </c:pt>
                <c:pt idx="3">
                  <c:v>Training Request</c:v>
                </c:pt>
                <c:pt idx="4">
                  <c:v>Onboarding</c:v>
                </c:pt>
              </c:strCache>
            </c:strRef>
          </c:cat>
          <c:val>
            <c:numRef>
              <c:f>Sheet1!$B$2:$B$6</c:f>
              <c:numCache>
                <c:formatCode>General</c:formatCode>
                <c:ptCount val="5"/>
                <c:pt idx="0">
                  <c:v>18</c:v>
                </c:pt>
                <c:pt idx="1">
                  <c:v>12</c:v>
                </c:pt>
                <c:pt idx="2">
                  <c:v>8</c:v>
                </c:pt>
                <c:pt idx="3">
                  <c:v>8</c:v>
                </c:pt>
                <c:pt idx="4">
                  <c:v>4</c:v>
                </c:pt>
              </c:numCache>
            </c:numRef>
          </c:val>
        </c:ser>
        <c:dLbls>
          <c:txPr>
            <a:bodyPr/>
            <a:lstStyle/>
            <a:p>
              <a:pPr>
                <a:defRPr sz="1200"/>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2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Cumulative share (%)</c:v>
                </c:pt>
              </c:strCache>
            </c:strRef>
          </c:tx>
          <c:marker>
            <c:symbol val="none"/>
          </c:marker>
          <c:cat>
            <c:strRef>
              <c:f>Sheet1!$A$2:$A$6</c:f>
              <c:strCache>
                <c:ptCount val="5"/>
                <c:pt idx="0">
                  <c:v>Payroll Query</c:v>
                </c:pt>
                <c:pt idx="1">
                  <c:v>Benefits Claim</c:v>
                </c:pt>
                <c:pt idx="2">
                  <c:v>Leave Request</c:v>
                </c:pt>
                <c:pt idx="3">
                  <c:v>Training Request</c:v>
                </c:pt>
                <c:pt idx="4">
                  <c:v>Onboarding</c:v>
                </c:pt>
              </c:strCache>
            </c:strRef>
          </c:cat>
          <c:val>
            <c:numRef>
              <c:f>Sheet1!$B$2:$B$6</c:f>
              <c:numCache>
                <c:formatCode>General</c:formatCode>
                <c:ptCount val="5"/>
                <c:pt idx="0">
                  <c:v>36</c:v>
                </c:pt>
                <c:pt idx="1">
                  <c:v>60</c:v>
                </c:pt>
                <c:pt idx="2">
                  <c:v>76</c:v>
                </c:pt>
                <c:pt idx="3">
                  <c:v>92</c:v>
                </c:pt>
                <c:pt idx="4">
                  <c:v>100</c:v>
                </c:pt>
              </c:numCache>
            </c:numRef>
          </c:val>
          <c:smooth val="0"/>
        </c:ser>
        <c:dLbls>
          <c:txPr>
            <a:bodyPr/>
            <a:lstStyle/>
            <a:p>
              <a:pPr>
                <a:defRPr sz="12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100"/>
            </a:pPr>
          </a:p>
        </c:txPr>
        <c:crossAx val="2140495176"/>
        <c:crosses val="autoZero"/>
        <c:auto val="1"/>
        <c:lblAlgn val="ctr"/>
        <c:lblOffset val="100"/>
        <c:noMultiLvlLbl val="0"/>
      </c:catAx>
      <c:valAx>
        <c:axId val="2140495176"/>
        <c:scaling>
          <c:max val="100.0"/>
          <c:min val="0.0"/>
        </c:scaling>
        <c:delete val="0"/>
        <c:axPos val="l"/>
        <c:majorGridlines/>
        <c:majorTickMark val="out"/>
        <c:minorTickMark val="none"/>
        <c:tickLblPos val="nextTo"/>
        <c:txPr>
          <a:bodyPr/>
          <a:lstStyle/>
          <a:p>
            <a:pPr>
              <a:defRPr sz="1200"/>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Backlog HR cases</c:v>
                </c:pt>
              </c:strCache>
            </c:strRef>
          </c:tx>
          <c:spPr>
            <a:solidFill>
              <a:srgbClr val="3A7D7B"/>
            </a:solidFill>
          </c:spPr>
          <c:cat>
            <c:strRef>
              <c:f>Sheet1!$A$2:$A$6</c:f>
              <c:strCache>
                <c:ptCount val="5"/>
                <c:pt idx="0">
                  <c:v>Retail Sales</c:v>
                </c:pt>
                <c:pt idx="1">
                  <c:v>Operations</c:v>
                </c:pt>
                <c:pt idx="2">
                  <c:v>Finance</c:v>
                </c:pt>
                <c:pt idx="3">
                  <c:v>Technology</c:v>
                </c:pt>
                <c:pt idx="4">
                  <c:v>Marketing</c:v>
                </c:pt>
              </c:strCache>
            </c:strRef>
          </c:cat>
          <c:val>
            <c:numRef>
              <c:f>Sheet1!$B$2:$B$6</c:f>
              <c:numCache>
                <c:formatCode>General</c:formatCode>
                <c:ptCount val="5"/>
                <c:pt idx="0">
                  <c:v>8</c:v>
                </c:pt>
                <c:pt idx="1">
                  <c:v>12</c:v>
                </c:pt>
                <c:pt idx="2">
                  <c:v>16</c:v>
                </c:pt>
                <c:pt idx="3">
                  <c:v>20</c:v>
                </c:pt>
                <c:pt idx="4">
                  <c:v>4</c:v>
                </c:pt>
              </c:numCache>
            </c:numRef>
          </c:val>
        </c:ser>
        <c:dLbls>
          <c:txPr>
            <a:bodyPr/>
            <a:lstStyle/>
            <a:p>
              <a:pPr>
                <a:defRPr sz="1600"/>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6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400"/>
            </a:pPr>
          </a:p>
        </c:txPr>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10561320" y="411480"/>
            <a:ext cx="777240" cy="777240"/>
          </a:xfrm>
          <a:prstGeom prst="rect">
            <a:avLst/>
          </a:prstGeom>
        </p:spPr>
      </p:pic>
      <p:sp>
        <p:nvSpPr>
          <p:cNvPr id="6" name="TextBox 5"/>
          <p:cNvSpPr txBox="1"/>
          <p:nvPr/>
        </p:nvSpPr>
        <p:spPr>
          <a:xfrm>
            <a:off x="822960" y="1371600"/>
            <a:ext cx="7772400" cy="365760"/>
          </a:xfrm>
          <a:prstGeom prst="rect">
            <a:avLst/>
          </a:prstGeom>
          <a:noFill/>
        </p:spPr>
        <p:txBody>
          <a:bodyPr wrap="square" anchor="t">
            <a:spAutoFit/>
          </a:bodyPr>
          <a:lstStyle/>
          <a:p>
            <a:pPr algn="l">
              <a:spcAft>
                <a:spcPts val="400"/>
              </a:spcAft>
            </a:pPr>
            <a:r>
              <a:rPr sz="1400" b="1">
                <a:solidFill>
                  <a:srgbClr val="D97757"/>
                </a:solidFill>
                <a:latin typeface="Calibri"/>
              </a:rPr>
              <a:t>WSQ Course Code: TGS-2024043856</a:t>
            </a:r>
          </a:p>
        </p:txBody>
      </p:sp>
      <p:sp>
        <p:nvSpPr>
          <p:cNvPr id="7" name="TextBox 6"/>
          <p:cNvSpPr txBox="1"/>
          <p:nvPr/>
        </p:nvSpPr>
        <p:spPr>
          <a:xfrm>
            <a:off x="822960" y="4343400"/>
            <a:ext cx="7772400" cy="365760"/>
          </a:xfrm>
          <a:prstGeom prst="rect">
            <a:avLst/>
          </a:prstGeom>
          <a:noFill/>
        </p:spPr>
        <p:txBody>
          <a:bodyPr wrap="square" anchor="t">
            <a:spAutoFit/>
          </a:bodyPr>
          <a:lstStyle/>
          <a:p>
            <a:pPr algn="l">
              <a:spcAft>
                <a:spcPts val="400"/>
              </a:spcAft>
            </a:pPr>
            <a:r>
              <a:rPr sz="1300" b="0">
                <a:solidFill>
                  <a:srgbClr val="B9B4A9"/>
                </a:solidFill>
                <a:latin typeface="Calibri"/>
              </a:rPr>
              <a:t>Version v9.3  ·  20 October 2026</a:t>
            </a:r>
          </a:p>
        </p:txBody>
      </p:sp>
      <p:sp>
        <p:nvSpPr>
          <p:cNvPr id="8" name="TextBox 7"/>
          <p:cNvSpPr txBox="1"/>
          <p:nvPr/>
        </p:nvSpPr>
        <p:spPr>
          <a:xfrm>
            <a:off x="777240" y="1828800"/>
            <a:ext cx="10241280" cy="2377440"/>
          </a:xfrm>
          <a:prstGeom prst="rect">
            <a:avLst/>
          </a:prstGeom>
          <a:noFill/>
        </p:spPr>
        <p:txBody>
          <a:bodyPr wrap="square" anchor="t">
            <a:spAutoFit/>
          </a:bodyPr>
          <a:lstStyle/>
          <a:p>
            <a:pPr algn="l">
              <a:spcAft>
                <a:spcPts val="400"/>
              </a:spcAft>
            </a:pPr>
            <a:r>
              <a:rPr sz="5200" b="1">
                <a:solidFill>
                  <a:srgbClr val="FFFFFF"/>
                </a:solidFill>
                <a:latin typeface="Cambria"/>
              </a:rPr>
              <a:t>Enhance Work Productivity with Microsoft 365 Copilot</a:t>
            </a:r>
          </a:p>
        </p:txBody>
      </p:sp>
      <p:sp>
        <p:nvSpPr>
          <p:cNvPr id="9" name="TextBox 8"/>
          <p:cNvSpPr txBox="1"/>
          <p:nvPr/>
        </p:nvSpPr>
        <p:spPr>
          <a:xfrm>
            <a:off x="822960" y="5212080"/>
            <a:ext cx="10058400" cy="731520"/>
          </a:xfrm>
          <a:prstGeom prst="rect">
            <a:avLst/>
          </a:prstGeom>
          <a:noFill/>
        </p:spPr>
        <p:txBody>
          <a:bodyPr wrap="square" anchor="t">
            <a:spAutoFit/>
          </a:bodyPr>
          <a:lstStyle/>
          <a:p>
            <a:pPr algn="l">
              <a:spcAft>
                <a:spcPts val="200"/>
              </a:spcAft>
            </a:pPr>
            <a:r>
              <a:rPr sz="1500" b="1">
                <a:solidFill>
                  <a:srgbClr val="FFFFFF"/>
                </a:solidFill>
                <a:latin typeface="Calibri"/>
              </a:rPr>
              <a:t>Tertiary Infotech Academy Pte Ltd</a:t>
            </a:r>
          </a:p>
          <a:p>
            <a:pPr algn="l">
              <a:spcAft>
                <a:spcPts val="200"/>
              </a:spcAft>
            </a:pPr>
            <a:r>
              <a:rPr sz="1300" b="0">
                <a:solidFill>
                  <a:srgbClr val="B9B4A9"/>
                </a:solidFill>
                <a:latin typeface="Calibri"/>
              </a:rPr>
              <a:t>UEN: 201200696W</a:t>
            </a:r>
          </a:p>
        </p:txBody>
      </p:sp>
      <p:sp>
        <p:nvSpPr>
          <p:cNvPr id="10" name="TextBox 9"/>
          <p:cNvSpPr txBox="1"/>
          <p:nvPr/>
        </p:nvSpPr>
        <p:spPr>
          <a:xfrm>
            <a:off x="822960" y="6099048"/>
            <a:ext cx="10515600" cy="256032"/>
          </a:xfrm>
          <a:prstGeom prst="rect">
            <a:avLst/>
          </a:prstGeom>
          <a:noFill/>
        </p:spPr>
        <p:txBody>
          <a:bodyPr wrap="square" anchor="t">
            <a:spAutoFit/>
          </a:bodyPr>
          <a:lstStyle/>
          <a:p>
            <a:pPr algn="l">
              <a:spcAft>
                <a:spcPts val="400"/>
              </a:spcAft>
            </a:pPr>
            <a:r>
              <a:rPr sz="1200" b="0">
                <a:solidFill>
                  <a:srgbClr val="B9B4A9"/>
                </a:solidFill>
                <a:latin typeface="Calibri"/>
              </a:rPr>
              <a:t>www.tertiarycourses.com.sg   |   enquiry@tertiaryinfotech.com   |   +65 6100 0613</a:t>
            </a:r>
          </a:p>
        </p:txBody>
      </p:sp>
      <p:sp>
        <p:nvSpPr>
          <p:cNvPr id="11" name="TextBox 1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12" name="TextBox 1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3" name="TextBox 1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1</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TRAQOM · SSG</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Digital Attendance (Mandatory)</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TRAQOM survey</a:t>
            </a:r>
          </a:p>
          <a:p>
            <a:pPr algn="l">
              <a:spcAft>
                <a:spcPts val="300"/>
              </a:spcAft>
            </a:pPr>
            <a:r>
              <a:rPr sz="1300" b="0">
                <a:solidFill>
                  <a:srgbClr val="6B6862"/>
                </a:solidFill>
                <a:latin typeface="Calibri"/>
              </a:rPr>
              <a:t>Complete the SSG Training Quality and Outcome Measurement survey when instructed.</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Assessment</a:t>
            </a:r>
          </a:p>
          <a:p>
            <a:pPr algn="l">
              <a:spcAft>
                <a:spcPts val="300"/>
              </a:spcAft>
            </a:pPr>
            <a:r>
              <a:rPr sz="1300" b="0">
                <a:solidFill>
                  <a:srgbClr val="6B6862"/>
                </a:solidFill>
                <a:latin typeface="Calibri"/>
              </a:rPr>
              <a:t>Complete the separate assessment attendance before the papers.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Scan</a:t>
            </a:r>
          </a:p>
          <a:p>
            <a:pPr algn="l">
              <a:spcAft>
                <a:spcPts val="300"/>
              </a:spcAft>
            </a:pPr>
            <a:r>
              <a:rPr sz="1300" b="0">
                <a:solidFill>
                  <a:srgbClr val="6B6862"/>
                </a:solidFill>
                <a:latin typeface="Calibri"/>
              </a:rPr>
              <a:t>Use the QR code shown by the trainer or administrator.</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Eligibility</a:t>
            </a:r>
          </a:p>
          <a:p>
            <a:pPr algn="l">
              <a:spcAft>
                <a:spcPts val="300"/>
              </a:spcAft>
            </a:pPr>
            <a:r>
              <a:rPr sz="1300" b="0">
                <a:solidFill>
                  <a:srgbClr val="6B6862"/>
                </a:solidFill>
                <a:latin typeface="Calibri"/>
              </a:rPr>
              <a:t>Maintain at least 75% attendance and achieve a Competent outcome.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COURSE ADMINISTRATION</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Welcome &amp; Housekeeping</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3</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GENERAL TRAINER TEMPLATE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About the Trainer</a:t>
            </a:r>
          </a:p>
        </p:txBody>
      </p:sp>
      <p:sp>
        <p:nvSpPr>
          <p:cNvPr id="5" name="Rounded Rectangle 4"/>
          <p:cNvSpPr/>
          <p:nvPr/>
        </p:nvSpPr>
        <p:spPr>
          <a:xfrm>
            <a:off x="777240" y="1783080"/>
            <a:ext cx="3337560"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337560" cy="109728"/>
          </a:xfrm>
          <a:prstGeom prst="rect">
            <a:avLst/>
          </a:prstGeom>
          <a:solidFill>
            <a:srgbClr val="D97757"/>
          </a:solidFill>
          <a:ln>
            <a:noFill/>
          </a:ln>
          <a:effectLst/>
        </p:spPr>
        <p:txBody>
          <a:bodyPr rtlCol="0" anchor="ctr"/>
          <a:lstStyle/>
          <a:p>
            <a:pPr algn="ctr"/>
          </a:p>
        </p:txBody>
      </p:sp>
      <p:sp>
        <p:nvSpPr>
          <p:cNvPr id="7" name="Oval 6"/>
          <p:cNvSpPr/>
          <p:nvPr/>
        </p:nvSpPr>
        <p:spPr>
          <a:xfrm>
            <a:off x="1668780" y="2286000"/>
            <a:ext cx="1554480" cy="155448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Cambria"/>
              </a:rPr>
              <a:t>?</a:t>
            </a:r>
          </a:p>
        </p:txBody>
      </p:sp>
      <p:sp>
        <p:nvSpPr>
          <p:cNvPr id="9" name="TextBox 8"/>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21201C"/>
                </a:solidFill>
                <a:latin typeface="Cambria"/>
              </a:rPr>
              <a:t>Your Trainer</a:t>
            </a:r>
          </a:p>
        </p:txBody>
      </p:sp>
      <p:sp>
        <p:nvSpPr>
          <p:cNvPr id="10" name="TextBox 9"/>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6B6862"/>
                </a:solidFill>
                <a:latin typeface="Calibri"/>
              </a:rPr>
              <a:t>Complete before class</a:t>
            </a:r>
          </a:p>
        </p:txBody>
      </p:sp>
      <p:sp>
        <p:nvSpPr>
          <p:cNvPr id="11" name="Rounded Rectangle 10"/>
          <p:cNvSpPr/>
          <p:nvPr/>
        </p:nvSpPr>
        <p:spPr>
          <a:xfrm>
            <a:off x="4480560" y="178308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4480560" y="1783080"/>
            <a:ext cx="6949440" cy="64008"/>
          </a:xfrm>
          <a:prstGeom prst="rect">
            <a:avLst/>
          </a:prstGeom>
          <a:solidFill>
            <a:srgbClr val="D97757"/>
          </a:solidFill>
          <a:ln>
            <a:noFill/>
          </a:ln>
          <a:effectLst/>
        </p:spPr>
        <p:txBody>
          <a:bodyPr rtlCol="0" anchor="ctr"/>
          <a:lstStyle/>
          <a:p>
            <a:pPr algn="ctr"/>
          </a:p>
        </p:txBody>
      </p:sp>
      <p:sp>
        <p:nvSpPr>
          <p:cNvPr id="13" name="TextBox 12"/>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D97757"/>
                </a:solidFill>
                <a:latin typeface="Calibri"/>
              </a:rPr>
              <a:t>NAME</a:t>
            </a:r>
          </a:p>
          <a:p>
            <a:pPr algn="l">
              <a:spcAft>
                <a:spcPts val="300"/>
              </a:spcAft>
            </a:pPr>
            <a:r>
              <a:rPr sz="1300" b="0">
                <a:solidFill>
                  <a:srgbClr val="DCD8CF"/>
                </a:solidFill>
                <a:latin typeface="Calibri"/>
              </a:rPr>
              <a:t>____________________________________________</a:t>
            </a:r>
          </a:p>
        </p:txBody>
      </p:sp>
      <p:sp>
        <p:nvSpPr>
          <p:cNvPr id="14" name="Rounded Rectangle 13"/>
          <p:cNvSpPr/>
          <p:nvPr/>
        </p:nvSpPr>
        <p:spPr>
          <a:xfrm>
            <a:off x="4480560" y="252984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5" name="Rectangle 14"/>
          <p:cNvSpPr/>
          <p:nvPr/>
        </p:nvSpPr>
        <p:spPr>
          <a:xfrm>
            <a:off x="4480560" y="2529840"/>
            <a:ext cx="6949440" cy="64008"/>
          </a:xfrm>
          <a:prstGeom prst="rect">
            <a:avLst/>
          </a:prstGeom>
          <a:solidFill>
            <a:srgbClr val="3A7D7B"/>
          </a:solidFill>
          <a:ln>
            <a:noFill/>
          </a:ln>
          <a:effectLst/>
        </p:spPr>
        <p:txBody>
          <a:bodyPr rtlCol="0" anchor="ctr"/>
          <a:lstStyle/>
          <a:p>
            <a:pPr algn="ctr"/>
          </a:p>
        </p:txBody>
      </p:sp>
      <p:sp>
        <p:nvSpPr>
          <p:cNvPr id="16" name="TextBox 15"/>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3A7D7B"/>
                </a:solidFill>
                <a:latin typeface="Calibri"/>
              </a:rPr>
              <a:t>TITLE / DESIGNATION</a:t>
            </a:r>
          </a:p>
          <a:p>
            <a:pPr algn="l">
              <a:spcAft>
                <a:spcPts val="300"/>
              </a:spcAft>
            </a:pPr>
            <a:r>
              <a:rPr sz="1300" b="0">
                <a:solidFill>
                  <a:srgbClr val="DCD8CF"/>
                </a:solidFill>
                <a:latin typeface="Calibri"/>
              </a:rPr>
              <a:t>____________________________________________</a:t>
            </a:r>
          </a:p>
        </p:txBody>
      </p:sp>
      <p:sp>
        <p:nvSpPr>
          <p:cNvPr id="17" name="Rounded Rectangle 16"/>
          <p:cNvSpPr/>
          <p:nvPr/>
        </p:nvSpPr>
        <p:spPr>
          <a:xfrm>
            <a:off x="4480560" y="327660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4480560" y="3276600"/>
            <a:ext cx="6949440" cy="64008"/>
          </a:xfrm>
          <a:prstGeom prst="rect">
            <a:avLst/>
          </a:prstGeom>
          <a:solidFill>
            <a:srgbClr val="5B4B8A"/>
          </a:solidFill>
          <a:ln>
            <a:noFill/>
          </a:ln>
          <a:effectLst/>
        </p:spPr>
        <p:txBody>
          <a:bodyPr rtlCol="0" anchor="ctr"/>
          <a:lstStyle/>
          <a:p>
            <a:pPr algn="ctr"/>
          </a:p>
        </p:txBody>
      </p:sp>
      <p:sp>
        <p:nvSpPr>
          <p:cNvPr id="19" name="TextBox 18"/>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5B4B8A"/>
                </a:solidFill>
                <a:latin typeface="Calibri"/>
              </a:rPr>
              <a:t>QUALIFICATIONS</a:t>
            </a:r>
          </a:p>
          <a:p>
            <a:pPr algn="l">
              <a:spcAft>
                <a:spcPts val="300"/>
              </a:spcAft>
            </a:pPr>
            <a:r>
              <a:rPr sz="1300" b="0">
                <a:solidFill>
                  <a:srgbClr val="DCD8CF"/>
                </a:solidFill>
                <a:latin typeface="Calibri"/>
              </a:rPr>
              <a:t>____________________________________________</a:t>
            </a:r>
          </a:p>
        </p:txBody>
      </p:sp>
      <p:sp>
        <p:nvSpPr>
          <p:cNvPr id="20" name="Rounded Rectangle 19"/>
          <p:cNvSpPr/>
          <p:nvPr/>
        </p:nvSpPr>
        <p:spPr>
          <a:xfrm>
            <a:off x="4480560" y="402336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4480560" y="4023360"/>
            <a:ext cx="6949440" cy="64008"/>
          </a:xfrm>
          <a:prstGeom prst="rect">
            <a:avLst/>
          </a:prstGeom>
          <a:solidFill>
            <a:srgbClr val="C2603F"/>
          </a:solidFill>
          <a:ln>
            <a:noFill/>
          </a:ln>
          <a:effectLst/>
        </p:spPr>
        <p:txBody>
          <a:bodyPr rtlCol="0" anchor="ctr"/>
          <a:lstStyle/>
          <a:p>
            <a:pPr algn="ctr"/>
          </a:p>
        </p:txBody>
      </p:sp>
      <p:sp>
        <p:nvSpPr>
          <p:cNvPr id="22" name="TextBox 21"/>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C2603F"/>
                </a:solidFill>
                <a:latin typeface="Calibri"/>
              </a:rPr>
              <a:t>EXPERTISE</a:t>
            </a:r>
          </a:p>
          <a:p>
            <a:pPr algn="l">
              <a:spcAft>
                <a:spcPts val="300"/>
              </a:spcAft>
            </a:pPr>
            <a:r>
              <a:rPr sz="1300" b="0">
                <a:solidFill>
                  <a:srgbClr val="DCD8CF"/>
                </a:solidFill>
                <a:latin typeface="Calibri"/>
              </a:rPr>
              <a:t>____________________________________________</a:t>
            </a:r>
          </a:p>
        </p:txBody>
      </p:sp>
      <p:sp>
        <p:nvSpPr>
          <p:cNvPr id="23" name="Rounded Rectangle 22"/>
          <p:cNvSpPr/>
          <p:nvPr/>
        </p:nvSpPr>
        <p:spPr>
          <a:xfrm>
            <a:off x="4480560" y="477012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4480560" y="4770120"/>
            <a:ext cx="6949440" cy="64008"/>
          </a:xfrm>
          <a:prstGeom prst="rect">
            <a:avLst/>
          </a:prstGeom>
          <a:solidFill>
            <a:srgbClr val="D97757"/>
          </a:solidFill>
          <a:ln>
            <a:noFill/>
          </a:ln>
          <a:effectLst/>
        </p:spPr>
        <p:txBody>
          <a:bodyPr rtlCol="0" anchor="ctr"/>
          <a:lstStyle/>
          <a:p>
            <a:pPr algn="ctr"/>
          </a:p>
        </p:txBody>
      </p:sp>
      <p:sp>
        <p:nvSpPr>
          <p:cNvPr id="25" name="TextBox 24"/>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D97757"/>
                </a:solidFill>
                <a:latin typeface="Calibri"/>
              </a:rPr>
              <a:t>EXPERIENCE</a:t>
            </a:r>
          </a:p>
          <a:p>
            <a:pPr algn="l">
              <a:spcAft>
                <a:spcPts val="300"/>
              </a:spcAft>
            </a:pPr>
            <a:r>
              <a:rPr sz="1300" b="0">
                <a:solidFill>
                  <a:srgbClr val="DCD8CF"/>
                </a:solidFill>
                <a:latin typeface="Calibri"/>
              </a:rPr>
              <a:t>____________________________________________</a:t>
            </a:r>
          </a:p>
        </p:txBody>
      </p:sp>
      <p:sp>
        <p:nvSpPr>
          <p:cNvPr id="26" name="Rounded Rectangle 25"/>
          <p:cNvSpPr/>
          <p:nvPr/>
        </p:nvSpPr>
        <p:spPr>
          <a:xfrm>
            <a:off x="4480560" y="551688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7" name="Rectangle 26"/>
          <p:cNvSpPr/>
          <p:nvPr/>
        </p:nvSpPr>
        <p:spPr>
          <a:xfrm>
            <a:off x="4480560" y="5516880"/>
            <a:ext cx="6949440" cy="64008"/>
          </a:xfrm>
          <a:prstGeom prst="rect">
            <a:avLst/>
          </a:prstGeom>
          <a:solidFill>
            <a:srgbClr val="3A7D7B"/>
          </a:solidFill>
          <a:ln>
            <a:noFill/>
          </a:ln>
          <a:effectLst/>
        </p:spPr>
        <p:txBody>
          <a:bodyPr rtlCol="0" anchor="ctr"/>
          <a:lstStyle/>
          <a:p>
            <a:pPr algn="ctr"/>
          </a:p>
        </p:txBody>
      </p:sp>
      <p:sp>
        <p:nvSpPr>
          <p:cNvPr id="28" name="TextBox 27"/>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3A7D7B"/>
                </a:solidFill>
                <a:latin typeface="Calibri"/>
              </a:rPr>
              <a:t>CONTACT</a:t>
            </a:r>
          </a:p>
          <a:p>
            <a:pPr algn="l">
              <a:spcAft>
                <a:spcPts val="300"/>
              </a:spcAft>
            </a:pPr>
            <a:r>
              <a:rPr sz="1300" b="0">
                <a:solidFill>
                  <a:srgbClr val="DCD8CF"/>
                </a:solidFill>
                <a:latin typeface="Calibri"/>
              </a:rPr>
              <a:t>____________________________________________</a:t>
            </a:r>
          </a:p>
        </p:txBody>
      </p:sp>
      <p:sp>
        <p:nvSpPr>
          <p:cNvPr id="29" name="TextBox 2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0" name="TextBox 2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1" name="TextBox 3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NAMED TRAINER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About the Trainer</a:t>
            </a:r>
          </a:p>
        </p:txBody>
      </p:sp>
      <p:sp>
        <p:nvSpPr>
          <p:cNvPr id="5" name="Rounded Rectangle 4"/>
          <p:cNvSpPr/>
          <p:nvPr/>
        </p:nvSpPr>
        <p:spPr>
          <a:xfrm>
            <a:off x="777240" y="1783080"/>
            <a:ext cx="3337560"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337560" cy="109728"/>
          </a:xfrm>
          <a:prstGeom prst="rect">
            <a:avLst/>
          </a:prstGeom>
          <a:solidFill>
            <a:srgbClr val="3A7D7B"/>
          </a:solidFill>
          <a:ln>
            <a:noFill/>
          </a:ln>
          <a:effectLst/>
        </p:spPr>
        <p:txBody>
          <a:bodyPr rtlCol="0" anchor="ctr"/>
          <a:lstStyle/>
          <a:p>
            <a:pPr algn="ctr"/>
          </a:p>
        </p:txBody>
      </p:sp>
      <p:sp>
        <p:nvSpPr>
          <p:cNvPr id="7" name="Oval 6"/>
          <p:cNvSpPr/>
          <p:nvPr/>
        </p:nvSpPr>
        <p:spPr>
          <a:xfrm>
            <a:off x="1668780" y="2286000"/>
            <a:ext cx="1554480" cy="1554480"/>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Cambria"/>
              </a:rPr>
              <a:t>AA</a:t>
            </a:r>
          </a:p>
        </p:txBody>
      </p:sp>
      <p:sp>
        <p:nvSpPr>
          <p:cNvPr id="9" name="TextBox 8"/>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21201C"/>
                </a:solidFill>
                <a:latin typeface="Cambria"/>
              </a:rPr>
              <a:t>Dr Alfred Ang</a:t>
            </a:r>
          </a:p>
        </p:txBody>
      </p:sp>
      <p:sp>
        <p:nvSpPr>
          <p:cNvPr id="10" name="TextBox 9"/>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6B6862"/>
                </a:solidFill>
                <a:latin typeface="Calibri"/>
              </a:rPr>
              <a:t>Principal Trainer · Tertiary Infotech Academy</a:t>
            </a:r>
          </a:p>
        </p:txBody>
      </p:sp>
      <p:sp>
        <p:nvSpPr>
          <p:cNvPr id="11" name="Rounded Rectangle 10"/>
          <p:cNvSpPr/>
          <p:nvPr/>
        </p:nvSpPr>
        <p:spPr>
          <a:xfrm>
            <a:off x="4480560" y="178308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4480560" y="1783080"/>
            <a:ext cx="6949440" cy="64008"/>
          </a:xfrm>
          <a:prstGeom prst="rect">
            <a:avLst/>
          </a:prstGeom>
          <a:solidFill>
            <a:srgbClr val="D97757"/>
          </a:solidFill>
          <a:ln>
            <a:noFill/>
          </a:ln>
          <a:effectLst/>
        </p:spPr>
        <p:txBody>
          <a:bodyPr rtlCol="0" anchor="ctr"/>
          <a:lstStyle/>
          <a:p>
            <a:pPr algn="ctr"/>
          </a:p>
        </p:txBody>
      </p:sp>
      <p:sp>
        <p:nvSpPr>
          <p:cNvPr id="13" name="TextBox 12"/>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D97757"/>
                </a:solidFill>
                <a:latin typeface="Calibri"/>
              </a:rPr>
              <a:t>ROLE</a:t>
            </a:r>
          </a:p>
          <a:p>
            <a:pPr algn="l">
              <a:spcAft>
                <a:spcPts val="300"/>
              </a:spcAft>
            </a:pPr>
            <a:r>
              <a:rPr sz="1400" b="0">
                <a:solidFill>
                  <a:srgbClr val="21201C"/>
                </a:solidFill>
                <a:latin typeface="Calibri"/>
              </a:rPr>
              <a:t>Principal Trainer and Chief Instructional Designer</a:t>
            </a:r>
          </a:p>
        </p:txBody>
      </p:sp>
      <p:sp>
        <p:nvSpPr>
          <p:cNvPr id="14" name="Rounded Rectangle 13"/>
          <p:cNvSpPr/>
          <p:nvPr/>
        </p:nvSpPr>
        <p:spPr>
          <a:xfrm>
            <a:off x="4480560" y="252984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5" name="Rectangle 14"/>
          <p:cNvSpPr/>
          <p:nvPr/>
        </p:nvSpPr>
        <p:spPr>
          <a:xfrm>
            <a:off x="4480560" y="2529840"/>
            <a:ext cx="6949440" cy="64008"/>
          </a:xfrm>
          <a:prstGeom prst="rect">
            <a:avLst/>
          </a:prstGeom>
          <a:solidFill>
            <a:srgbClr val="3A7D7B"/>
          </a:solidFill>
          <a:ln>
            <a:noFill/>
          </a:ln>
          <a:effectLst/>
        </p:spPr>
        <p:txBody>
          <a:bodyPr rtlCol="0" anchor="ctr"/>
          <a:lstStyle/>
          <a:p>
            <a:pPr algn="ctr"/>
          </a:p>
        </p:txBody>
      </p:sp>
      <p:sp>
        <p:nvSpPr>
          <p:cNvPr id="16" name="TextBox 15"/>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3A7D7B"/>
                </a:solidFill>
                <a:latin typeface="Calibri"/>
              </a:rPr>
              <a:t>EXPERTISE</a:t>
            </a:r>
          </a:p>
          <a:p>
            <a:pPr algn="l">
              <a:spcAft>
                <a:spcPts val="300"/>
              </a:spcAft>
            </a:pPr>
            <a:r>
              <a:rPr sz="1400" b="0">
                <a:solidFill>
                  <a:srgbClr val="21201C"/>
                </a:solidFill>
                <a:latin typeface="Calibri"/>
              </a:rPr>
              <a:t>Microsoft 365, AI, automation and business productivity</a:t>
            </a:r>
          </a:p>
        </p:txBody>
      </p:sp>
      <p:sp>
        <p:nvSpPr>
          <p:cNvPr id="17" name="Rounded Rectangle 16"/>
          <p:cNvSpPr/>
          <p:nvPr/>
        </p:nvSpPr>
        <p:spPr>
          <a:xfrm>
            <a:off x="4480560" y="327660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4480560" y="3276600"/>
            <a:ext cx="6949440" cy="64008"/>
          </a:xfrm>
          <a:prstGeom prst="rect">
            <a:avLst/>
          </a:prstGeom>
          <a:solidFill>
            <a:srgbClr val="5B4B8A"/>
          </a:solidFill>
          <a:ln>
            <a:noFill/>
          </a:ln>
          <a:effectLst/>
        </p:spPr>
        <p:txBody>
          <a:bodyPr rtlCol="0" anchor="ctr"/>
          <a:lstStyle/>
          <a:p>
            <a:pPr algn="ctr"/>
          </a:p>
        </p:txBody>
      </p:sp>
      <p:sp>
        <p:nvSpPr>
          <p:cNvPr id="19" name="TextBox 18"/>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5B4B8A"/>
                </a:solidFill>
                <a:latin typeface="Calibri"/>
              </a:rPr>
              <a:t>CERTIFICATION</a:t>
            </a:r>
          </a:p>
          <a:p>
            <a:pPr algn="l">
              <a:spcAft>
                <a:spcPts val="300"/>
              </a:spcAft>
            </a:pPr>
            <a:r>
              <a:rPr sz="1400" b="0">
                <a:solidFill>
                  <a:srgbClr val="21201C"/>
                </a:solidFill>
                <a:latin typeface="Calibri"/>
              </a:rPr>
              <a:t>ACLP-certified adult educator</a:t>
            </a:r>
          </a:p>
        </p:txBody>
      </p:sp>
      <p:sp>
        <p:nvSpPr>
          <p:cNvPr id="20" name="Rounded Rectangle 19"/>
          <p:cNvSpPr/>
          <p:nvPr/>
        </p:nvSpPr>
        <p:spPr>
          <a:xfrm>
            <a:off x="4480560" y="402336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4480560" y="4023360"/>
            <a:ext cx="6949440" cy="64008"/>
          </a:xfrm>
          <a:prstGeom prst="rect">
            <a:avLst/>
          </a:prstGeom>
          <a:solidFill>
            <a:srgbClr val="C2603F"/>
          </a:solidFill>
          <a:ln>
            <a:noFill/>
          </a:ln>
          <a:effectLst/>
        </p:spPr>
        <p:txBody>
          <a:bodyPr rtlCol="0" anchor="ctr"/>
          <a:lstStyle/>
          <a:p>
            <a:pPr algn="ctr"/>
          </a:p>
        </p:txBody>
      </p:sp>
      <p:sp>
        <p:nvSpPr>
          <p:cNvPr id="22" name="TextBox 21"/>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C2603F"/>
                </a:solidFill>
                <a:latin typeface="Calibri"/>
              </a:rPr>
              <a:t>DELIVERS</a:t>
            </a:r>
          </a:p>
          <a:p>
            <a:pPr algn="l">
              <a:spcAft>
                <a:spcPts val="300"/>
              </a:spcAft>
            </a:pPr>
            <a:r>
              <a:rPr sz="1400" b="0">
                <a:solidFill>
                  <a:srgbClr val="21201C"/>
                </a:solidFill>
                <a:latin typeface="Calibri"/>
              </a:rPr>
              <a:t>WSQ and professional technology programmes</a:t>
            </a:r>
          </a:p>
        </p:txBody>
      </p:sp>
      <p:sp>
        <p:nvSpPr>
          <p:cNvPr id="23" name="Rounded Rectangle 22"/>
          <p:cNvSpPr/>
          <p:nvPr/>
        </p:nvSpPr>
        <p:spPr>
          <a:xfrm>
            <a:off x="4480560" y="477012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4480560" y="4770120"/>
            <a:ext cx="6949440" cy="64008"/>
          </a:xfrm>
          <a:prstGeom prst="rect">
            <a:avLst/>
          </a:prstGeom>
          <a:solidFill>
            <a:srgbClr val="D97757"/>
          </a:solidFill>
          <a:ln>
            <a:noFill/>
          </a:ln>
          <a:effectLst/>
        </p:spPr>
        <p:txBody>
          <a:bodyPr rtlCol="0" anchor="ctr"/>
          <a:lstStyle/>
          <a:p>
            <a:pPr algn="ctr"/>
          </a:p>
        </p:txBody>
      </p:sp>
      <p:sp>
        <p:nvSpPr>
          <p:cNvPr id="25" name="TextBox 24"/>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D97757"/>
                </a:solidFill>
                <a:latin typeface="Calibri"/>
              </a:rPr>
              <a:t>EXPERIENCE</a:t>
            </a:r>
          </a:p>
          <a:p>
            <a:pPr algn="l">
              <a:spcAft>
                <a:spcPts val="300"/>
              </a:spcAft>
            </a:pPr>
            <a:r>
              <a:rPr sz="1400" b="0">
                <a:solidFill>
                  <a:srgbClr val="21201C"/>
                </a:solidFill>
                <a:latin typeface="Calibri"/>
              </a:rPr>
              <a:t>Cross-industry transformation and workforce training</a:t>
            </a:r>
          </a:p>
        </p:txBody>
      </p:sp>
      <p:sp>
        <p:nvSpPr>
          <p:cNvPr id="26" name="Rounded Rectangle 25"/>
          <p:cNvSpPr/>
          <p:nvPr/>
        </p:nvSpPr>
        <p:spPr>
          <a:xfrm>
            <a:off x="4480560" y="551688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7" name="Rectangle 26"/>
          <p:cNvSpPr/>
          <p:nvPr/>
        </p:nvSpPr>
        <p:spPr>
          <a:xfrm>
            <a:off x="4480560" y="5516880"/>
            <a:ext cx="6949440" cy="64008"/>
          </a:xfrm>
          <a:prstGeom prst="rect">
            <a:avLst/>
          </a:prstGeom>
          <a:solidFill>
            <a:srgbClr val="3A7D7B"/>
          </a:solidFill>
          <a:ln>
            <a:noFill/>
          </a:ln>
          <a:effectLst/>
        </p:spPr>
        <p:txBody>
          <a:bodyPr rtlCol="0" anchor="ctr"/>
          <a:lstStyle/>
          <a:p>
            <a:pPr algn="ctr"/>
          </a:p>
        </p:txBody>
      </p:sp>
      <p:sp>
        <p:nvSpPr>
          <p:cNvPr id="28" name="TextBox 27"/>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3A7D7B"/>
                </a:solidFill>
                <a:latin typeface="Calibri"/>
              </a:rPr>
              <a:t>CONTACT</a:t>
            </a:r>
          </a:p>
          <a:p>
            <a:pPr algn="l">
              <a:spcAft>
                <a:spcPts val="300"/>
              </a:spcAft>
            </a:pPr>
            <a:r>
              <a:rPr sz="1400" b="0">
                <a:solidFill>
                  <a:srgbClr val="21201C"/>
                </a:solidFill>
                <a:latin typeface="Calibri"/>
              </a:rPr>
              <a:t>enquiry@tertiaryinfotech.com</a:t>
            </a:r>
          </a:p>
        </p:txBody>
      </p:sp>
      <p:sp>
        <p:nvSpPr>
          <p:cNvPr id="29" name="TextBox 2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0" name="TextBox 2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1" name="TextBox 3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ICE-BREAKER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Let's Know Each Other</a:t>
            </a:r>
          </a:p>
        </p:txBody>
      </p:sp>
      <p:sp>
        <p:nvSpPr>
          <p:cNvPr id="5" name="Rounded Rectangle 4"/>
          <p:cNvSpPr/>
          <p:nvPr/>
        </p:nvSpPr>
        <p:spPr>
          <a:xfrm>
            <a:off x="777240"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Your name, role and one HR service reporting task.</a:t>
            </a:r>
          </a:p>
        </p:txBody>
      </p:sp>
      <p:sp>
        <p:nvSpPr>
          <p:cNvPr id="10" name="Rounded Rectangle 9"/>
          <p:cNvSpPr/>
          <p:nvPr/>
        </p:nvSpPr>
        <p:spPr>
          <a:xfrm>
            <a:off x="6176772"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688336"/>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Which app holds the HR-case source?</a:t>
            </a:r>
          </a:p>
        </p:txBody>
      </p:sp>
      <p:sp>
        <p:nvSpPr>
          <p:cNvPr id="15" name="Rounded Rectangle 14"/>
          <p:cNvSpPr/>
          <p:nvPr/>
        </p:nvSpPr>
        <p:spPr>
          <a:xfrm>
            <a:off x="777240"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59936"/>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Which date and status definitions determine overdue work?</a:t>
            </a:r>
          </a:p>
        </p:txBody>
      </p:sp>
      <p:sp>
        <p:nvSpPr>
          <p:cNvPr id="20" name="Rounded Rectangle 19"/>
          <p:cNvSpPr/>
          <p:nvPr/>
        </p:nvSpPr>
        <p:spPr>
          <a:xfrm>
            <a:off x="6176772"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4059936"/>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4919472"/>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Check which Copilot buttons and skills menus are available in your assigned apps.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HOUSEKEEPING</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Ground Rules</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Set your mobile phone to silent mode.</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Participate actively — no question is too small.</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Mutual respect: agree to disagree.</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One conversation at a time.</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Be punctual; return from breaks on time.</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Learn by doing — try every hands-on lab.</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COURSE MATERIALS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Your Course Materials</a:t>
            </a:r>
          </a:p>
        </p:txBody>
      </p:sp>
      <p:sp>
        <p:nvSpPr>
          <p:cNvPr id="5" name="Rounded Rectangle 4"/>
          <p:cNvSpPr/>
          <p:nvPr/>
        </p:nvSpPr>
        <p:spPr>
          <a:xfrm>
            <a:off x="777240"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1878177" cy="64008"/>
          </a:xfrm>
          <a:prstGeom prst="rect">
            <a:avLst/>
          </a:prstGeom>
          <a:solidFill>
            <a:srgbClr val="D97757"/>
          </a:solidFill>
          <a:ln>
            <a:noFill/>
          </a:ln>
          <a:effectLst/>
        </p:spPr>
        <p:txBody>
          <a:bodyPr rtlCol="0" anchor="ctr"/>
          <a:lstStyle/>
          <a:p>
            <a:pPr algn="ctr"/>
          </a:p>
        </p:txBody>
      </p:sp>
      <p:sp>
        <p:nvSpPr>
          <p:cNvPr id="7" name="Oval 6"/>
          <p:cNvSpPr/>
          <p:nvPr/>
        </p:nvSpPr>
        <p:spPr>
          <a:xfrm>
            <a:off x="1341424"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Trainer slides explain concepts and evidence boundaries</a:t>
            </a:r>
          </a:p>
        </p:txBody>
      </p:sp>
      <p:sp>
        <p:nvSpPr>
          <p:cNvPr id="10" name="TextBox 9"/>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2966313"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2966313" y="2331720"/>
            <a:ext cx="1878177" cy="64008"/>
          </a:xfrm>
          <a:prstGeom prst="rect">
            <a:avLst/>
          </a:prstGeom>
          <a:solidFill>
            <a:srgbClr val="D97757"/>
          </a:solidFill>
          <a:ln>
            <a:noFill/>
          </a:ln>
          <a:effectLst/>
        </p:spPr>
        <p:txBody>
          <a:bodyPr rtlCol="0" anchor="ctr"/>
          <a:lstStyle/>
          <a:p>
            <a:pPr algn="ctr"/>
          </a:p>
        </p:txBody>
      </p:sp>
      <p:sp>
        <p:nvSpPr>
          <p:cNvPr id="13" name="Oval 12"/>
          <p:cNvSpPr/>
          <p:nvPr/>
        </p:nvSpPr>
        <p:spPr>
          <a:xfrm>
            <a:off x="3530497"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Learner Guide contains detailed procedures and troubleshooting</a:t>
            </a:r>
          </a:p>
        </p:txBody>
      </p:sp>
      <p:sp>
        <p:nvSpPr>
          <p:cNvPr id="16" name="TextBox 15"/>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5155386"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155386" y="2331720"/>
            <a:ext cx="1878177" cy="64008"/>
          </a:xfrm>
          <a:prstGeom prst="rect">
            <a:avLst/>
          </a:prstGeom>
          <a:solidFill>
            <a:srgbClr val="D97757"/>
          </a:solidFill>
          <a:ln>
            <a:noFill/>
          </a:ln>
          <a:effectLst/>
        </p:spPr>
        <p:txBody>
          <a:bodyPr rtlCol="0" anchor="ctr"/>
          <a:lstStyle/>
          <a:p>
            <a:pPr algn="ctr"/>
          </a:p>
        </p:txBody>
      </p:sp>
      <p:sp>
        <p:nvSpPr>
          <p:cNvPr id="19" name="Oval 18"/>
          <p:cNvSpPr/>
          <p:nvPr/>
        </p:nvSpPr>
        <p:spPr>
          <a:xfrm>
            <a:off x="5719570"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14 lab folders provide prompts, synthetic data and checkpoints</a:t>
            </a:r>
          </a:p>
        </p:txBody>
      </p:sp>
      <p:sp>
        <p:nvSpPr>
          <p:cNvPr id="22" name="TextBox 21"/>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7344459"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7344459" y="2331720"/>
            <a:ext cx="1878177" cy="64008"/>
          </a:xfrm>
          <a:prstGeom prst="rect">
            <a:avLst/>
          </a:prstGeom>
          <a:solidFill>
            <a:srgbClr val="D97757"/>
          </a:solidFill>
          <a:ln>
            <a:noFill/>
          </a:ln>
          <a:effectLst/>
        </p:spPr>
        <p:txBody>
          <a:bodyPr rtlCol="0" anchor="ctr"/>
          <a:lstStyle/>
          <a:p>
            <a:pPr algn="ctr"/>
          </a:p>
        </p:txBody>
      </p:sp>
      <p:sp>
        <p:nvSpPr>
          <p:cNvPr id="25" name="Oval 24"/>
          <p:cNvSpPr/>
          <p:nvPr/>
        </p:nvSpPr>
        <p:spPr>
          <a:xfrm>
            <a:off x="7908643"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Prompt page supports clean copy and paste by app</a:t>
            </a:r>
          </a:p>
        </p:txBody>
      </p:sp>
      <p:sp>
        <p:nvSpPr>
          <p:cNvPr id="28" name="TextBox 27"/>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9" name="Rounded Rectangle 28"/>
          <p:cNvSpPr/>
          <p:nvPr/>
        </p:nvSpPr>
        <p:spPr>
          <a:xfrm>
            <a:off x="9533532"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0" name="Rectangle 29"/>
          <p:cNvSpPr/>
          <p:nvPr/>
        </p:nvSpPr>
        <p:spPr>
          <a:xfrm>
            <a:off x="9533532" y="2331720"/>
            <a:ext cx="1878177" cy="64008"/>
          </a:xfrm>
          <a:prstGeom prst="rect">
            <a:avLst/>
          </a:prstGeom>
          <a:solidFill>
            <a:srgbClr val="D97757"/>
          </a:solidFill>
          <a:ln>
            <a:noFill/>
          </a:ln>
          <a:effectLst/>
        </p:spPr>
        <p:txBody>
          <a:bodyPr rtlCol="0" anchor="ctr"/>
          <a:lstStyle/>
          <a:p>
            <a:pPr algn="ctr"/>
          </a:p>
        </p:txBody>
      </p:sp>
      <p:sp>
        <p:nvSpPr>
          <p:cNvPr id="31" name="Oval 30"/>
          <p:cNvSpPr/>
          <p:nvPr/>
        </p:nvSpPr>
        <p:spPr>
          <a:xfrm>
            <a:off x="10097716" y="2715768"/>
            <a:ext cx="749808" cy="749808"/>
          </a:xfrm>
          <a:prstGeom prst="ellipse">
            <a:avLst/>
          </a:prstGeom>
          <a:solidFill>
            <a:srgbClr val="D97757"/>
          </a:solidFill>
          <a:ln>
            <a:noFill/>
          </a:ln>
          <a:effectLst/>
        </p:spPr>
        <p:txBody>
          <a:bodyPr rtlCol="0" anchor="ctr"/>
          <a:lstStyle/>
          <a:p>
            <a:pPr algn="ctr"/>
          </a:p>
        </p:txBody>
      </p:sp>
      <p:sp>
        <p:nvSpPr>
          <p:cNvPr id="32" name="TextBox 31"/>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3" name="TextBox 32"/>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Keep outputs in one dated Lumina working folder</a:t>
            </a:r>
          </a:p>
        </p:txBody>
      </p:sp>
      <p:sp>
        <p:nvSpPr>
          <p:cNvPr id="34" name="TextBox 33"/>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6" name="TextBox 35"/>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a:t>
            </a:r>
          </a:p>
        </p:txBody>
      </p:sp>
      <p:sp>
        <p:nvSpPr>
          <p:cNvPr id="37" name="TextBox 36"/>
          <p:cNvSpPr txBox="1"/>
          <p:nvPr/>
        </p:nvSpPr>
        <p:spPr>
          <a:xfrm>
            <a:off x="777240" y="5943600"/>
            <a:ext cx="10607040" cy="365760"/>
          </a:xfrm>
          <a:prstGeom prst="rect">
            <a:avLst/>
          </a:prstGeom>
          <a:noFill/>
        </p:spPr>
        <p:txBody>
          <a:bodyPr wrap="square" anchor="t">
            <a:spAutoFit/>
          </a:bodyPr>
          <a:lstStyle/>
          <a:p>
            <a:pPr algn="ctr">
              <a:spcAft>
                <a:spcPts val="400"/>
              </a:spcAft>
            </a:pPr>
            <a:r>
              <a:rPr sz="1500" b="1">
                <a:solidFill>
                  <a:srgbClr val="D97757"/>
                </a:solidFill>
                <a:latin typeface="Calibri"/>
              </a:rPr>
              <a:t>Course page:  https://www.tertiarycourses.com.sg/wsq-enhance-work-productivity-with-microsoft-365-copilot.html</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SCHEDULE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Lesson Plan — 2 Days, 14 instructional hours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Course sequence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Day 1 — Copilot fundamentals, reusable Skills and controlled transition</a:t>
            </a:r>
          </a:p>
          <a:p>
            <a:pPr>
              <a:spcAft>
                <a:spcPts val="1000"/>
              </a:spcAft>
            </a:pPr>
            <a:r>
              <a:rPr sz="1400" b="0">
                <a:solidFill>
                  <a:srgbClr val="6B6862"/>
                </a:solidFill>
                <a:latin typeface="Calibri"/>
              </a:rPr>
              <a:t>–  Topic 1: Microsoft 365 Copilot Fundamentals (Labs 1–2)</a:t>
            </a:r>
          </a:p>
          <a:p>
            <a:pPr>
              <a:spcAft>
                <a:spcPts val="1000"/>
              </a:spcAft>
            </a:pPr>
            <a:r>
              <a:rPr sz="1400" b="0">
                <a:solidFill>
                  <a:srgbClr val="6B6862"/>
                </a:solidFill>
                <a:latin typeface="Calibri"/>
              </a:rPr>
              <a:t>–  Topic 2: Skills, Rules and Personalisation (Labs 3–6)</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Day 2 — Interactive dashboard, professional presentation and Microsoft 365 business agents</a:t>
            </a:r>
          </a:p>
          <a:p>
            <a:pPr>
              <a:spcAft>
                <a:spcPts val="1000"/>
              </a:spcAft>
            </a:pPr>
            <a:r>
              <a:rPr sz="1400" b="0">
                <a:solidFill>
                  <a:srgbClr val="6B6862"/>
                </a:solidFill>
                <a:latin typeface="Calibri"/>
              </a:rPr>
              <a:t>–  Topic 3: Create Interactive Dashboard and Professional Presentation (Labs 7–10)</a:t>
            </a:r>
          </a:p>
          <a:p>
            <a:pPr>
              <a:spcAft>
                <a:spcPts val="1000"/>
              </a:spcAft>
            </a:pPr>
            <a:r>
              <a:rPr sz="1400" b="0">
                <a:solidFill>
                  <a:srgbClr val="6B6862"/>
                </a:solidFill>
                <a:latin typeface="Calibri"/>
              </a:rPr>
              <a:t>–  Topic 4: Create Microsoft 365 Agents for Businesses (Labs 11–14)</a:t>
            </a:r>
          </a:p>
          <a:p>
            <a:pPr>
              <a:spcAft>
                <a:spcPts val="1000"/>
              </a:spcAft>
            </a:pPr>
            <a:r>
              <a:rPr sz="1600" b="0">
                <a:solidFill>
                  <a:srgbClr val="21201C"/>
                </a:solidFill>
                <a:latin typeface="Calibri"/>
              </a:rPr>
              <a:t>•  Daily timing</a:t>
            </a:r>
          </a:p>
          <a:p>
            <a:pPr>
              <a:spcAft>
                <a:spcPts val="1000"/>
              </a:spcAft>
            </a:pPr>
            <a:r>
              <a:rPr sz="1400" b="0">
                <a:solidFill>
                  <a:srgbClr val="6B6862"/>
                </a:solidFill>
                <a:latin typeface="Calibri"/>
              </a:rPr>
              <a:t>–  9:00 am - 6:30 pm (1-hour lunch; two 15-minute breaks excluded; 7 instructional hours plus 1 assessment hour)</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 YOU'LL ACHIEVE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Learning Outcomes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Integration risks</a:t>
            </a:r>
          </a:p>
          <a:p>
            <a:pPr algn="l">
              <a:spcAft>
                <a:spcPts val="300"/>
              </a:spcAft>
            </a:pPr>
            <a:r>
              <a:rPr sz="1300" b="0">
                <a:solidFill>
                  <a:srgbClr val="6B6862"/>
                </a:solidFill>
                <a:latin typeface="Calibri"/>
              </a:rPr>
              <a:t>Predict and mitigate challenges in integrating Microsoft Copilot to workflow.</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Transition plan</a:t>
            </a:r>
          </a:p>
          <a:p>
            <a:pPr algn="l">
              <a:spcAft>
                <a:spcPts val="300"/>
              </a:spcAft>
            </a:pPr>
            <a:r>
              <a:rPr sz="1300" b="0">
                <a:solidFill>
                  <a:srgbClr val="6B6862"/>
                </a:solidFill>
                <a:latin typeface="Calibri"/>
              </a:rPr>
              <a:t>Develop a plan for implementing Microsoft Copilot to ensure seamless transition from legacy workflow.</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Teams and Outlook opportunities</a:t>
            </a:r>
          </a:p>
          <a:p>
            <a:pPr algn="l">
              <a:spcAft>
                <a:spcPts val="300"/>
              </a:spcAft>
            </a:pPr>
            <a:r>
              <a:rPr sz="1300" b="0">
                <a:solidFill>
                  <a:srgbClr val="6B6862"/>
                </a:solidFill>
                <a:latin typeface="Calibri"/>
              </a:rPr>
              <a:t>Evaluate opportunities in using Microsoft Copilot for Teams and Outlook.</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Staff training plan</a:t>
            </a:r>
          </a:p>
          <a:p>
            <a:pPr algn="l">
              <a:spcAft>
                <a:spcPts val="300"/>
              </a:spcAft>
            </a:pPr>
            <a:r>
              <a:rPr sz="1300" b="0">
                <a:solidFill>
                  <a:srgbClr val="6B6862"/>
                </a:solidFill>
                <a:latin typeface="Calibri"/>
              </a:rPr>
              <a:t>Design a training plan for staff to use Microsoft Copilot Studio.</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WSQ LEARNING APPROACH</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Learning and Assessment Route</a:t>
            </a:r>
          </a:p>
        </p:txBody>
      </p:sp>
      <p:sp>
        <p:nvSpPr>
          <p:cNvPr id="5" name="Rounded Rectangle 4"/>
          <p:cNvSpPr/>
          <p:nvPr/>
        </p:nvSpPr>
        <p:spPr>
          <a:xfrm>
            <a:off x="777240"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1878177" cy="64008"/>
          </a:xfrm>
          <a:prstGeom prst="rect">
            <a:avLst/>
          </a:prstGeom>
          <a:solidFill>
            <a:srgbClr val="D97757"/>
          </a:solidFill>
          <a:ln>
            <a:noFill/>
          </a:ln>
          <a:effectLst/>
        </p:spPr>
        <p:txBody>
          <a:bodyPr rtlCol="0" anchor="ctr"/>
          <a:lstStyle/>
          <a:p>
            <a:pPr algn="ctr"/>
          </a:p>
        </p:txBody>
      </p:sp>
      <p:sp>
        <p:nvSpPr>
          <p:cNvPr id="7" name="Oval 6"/>
          <p:cNvSpPr/>
          <p:nvPr/>
        </p:nvSpPr>
        <p:spPr>
          <a:xfrm>
            <a:off x="1341424"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Trainer demonstrates the technical mechanism</a:t>
            </a:r>
          </a:p>
        </p:txBody>
      </p:sp>
      <p:sp>
        <p:nvSpPr>
          <p:cNvPr id="10" name="TextBox 9"/>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2966313"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2966313" y="2331720"/>
            <a:ext cx="1878177" cy="64008"/>
          </a:xfrm>
          <a:prstGeom prst="rect">
            <a:avLst/>
          </a:prstGeom>
          <a:solidFill>
            <a:srgbClr val="D97757"/>
          </a:solidFill>
          <a:ln>
            <a:noFill/>
          </a:ln>
          <a:effectLst/>
        </p:spPr>
        <p:txBody>
          <a:bodyPr rtlCol="0" anchor="ctr"/>
          <a:lstStyle/>
          <a:p>
            <a:pPr algn="ctr"/>
          </a:p>
        </p:txBody>
      </p:sp>
      <p:sp>
        <p:nvSpPr>
          <p:cNvPr id="13" name="Oval 12"/>
          <p:cNvSpPr/>
          <p:nvPr/>
        </p:nvSpPr>
        <p:spPr>
          <a:xfrm>
            <a:off x="3530497"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You build and verify it in a connected lab</a:t>
            </a:r>
          </a:p>
        </p:txBody>
      </p:sp>
      <p:sp>
        <p:nvSpPr>
          <p:cNvPr id="16" name="TextBox 15"/>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5155386"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155386" y="2331720"/>
            <a:ext cx="1878177" cy="64008"/>
          </a:xfrm>
          <a:prstGeom prst="rect">
            <a:avLst/>
          </a:prstGeom>
          <a:solidFill>
            <a:srgbClr val="D97757"/>
          </a:solidFill>
          <a:ln>
            <a:noFill/>
          </a:ln>
          <a:effectLst/>
        </p:spPr>
        <p:txBody>
          <a:bodyPr rtlCol="0" anchor="ctr"/>
          <a:lstStyle/>
          <a:p>
            <a:pPr algn="ctr"/>
          </a:p>
        </p:txBody>
      </p:sp>
      <p:sp>
        <p:nvSpPr>
          <p:cNvPr id="19" name="Oval 18"/>
          <p:cNvSpPr/>
          <p:nvPr/>
        </p:nvSpPr>
        <p:spPr>
          <a:xfrm>
            <a:off x="5719570"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WA-SAQ: 60 minutes · K1-K4</a:t>
            </a:r>
          </a:p>
        </p:txBody>
      </p:sp>
      <p:sp>
        <p:nvSpPr>
          <p:cNvPr id="22" name="TextBox 21"/>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7344459"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7344459" y="2331720"/>
            <a:ext cx="1878177" cy="64008"/>
          </a:xfrm>
          <a:prstGeom prst="rect">
            <a:avLst/>
          </a:prstGeom>
          <a:solidFill>
            <a:srgbClr val="D97757"/>
          </a:solidFill>
          <a:ln>
            <a:noFill/>
          </a:ln>
          <a:effectLst/>
        </p:spPr>
        <p:txBody>
          <a:bodyPr rtlCol="0" anchor="ctr"/>
          <a:lstStyle/>
          <a:p>
            <a:pPr algn="ctr"/>
          </a:p>
        </p:txBody>
      </p:sp>
      <p:sp>
        <p:nvSpPr>
          <p:cNvPr id="25" name="Oval 24"/>
          <p:cNvSpPr/>
          <p:nvPr/>
        </p:nvSpPr>
        <p:spPr>
          <a:xfrm>
            <a:off x="7908643"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PP: 60 minutes · A1-A4</a:t>
            </a:r>
          </a:p>
        </p:txBody>
      </p:sp>
      <p:sp>
        <p:nvSpPr>
          <p:cNvPr id="28" name="TextBox 27"/>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9" name="Rounded Rectangle 28"/>
          <p:cNvSpPr/>
          <p:nvPr/>
        </p:nvSpPr>
        <p:spPr>
          <a:xfrm>
            <a:off x="9533532"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0" name="Rectangle 29"/>
          <p:cNvSpPr/>
          <p:nvPr/>
        </p:nvSpPr>
        <p:spPr>
          <a:xfrm>
            <a:off x="9533532" y="2331720"/>
            <a:ext cx="1878177" cy="64008"/>
          </a:xfrm>
          <a:prstGeom prst="rect">
            <a:avLst/>
          </a:prstGeom>
          <a:solidFill>
            <a:srgbClr val="D97757"/>
          </a:solidFill>
          <a:ln>
            <a:noFill/>
          </a:ln>
          <a:effectLst/>
        </p:spPr>
        <p:txBody>
          <a:bodyPr rtlCol="0" anchor="ctr"/>
          <a:lstStyle/>
          <a:p>
            <a:pPr algn="ctr"/>
          </a:p>
        </p:txBody>
      </p:sp>
      <p:sp>
        <p:nvSpPr>
          <p:cNvPr id="31" name="Oval 30"/>
          <p:cNvSpPr/>
          <p:nvPr/>
        </p:nvSpPr>
        <p:spPr>
          <a:xfrm>
            <a:off x="10097716" y="2715768"/>
            <a:ext cx="749808" cy="749808"/>
          </a:xfrm>
          <a:prstGeom prst="ellipse">
            <a:avLst/>
          </a:prstGeom>
          <a:solidFill>
            <a:srgbClr val="D97757"/>
          </a:solidFill>
          <a:ln>
            <a:noFill/>
          </a:ln>
          <a:effectLst/>
        </p:spPr>
        <p:txBody>
          <a:bodyPr rtlCol="0" anchor="ctr"/>
          <a:lstStyle/>
          <a:p>
            <a:pPr algn="ctr"/>
          </a:p>
        </p:txBody>
      </p:sp>
      <p:sp>
        <p:nvSpPr>
          <p:cNvPr id="32" name="TextBox 31"/>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3" name="TextBox 32"/>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Competent outcome + minimum 75% attendance</a:t>
            </a:r>
          </a:p>
        </p:txBody>
      </p:sp>
      <p:sp>
        <p:nvSpPr>
          <p:cNvPr id="34" name="TextBox 33"/>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6" name="TextBox 35"/>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DIGITAL TECHNOLOGY ADOPTION AND INNOVATION · ACC-ICT-4004-1.1</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Skills Framework Alignment</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K1</a:t>
            </a:r>
          </a:p>
          <a:p>
            <a:pPr algn="l">
              <a:spcAft>
                <a:spcPts val="300"/>
              </a:spcAft>
            </a:pPr>
            <a:r>
              <a:rPr sz="1200" b="0">
                <a:solidFill>
                  <a:srgbClr val="6B6862"/>
                </a:solidFill>
                <a:latin typeface="Calibri"/>
              </a:rPr>
              <a:t>Relevant systems and software</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K2</a:t>
            </a:r>
          </a:p>
          <a:p>
            <a:pPr algn="l">
              <a:spcAft>
                <a:spcPts val="300"/>
              </a:spcAft>
            </a:pPr>
            <a:r>
              <a:rPr sz="1200" b="0">
                <a:solidFill>
                  <a:srgbClr val="6B6862"/>
                </a:solidFill>
                <a:latin typeface="Calibri"/>
              </a:rPr>
              <a:t>Organisation's processes</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K3</a:t>
            </a:r>
          </a:p>
          <a:p>
            <a:pPr algn="l">
              <a:spcAft>
                <a:spcPts val="300"/>
              </a:spcAft>
            </a:pPr>
            <a:r>
              <a:rPr sz="1200" b="0">
                <a:solidFill>
                  <a:srgbClr val="6B6862"/>
                </a:solidFill>
                <a:latin typeface="Calibri"/>
              </a:rPr>
              <a:t>Systems transition process</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K4</a:t>
            </a:r>
          </a:p>
          <a:p>
            <a:pPr algn="l">
              <a:spcAft>
                <a:spcPts val="300"/>
              </a:spcAft>
            </a:pPr>
            <a:r>
              <a:rPr sz="1200" b="0">
                <a:solidFill>
                  <a:srgbClr val="6B6862"/>
                </a:solidFill>
                <a:latin typeface="Calibri"/>
              </a:rPr>
              <a:t>Emerging technological trends such as machine learning, artificial intelligence and robotic process automation</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A1–A4</a:t>
            </a:r>
          </a:p>
          <a:p>
            <a:pPr algn="l">
              <a:spcAft>
                <a:spcPts val="300"/>
              </a:spcAft>
            </a:pPr>
            <a:r>
              <a:rPr sz="1200" b="0">
                <a:solidFill>
                  <a:srgbClr val="6B6862"/>
                </a:solidFill>
                <a:latin typeface="Calibri"/>
              </a:rPr>
              <a:t>Transition risks, controlled implementation, opportunity evaluation and staff enablement are practised across 14 labs.</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TOPIC 1</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Microsoft 365 Copilot Fundamentals</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822960" y="4434840"/>
            <a:ext cx="8412480" cy="1097280"/>
          </a:xfrm>
          <a:prstGeom prst="rect">
            <a:avLst/>
          </a:prstGeom>
          <a:noFill/>
        </p:spPr>
        <p:txBody>
          <a:bodyPr wrap="square" anchor="t">
            <a:spAutoFit/>
          </a:bodyPr>
          <a:lstStyle/>
          <a:p>
            <a:pPr algn="l">
              <a:spcAft>
                <a:spcPts val="400"/>
              </a:spcAft>
            </a:pPr>
            <a:r>
              <a:rPr sz="1500" b="0">
                <a:solidFill>
                  <a:srgbClr val="B9B4A9"/>
                </a:solidFill>
                <a:latin typeface="Calibri"/>
              </a:rPr>
              <a:t>Grounding, HR-case grain, prompts and verified handoffs</a:t>
            </a:r>
          </a:p>
        </p:txBody>
      </p:sp>
      <p:sp>
        <p:nvSpPr>
          <p:cNvPr id="9" name="TextBox 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1" name="TextBox 1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13</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KEY CONCEPTS · K1 · A1</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Key Concepts — Microsoft 365 Copilot Fundamentals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Grounding</a:t>
            </a:r>
          </a:p>
          <a:p>
            <a:pPr algn="l">
              <a:spcAft>
                <a:spcPts val="300"/>
              </a:spcAft>
            </a:pPr>
            <a:r>
              <a:rPr sz="1400" b="0">
                <a:solidFill>
                  <a:srgbClr val="6B6862"/>
                </a:solidFill>
                <a:latin typeface="Calibri"/>
              </a:rPr>
              <a:t>Select actual sources in every app.</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HR cases</a:t>
            </a:r>
          </a:p>
          <a:p>
            <a:pPr algn="l">
              <a:spcAft>
                <a:spcPts val="300"/>
              </a:spcAft>
            </a:pPr>
            <a:r>
              <a:rPr sz="1400" b="0">
                <a:solidFill>
                  <a:srgbClr val="6B6862"/>
                </a:solidFill>
                <a:latin typeface="Calibri"/>
              </a:rPr>
              <a:t>Keep IDs, dates, status and current ownership stable.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Prompt contract</a:t>
            </a:r>
          </a:p>
          <a:p>
            <a:pPr algn="l">
              <a:spcAft>
                <a:spcPts val="300"/>
              </a:spcAft>
            </a:pPr>
            <a:r>
              <a:rPr sz="1400" b="0">
                <a:solidFill>
                  <a:srgbClr val="6B6862"/>
                </a:solidFill>
                <a:latin typeface="Calibri"/>
              </a:rPr>
              <a:t>Goal, context, source and expected output.</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Transition risk</a:t>
            </a:r>
          </a:p>
          <a:p>
            <a:pPr algn="l">
              <a:spcAft>
                <a:spcPts val="300"/>
              </a:spcAft>
            </a:pPr>
            <a:r>
              <a:rPr sz="1400" b="0">
                <a:solidFill>
                  <a:srgbClr val="6B6862"/>
                </a:solidFill>
                <a:latin typeface="Calibri"/>
              </a:rPr>
              <a:t>Verify licences, permissions, data quality and claims.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 YOU'LL DO</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Hands-On Labs — Microsoft 365 Copilot Fundamentals</a:t>
            </a:r>
          </a:p>
        </p:txBody>
      </p:sp>
      <p:sp>
        <p:nvSpPr>
          <p:cNvPr id="5" name="Rounded Rectangle 4"/>
          <p:cNvSpPr/>
          <p:nvPr/>
        </p:nvSpPr>
        <p:spPr>
          <a:xfrm>
            <a:off x="777240"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225796"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4814316" cy="548640"/>
          </a:xfrm>
          <a:prstGeom prst="rect">
            <a:avLst/>
          </a:prstGeom>
          <a:noFill/>
        </p:spPr>
        <p:txBody>
          <a:bodyPr wrap="square" anchor="t">
            <a:spAutoFit/>
          </a:bodyPr>
          <a:lstStyle/>
          <a:p>
            <a:pPr algn="l">
              <a:spcAft>
                <a:spcPts val="400"/>
              </a:spcAft>
            </a:pPr>
            <a:r>
              <a:rPr sz="1900" b="1">
                <a:solidFill>
                  <a:srgbClr val="D97757"/>
                </a:solidFill>
                <a:latin typeface="Cambria"/>
              </a:rPr>
              <a:t>Lab 1</a:t>
            </a:r>
          </a:p>
        </p:txBody>
      </p:sp>
      <p:sp>
        <p:nvSpPr>
          <p:cNvPr id="8" name="TextBox 7"/>
          <p:cNvSpPr txBox="1"/>
          <p:nvPr/>
        </p:nvSpPr>
        <p:spPr>
          <a:xfrm>
            <a:off x="1005840"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Excel to Word</a:t>
            </a:r>
          </a:p>
          <a:p>
            <a:pPr>
              <a:spcAft>
                <a:spcPts val="900"/>
              </a:spcAft>
            </a:pPr>
            <a:r>
              <a:rPr sz="1200" b="0">
                <a:solidFill>
                  <a:srgbClr val="6B6862"/>
                </a:solidFill>
                <a:latin typeface="Calibri"/>
              </a:rPr>
              <a:t>–  Prepare HR Cases and Draft the HR Service Brief</a:t>
            </a:r>
          </a:p>
        </p:txBody>
      </p:sp>
      <p:sp>
        <p:nvSpPr>
          <p:cNvPr id="9" name="Rounded Rectangle 8"/>
          <p:cNvSpPr/>
          <p:nvPr/>
        </p:nvSpPr>
        <p:spPr>
          <a:xfrm>
            <a:off x="6185916"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6185916" y="1783080"/>
            <a:ext cx="5225796"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6414516" y="2011680"/>
            <a:ext cx="4814316" cy="548640"/>
          </a:xfrm>
          <a:prstGeom prst="rect">
            <a:avLst/>
          </a:prstGeom>
          <a:noFill/>
        </p:spPr>
        <p:txBody>
          <a:bodyPr wrap="square" anchor="t">
            <a:spAutoFit/>
          </a:bodyPr>
          <a:lstStyle/>
          <a:p>
            <a:pPr algn="l">
              <a:spcAft>
                <a:spcPts val="400"/>
              </a:spcAft>
            </a:pPr>
            <a:r>
              <a:rPr sz="1900" b="1">
                <a:solidFill>
                  <a:srgbClr val="3A7D7B"/>
                </a:solidFill>
                <a:latin typeface="Cambria"/>
              </a:rPr>
              <a:t>Lab 2</a:t>
            </a:r>
          </a:p>
        </p:txBody>
      </p:sp>
      <p:sp>
        <p:nvSpPr>
          <p:cNvPr id="12" name="TextBox 11"/>
          <p:cNvSpPr txBox="1"/>
          <p:nvPr/>
        </p:nvSpPr>
        <p:spPr>
          <a:xfrm>
            <a:off x="6414516"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Word to PowerPoint and Outlook</a:t>
            </a:r>
          </a:p>
          <a:p>
            <a:pPr>
              <a:spcAft>
                <a:spcPts val="900"/>
              </a:spcAft>
            </a:pPr>
            <a:r>
              <a:rPr sz="1200" b="0">
                <a:solidFill>
                  <a:srgbClr val="6B6862"/>
                </a:solidFill>
                <a:latin typeface="Calibri"/>
              </a:rPr>
              <a:t>–  Create the Cross-App HR Service Update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CONNECTED USE CASE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The Lumina HR Service Evidence Chain</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D97757"/>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Excel: clean and check</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D97757"/>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Word: HR service brief</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D97757"/>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PowerPoint: decision story</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D97757"/>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Outlook: reviewed draft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EDITABLE DATA MODEL</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 HR Case Has State, Scope and Ownership</a:t>
            </a:r>
          </a:p>
        </p:txBody>
      </p:sp>
      <p:sp>
        <p:nvSpPr>
          <p:cNvPr id="5" name="Rounded Rectangle 4"/>
          <p:cNvSpPr/>
          <p:nvPr/>
        </p:nvSpPr>
        <p:spPr>
          <a:xfrm>
            <a:off x="777240" y="1828800"/>
            <a:ext cx="3383280" cy="1143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TextBox 5"/>
          <p:cNvSpPr txBox="1"/>
          <p:nvPr/>
        </p:nvSpPr>
        <p:spPr>
          <a:xfrm>
            <a:off x="914400" y="1920240"/>
            <a:ext cx="3108960" cy="274320"/>
          </a:xfrm>
          <a:prstGeom prst="rect">
            <a:avLst/>
          </a:prstGeom>
          <a:noFill/>
        </p:spPr>
        <p:txBody>
          <a:bodyPr wrap="square" anchor="t">
            <a:spAutoFit/>
          </a:bodyPr>
          <a:lstStyle/>
          <a:p>
            <a:pPr algn="l">
              <a:spcAft>
                <a:spcPts val="400"/>
              </a:spcAft>
            </a:pPr>
            <a:r>
              <a:rPr sz="1800" b="1">
                <a:solidFill>
                  <a:srgbClr val="21201C"/>
                </a:solidFill>
                <a:latin typeface="Cambria"/>
              </a:rPr>
              <a:t>ID</a:t>
            </a:r>
          </a:p>
        </p:txBody>
      </p:sp>
      <p:sp>
        <p:nvSpPr>
          <p:cNvPr id="7" name="TextBox 6"/>
          <p:cNvSpPr txBox="1"/>
          <p:nvPr/>
        </p:nvSpPr>
        <p:spPr>
          <a:xfrm>
            <a:off x="914400" y="2286000"/>
            <a:ext cx="3108960" cy="548640"/>
          </a:xfrm>
          <a:prstGeom prst="rect">
            <a:avLst/>
          </a:prstGeom>
          <a:noFill/>
        </p:spPr>
        <p:txBody>
          <a:bodyPr wrap="square" anchor="t">
            <a:spAutoFit/>
          </a:bodyPr>
          <a:lstStyle/>
          <a:p>
            <a:pPr algn="l">
              <a:spcAft>
                <a:spcPts val="400"/>
              </a:spcAft>
            </a:pPr>
            <a:r>
              <a:rPr sz="2300" b="0">
                <a:solidFill>
                  <a:srgbClr val="21201C"/>
                </a:solidFill>
                <a:latin typeface="Calibri"/>
              </a:rPr>
              <a:t>HR-2026-0003</a:t>
            </a:r>
          </a:p>
        </p:txBody>
      </p:sp>
      <p:sp>
        <p:nvSpPr>
          <p:cNvPr id="8" name="Rounded Rectangle 7"/>
          <p:cNvSpPr/>
          <p:nvPr/>
        </p:nvSpPr>
        <p:spPr>
          <a:xfrm>
            <a:off x="4434840" y="1828800"/>
            <a:ext cx="3383280" cy="1143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TextBox 8"/>
          <p:cNvSpPr txBox="1"/>
          <p:nvPr/>
        </p:nvSpPr>
        <p:spPr>
          <a:xfrm>
            <a:off x="4572000" y="1920240"/>
            <a:ext cx="3108960" cy="274320"/>
          </a:xfrm>
          <a:prstGeom prst="rect">
            <a:avLst/>
          </a:prstGeom>
          <a:noFill/>
        </p:spPr>
        <p:txBody>
          <a:bodyPr wrap="square" anchor="t">
            <a:spAutoFit/>
          </a:bodyPr>
          <a:lstStyle/>
          <a:p>
            <a:pPr algn="l">
              <a:spcAft>
                <a:spcPts val="400"/>
              </a:spcAft>
            </a:pPr>
            <a:r>
              <a:rPr sz="1800" b="1">
                <a:solidFill>
                  <a:srgbClr val="21201C"/>
                </a:solidFill>
                <a:latin typeface="Cambria"/>
              </a:rPr>
              <a:t>Department</a:t>
            </a:r>
          </a:p>
        </p:txBody>
      </p:sp>
      <p:sp>
        <p:nvSpPr>
          <p:cNvPr id="10" name="TextBox 9"/>
          <p:cNvSpPr txBox="1"/>
          <p:nvPr/>
        </p:nvSpPr>
        <p:spPr>
          <a:xfrm>
            <a:off x="4572000" y="2286000"/>
            <a:ext cx="3108960" cy="548640"/>
          </a:xfrm>
          <a:prstGeom prst="rect">
            <a:avLst/>
          </a:prstGeom>
          <a:noFill/>
        </p:spPr>
        <p:txBody>
          <a:bodyPr wrap="square" anchor="t">
            <a:spAutoFit/>
          </a:bodyPr>
          <a:lstStyle/>
          <a:p>
            <a:pPr algn="l">
              <a:spcAft>
                <a:spcPts val="400"/>
              </a:spcAft>
            </a:pPr>
            <a:r>
              <a:rPr sz="2300" b="0">
                <a:solidFill>
                  <a:srgbClr val="21201C"/>
                </a:solidFill>
                <a:latin typeface="Calibri"/>
              </a:rPr>
              <a:t>Retail Sales</a:t>
            </a:r>
          </a:p>
        </p:txBody>
      </p:sp>
      <p:sp>
        <p:nvSpPr>
          <p:cNvPr id="11" name="Rounded Rectangle 10"/>
          <p:cNvSpPr/>
          <p:nvPr/>
        </p:nvSpPr>
        <p:spPr>
          <a:xfrm>
            <a:off x="8092440" y="1828800"/>
            <a:ext cx="3383280" cy="1143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TextBox 11"/>
          <p:cNvSpPr txBox="1"/>
          <p:nvPr/>
        </p:nvSpPr>
        <p:spPr>
          <a:xfrm>
            <a:off x="8229600" y="1920240"/>
            <a:ext cx="3108960" cy="274320"/>
          </a:xfrm>
          <a:prstGeom prst="rect">
            <a:avLst/>
          </a:prstGeom>
          <a:noFill/>
        </p:spPr>
        <p:txBody>
          <a:bodyPr wrap="square" anchor="t">
            <a:spAutoFit/>
          </a:bodyPr>
          <a:lstStyle/>
          <a:p>
            <a:pPr algn="l">
              <a:spcAft>
                <a:spcPts val="400"/>
              </a:spcAft>
            </a:pPr>
            <a:r>
              <a:rPr sz="1800" b="1">
                <a:solidFill>
                  <a:srgbClr val="21201C"/>
                </a:solidFill>
                <a:latin typeface="Cambria"/>
              </a:rPr>
              <a:t>Category</a:t>
            </a:r>
          </a:p>
        </p:txBody>
      </p:sp>
      <p:sp>
        <p:nvSpPr>
          <p:cNvPr id="13" name="TextBox 12"/>
          <p:cNvSpPr txBox="1"/>
          <p:nvPr/>
        </p:nvSpPr>
        <p:spPr>
          <a:xfrm>
            <a:off x="8229600" y="2286000"/>
            <a:ext cx="3108960" cy="548640"/>
          </a:xfrm>
          <a:prstGeom prst="rect">
            <a:avLst/>
          </a:prstGeom>
          <a:noFill/>
        </p:spPr>
        <p:txBody>
          <a:bodyPr wrap="square" anchor="t">
            <a:spAutoFit/>
          </a:bodyPr>
          <a:lstStyle/>
          <a:p>
            <a:pPr algn="l">
              <a:spcAft>
                <a:spcPts val="400"/>
              </a:spcAft>
            </a:pPr>
            <a:r>
              <a:rPr sz="2300" b="0">
                <a:solidFill>
                  <a:srgbClr val="21201C"/>
                </a:solidFill>
                <a:latin typeface="Calibri"/>
              </a:rPr>
              <a:t>Leave Request</a:t>
            </a:r>
          </a:p>
        </p:txBody>
      </p:sp>
      <p:sp>
        <p:nvSpPr>
          <p:cNvPr id="14" name="Rounded Rectangle 13"/>
          <p:cNvSpPr/>
          <p:nvPr/>
        </p:nvSpPr>
        <p:spPr>
          <a:xfrm>
            <a:off x="777240" y="3291840"/>
            <a:ext cx="3383280" cy="1143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5" name="TextBox 14"/>
          <p:cNvSpPr txBox="1"/>
          <p:nvPr/>
        </p:nvSpPr>
        <p:spPr>
          <a:xfrm>
            <a:off x="914400" y="3383280"/>
            <a:ext cx="3108960" cy="274320"/>
          </a:xfrm>
          <a:prstGeom prst="rect">
            <a:avLst/>
          </a:prstGeom>
          <a:noFill/>
        </p:spPr>
        <p:txBody>
          <a:bodyPr wrap="square" anchor="t">
            <a:spAutoFit/>
          </a:bodyPr>
          <a:lstStyle/>
          <a:p>
            <a:pPr algn="l">
              <a:spcAft>
                <a:spcPts val="400"/>
              </a:spcAft>
            </a:pPr>
            <a:r>
              <a:rPr sz="1800" b="1">
                <a:solidFill>
                  <a:srgbClr val="21201C"/>
                </a:solidFill>
                <a:latin typeface="Cambria"/>
              </a:rPr>
              <a:t>Status</a:t>
            </a:r>
          </a:p>
        </p:txBody>
      </p:sp>
      <p:sp>
        <p:nvSpPr>
          <p:cNvPr id="16" name="TextBox 15"/>
          <p:cNvSpPr txBox="1"/>
          <p:nvPr/>
        </p:nvSpPr>
        <p:spPr>
          <a:xfrm>
            <a:off x="914400" y="3749039"/>
            <a:ext cx="3108960" cy="548640"/>
          </a:xfrm>
          <a:prstGeom prst="rect">
            <a:avLst/>
          </a:prstGeom>
          <a:noFill/>
        </p:spPr>
        <p:txBody>
          <a:bodyPr wrap="square" anchor="t">
            <a:spAutoFit/>
          </a:bodyPr>
          <a:lstStyle/>
          <a:p>
            <a:pPr algn="l">
              <a:spcAft>
                <a:spcPts val="400"/>
              </a:spcAft>
            </a:pPr>
            <a:r>
              <a:rPr sz="2300" b="0">
                <a:solidFill>
                  <a:srgbClr val="21201C"/>
                </a:solidFill>
                <a:latin typeface="Calibri"/>
              </a:rPr>
              <a:t>In Progress</a:t>
            </a:r>
          </a:p>
        </p:txBody>
      </p:sp>
      <p:sp>
        <p:nvSpPr>
          <p:cNvPr id="17" name="Rounded Rectangle 16"/>
          <p:cNvSpPr/>
          <p:nvPr/>
        </p:nvSpPr>
        <p:spPr>
          <a:xfrm>
            <a:off x="4434840" y="3291840"/>
            <a:ext cx="3383280" cy="1143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TextBox 17"/>
          <p:cNvSpPr txBox="1"/>
          <p:nvPr/>
        </p:nvSpPr>
        <p:spPr>
          <a:xfrm>
            <a:off x="4572000" y="3383280"/>
            <a:ext cx="3108960" cy="274320"/>
          </a:xfrm>
          <a:prstGeom prst="rect">
            <a:avLst/>
          </a:prstGeom>
          <a:noFill/>
        </p:spPr>
        <p:txBody>
          <a:bodyPr wrap="square" anchor="t">
            <a:spAutoFit/>
          </a:bodyPr>
          <a:lstStyle/>
          <a:p>
            <a:pPr algn="l">
              <a:spcAft>
                <a:spcPts val="400"/>
              </a:spcAft>
            </a:pPr>
            <a:r>
              <a:rPr sz="1800" b="1">
                <a:solidFill>
                  <a:srgbClr val="21201C"/>
                </a:solidFill>
                <a:latin typeface="Cambria"/>
              </a:rPr>
              <a:t>Owner</a:t>
            </a:r>
          </a:p>
        </p:txBody>
      </p:sp>
      <p:sp>
        <p:nvSpPr>
          <p:cNvPr id="19" name="TextBox 18"/>
          <p:cNvSpPr txBox="1"/>
          <p:nvPr/>
        </p:nvSpPr>
        <p:spPr>
          <a:xfrm>
            <a:off x="4572000" y="3749039"/>
            <a:ext cx="3108960" cy="548640"/>
          </a:xfrm>
          <a:prstGeom prst="rect">
            <a:avLst/>
          </a:prstGeom>
          <a:noFill/>
        </p:spPr>
        <p:txBody>
          <a:bodyPr wrap="square" anchor="t">
            <a:spAutoFit/>
          </a:bodyPr>
          <a:lstStyle/>
          <a:p>
            <a:pPr algn="l">
              <a:spcAft>
                <a:spcPts val="400"/>
              </a:spcAft>
            </a:pPr>
            <a:r>
              <a:rPr sz="2300" b="0">
                <a:solidFill>
                  <a:srgbClr val="21201C"/>
                </a:solidFill>
                <a:latin typeface="Calibri"/>
              </a:rPr>
              <a:t>Chloe Goh</a:t>
            </a:r>
          </a:p>
        </p:txBody>
      </p:sp>
      <p:sp>
        <p:nvSpPr>
          <p:cNvPr id="20" name="TextBox 19"/>
          <p:cNvSpPr txBox="1"/>
          <p:nvPr/>
        </p:nvSpPr>
        <p:spPr>
          <a:xfrm>
            <a:off x="868680" y="5212080"/>
            <a:ext cx="10332720" cy="457200"/>
          </a:xfrm>
          <a:prstGeom prst="rect">
            <a:avLst/>
          </a:prstGeom>
          <a:noFill/>
        </p:spPr>
        <p:txBody>
          <a:bodyPr wrap="square" anchor="t">
            <a:spAutoFit/>
          </a:bodyPr>
          <a:lstStyle/>
          <a:p>
            <a:pPr algn="l">
              <a:spcAft>
                <a:spcPts val="400"/>
              </a:spcAft>
            </a:pPr>
            <a:r>
              <a:rPr sz="2100" b="0">
                <a:solidFill>
                  <a:srgbClr val="21201C"/>
                </a:solidFill>
                <a:latin typeface="Calibri"/>
              </a:rPr>
              <a:t>Current owner is evidence. Proposed owner is a separate planning output.</a:t>
            </a:r>
          </a:p>
        </p:txBody>
      </p:sp>
      <p:sp>
        <p:nvSpPr>
          <p:cNvPr id="21" name="TextBox 20"/>
          <p:cNvSpPr txBox="1"/>
          <p:nvPr/>
        </p:nvSpPr>
        <p:spPr>
          <a:xfrm>
            <a:off x="777240" y="5989320"/>
            <a:ext cx="10698480" cy="274320"/>
          </a:xfrm>
          <a:prstGeom prst="rect">
            <a:avLst/>
          </a:prstGeom>
          <a:noFill/>
        </p:spPr>
        <p:txBody>
          <a:bodyPr wrap="square" anchor="t">
            <a:spAutoFit/>
          </a:bodyPr>
          <a:lstStyle/>
          <a:p>
            <a:pPr algn="l">
              <a:spcAft>
                <a:spcPts val="400"/>
              </a:spcAft>
            </a:pPr>
            <a:r>
              <a:rPr sz="1100" b="0">
                <a:solidFill>
                  <a:srgbClr val="21201C"/>
                </a:solidFill>
                <a:latin typeface="Calibri"/>
              </a:rPr>
              <a:t>Source: synthetic tblHRCases | 30 Sep 2026 | All filters All unless stated</a:t>
            </a:r>
          </a:p>
        </p:txBody>
      </p:sp>
      <p:sp>
        <p:nvSpPr>
          <p:cNvPr id="22" name="TextBox 21"/>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3" name="TextBox 22"/>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4" name="TextBox 23"/>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Grounding Across Microsoft 365</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Grounding gives an AI request the specific evidence it should use.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 HR service figure can be correct in Excel yet become wrong in an email when the source, reporting date or filter scope changes.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Excel analyses tblHRCases; Word receives the checked summary.</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Grounding Across Microsoft 365</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D97757"/>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Identify the authoritative HR-case table.</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D97757"/>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Provide goal, context, source and expected output.</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D97757"/>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Review against the named evidence.</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D97757"/>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Pass a verified snapshot to the next app.</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Grounding Across Microsoft 365</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PowerPoint receives the reviewed Word brief; Outlook receives the same checked values.</a:t>
            </a:r>
          </a:p>
          <a:p>
            <a:pPr>
              <a:spcAft>
                <a:spcPts val="1000"/>
              </a:spcAft>
            </a:pPr>
            <a:r>
              <a:rPr sz="1600" b="0">
                <a:solidFill>
                  <a:srgbClr val="21201C"/>
                </a:solidFill>
                <a:latin typeface="Calibri"/>
              </a:rPr>
              <a:t>•  An Excel chat transcript is not an automatic PowerPoint data source.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Grounding Across Microsoft 365</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https://support.microsoft.com/en-us/microsoft-365-copilot/file-formats-supported-by-microsoft-365-copilot</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Excel analyses tblHRCases; Word receives the checked summary.</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PowerPoint receives the reviewed Word brief; Outlook receives the same checked values.</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prompt assumes access to another app chat or local path.</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Copilot in Excel — The Chat Pane</a:t>
            </a:r>
          </a:p>
        </p:txBody>
      </p:sp>
      <p:sp>
        <p:nvSpPr>
          <p:cNvPr id="5" name="Rectangle 4"/>
          <p:cNvSpPr/>
          <p:nvPr/>
        </p:nvSpPr>
        <p:spPr>
          <a:xfrm>
            <a:off x="731520" y="1764792"/>
            <a:ext cx="4607866" cy="4434840"/>
          </a:xfrm>
          <a:prstGeom prst="rect">
            <a:avLst/>
          </a:prstGeom>
          <a:solidFill>
            <a:srgbClr val="DCD8CF"/>
          </a:solidFill>
          <a:ln>
            <a:noFill/>
          </a:ln>
          <a:effectLst/>
        </p:spPr>
        <p:txBody>
          <a:bodyPr rtlCol="0" anchor="ctr"/>
          <a:lstStyle/>
          <a:p>
            <a:pPr algn="ctr"/>
          </a:p>
        </p:txBody>
      </p:sp>
      <p:pic>
        <p:nvPicPr>
          <p:cNvPr id="6" name="Picture 5" descr="excel-copilot-pane.png"/>
          <p:cNvPicPr>
            <a:picLocks noChangeAspect="1"/>
          </p:cNvPicPr>
          <p:nvPr/>
        </p:nvPicPr>
        <p:blipFill>
          <a:blip r:embed="rId2"/>
          <a:stretch>
            <a:fillRect/>
          </a:stretch>
        </p:blipFill>
        <p:spPr>
          <a:xfrm>
            <a:off x="777240" y="1810512"/>
            <a:ext cx="4516426" cy="4343400"/>
          </a:xfrm>
          <a:prstGeom prst="rect">
            <a:avLst/>
          </a:prstGeom>
        </p:spPr>
      </p:pic>
      <p:sp>
        <p:nvSpPr>
          <p:cNvPr id="7" name="Rounded Rectangle 6"/>
          <p:cNvSpPr/>
          <p:nvPr/>
        </p:nvSpPr>
        <p:spPr>
          <a:xfrm>
            <a:off x="5659426" y="1810512"/>
            <a:ext cx="5752286"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5659426" y="1810512"/>
            <a:ext cx="5752286" cy="64008"/>
          </a:xfrm>
          <a:prstGeom prst="rect">
            <a:avLst/>
          </a:prstGeom>
          <a:solidFill>
            <a:srgbClr val="D97757"/>
          </a:solidFill>
          <a:ln>
            <a:noFill/>
          </a:ln>
          <a:effectLst/>
        </p:spPr>
        <p:txBody>
          <a:bodyPr rtlCol="0" anchor="ctr"/>
          <a:lstStyle/>
          <a:p>
            <a:pPr algn="ctr"/>
          </a:p>
        </p:txBody>
      </p:sp>
      <p:sp>
        <p:nvSpPr>
          <p:cNvPr id="9" name="Oval 8"/>
          <p:cNvSpPr/>
          <p:nvPr/>
        </p:nvSpPr>
        <p:spPr>
          <a:xfrm>
            <a:off x="5842306" y="2008936"/>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5842306" y="200893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6390946" y="1810512"/>
            <a:ext cx="4837886" cy="780897"/>
          </a:xfrm>
          <a:prstGeom prst="rect">
            <a:avLst/>
          </a:prstGeom>
          <a:noFill/>
        </p:spPr>
        <p:txBody>
          <a:bodyPr wrap="square" anchor="ctr">
            <a:spAutoFit/>
          </a:bodyPr>
          <a:lstStyle/>
          <a:p>
            <a:pPr algn="l">
              <a:spcAft>
                <a:spcPts val="200"/>
              </a:spcAft>
            </a:pPr>
            <a:r>
              <a:rPr sz="1400" b="1">
                <a:solidFill>
                  <a:srgbClr val="21201C"/>
                </a:solidFill>
                <a:latin typeface="Calibri"/>
              </a:rPr>
              <a:t>Open the pane</a:t>
            </a:r>
          </a:p>
          <a:p>
            <a:pPr algn="l">
              <a:spcAft>
                <a:spcPts val="200"/>
              </a:spcAft>
            </a:pPr>
            <a:r>
              <a:rPr sz="1200" b="0">
                <a:solidFill>
                  <a:srgbClr val="6B6862"/>
                </a:solidFill>
                <a:latin typeface="Calibri"/>
              </a:rPr>
              <a:t>Select Copilot on the Home ribbon or the Copilot button at the bottom-right of the grid.</a:t>
            </a:r>
          </a:p>
        </p:txBody>
      </p:sp>
      <p:sp>
        <p:nvSpPr>
          <p:cNvPr id="12" name="Rounded Rectangle 11"/>
          <p:cNvSpPr/>
          <p:nvPr/>
        </p:nvSpPr>
        <p:spPr>
          <a:xfrm>
            <a:off x="5659426" y="2701137"/>
            <a:ext cx="5752286"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5659426" y="2701137"/>
            <a:ext cx="5752286" cy="64008"/>
          </a:xfrm>
          <a:prstGeom prst="rect">
            <a:avLst/>
          </a:prstGeom>
          <a:solidFill>
            <a:srgbClr val="3A7D7B"/>
          </a:solidFill>
          <a:ln>
            <a:noFill/>
          </a:ln>
          <a:effectLst/>
        </p:spPr>
        <p:txBody>
          <a:bodyPr rtlCol="0" anchor="ctr"/>
          <a:lstStyle/>
          <a:p>
            <a:pPr algn="ctr"/>
          </a:p>
        </p:txBody>
      </p:sp>
      <p:sp>
        <p:nvSpPr>
          <p:cNvPr id="14" name="Oval 13"/>
          <p:cNvSpPr/>
          <p:nvPr/>
        </p:nvSpPr>
        <p:spPr>
          <a:xfrm>
            <a:off x="5842306" y="2899561"/>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5842306" y="289956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6390946" y="2701137"/>
            <a:ext cx="4837886" cy="780897"/>
          </a:xfrm>
          <a:prstGeom prst="rect">
            <a:avLst/>
          </a:prstGeom>
          <a:noFill/>
        </p:spPr>
        <p:txBody>
          <a:bodyPr wrap="square" anchor="ctr">
            <a:spAutoFit/>
          </a:bodyPr>
          <a:lstStyle/>
          <a:p>
            <a:pPr algn="l">
              <a:spcAft>
                <a:spcPts val="200"/>
              </a:spcAft>
            </a:pPr>
            <a:r>
              <a:rPr sz="1400" b="1">
                <a:solidFill>
                  <a:srgbClr val="21201C"/>
                </a:solidFill>
                <a:latin typeface="Calibri"/>
              </a:rPr>
              <a:t>Model picker</a:t>
            </a:r>
          </a:p>
          <a:p>
            <a:pPr algn="l">
              <a:spcAft>
                <a:spcPts val="200"/>
              </a:spcAft>
            </a:pPr>
            <a:r>
              <a:rPr sz="1200" b="0">
                <a:solidFill>
                  <a:srgbClr val="6B6862"/>
                </a:solidFill>
                <a:latin typeface="Calibri"/>
              </a:rPr>
              <a:t>Shows the model in use. Auto picks one per task; keep the approved default.</a:t>
            </a:r>
          </a:p>
        </p:txBody>
      </p:sp>
      <p:sp>
        <p:nvSpPr>
          <p:cNvPr id="17" name="Rounded Rectangle 16"/>
          <p:cNvSpPr/>
          <p:nvPr/>
        </p:nvSpPr>
        <p:spPr>
          <a:xfrm>
            <a:off x="5659426" y="3591762"/>
            <a:ext cx="5752286"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659426" y="3591762"/>
            <a:ext cx="5752286" cy="64008"/>
          </a:xfrm>
          <a:prstGeom prst="rect">
            <a:avLst/>
          </a:prstGeom>
          <a:solidFill>
            <a:srgbClr val="5B4B8A"/>
          </a:solidFill>
          <a:ln>
            <a:noFill/>
          </a:ln>
          <a:effectLst/>
        </p:spPr>
        <p:txBody>
          <a:bodyPr rtlCol="0" anchor="ctr"/>
          <a:lstStyle/>
          <a:p>
            <a:pPr algn="ctr"/>
          </a:p>
        </p:txBody>
      </p:sp>
      <p:sp>
        <p:nvSpPr>
          <p:cNvPr id="19" name="Oval 18"/>
          <p:cNvSpPr/>
          <p:nvPr/>
        </p:nvSpPr>
        <p:spPr>
          <a:xfrm>
            <a:off x="5842306" y="3790186"/>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5842306" y="379018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6390946" y="3591762"/>
            <a:ext cx="4837886" cy="780897"/>
          </a:xfrm>
          <a:prstGeom prst="rect">
            <a:avLst/>
          </a:prstGeom>
          <a:noFill/>
        </p:spPr>
        <p:txBody>
          <a:bodyPr wrap="square" anchor="ctr">
            <a:spAutoFit/>
          </a:bodyPr>
          <a:lstStyle/>
          <a:p>
            <a:pPr algn="l">
              <a:spcAft>
                <a:spcPts val="200"/>
              </a:spcAft>
            </a:pPr>
            <a:r>
              <a:rPr sz="1400" b="1">
                <a:solidFill>
                  <a:srgbClr val="21201C"/>
                </a:solidFill>
                <a:latin typeface="Calibri"/>
              </a:rPr>
              <a:t>Starter prompts</a:t>
            </a:r>
          </a:p>
          <a:p>
            <a:pPr algn="l">
              <a:spcAft>
                <a:spcPts val="200"/>
              </a:spcAft>
            </a:pPr>
            <a:r>
              <a:rPr sz="1200" b="0">
                <a:solidFill>
                  <a:srgbClr val="6B6862"/>
                </a:solidFill>
                <a:latin typeface="Calibri"/>
              </a:rPr>
              <a:t>Replace generic starters with a grounded request: goal, source, 30 Sep 2026 and scope.</a:t>
            </a:r>
          </a:p>
        </p:txBody>
      </p:sp>
      <p:sp>
        <p:nvSpPr>
          <p:cNvPr id="22" name="Rounded Rectangle 21"/>
          <p:cNvSpPr/>
          <p:nvPr/>
        </p:nvSpPr>
        <p:spPr>
          <a:xfrm>
            <a:off x="5659426" y="4482387"/>
            <a:ext cx="5752286"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5659426" y="4482387"/>
            <a:ext cx="5752286" cy="64008"/>
          </a:xfrm>
          <a:prstGeom prst="rect">
            <a:avLst/>
          </a:prstGeom>
          <a:solidFill>
            <a:srgbClr val="C2603F"/>
          </a:solidFill>
          <a:ln>
            <a:noFill/>
          </a:ln>
          <a:effectLst/>
        </p:spPr>
        <p:txBody>
          <a:bodyPr rtlCol="0" anchor="ctr"/>
          <a:lstStyle/>
          <a:p>
            <a:pPr algn="ctr"/>
          </a:p>
        </p:txBody>
      </p:sp>
      <p:sp>
        <p:nvSpPr>
          <p:cNvPr id="24" name="Oval 23"/>
          <p:cNvSpPr/>
          <p:nvPr/>
        </p:nvSpPr>
        <p:spPr>
          <a:xfrm>
            <a:off x="5842306" y="4680811"/>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5842306" y="468081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6390946" y="4482387"/>
            <a:ext cx="4837886" cy="780897"/>
          </a:xfrm>
          <a:prstGeom prst="rect">
            <a:avLst/>
          </a:prstGeom>
          <a:noFill/>
        </p:spPr>
        <p:txBody>
          <a:bodyPr wrap="square" anchor="ctr">
            <a:spAutoFit/>
          </a:bodyPr>
          <a:lstStyle/>
          <a:p>
            <a:pPr algn="l">
              <a:spcAft>
                <a:spcPts val="200"/>
              </a:spcAft>
            </a:pPr>
            <a:r>
              <a:rPr sz="1400" b="1">
                <a:solidFill>
                  <a:srgbClr val="21201C"/>
                </a:solidFill>
                <a:latin typeface="Calibri"/>
              </a:rPr>
              <a:t>Mode and review</a:t>
            </a:r>
          </a:p>
          <a:p>
            <a:pPr algn="l">
              <a:spcAft>
                <a:spcPts val="200"/>
              </a:spcAft>
            </a:pPr>
            <a:r>
              <a:rPr sz="1200" b="0">
                <a:solidFill>
                  <a:srgbClr val="6B6862"/>
                </a:solidFill>
                <a:latin typeface="Calibri"/>
              </a:rPr>
              <a:t>Allow editing changes the workbook; Review as you go lets you keep or undo each change.</a:t>
            </a:r>
          </a:p>
        </p:txBody>
      </p:sp>
      <p:sp>
        <p:nvSpPr>
          <p:cNvPr id="27" name="Rounded Rectangle 26"/>
          <p:cNvSpPr/>
          <p:nvPr/>
        </p:nvSpPr>
        <p:spPr>
          <a:xfrm>
            <a:off x="5659426" y="5373012"/>
            <a:ext cx="5752286"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8" name="Rectangle 27"/>
          <p:cNvSpPr/>
          <p:nvPr/>
        </p:nvSpPr>
        <p:spPr>
          <a:xfrm>
            <a:off x="5659426" y="5373012"/>
            <a:ext cx="5752286" cy="64008"/>
          </a:xfrm>
          <a:prstGeom prst="rect">
            <a:avLst/>
          </a:prstGeom>
          <a:solidFill>
            <a:srgbClr val="D97757"/>
          </a:solidFill>
          <a:ln>
            <a:noFill/>
          </a:ln>
          <a:effectLst/>
        </p:spPr>
        <p:txBody>
          <a:bodyPr rtlCol="0" anchor="ctr"/>
          <a:lstStyle/>
          <a:p>
            <a:pPr algn="ctr"/>
          </a:p>
        </p:txBody>
      </p:sp>
      <p:sp>
        <p:nvSpPr>
          <p:cNvPr id="29" name="Oval 28"/>
          <p:cNvSpPr/>
          <p:nvPr/>
        </p:nvSpPr>
        <p:spPr>
          <a:xfrm>
            <a:off x="5842306" y="5571436"/>
            <a:ext cx="384048" cy="384048"/>
          </a:xfrm>
          <a:prstGeom prst="ellipse">
            <a:avLst/>
          </a:prstGeom>
          <a:solidFill>
            <a:srgbClr val="D97757"/>
          </a:solidFill>
          <a:ln>
            <a:noFill/>
          </a:ln>
          <a:effectLst/>
        </p:spPr>
        <p:txBody>
          <a:bodyPr rtlCol="0" anchor="ctr"/>
          <a:lstStyle/>
          <a:p>
            <a:pPr algn="ctr"/>
          </a:p>
        </p:txBody>
      </p:sp>
      <p:sp>
        <p:nvSpPr>
          <p:cNvPr id="30" name="TextBox 29"/>
          <p:cNvSpPr txBox="1"/>
          <p:nvPr/>
        </p:nvSpPr>
        <p:spPr>
          <a:xfrm>
            <a:off x="5842306" y="557143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5</a:t>
            </a:r>
          </a:p>
        </p:txBody>
      </p:sp>
      <p:sp>
        <p:nvSpPr>
          <p:cNvPr id="31" name="TextBox 30"/>
          <p:cNvSpPr txBox="1"/>
          <p:nvPr/>
        </p:nvSpPr>
        <p:spPr>
          <a:xfrm>
            <a:off x="6390946" y="5373012"/>
            <a:ext cx="4837886" cy="780897"/>
          </a:xfrm>
          <a:prstGeom prst="rect">
            <a:avLst/>
          </a:prstGeom>
          <a:noFill/>
        </p:spPr>
        <p:txBody>
          <a:bodyPr wrap="square" anchor="ctr">
            <a:spAutoFit/>
          </a:bodyPr>
          <a:lstStyle/>
          <a:p>
            <a:pPr algn="l">
              <a:spcAft>
                <a:spcPts val="200"/>
              </a:spcAft>
            </a:pPr>
            <a:r>
              <a:rPr sz="1400" b="1">
                <a:solidFill>
                  <a:srgbClr val="21201C"/>
                </a:solidFill>
                <a:latin typeface="Calibri"/>
              </a:rPr>
              <a:t>Prompt box and +</a:t>
            </a:r>
          </a:p>
          <a:p>
            <a:pPr algn="l">
              <a:spcAft>
                <a:spcPts val="200"/>
              </a:spcAft>
            </a:pPr>
            <a:r>
              <a:rPr sz="1200" b="0">
                <a:solidFill>
                  <a:srgbClr val="6B6862"/>
                </a:solidFill>
                <a:latin typeface="Calibri"/>
              </a:rPr>
              <a:t>Paste the lab prompt; use + to attach the exact Lumina source before sending.</a:t>
            </a:r>
          </a:p>
        </p:txBody>
      </p:sp>
      <p:sp>
        <p:nvSpPr>
          <p:cNvPr id="32" name="TextBox 31"/>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3" name="TextBox 32"/>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4" name="TextBox 33"/>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Ground the Request with the + Menu</a:t>
            </a:r>
          </a:p>
        </p:txBody>
      </p:sp>
      <p:sp>
        <p:nvSpPr>
          <p:cNvPr id="5" name="Rectangle 4"/>
          <p:cNvSpPr/>
          <p:nvPr/>
        </p:nvSpPr>
        <p:spPr>
          <a:xfrm>
            <a:off x="731520" y="1764792"/>
            <a:ext cx="3652748" cy="4434840"/>
          </a:xfrm>
          <a:prstGeom prst="rect">
            <a:avLst/>
          </a:prstGeom>
          <a:solidFill>
            <a:srgbClr val="DCD8CF"/>
          </a:solidFill>
          <a:ln>
            <a:noFill/>
          </a:ln>
          <a:effectLst/>
        </p:spPr>
        <p:txBody>
          <a:bodyPr rtlCol="0" anchor="ctr"/>
          <a:lstStyle/>
          <a:p>
            <a:pPr algn="ctr"/>
          </a:p>
        </p:txBody>
      </p:sp>
      <p:pic>
        <p:nvPicPr>
          <p:cNvPr id="6" name="Picture 5" descr="copilot-plus-menu.png"/>
          <p:cNvPicPr>
            <a:picLocks noChangeAspect="1"/>
          </p:cNvPicPr>
          <p:nvPr/>
        </p:nvPicPr>
        <p:blipFill>
          <a:blip r:embed="rId2"/>
          <a:stretch>
            <a:fillRect/>
          </a:stretch>
        </p:blipFill>
        <p:spPr>
          <a:xfrm>
            <a:off x="777240" y="1810512"/>
            <a:ext cx="3561309" cy="4343400"/>
          </a:xfrm>
          <a:prstGeom prst="rect">
            <a:avLst/>
          </a:prstGeom>
        </p:spPr>
      </p:pic>
      <p:sp>
        <p:nvSpPr>
          <p:cNvPr id="7" name="Rounded Rectangle 6"/>
          <p:cNvSpPr/>
          <p:nvPr/>
        </p:nvSpPr>
        <p:spPr>
          <a:xfrm>
            <a:off x="4704308" y="1810512"/>
            <a:ext cx="6707404"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4704308" y="1810512"/>
            <a:ext cx="6707404" cy="64008"/>
          </a:xfrm>
          <a:prstGeom prst="rect">
            <a:avLst/>
          </a:prstGeom>
          <a:solidFill>
            <a:srgbClr val="D97757"/>
          </a:solidFill>
          <a:ln>
            <a:noFill/>
          </a:ln>
          <a:effectLst/>
        </p:spPr>
        <p:txBody>
          <a:bodyPr rtlCol="0" anchor="ctr"/>
          <a:lstStyle/>
          <a:p>
            <a:pPr algn="ctr"/>
          </a:p>
        </p:txBody>
      </p:sp>
      <p:sp>
        <p:nvSpPr>
          <p:cNvPr id="9" name="Oval 8"/>
          <p:cNvSpPr/>
          <p:nvPr/>
        </p:nvSpPr>
        <p:spPr>
          <a:xfrm>
            <a:off x="4887188" y="2008936"/>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4887188" y="200893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5435828" y="1810512"/>
            <a:ext cx="5793004" cy="780897"/>
          </a:xfrm>
          <a:prstGeom prst="rect">
            <a:avLst/>
          </a:prstGeom>
          <a:noFill/>
        </p:spPr>
        <p:txBody>
          <a:bodyPr wrap="square" anchor="ctr">
            <a:spAutoFit/>
          </a:bodyPr>
          <a:lstStyle/>
          <a:p>
            <a:pPr algn="l">
              <a:spcAft>
                <a:spcPts val="200"/>
              </a:spcAft>
            </a:pPr>
            <a:r>
              <a:rPr sz="1400" b="1">
                <a:solidFill>
                  <a:srgbClr val="21201C"/>
                </a:solidFill>
                <a:latin typeface="Calibri"/>
              </a:rPr>
              <a:t>Attach cloud files</a:t>
            </a:r>
          </a:p>
          <a:p>
            <a:pPr algn="l">
              <a:spcAft>
                <a:spcPts val="200"/>
              </a:spcAft>
            </a:pPr>
            <a:r>
              <a:rPr sz="1200" b="0">
                <a:solidFill>
                  <a:srgbClr val="6B6862"/>
                </a:solidFill>
                <a:latin typeface="Calibri"/>
              </a:rPr>
              <a:t>Point Copilot at the approved OneDrive copy of Lumina_HR_Cases.xlsx.</a:t>
            </a:r>
          </a:p>
        </p:txBody>
      </p:sp>
      <p:sp>
        <p:nvSpPr>
          <p:cNvPr id="12" name="Rounded Rectangle 11"/>
          <p:cNvSpPr/>
          <p:nvPr/>
        </p:nvSpPr>
        <p:spPr>
          <a:xfrm>
            <a:off x="4704308" y="2701137"/>
            <a:ext cx="6707404"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4704308" y="2701137"/>
            <a:ext cx="6707404" cy="64008"/>
          </a:xfrm>
          <a:prstGeom prst="rect">
            <a:avLst/>
          </a:prstGeom>
          <a:solidFill>
            <a:srgbClr val="3A7D7B"/>
          </a:solidFill>
          <a:ln>
            <a:noFill/>
          </a:ln>
          <a:effectLst/>
        </p:spPr>
        <p:txBody>
          <a:bodyPr rtlCol="0" anchor="ctr"/>
          <a:lstStyle/>
          <a:p>
            <a:pPr algn="ctr"/>
          </a:p>
        </p:txBody>
      </p:sp>
      <p:sp>
        <p:nvSpPr>
          <p:cNvPr id="14" name="Oval 13"/>
          <p:cNvSpPr/>
          <p:nvPr/>
        </p:nvSpPr>
        <p:spPr>
          <a:xfrm>
            <a:off x="4887188" y="2899561"/>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4887188" y="289956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5435828" y="2701137"/>
            <a:ext cx="5793004" cy="780897"/>
          </a:xfrm>
          <a:prstGeom prst="rect">
            <a:avLst/>
          </a:prstGeom>
          <a:noFill/>
        </p:spPr>
        <p:txBody>
          <a:bodyPr wrap="square" anchor="ctr">
            <a:spAutoFit/>
          </a:bodyPr>
          <a:lstStyle/>
          <a:p>
            <a:pPr algn="l">
              <a:spcAft>
                <a:spcPts val="200"/>
              </a:spcAft>
            </a:pPr>
            <a:r>
              <a:rPr sz="1400" b="1">
                <a:solidFill>
                  <a:srgbClr val="21201C"/>
                </a:solidFill>
                <a:latin typeface="Calibri"/>
              </a:rPr>
              <a:t>Upload images and files</a:t>
            </a:r>
          </a:p>
          <a:p>
            <a:pPr algn="l">
              <a:spcAft>
                <a:spcPts val="200"/>
              </a:spcAft>
            </a:pPr>
            <a:r>
              <a:rPr sz="1200" b="0">
                <a:solidFill>
                  <a:srgbClr val="6B6862"/>
                </a:solidFill>
                <a:latin typeface="Calibri"/>
              </a:rPr>
              <a:t>Add a local file, such as a supplied HR template, when the lab asks for it.</a:t>
            </a:r>
          </a:p>
        </p:txBody>
      </p:sp>
      <p:sp>
        <p:nvSpPr>
          <p:cNvPr id="17" name="Rounded Rectangle 16"/>
          <p:cNvSpPr/>
          <p:nvPr/>
        </p:nvSpPr>
        <p:spPr>
          <a:xfrm>
            <a:off x="4704308" y="3591762"/>
            <a:ext cx="6707404"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4704308" y="3591762"/>
            <a:ext cx="6707404" cy="64008"/>
          </a:xfrm>
          <a:prstGeom prst="rect">
            <a:avLst/>
          </a:prstGeom>
          <a:solidFill>
            <a:srgbClr val="5B4B8A"/>
          </a:solidFill>
          <a:ln>
            <a:noFill/>
          </a:ln>
          <a:effectLst/>
        </p:spPr>
        <p:txBody>
          <a:bodyPr rtlCol="0" anchor="ctr"/>
          <a:lstStyle/>
          <a:p>
            <a:pPr algn="ctr"/>
          </a:p>
        </p:txBody>
      </p:sp>
      <p:sp>
        <p:nvSpPr>
          <p:cNvPr id="19" name="Oval 18"/>
          <p:cNvSpPr/>
          <p:nvPr/>
        </p:nvSpPr>
        <p:spPr>
          <a:xfrm>
            <a:off x="4887188" y="3790186"/>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4887188" y="379018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5435828" y="3591762"/>
            <a:ext cx="5793004" cy="780897"/>
          </a:xfrm>
          <a:prstGeom prst="rect">
            <a:avLst/>
          </a:prstGeom>
          <a:noFill/>
        </p:spPr>
        <p:txBody>
          <a:bodyPr wrap="square" anchor="ctr">
            <a:spAutoFit/>
          </a:bodyPr>
          <a:lstStyle/>
          <a:p>
            <a:pPr algn="l">
              <a:spcAft>
                <a:spcPts val="200"/>
              </a:spcAft>
            </a:pPr>
            <a:r>
              <a:rPr sz="1400" b="1">
                <a:solidFill>
                  <a:srgbClr val="21201C"/>
                </a:solidFill>
                <a:latin typeface="Calibri"/>
              </a:rPr>
              <a:t>Create workbook rules</a:t>
            </a:r>
          </a:p>
          <a:p>
            <a:pPr algn="l">
              <a:spcAft>
                <a:spcPts val="200"/>
              </a:spcAft>
            </a:pPr>
            <a:r>
              <a:rPr sz="1200" b="0">
                <a:solidFill>
                  <a:srgbClr val="6B6862"/>
                </a:solidFill>
                <a:latin typeface="Calibri"/>
              </a:rPr>
              <a:t>Starts a visible .Rules sheet of workbook conventions (Lab 4).</a:t>
            </a:r>
          </a:p>
        </p:txBody>
      </p:sp>
      <p:sp>
        <p:nvSpPr>
          <p:cNvPr id="22" name="Rounded Rectangle 21"/>
          <p:cNvSpPr/>
          <p:nvPr/>
        </p:nvSpPr>
        <p:spPr>
          <a:xfrm>
            <a:off x="4704308" y="4482387"/>
            <a:ext cx="6707404"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4704308" y="4482387"/>
            <a:ext cx="6707404" cy="64008"/>
          </a:xfrm>
          <a:prstGeom prst="rect">
            <a:avLst/>
          </a:prstGeom>
          <a:solidFill>
            <a:srgbClr val="C2603F"/>
          </a:solidFill>
          <a:ln>
            <a:noFill/>
          </a:ln>
          <a:effectLst/>
        </p:spPr>
        <p:txBody>
          <a:bodyPr rtlCol="0" anchor="ctr"/>
          <a:lstStyle/>
          <a:p>
            <a:pPr algn="ctr"/>
          </a:p>
        </p:txBody>
      </p:sp>
      <p:sp>
        <p:nvSpPr>
          <p:cNvPr id="24" name="Oval 23"/>
          <p:cNvSpPr/>
          <p:nvPr/>
        </p:nvSpPr>
        <p:spPr>
          <a:xfrm>
            <a:off x="4887188" y="4680811"/>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4887188" y="468081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5435828" y="4482387"/>
            <a:ext cx="5793004" cy="780897"/>
          </a:xfrm>
          <a:prstGeom prst="rect">
            <a:avLst/>
          </a:prstGeom>
          <a:noFill/>
        </p:spPr>
        <p:txBody>
          <a:bodyPr wrap="square" anchor="ctr">
            <a:spAutoFit/>
          </a:bodyPr>
          <a:lstStyle/>
          <a:p>
            <a:pPr algn="l">
              <a:spcAft>
                <a:spcPts val="200"/>
              </a:spcAft>
            </a:pPr>
            <a:r>
              <a:rPr sz="1400" b="1">
                <a:solidFill>
                  <a:srgbClr val="21201C"/>
                </a:solidFill>
                <a:latin typeface="Calibri"/>
              </a:rPr>
              <a:t>Choose plugins and skills</a:t>
            </a:r>
          </a:p>
          <a:p>
            <a:pPr algn="l">
              <a:spcAft>
                <a:spcPts val="200"/>
              </a:spcAft>
            </a:pPr>
            <a:r>
              <a:rPr sz="1200" b="0">
                <a:solidFill>
                  <a:srgbClr val="6B6862"/>
                </a:solidFill>
                <a:latin typeface="Calibri"/>
              </a:rPr>
              <a:t>Invoke a built-in or custom Skill such as hr-case-pareto (Labs 5–7).</a:t>
            </a:r>
          </a:p>
        </p:txBody>
      </p:sp>
      <p:sp>
        <p:nvSpPr>
          <p:cNvPr id="27" name="Rounded Rectangle 26"/>
          <p:cNvSpPr/>
          <p:nvPr/>
        </p:nvSpPr>
        <p:spPr>
          <a:xfrm>
            <a:off x="4704308" y="5373012"/>
            <a:ext cx="6707404"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8" name="Rectangle 27"/>
          <p:cNvSpPr/>
          <p:nvPr/>
        </p:nvSpPr>
        <p:spPr>
          <a:xfrm>
            <a:off x="4704308" y="5373012"/>
            <a:ext cx="6707404" cy="64008"/>
          </a:xfrm>
          <a:prstGeom prst="rect">
            <a:avLst/>
          </a:prstGeom>
          <a:solidFill>
            <a:srgbClr val="D97757"/>
          </a:solidFill>
          <a:ln>
            <a:noFill/>
          </a:ln>
          <a:effectLst/>
        </p:spPr>
        <p:txBody>
          <a:bodyPr rtlCol="0" anchor="ctr"/>
          <a:lstStyle/>
          <a:p>
            <a:pPr algn="ctr"/>
          </a:p>
        </p:txBody>
      </p:sp>
      <p:sp>
        <p:nvSpPr>
          <p:cNvPr id="29" name="Oval 28"/>
          <p:cNvSpPr/>
          <p:nvPr/>
        </p:nvSpPr>
        <p:spPr>
          <a:xfrm>
            <a:off x="4887188" y="5571436"/>
            <a:ext cx="384048" cy="384048"/>
          </a:xfrm>
          <a:prstGeom prst="ellipse">
            <a:avLst/>
          </a:prstGeom>
          <a:solidFill>
            <a:srgbClr val="D97757"/>
          </a:solidFill>
          <a:ln>
            <a:noFill/>
          </a:ln>
          <a:effectLst/>
        </p:spPr>
        <p:txBody>
          <a:bodyPr rtlCol="0" anchor="ctr"/>
          <a:lstStyle/>
          <a:p>
            <a:pPr algn="ctr"/>
          </a:p>
        </p:txBody>
      </p:sp>
      <p:sp>
        <p:nvSpPr>
          <p:cNvPr id="30" name="TextBox 29"/>
          <p:cNvSpPr txBox="1"/>
          <p:nvPr/>
        </p:nvSpPr>
        <p:spPr>
          <a:xfrm>
            <a:off x="4887188" y="557143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5</a:t>
            </a:r>
          </a:p>
        </p:txBody>
      </p:sp>
      <p:sp>
        <p:nvSpPr>
          <p:cNvPr id="31" name="TextBox 30"/>
          <p:cNvSpPr txBox="1"/>
          <p:nvPr/>
        </p:nvSpPr>
        <p:spPr>
          <a:xfrm>
            <a:off x="5435828" y="5373012"/>
            <a:ext cx="5793004" cy="780897"/>
          </a:xfrm>
          <a:prstGeom prst="rect">
            <a:avLst/>
          </a:prstGeom>
          <a:noFill/>
        </p:spPr>
        <p:txBody>
          <a:bodyPr wrap="square" anchor="ctr">
            <a:spAutoFit/>
          </a:bodyPr>
          <a:lstStyle/>
          <a:p>
            <a:pPr algn="l">
              <a:spcAft>
                <a:spcPts val="200"/>
              </a:spcAft>
            </a:pPr>
            <a:r>
              <a:rPr sz="1400" b="1">
                <a:solidFill>
                  <a:srgbClr val="21201C"/>
                </a:solidFill>
                <a:latin typeface="Calibri"/>
              </a:rPr>
              <a:t>Change data sources</a:t>
            </a:r>
          </a:p>
          <a:p>
            <a:pPr algn="l">
              <a:spcAft>
                <a:spcPts val="200"/>
              </a:spcAft>
            </a:pPr>
            <a:r>
              <a:rPr sz="1200" b="0">
                <a:solidFill>
                  <a:srgbClr val="6B6862"/>
                </a:solidFill>
                <a:latin typeface="Calibri"/>
              </a:rPr>
              <a:t>Confirm which data Copilot reads before you trust any figure.</a:t>
            </a:r>
          </a:p>
        </p:txBody>
      </p:sp>
      <p:sp>
        <p:nvSpPr>
          <p:cNvPr id="32" name="TextBox 31"/>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3" name="TextBox 32"/>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4" name="TextBox 33"/>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23</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HR-Case Grain and Reporting Measures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row represents one HR case, identified by Case_ID.</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 exact duplicated export row changes counts and cost without representing new work.</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122 raw rows contain 120 distinct HR-case IDs.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24</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HR-Case Grain and Reporting Measures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D97757"/>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one ID per HR case.</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D97757"/>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Find exact repeated export records.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D97757"/>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Standardise labels without inventing facts.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D97757"/>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Reconcile cleaned counts and cost.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25</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HR-Case Grain and Reporting Measures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Total = Closed + Cancelled + Backlog after exact duplicate removal.</a:t>
            </a:r>
          </a:p>
          <a:p>
            <a:pPr>
              <a:spcAft>
                <a:spcPts val="1000"/>
              </a:spcAft>
            </a:pPr>
            <a:r>
              <a:rPr sz="1600" b="0">
                <a:solidFill>
                  <a:srgbClr val="21201C"/>
                </a:solidFill>
                <a:latin typeface="Calibri"/>
              </a:rPr>
              <a:t>•  Due on 30 September is not overdue at the 30 September snapshot.</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26</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HR-Case Grain and Reporting Measures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https://support.microsoft.com/en-us/excel/create-and-share-a-dashboard-with-excel-and-microsoft-groups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122 raw rows contain 120 distinct HR-case IDs.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Total = Closed + Cancelled + Backlog after exact duplicate removal.</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Duplicate IDs contain conflicting records or reporting scope is unknown.</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27</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THEME · EXCEL TO WORD</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Prepare HR Cases and Draft the HR Service Brief</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1</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2100" b="0">
                <a:solidFill>
                  <a:srgbClr val="21201C"/>
                </a:solidFill>
                <a:latin typeface="Calibri"/>
              </a:rPr>
              <a:t>You are Lumina Living’s HR operations executive. A Q3 export contains repeated IDs and inconsistent category labels.</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Lumina_Clean_HR_Cases.xlsx and Lumina_HR_Service_Brief.docx, with reconciled counts, reporting scope and a source register.</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 Excel · Word · PowerPoint · Outlook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28</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1</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Inspect: Using Lumina_HR_Cases.xlsx, confirm 120 unique Case_ID values, preserve Current_Assignee, and report data-quality exceptions at 30 September 2026.</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Brief: Draft the Lumina HR Service Brief from the verified 120-row snapshot; cite backlog 60 and overdue 50 and label missing causes UNKNOWN.</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29</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1</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Clean table</a:t>
            </a:r>
          </a:p>
          <a:p>
            <a:pPr algn="l">
              <a:spcAft>
                <a:spcPts val="300"/>
              </a:spcAft>
            </a:pPr>
            <a:r>
              <a:rPr sz="1300" b="0">
                <a:solidFill>
                  <a:srgbClr val="6B6862"/>
                </a:solidFill>
                <a:latin typeface="Calibri"/>
              </a:rPr>
              <a:t>120 unique Case_ID rows; five canonical request types.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Portfolio identity</a:t>
            </a:r>
          </a:p>
          <a:p>
            <a:pPr algn="l">
              <a:spcAft>
                <a:spcPts val="300"/>
              </a:spcAft>
            </a:pPr>
            <a:r>
              <a:rPr sz="1300" b="0">
                <a:solidFill>
                  <a:srgbClr val="6B6862"/>
                </a:solidFill>
                <a:latin typeface="Calibri"/>
              </a:rPr>
              <a:t>120 = 48 Closed + 12 Cancelled + 60 backlog.</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Evidence handoff</a:t>
            </a:r>
          </a:p>
          <a:p>
            <a:pPr algn="l">
              <a:spcAft>
                <a:spcPts val="300"/>
              </a:spcAft>
            </a:pPr>
            <a:r>
              <a:rPr sz="1300" b="0">
                <a:solidFill>
                  <a:srgbClr val="6B6862"/>
                </a:solidFill>
                <a:latin typeface="Calibri"/>
              </a:rPr>
              <a:t>Overdue 50; unassigned backlog 6; total cost S$35,827.50. Word agrees with Excel.</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No guessed owner</a:t>
            </a:r>
          </a:p>
          <a:p>
            <a:pPr algn="l">
              <a:spcAft>
                <a:spcPts val="300"/>
              </a:spcAft>
            </a:pPr>
            <a:r>
              <a:rPr sz="1300" b="0">
                <a:solidFill>
                  <a:srgbClr val="6B6862"/>
                </a:solidFill>
                <a:latin typeface="Calibri"/>
              </a:rPr>
              <a:t>Blank assignments remain blank; proposals labelled unapproved.</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30</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Prompts and Verified App Handoffs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useful prompt combines the intended goal, operational context, named source and output expectations.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same number may have different meaning when a chart counts all HR cases while an email calls it open backlog.</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Goal: draft an HR service update for the HR manager.</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31</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Prompts and Verified App Handoffs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D97757"/>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Write the goal and audience.</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D97757"/>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Attach or select the actual source.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D97757"/>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Specify definitions and missing-value behaviour.</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D97757"/>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Reconcile the returned claims.</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32</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Prompts and Verified App Handoffs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Source: reviewed Lumina HR service brief, all filters All, 30 September.</a:t>
            </a:r>
          </a:p>
          <a:p>
            <a:pPr>
              <a:spcAft>
                <a:spcPts val="1000"/>
              </a:spcAft>
            </a:pPr>
            <a:r>
              <a:rPr sz="1600" b="0">
                <a:solidFill>
                  <a:srgbClr val="21201C"/>
                </a:solidFill>
                <a:latin typeface="Calibri"/>
              </a:rPr>
              <a:t>•  Expectation: label assignment suggestions as proposals and leave unknown approvals UNKNOWN.</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33</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Prompts and Verified App Handoffs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https://support.microsoft.com/en-gb/word/copilot/draft-and-add-content-with-copilot-in-word</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Goal: draft an HR service update for the HR manager.</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Source: reviewed Lumina HR service brief, all filters All, 30 September.</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Only an unverified summary is available.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34</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Choose the Model, Then the Mode</a:t>
            </a:r>
          </a:p>
        </p:txBody>
      </p:sp>
      <p:sp>
        <p:nvSpPr>
          <p:cNvPr id="5" name="Rectangle 4"/>
          <p:cNvSpPr/>
          <p:nvPr/>
        </p:nvSpPr>
        <p:spPr>
          <a:xfrm>
            <a:off x="1619356" y="1737360"/>
            <a:ext cx="3404403" cy="3840479"/>
          </a:xfrm>
          <a:prstGeom prst="rect">
            <a:avLst/>
          </a:prstGeom>
          <a:solidFill>
            <a:srgbClr val="DCD8CF"/>
          </a:solidFill>
          <a:ln>
            <a:noFill/>
          </a:ln>
          <a:effectLst/>
        </p:spPr>
        <p:txBody>
          <a:bodyPr rtlCol="0" anchor="ctr"/>
          <a:lstStyle/>
          <a:p>
            <a:pPr algn="ctr"/>
          </a:p>
        </p:txBody>
      </p:sp>
      <p:pic>
        <p:nvPicPr>
          <p:cNvPr id="6" name="Picture 5" descr="copilot-model-picker.png"/>
          <p:cNvPicPr>
            <a:picLocks noChangeAspect="1"/>
          </p:cNvPicPr>
          <p:nvPr/>
        </p:nvPicPr>
        <p:blipFill>
          <a:blip r:embed="rId2"/>
          <a:stretch>
            <a:fillRect/>
          </a:stretch>
        </p:blipFill>
        <p:spPr>
          <a:xfrm>
            <a:off x="1665076" y="1783080"/>
            <a:ext cx="3312963" cy="3749039"/>
          </a:xfrm>
          <a:prstGeom prst="rect">
            <a:avLst/>
          </a:prstGeom>
        </p:spPr>
      </p:pic>
      <p:sp>
        <p:nvSpPr>
          <p:cNvPr id="7" name="TextBox 6"/>
          <p:cNvSpPr txBox="1"/>
          <p:nvPr/>
        </p:nvSpPr>
        <p:spPr>
          <a:xfrm>
            <a:off x="777240" y="5641847"/>
            <a:ext cx="5088636" cy="658368"/>
          </a:xfrm>
          <a:prstGeom prst="rect">
            <a:avLst/>
          </a:prstGeom>
          <a:noFill/>
        </p:spPr>
        <p:txBody>
          <a:bodyPr wrap="square" anchor="t">
            <a:spAutoFit/>
          </a:bodyPr>
          <a:lstStyle/>
          <a:p>
            <a:pPr algn="ctr">
              <a:spcAft>
                <a:spcPts val="200"/>
              </a:spcAft>
            </a:pPr>
            <a:r>
              <a:rPr sz="1400" b="1">
                <a:solidFill>
                  <a:srgbClr val="21201C"/>
                </a:solidFill>
                <a:latin typeface="Calibri"/>
              </a:rPr>
              <a:t>Model picker</a:t>
            </a:r>
          </a:p>
          <a:p>
            <a:pPr algn="ctr">
              <a:spcAft>
                <a:spcPts val="200"/>
              </a:spcAft>
            </a:pPr>
            <a:r>
              <a:rPr sz="1200" b="0">
                <a:solidFill>
                  <a:srgbClr val="6B6862"/>
                </a:solidFill>
                <a:latin typeface="Calibri"/>
              </a:rPr>
              <a:t>Auto chooses per task. Use the approved default and retest after any change (AI Security principle 5).</a:t>
            </a:r>
          </a:p>
        </p:txBody>
      </p:sp>
      <p:sp>
        <p:nvSpPr>
          <p:cNvPr id="8" name="Rectangle 7"/>
          <p:cNvSpPr/>
          <p:nvPr/>
        </p:nvSpPr>
        <p:spPr>
          <a:xfrm>
            <a:off x="6293857" y="1737360"/>
            <a:ext cx="5147074" cy="3840479"/>
          </a:xfrm>
          <a:prstGeom prst="rect">
            <a:avLst/>
          </a:prstGeom>
          <a:solidFill>
            <a:srgbClr val="DCD8CF"/>
          </a:solidFill>
          <a:ln>
            <a:noFill/>
          </a:ln>
          <a:effectLst/>
        </p:spPr>
        <p:txBody>
          <a:bodyPr rtlCol="0" anchor="ctr"/>
          <a:lstStyle/>
          <a:p>
            <a:pPr algn="ctr"/>
          </a:p>
        </p:txBody>
      </p:sp>
      <p:pic>
        <p:nvPicPr>
          <p:cNvPr id="9" name="Picture 8" descr="copilot-modes.png"/>
          <p:cNvPicPr>
            <a:picLocks noChangeAspect="1"/>
          </p:cNvPicPr>
          <p:nvPr/>
        </p:nvPicPr>
        <p:blipFill>
          <a:blip r:embed="rId3"/>
          <a:stretch>
            <a:fillRect/>
          </a:stretch>
        </p:blipFill>
        <p:spPr>
          <a:xfrm>
            <a:off x="6339577" y="1783080"/>
            <a:ext cx="5055635" cy="3749039"/>
          </a:xfrm>
          <a:prstGeom prst="rect">
            <a:avLst/>
          </a:prstGeom>
        </p:spPr>
      </p:pic>
      <p:sp>
        <p:nvSpPr>
          <p:cNvPr id="10" name="TextBox 9"/>
          <p:cNvSpPr txBox="1"/>
          <p:nvPr/>
        </p:nvSpPr>
        <p:spPr>
          <a:xfrm>
            <a:off x="6323076" y="5641847"/>
            <a:ext cx="5088636" cy="658368"/>
          </a:xfrm>
          <a:prstGeom prst="rect">
            <a:avLst/>
          </a:prstGeom>
          <a:noFill/>
        </p:spPr>
        <p:txBody>
          <a:bodyPr wrap="square" anchor="t">
            <a:spAutoFit/>
          </a:bodyPr>
          <a:lstStyle/>
          <a:p>
            <a:pPr algn="ctr">
              <a:spcAft>
                <a:spcPts val="200"/>
              </a:spcAft>
            </a:pPr>
            <a:r>
              <a:rPr sz="1400" b="1">
                <a:solidFill>
                  <a:srgbClr val="21201C"/>
                </a:solidFill>
                <a:latin typeface="Calibri"/>
              </a:rPr>
              <a:t>Allow editing · Plan · Chat only</a:t>
            </a:r>
          </a:p>
          <a:p>
            <a:pPr algn="ctr">
              <a:spcAft>
                <a:spcPts val="200"/>
              </a:spcAft>
            </a:pPr>
            <a:r>
              <a:rPr sz="1200" b="0">
                <a:solidFill>
                  <a:srgbClr val="6B6862"/>
                </a:solidFill>
                <a:latin typeface="Calibri"/>
              </a:rPr>
              <a:t>Edit changes the file, Plan proposes steps first, Chat only never edits. Switch with Ctrl+Shift+M.</a:t>
            </a:r>
          </a:p>
        </p:txBody>
      </p:sp>
      <p:sp>
        <p:nvSpPr>
          <p:cNvPr id="11" name="TextBox 1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2" name="TextBox 1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3" name="TextBox 1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35</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Outlook Drafting and Operational Decisions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Copilot can help structure a draft email from supplied context.</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 apparently routine update can accidentally promise HR officer reassignment or imply that a manager approved a recovery plan.</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Current owner blank; proposed owner Aisha remains unapproved.</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36</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Outlook Drafting and Operational Decisions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D97757"/>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Provide the synthetic thread and checked facts.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D97757"/>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Draft a concise update.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D97757"/>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Review recipients, facts and action wording.</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D97757"/>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Save the unsent draft and evidence.</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37</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Outlook Drafting and Operational Decisions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A draft addressed to example.invalid is a training artifact.</a:t>
            </a:r>
          </a:p>
          <a:p>
            <a:pPr>
              <a:spcAft>
                <a:spcPts val="1000"/>
              </a:spcAft>
            </a:pPr>
            <a:r>
              <a:rPr sz="1600" b="0">
                <a:solidFill>
                  <a:srgbClr val="21201C"/>
                </a:solidFill>
                <a:latin typeface="Calibri"/>
              </a:rPr>
              <a:t>•  The handoff says decision requested, not decision approved.</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38</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Outlook Drafting and Operational Decisions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https://support.microsoft.com/en-us/microsoft-365-copilot/file-formats-supported-by-microsoft-365-copilot</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Current owner blank; proposed owner Aisha remains unapproved.</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A draft addressed to example.invalid is a training artifact.</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task would imply a real approval or send without review.</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39</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Copilot in Outlook — Work or Web</a:t>
            </a:r>
          </a:p>
        </p:txBody>
      </p:sp>
      <p:sp>
        <p:nvSpPr>
          <p:cNvPr id="5" name="Rectangle 4"/>
          <p:cNvSpPr/>
          <p:nvPr/>
        </p:nvSpPr>
        <p:spPr>
          <a:xfrm>
            <a:off x="731520" y="1764792"/>
            <a:ext cx="4262166" cy="4434840"/>
          </a:xfrm>
          <a:prstGeom prst="rect">
            <a:avLst/>
          </a:prstGeom>
          <a:solidFill>
            <a:srgbClr val="DCD8CF"/>
          </a:solidFill>
          <a:ln>
            <a:noFill/>
          </a:ln>
          <a:effectLst/>
        </p:spPr>
        <p:txBody>
          <a:bodyPr rtlCol="0" anchor="ctr"/>
          <a:lstStyle/>
          <a:p>
            <a:pPr algn="ctr"/>
          </a:p>
        </p:txBody>
      </p:sp>
      <p:pic>
        <p:nvPicPr>
          <p:cNvPr id="6" name="Picture 5" descr="outlook-copilot-pane.png"/>
          <p:cNvPicPr>
            <a:picLocks noChangeAspect="1"/>
          </p:cNvPicPr>
          <p:nvPr/>
        </p:nvPicPr>
        <p:blipFill>
          <a:blip r:embed="rId2"/>
          <a:stretch>
            <a:fillRect/>
          </a:stretch>
        </p:blipFill>
        <p:spPr>
          <a:xfrm>
            <a:off x="777240" y="1810512"/>
            <a:ext cx="4170727" cy="4343400"/>
          </a:xfrm>
          <a:prstGeom prst="rect">
            <a:avLst/>
          </a:prstGeom>
        </p:spPr>
      </p:pic>
      <p:sp>
        <p:nvSpPr>
          <p:cNvPr id="7" name="Rounded Rectangle 6"/>
          <p:cNvSpPr/>
          <p:nvPr/>
        </p:nvSpPr>
        <p:spPr>
          <a:xfrm>
            <a:off x="5313726" y="1810512"/>
            <a:ext cx="6097986"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5313726" y="1810512"/>
            <a:ext cx="6097986" cy="64008"/>
          </a:xfrm>
          <a:prstGeom prst="rect">
            <a:avLst/>
          </a:prstGeom>
          <a:solidFill>
            <a:srgbClr val="D97757"/>
          </a:solidFill>
          <a:ln>
            <a:noFill/>
          </a:ln>
          <a:effectLst/>
        </p:spPr>
        <p:txBody>
          <a:bodyPr rtlCol="0" anchor="ctr"/>
          <a:lstStyle/>
          <a:p>
            <a:pPr algn="ctr"/>
          </a:p>
        </p:txBody>
      </p:sp>
      <p:sp>
        <p:nvSpPr>
          <p:cNvPr id="9" name="Oval 8"/>
          <p:cNvSpPr/>
          <p:nvPr/>
        </p:nvSpPr>
        <p:spPr>
          <a:xfrm>
            <a:off x="5496606" y="2120265"/>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5496606" y="2120265"/>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6045246" y="1810512"/>
            <a:ext cx="5183586" cy="1003554"/>
          </a:xfrm>
          <a:prstGeom prst="rect">
            <a:avLst/>
          </a:prstGeom>
          <a:noFill/>
        </p:spPr>
        <p:txBody>
          <a:bodyPr wrap="square" anchor="ctr">
            <a:spAutoFit/>
          </a:bodyPr>
          <a:lstStyle/>
          <a:p>
            <a:pPr algn="l">
              <a:spcAft>
                <a:spcPts val="200"/>
              </a:spcAft>
            </a:pPr>
            <a:r>
              <a:rPr sz="1400" b="1">
                <a:solidFill>
                  <a:srgbClr val="21201C"/>
                </a:solidFill>
                <a:latin typeface="Calibri"/>
              </a:rPr>
              <a:t>Work / Web</a:t>
            </a:r>
          </a:p>
          <a:p>
            <a:pPr algn="l">
              <a:spcAft>
                <a:spcPts val="200"/>
              </a:spcAft>
            </a:pPr>
            <a:r>
              <a:rPr sz="1200" b="0">
                <a:solidFill>
                  <a:srgbClr val="6B6862"/>
                </a:solidFill>
                <a:latin typeface="Calibri"/>
              </a:rPr>
              <a:t>Work grounds answers in your mail and files; Web uses public content. Keep HR drafting on Work.</a:t>
            </a:r>
          </a:p>
        </p:txBody>
      </p:sp>
      <p:sp>
        <p:nvSpPr>
          <p:cNvPr id="12" name="Rounded Rectangle 11"/>
          <p:cNvSpPr/>
          <p:nvPr/>
        </p:nvSpPr>
        <p:spPr>
          <a:xfrm>
            <a:off x="5313726" y="2923794"/>
            <a:ext cx="6097986"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5313726" y="2923794"/>
            <a:ext cx="6097986" cy="64008"/>
          </a:xfrm>
          <a:prstGeom prst="rect">
            <a:avLst/>
          </a:prstGeom>
          <a:solidFill>
            <a:srgbClr val="3A7D7B"/>
          </a:solidFill>
          <a:ln>
            <a:noFill/>
          </a:ln>
          <a:effectLst/>
        </p:spPr>
        <p:txBody>
          <a:bodyPr rtlCol="0" anchor="ctr"/>
          <a:lstStyle/>
          <a:p>
            <a:pPr algn="ctr"/>
          </a:p>
        </p:txBody>
      </p:sp>
      <p:sp>
        <p:nvSpPr>
          <p:cNvPr id="14" name="Oval 13"/>
          <p:cNvSpPr/>
          <p:nvPr/>
        </p:nvSpPr>
        <p:spPr>
          <a:xfrm>
            <a:off x="5496606" y="3233547"/>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5496606" y="3233547"/>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6045246" y="2923794"/>
            <a:ext cx="5183586" cy="1003554"/>
          </a:xfrm>
          <a:prstGeom prst="rect">
            <a:avLst/>
          </a:prstGeom>
          <a:noFill/>
        </p:spPr>
        <p:txBody>
          <a:bodyPr wrap="square" anchor="ctr">
            <a:spAutoFit/>
          </a:bodyPr>
          <a:lstStyle/>
          <a:p>
            <a:pPr algn="l">
              <a:spcAft>
                <a:spcPts val="200"/>
              </a:spcAft>
            </a:pPr>
            <a:r>
              <a:rPr sz="1400" b="1">
                <a:solidFill>
                  <a:srgbClr val="21201C"/>
                </a:solidFill>
                <a:latin typeface="Calibri"/>
              </a:rPr>
              <a:t>Message Copilot</a:t>
            </a:r>
          </a:p>
          <a:p>
            <a:pPr algn="l">
              <a:spcAft>
                <a:spcPts val="200"/>
              </a:spcAft>
            </a:pPr>
            <a:r>
              <a:rPr sz="1200" b="0">
                <a:solidFill>
                  <a:srgbClr val="6B6862"/>
                </a:solidFill>
                <a:latin typeface="Calibri"/>
              </a:rPr>
              <a:t>Ask for the update email and name the reviewed brief; + attaches it.</a:t>
            </a:r>
          </a:p>
        </p:txBody>
      </p:sp>
      <p:sp>
        <p:nvSpPr>
          <p:cNvPr id="17" name="Rounded Rectangle 16"/>
          <p:cNvSpPr/>
          <p:nvPr/>
        </p:nvSpPr>
        <p:spPr>
          <a:xfrm>
            <a:off x="5313726" y="4037076"/>
            <a:ext cx="6097986"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313726" y="4037076"/>
            <a:ext cx="6097986" cy="64008"/>
          </a:xfrm>
          <a:prstGeom prst="rect">
            <a:avLst/>
          </a:prstGeom>
          <a:solidFill>
            <a:srgbClr val="5B4B8A"/>
          </a:solidFill>
          <a:ln>
            <a:noFill/>
          </a:ln>
          <a:effectLst/>
        </p:spPr>
        <p:txBody>
          <a:bodyPr rtlCol="0" anchor="ctr"/>
          <a:lstStyle/>
          <a:p>
            <a:pPr algn="ctr"/>
          </a:p>
        </p:txBody>
      </p:sp>
      <p:sp>
        <p:nvSpPr>
          <p:cNvPr id="19" name="Oval 18"/>
          <p:cNvSpPr/>
          <p:nvPr/>
        </p:nvSpPr>
        <p:spPr>
          <a:xfrm>
            <a:off x="5496606" y="4346829"/>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5496606" y="4346829"/>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6045246" y="4037076"/>
            <a:ext cx="5183586" cy="1003554"/>
          </a:xfrm>
          <a:prstGeom prst="rect">
            <a:avLst/>
          </a:prstGeom>
          <a:noFill/>
        </p:spPr>
        <p:txBody>
          <a:bodyPr wrap="square" anchor="ctr">
            <a:spAutoFit/>
          </a:bodyPr>
          <a:lstStyle/>
          <a:p>
            <a:pPr algn="l">
              <a:spcAft>
                <a:spcPts val="200"/>
              </a:spcAft>
            </a:pPr>
            <a:r>
              <a:rPr sz="1400" b="1">
                <a:solidFill>
                  <a:srgbClr val="21201C"/>
                </a:solidFill>
                <a:latin typeface="Calibri"/>
              </a:rPr>
              <a:t>Suggested prompts</a:t>
            </a:r>
          </a:p>
          <a:p>
            <a:pPr algn="l">
              <a:spcAft>
                <a:spcPts val="200"/>
              </a:spcAft>
            </a:pPr>
            <a:r>
              <a:rPr sz="1200" b="0">
                <a:solidFill>
                  <a:srgbClr val="6B6862"/>
                </a:solidFill>
                <a:latin typeface="Calibri"/>
              </a:rPr>
              <a:t>Inbox-triage starters help orientation but are never evidence for HR figures.</a:t>
            </a:r>
          </a:p>
        </p:txBody>
      </p:sp>
      <p:sp>
        <p:nvSpPr>
          <p:cNvPr id="22" name="Rounded Rectangle 21"/>
          <p:cNvSpPr/>
          <p:nvPr/>
        </p:nvSpPr>
        <p:spPr>
          <a:xfrm>
            <a:off x="5313726" y="5150358"/>
            <a:ext cx="6097986"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5313726" y="5150358"/>
            <a:ext cx="6097986" cy="64008"/>
          </a:xfrm>
          <a:prstGeom prst="rect">
            <a:avLst/>
          </a:prstGeom>
          <a:solidFill>
            <a:srgbClr val="C2603F"/>
          </a:solidFill>
          <a:ln>
            <a:noFill/>
          </a:ln>
          <a:effectLst/>
        </p:spPr>
        <p:txBody>
          <a:bodyPr rtlCol="0" anchor="ctr"/>
          <a:lstStyle/>
          <a:p>
            <a:pPr algn="ctr"/>
          </a:p>
        </p:txBody>
      </p:sp>
      <p:sp>
        <p:nvSpPr>
          <p:cNvPr id="24" name="Oval 23"/>
          <p:cNvSpPr/>
          <p:nvPr/>
        </p:nvSpPr>
        <p:spPr>
          <a:xfrm>
            <a:off x="5496606" y="5460111"/>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5496606" y="546011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6045246" y="5150358"/>
            <a:ext cx="5183586" cy="1003554"/>
          </a:xfrm>
          <a:prstGeom prst="rect">
            <a:avLst/>
          </a:prstGeom>
          <a:noFill/>
        </p:spPr>
        <p:txBody>
          <a:bodyPr wrap="square" anchor="ctr">
            <a:spAutoFit/>
          </a:bodyPr>
          <a:lstStyle/>
          <a:p>
            <a:pPr algn="l">
              <a:spcAft>
                <a:spcPts val="200"/>
              </a:spcAft>
            </a:pPr>
            <a:r>
              <a:rPr sz="1400" b="1">
                <a:solidFill>
                  <a:srgbClr val="21201C"/>
                </a:solidFill>
                <a:latin typeface="Calibri"/>
              </a:rPr>
              <a:t>Human control</a:t>
            </a:r>
          </a:p>
          <a:p>
            <a:pPr algn="l">
              <a:spcAft>
                <a:spcPts val="200"/>
              </a:spcAft>
            </a:pPr>
            <a:r>
              <a:rPr sz="1200" b="0">
                <a:solidFill>
                  <a:srgbClr val="6B6862"/>
                </a:solidFill>
                <a:latin typeface="Calibri"/>
              </a:rPr>
              <a:t>Check every figure against the brief and leave the email unsent until approved.</a:t>
            </a:r>
          </a:p>
        </p:txBody>
      </p:sp>
      <p:sp>
        <p:nvSpPr>
          <p:cNvPr id="27" name="TextBox 2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9" name="TextBox 2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40</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THEME · WORD TO POWERPOINT AND OUTLOOK</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Create the Cross-App HR Service Update</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2</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2100" b="0">
                <a:solidFill>
                  <a:srgbClr val="21201C"/>
                </a:solidFill>
                <a:latin typeface="Calibri"/>
              </a:rPr>
              <a:t>Continue the verified HR service brief from Lab 1. You will turn it into an initial PowerPoint update, then prepare an Outlook reply to a synthetic HR service thread.</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Lumina_Initial_Update.pptx, an unsent Outlook draft and Lumina_Cross_App_Evidence.csv with Excel, Word, PowerPoint and Outlook figures reconciled.</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 Excel · Word · PowerPoint · Outlook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41</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2</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Handoff: Using the verified Lumina HR Service Brief, create a five-slide HR service update and an unsent Outlook draft with the same 30 September 2026 scope.</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Verify: Reconcile every count, date and current assignment in the deck and email against Lumina_HR_Cases.xlsx.</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42</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2</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Four apps</a:t>
            </a:r>
          </a:p>
          <a:p>
            <a:pPr algn="l">
              <a:spcAft>
                <a:spcPts val="300"/>
              </a:spcAft>
            </a:pPr>
            <a:r>
              <a:rPr sz="1300" b="0">
                <a:solidFill>
                  <a:srgbClr val="6B6862"/>
                </a:solidFill>
                <a:latin typeface="Calibri"/>
              </a:rPr>
              <a:t>Excel Checks, Word brief, four-slide update and unsent Outlook draft share the same date and values.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Cross-app grounding</a:t>
            </a:r>
          </a:p>
          <a:p>
            <a:pPr algn="l">
              <a:spcAft>
                <a:spcPts val="300"/>
              </a:spcAft>
            </a:pPr>
            <a:r>
              <a:rPr sz="1300" b="0">
                <a:solidFill>
                  <a:srgbClr val="6B6862"/>
                </a:solidFill>
                <a:latin typeface="Calibri"/>
              </a:rPr>
              <a:t>Named file or pasted verified evidence is provided in each app; no assumed shared chat.</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Draft boundary</a:t>
            </a:r>
          </a:p>
          <a:p>
            <a:pPr algn="l">
              <a:spcAft>
                <a:spcPts val="300"/>
              </a:spcAft>
            </a:pPr>
            <a:r>
              <a:rPr sz="1300" b="0">
                <a:solidFill>
                  <a:srgbClr val="6B6862"/>
                </a:solidFill>
                <a:latin typeface="Calibri"/>
              </a:rPr>
              <a:t>example.invalid recipient; nothing sent and no assignment approved.</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LO1 checkpoint</a:t>
            </a:r>
          </a:p>
          <a:p>
            <a:pPr algn="l">
              <a:spcAft>
                <a:spcPts val="300"/>
              </a:spcAft>
            </a:pPr>
            <a:r>
              <a:rPr sz="1300" b="0">
                <a:solidFill>
                  <a:srgbClr val="6B6862"/>
                </a:solidFill>
                <a:latin typeface="Calibri"/>
              </a:rPr>
              <a:t>Integration Risk Register has all three rows, fixed date/baseline evidence and no invented cause or approval.</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43</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TOPIC RECAP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Recap - Microsoft 365 Copilot Fundamentals</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LO1: Integration risks and verified cross-app handoffs documented.</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Verify: 120 unique IDs; facts and proposals separate.</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44</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TOPIC 2</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Skills, Rules and Personalisation</a:t>
            </a:r>
          </a:p>
        </p:txBody>
      </p:sp>
      <p:sp>
        <p:nvSpPr>
          <p:cNvPr id="7" name="Rectangle 6"/>
          <p:cNvSpPr/>
          <p:nvPr/>
        </p:nvSpPr>
        <p:spPr>
          <a:xfrm>
            <a:off x="841248" y="4206240"/>
            <a:ext cx="1143000" cy="64008"/>
          </a:xfrm>
          <a:prstGeom prst="rect">
            <a:avLst/>
          </a:prstGeom>
          <a:solidFill>
            <a:srgbClr val="3A7D7B"/>
          </a:solidFill>
          <a:ln>
            <a:noFill/>
          </a:ln>
          <a:effectLst/>
        </p:spPr>
        <p:txBody>
          <a:bodyPr rtlCol="0" anchor="ctr"/>
          <a:lstStyle/>
          <a:p>
            <a:pPr algn="ctr"/>
          </a:p>
        </p:txBody>
      </p:sp>
      <p:sp>
        <p:nvSpPr>
          <p:cNvPr id="8" name="TextBox 7"/>
          <p:cNvSpPr txBox="1"/>
          <p:nvPr/>
        </p:nvSpPr>
        <p:spPr>
          <a:xfrm>
            <a:off x="822960" y="4434840"/>
            <a:ext cx="8412480" cy="1097280"/>
          </a:xfrm>
          <a:prstGeom prst="rect">
            <a:avLst/>
          </a:prstGeom>
          <a:noFill/>
        </p:spPr>
        <p:txBody>
          <a:bodyPr wrap="square" anchor="t">
            <a:spAutoFit/>
          </a:bodyPr>
          <a:lstStyle/>
          <a:p>
            <a:pPr algn="l">
              <a:spcAft>
                <a:spcPts val="400"/>
              </a:spcAft>
            </a:pPr>
            <a:r>
              <a:rPr sz="1500" b="0">
                <a:solidFill>
                  <a:srgbClr val="B9B4A9"/>
                </a:solidFill>
                <a:latin typeface="Calibri"/>
              </a:rPr>
              <a:t>Account preferences, workbook conventions and reusable methods</a:t>
            </a:r>
          </a:p>
        </p:txBody>
      </p:sp>
      <p:sp>
        <p:nvSpPr>
          <p:cNvPr id="9" name="TextBox 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1" name="TextBox 1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45</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KEY CONCEPTS · K3 · A2</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Key Concepts — Skills, Rules and Personalisation</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Personalisation</a:t>
            </a:r>
          </a:p>
          <a:p>
            <a:pPr algn="l">
              <a:spcAft>
                <a:spcPts val="300"/>
              </a:spcAft>
            </a:pPr>
            <a:r>
              <a:rPr sz="1400" b="0">
                <a:solidFill>
                  <a:srgbClr val="6B6862"/>
                </a:solidFill>
                <a:latin typeface="Calibri"/>
              </a:rPr>
              <a:t>Account preferences across workbooks.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.Rules</a:t>
            </a:r>
          </a:p>
          <a:p>
            <a:pPr algn="l">
              <a:spcAft>
                <a:spcPts val="300"/>
              </a:spcAft>
            </a:pPr>
            <a:r>
              <a:rPr sz="1400" b="0">
                <a:solidFill>
                  <a:srgbClr val="6B6862"/>
                </a:solidFill>
                <a:latin typeface="Calibri"/>
              </a:rPr>
              <a:t>Visible instructions travel with the workbook.</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Skills</a:t>
            </a:r>
          </a:p>
          <a:p>
            <a:pPr algn="l">
              <a:spcAft>
                <a:spcPts val="300"/>
              </a:spcAft>
            </a:pPr>
            <a:r>
              <a:rPr sz="1400" b="0">
                <a:solidFill>
                  <a:srgbClr val="6B6862"/>
                </a:solidFill>
                <a:latin typeface="Calibri"/>
              </a:rPr>
              <a:t>Reusable Pareto, reporting and dashboard methods.</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Transition plan</a:t>
            </a:r>
          </a:p>
          <a:p>
            <a:pPr algn="l">
              <a:spcAft>
                <a:spcPts val="300"/>
              </a:spcAft>
            </a:pPr>
            <a:r>
              <a:rPr sz="1400" b="0">
                <a:solidFill>
                  <a:srgbClr val="6B6862"/>
                </a:solidFill>
                <a:latin typeface="Calibri"/>
              </a:rPr>
              <a:t>Protect source, test reruns and preserve rollback.</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46</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 YOU'LL DO</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Hands-On Labs — Skills, Rules and Personalisation</a:t>
            </a:r>
          </a:p>
        </p:txBody>
      </p:sp>
      <p:sp>
        <p:nvSpPr>
          <p:cNvPr id="5" name="Rounded Rectangle 4"/>
          <p:cNvSpPr/>
          <p:nvPr/>
        </p:nvSpPr>
        <p:spPr>
          <a:xfrm>
            <a:off x="777240"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225796"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4814316" cy="548640"/>
          </a:xfrm>
          <a:prstGeom prst="rect">
            <a:avLst/>
          </a:prstGeom>
          <a:noFill/>
        </p:spPr>
        <p:txBody>
          <a:bodyPr wrap="square" anchor="t">
            <a:spAutoFit/>
          </a:bodyPr>
          <a:lstStyle/>
          <a:p>
            <a:pPr algn="l">
              <a:spcAft>
                <a:spcPts val="400"/>
              </a:spcAft>
            </a:pPr>
            <a:r>
              <a:rPr sz="1900" b="1">
                <a:solidFill>
                  <a:srgbClr val="D97757"/>
                </a:solidFill>
                <a:latin typeface="Cambria"/>
              </a:rPr>
              <a:t>Labs 3–4</a:t>
            </a:r>
          </a:p>
        </p:txBody>
      </p:sp>
      <p:sp>
        <p:nvSpPr>
          <p:cNvPr id="8" name="TextBox 7"/>
          <p:cNvSpPr txBox="1"/>
          <p:nvPr/>
        </p:nvSpPr>
        <p:spPr>
          <a:xfrm>
            <a:off x="1005840"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Personalisation</a:t>
            </a:r>
          </a:p>
          <a:p>
            <a:pPr>
              <a:spcAft>
                <a:spcPts val="900"/>
              </a:spcAft>
            </a:pPr>
            <a:r>
              <a:rPr sz="1200" b="0">
                <a:solidFill>
                  <a:srgbClr val="6B6862"/>
                </a:solidFill>
                <a:latin typeface="Calibri"/>
              </a:rPr>
              <a:t>–  Personalise Copilot in Excel for Consistent HR Service Reports</a:t>
            </a:r>
          </a:p>
          <a:p>
            <a:pPr>
              <a:spcAft>
                <a:spcPts val="900"/>
              </a:spcAft>
            </a:pPr>
            <a:r>
              <a:rPr sz="1400" b="1">
                <a:solidFill>
                  <a:srgbClr val="21201C"/>
                </a:solidFill>
                <a:latin typeface="Calibri"/>
              </a:rPr>
              <a:t>•  Workbook .Rules</a:t>
            </a:r>
          </a:p>
          <a:p>
            <a:pPr>
              <a:spcAft>
                <a:spcPts val="900"/>
              </a:spcAft>
            </a:pPr>
            <a:r>
              <a:rPr sz="1200" b="0">
                <a:solidFill>
                  <a:srgbClr val="6B6862"/>
                </a:solidFill>
                <a:latin typeface="Calibri"/>
              </a:rPr>
              <a:t>–  Create and Test Workbook .Rules for HR Service Reporting</a:t>
            </a:r>
          </a:p>
        </p:txBody>
      </p:sp>
      <p:sp>
        <p:nvSpPr>
          <p:cNvPr id="9" name="Rounded Rectangle 8"/>
          <p:cNvSpPr/>
          <p:nvPr/>
        </p:nvSpPr>
        <p:spPr>
          <a:xfrm>
            <a:off x="6185916"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6185916" y="1783080"/>
            <a:ext cx="5225796"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6414516" y="2011680"/>
            <a:ext cx="4814316" cy="548640"/>
          </a:xfrm>
          <a:prstGeom prst="rect">
            <a:avLst/>
          </a:prstGeom>
          <a:noFill/>
        </p:spPr>
        <p:txBody>
          <a:bodyPr wrap="square" anchor="t">
            <a:spAutoFit/>
          </a:bodyPr>
          <a:lstStyle/>
          <a:p>
            <a:pPr algn="l">
              <a:spcAft>
                <a:spcPts val="400"/>
              </a:spcAft>
            </a:pPr>
            <a:r>
              <a:rPr sz="1900" b="1">
                <a:solidFill>
                  <a:srgbClr val="3A7D7B"/>
                </a:solidFill>
                <a:latin typeface="Cambria"/>
              </a:rPr>
              <a:t>Labs 5–6</a:t>
            </a:r>
          </a:p>
        </p:txBody>
      </p:sp>
      <p:sp>
        <p:nvSpPr>
          <p:cNvPr id="12" name="TextBox 11"/>
          <p:cNvSpPr txBox="1"/>
          <p:nvPr/>
        </p:nvSpPr>
        <p:spPr>
          <a:xfrm>
            <a:off x="6414516"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Custom Pareto Chart Skill</a:t>
            </a:r>
          </a:p>
          <a:p>
            <a:pPr>
              <a:spcAft>
                <a:spcPts val="900"/>
              </a:spcAft>
            </a:pPr>
            <a:r>
              <a:rPr sz="1200" b="0">
                <a:solidFill>
                  <a:srgbClr val="6B6862"/>
                </a:solidFill>
                <a:latin typeface="Calibri"/>
              </a:rPr>
              <a:t>–  Create a Custom Pareto Chart Skill and Apply It</a:t>
            </a:r>
          </a:p>
          <a:p>
            <a:pPr>
              <a:spcAft>
                <a:spcPts val="900"/>
              </a:spcAft>
            </a:pPr>
            <a:r>
              <a:rPr sz="1400" b="1">
                <a:solidFill>
                  <a:srgbClr val="21201C"/>
                </a:solidFill>
                <a:latin typeface="Calibri"/>
              </a:rPr>
              <a:t>•  Reporting Skill</a:t>
            </a:r>
          </a:p>
          <a:p>
            <a:pPr>
              <a:spcAft>
                <a:spcPts val="900"/>
              </a:spcAft>
            </a:pPr>
            <a:r>
              <a:rPr sz="1200" b="0">
                <a:solidFill>
                  <a:srgbClr val="6B6862"/>
                </a:solidFill>
                <a:latin typeface="Calibri"/>
              </a:rPr>
              <a:t>–  Create, Use and Improve the HR Service Reporting Skill</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47</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EDITABLE SCOPE COMPARISON</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Four Scopes of Customisation</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D97757"/>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Personalisation: your account</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D97757"/>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.Rules: this workbook</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D97757"/>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Skill: repeated method</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D97757"/>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Prompt: this request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48</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Account Personalisation and Specific Requests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Excel Copilot Personalisation stores account-level preferences for display, writing style and formula conventions.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Consistent S$ display and short explanations reduce repetitive requests without changing numeric values.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value of 35827.5 can display as S$35,827.50 or S$35,827.5000.</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49</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Account Personalisation and Specific Requests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Choose recurring display preferences.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Save them to the account.</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Compare two workbook outputs.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Test a specific request and restore.</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50</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Account Personalisation and Specific Requests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Changing a number format does not change its numeric value.</a:t>
            </a:r>
          </a:p>
          <a:p>
            <a:pPr>
              <a:spcAft>
                <a:spcPts val="1000"/>
              </a:spcAft>
            </a:pPr>
            <a:r>
              <a:rPr sz="1600" b="0">
                <a:solidFill>
                  <a:srgbClr val="21201C"/>
                </a:solidFill>
                <a:latin typeface="Calibri"/>
              </a:rPr>
              <a:t>•  Another user opening the file does not receive your account preferences.</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51</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Account Personalisation and Specific Requests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https://support.microsoft.com/en-us/excel/copilot/copilot-in-excel-personalization</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A value of 35827.5 can display as S$35,827.50 or S$35,827.5000.</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Changing a number format does not change its numeric value.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instruction is a workbook-specific business rule or source change.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52</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Personalisation — Where It Lives</a:t>
            </a:r>
          </a:p>
        </p:txBody>
      </p:sp>
      <p:sp>
        <p:nvSpPr>
          <p:cNvPr id="5" name="Rectangle 4"/>
          <p:cNvSpPr/>
          <p:nvPr/>
        </p:nvSpPr>
        <p:spPr>
          <a:xfrm>
            <a:off x="809079" y="1737360"/>
            <a:ext cx="5024957" cy="3840479"/>
          </a:xfrm>
          <a:prstGeom prst="rect">
            <a:avLst/>
          </a:prstGeom>
          <a:solidFill>
            <a:srgbClr val="DCD8CF"/>
          </a:solidFill>
          <a:ln>
            <a:noFill/>
          </a:ln>
          <a:effectLst/>
        </p:spPr>
        <p:txBody>
          <a:bodyPr rtlCol="0" anchor="ctr"/>
          <a:lstStyle/>
          <a:p>
            <a:pPr algn="ctr"/>
          </a:p>
        </p:txBody>
      </p:sp>
      <p:pic>
        <p:nvPicPr>
          <p:cNvPr id="6" name="Picture 5" descr="copilot-more-menu.png"/>
          <p:cNvPicPr>
            <a:picLocks noChangeAspect="1"/>
          </p:cNvPicPr>
          <p:nvPr/>
        </p:nvPicPr>
        <p:blipFill>
          <a:blip r:embed="rId2"/>
          <a:stretch>
            <a:fillRect/>
          </a:stretch>
        </p:blipFill>
        <p:spPr>
          <a:xfrm>
            <a:off x="854799" y="1783080"/>
            <a:ext cx="4933518" cy="3749039"/>
          </a:xfrm>
          <a:prstGeom prst="rect">
            <a:avLst/>
          </a:prstGeom>
        </p:spPr>
      </p:pic>
      <p:sp>
        <p:nvSpPr>
          <p:cNvPr id="7" name="TextBox 6"/>
          <p:cNvSpPr txBox="1"/>
          <p:nvPr/>
        </p:nvSpPr>
        <p:spPr>
          <a:xfrm>
            <a:off x="777240" y="5641847"/>
            <a:ext cx="5088636" cy="658368"/>
          </a:xfrm>
          <a:prstGeom prst="rect">
            <a:avLst/>
          </a:prstGeom>
          <a:noFill/>
        </p:spPr>
        <p:txBody>
          <a:bodyPr wrap="square" anchor="t">
            <a:spAutoFit/>
          </a:bodyPr>
          <a:lstStyle/>
          <a:p>
            <a:pPr algn="ctr">
              <a:spcAft>
                <a:spcPts val="200"/>
              </a:spcAft>
            </a:pPr>
            <a:r>
              <a:rPr sz="1400" b="1">
                <a:solidFill>
                  <a:srgbClr val="21201C"/>
                </a:solidFill>
                <a:latin typeface="Calibri"/>
              </a:rPr>
              <a:t>Open ••• &gt; Personalization</a:t>
            </a:r>
          </a:p>
          <a:p>
            <a:pPr algn="ctr">
              <a:spcAft>
                <a:spcPts val="200"/>
              </a:spcAft>
            </a:pPr>
            <a:r>
              <a:rPr sz="1200" b="0">
                <a:solidFill>
                  <a:srgbClr val="6B6862"/>
                </a:solidFill>
                <a:latin typeface="Calibri"/>
              </a:rPr>
              <a:t>Personalization is the first item. The same menu opens Manage plugins &amp; skills (Labs 5–7) and All Agents (Topic 4).</a:t>
            </a:r>
          </a:p>
        </p:txBody>
      </p:sp>
      <p:sp>
        <p:nvSpPr>
          <p:cNvPr id="8" name="Rectangle 7"/>
          <p:cNvSpPr/>
          <p:nvPr/>
        </p:nvSpPr>
        <p:spPr>
          <a:xfrm>
            <a:off x="6277356" y="2183946"/>
            <a:ext cx="5180076" cy="2947307"/>
          </a:xfrm>
          <a:prstGeom prst="rect">
            <a:avLst/>
          </a:prstGeom>
          <a:solidFill>
            <a:srgbClr val="DCD8CF"/>
          </a:solidFill>
          <a:ln>
            <a:noFill/>
          </a:ln>
          <a:effectLst/>
        </p:spPr>
        <p:txBody>
          <a:bodyPr rtlCol="0" anchor="ctr"/>
          <a:lstStyle/>
          <a:p>
            <a:pPr algn="ctr"/>
          </a:p>
        </p:txBody>
      </p:sp>
      <p:pic>
        <p:nvPicPr>
          <p:cNvPr id="9" name="Picture 8" descr="customize-copilot.png"/>
          <p:cNvPicPr>
            <a:picLocks noChangeAspect="1"/>
          </p:cNvPicPr>
          <p:nvPr/>
        </p:nvPicPr>
        <p:blipFill>
          <a:blip r:embed="rId3"/>
          <a:stretch>
            <a:fillRect/>
          </a:stretch>
        </p:blipFill>
        <p:spPr>
          <a:xfrm>
            <a:off x="6323076" y="2229666"/>
            <a:ext cx="5088636" cy="2855867"/>
          </a:xfrm>
          <a:prstGeom prst="rect">
            <a:avLst/>
          </a:prstGeom>
        </p:spPr>
      </p:pic>
      <p:sp>
        <p:nvSpPr>
          <p:cNvPr id="10" name="TextBox 9"/>
          <p:cNvSpPr txBox="1"/>
          <p:nvPr/>
        </p:nvSpPr>
        <p:spPr>
          <a:xfrm>
            <a:off x="6323076" y="5641847"/>
            <a:ext cx="5088636" cy="658368"/>
          </a:xfrm>
          <a:prstGeom prst="rect">
            <a:avLst/>
          </a:prstGeom>
          <a:noFill/>
        </p:spPr>
        <p:txBody>
          <a:bodyPr wrap="square" anchor="t">
            <a:spAutoFit/>
          </a:bodyPr>
          <a:lstStyle/>
          <a:p>
            <a:pPr algn="ctr">
              <a:spcAft>
                <a:spcPts val="200"/>
              </a:spcAft>
            </a:pPr>
            <a:r>
              <a:rPr sz="1400" b="1">
                <a:solidFill>
                  <a:srgbClr val="21201C"/>
                </a:solidFill>
                <a:latin typeface="Calibri"/>
              </a:rPr>
              <a:t>Customize Copilot</a:t>
            </a:r>
          </a:p>
          <a:p>
            <a:pPr algn="ctr">
              <a:spcAft>
                <a:spcPts val="200"/>
              </a:spcAft>
            </a:pPr>
            <a:r>
              <a:rPr sz="1200" b="0">
                <a:solidFill>
                  <a:srgbClr val="6B6862"/>
                </a:solidFill>
                <a:latin typeface="Calibri"/>
              </a:rPr>
              <a:t>Enter the four Lab 3 lines (S$ two decimals, DD-MMM-YYYY, structured references, one-line summary), then Save.</a:t>
            </a:r>
          </a:p>
        </p:txBody>
      </p:sp>
      <p:sp>
        <p:nvSpPr>
          <p:cNvPr id="11" name="TextBox 1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2" name="TextBox 1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3" name="TextBox 1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53</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THEME · PERSONALISATION</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Personalise Copilot in Excel for Consistent HR Service Reports</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3</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700" b="0">
                <a:solidFill>
                  <a:srgbClr val="21201C"/>
                </a:solidFill>
                <a:latin typeface="Calibri"/>
              </a:rPr>
              <a:t>Configure temporary account-level display and explanation preferences, test them in two copies of the same verified Lumina workbook, and distinguish preferences from workbook-specific definitions. A task-specific prompt can supersede Personalisation.</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800" b="1">
                <a:solidFill>
                  <a:srgbClr val="21201C"/>
                </a:solidFill>
                <a:latin typeface="Cambria"/>
              </a:rPr>
              <a:t>Lumina_Personalisation_Test.xlsx, a two-workbook preference comparison and a private note confirming settings restored.</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in Excel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54</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3</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Personalise: For Lumina HR service reports, prefer concise headings, SGD currency, DD MMM YYYY dates and a Sources and Limitations section.</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Test: Summarise Lumina backlog 60 and overdue 50 with and without the saved preference; record the observed difference.</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55</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3</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Source controls</a:t>
            </a:r>
          </a:p>
          <a:p>
            <a:pPr algn="l">
              <a:spcAft>
                <a:spcPts val="300"/>
              </a:spcAft>
            </a:pPr>
            <a:r>
              <a:rPr sz="1300" b="0">
                <a:solidFill>
                  <a:srgbClr val="6B6862"/>
                </a:solidFill>
                <a:latin typeface="Calibri"/>
              </a:rPr>
              <a:t>Both copies retain120 unique IDs, original owners/statuses and exact cost 35827.50.</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Display check</a:t>
            </a:r>
          </a:p>
          <a:p>
            <a:pPr algn="l">
              <a:spcAft>
                <a:spcPts val="300"/>
              </a:spcAft>
            </a:pPr>
            <a:r>
              <a:rPr sz="1300" b="0">
                <a:solidFill>
                  <a:srgbClr val="6B6862"/>
                </a:solidFill>
                <a:latin typeface="Calibri"/>
              </a:rPr>
              <a:t>Saved S$ two-decimal/date/explanation preferences are checked in two workbooks; observed misses are recorded.</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Specific request</a:t>
            </a:r>
          </a:p>
          <a:p>
            <a:pPr algn="l">
              <a:spcAft>
                <a:spcPts val="300"/>
              </a:spcAft>
            </a:pPr>
            <a:r>
              <a:rPr sz="1300" b="0">
                <a:solidFill>
                  <a:srgbClr val="6B6862"/>
                </a:solidFill>
                <a:latin typeface="Calibri"/>
              </a:rPr>
              <a:t>The output can show35,827.5000 without changing its value or the saved preferences.</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Restoration</a:t>
            </a:r>
          </a:p>
          <a:p>
            <a:pPr algn="l">
              <a:spcAft>
                <a:spcPts val="300"/>
              </a:spcAft>
            </a:pPr>
            <a:r>
              <a:rPr sz="1300" b="0">
                <a:solidFill>
                  <a:srgbClr val="6B6862"/>
                </a:solidFill>
                <a:latin typeface="Calibri"/>
              </a:rPr>
              <a:t>Previous account preferences restored; private baseline note stays outside public courseware.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56</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EDITABLE WORKBOOK MODEL</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Visible .Rules: Instructions Travel with the Workbook</a:t>
            </a:r>
          </a:p>
        </p:txBody>
      </p:sp>
      <p:sp>
        <p:nvSpPr>
          <p:cNvPr id="5" name="Rounded Rectangle 4"/>
          <p:cNvSpPr/>
          <p:nvPr/>
        </p:nvSpPr>
        <p:spPr>
          <a:xfrm>
            <a:off x="822960" y="1828800"/>
            <a:ext cx="10515600" cy="6400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TextBox 5"/>
          <p:cNvSpPr txBox="1"/>
          <p:nvPr/>
        </p:nvSpPr>
        <p:spPr>
          <a:xfrm>
            <a:off x="1005840" y="1920240"/>
            <a:ext cx="1097280" cy="411480"/>
          </a:xfrm>
          <a:prstGeom prst="rect">
            <a:avLst/>
          </a:prstGeom>
          <a:noFill/>
        </p:spPr>
        <p:txBody>
          <a:bodyPr wrap="square" anchor="t">
            <a:spAutoFit/>
          </a:bodyPr>
          <a:lstStyle/>
          <a:p>
            <a:pPr algn="l">
              <a:spcAft>
                <a:spcPts val="400"/>
              </a:spcAft>
            </a:pPr>
            <a:r>
              <a:rPr sz="2000" b="1">
                <a:solidFill>
                  <a:srgbClr val="21201C"/>
                </a:solidFill>
                <a:latin typeface="Cambria"/>
              </a:rPr>
              <a:t>A1</a:t>
            </a:r>
          </a:p>
        </p:txBody>
      </p:sp>
      <p:sp>
        <p:nvSpPr>
          <p:cNvPr id="7" name="TextBox 6"/>
          <p:cNvSpPr txBox="1"/>
          <p:nvPr/>
        </p:nvSpPr>
        <p:spPr>
          <a:xfrm>
            <a:off x="2286000" y="1920240"/>
            <a:ext cx="8686800" cy="411480"/>
          </a:xfrm>
          <a:prstGeom prst="rect">
            <a:avLst/>
          </a:prstGeom>
          <a:noFill/>
        </p:spPr>
        <p:txBody>
          <a:bodyPr wrap="square" anchor="t">
            <a:spAutoFit/>
          </a:bodyPr>
          <a:lstStyle/>
          <a:p>
            <a:pPr algn="l">
              <a:spcAft>
                <a:spcPts val="400"/>
              </a:spcAft>
            </a:pPr>
            <a:r>
              <a:rPr sz="2100" b="0">
                <a:solidFill>
                  <a:srgbClr val="21201C"/>
                </a:solidFill>
                <a:latin typeface="Calibri"/>
              </a:rPr>
              <a:t>Lumina reporting conventions</a:t>
            </a:r>
          </a:p>
        </p:txBody>
      </p:sp>
      <p:sp>
        <p:nvSpPr>
          <p:cNvPr id="8" name="Rounded Rectangle 7"/>
          <p:cNvSpPr/>
          <p:nvPr/>
        </p:nvSpPr>
        <p:spPr>
          <a:xfrm>
            <a:off x="822960" y="2606040"/>
            <a:ext cx="10515600" cy="6400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TextBox 8"/>
          <p:cNvSpPr txBox="1"/>
          <p:nvPr/>
        </p:nvSpPr>
        <p:spPr>
          <a:xfrm>
            <a:off x="1005840" y="2697480"/>
            <a:ext cx="1097280" cy="411480"/>
          </a:xfrm>
          <a:prstGeom prst="rect">
            <a:avLst/>
          </a:prstGeom>
          <a:noFill/>
        </p:spPr>
        <p:txBody>
          <a:bodyPr wrap="square" anchor="t">
            <a:spAutoFit/>
          </a:bodyPr>
          <a:lstStyle/>
          <a:p>
            <a:pPr algn="l">
              <a:spcAft>
                <a:spcPts val="400"/>
              </a:spcAft>
            </a:pPr>
            <a:r>
              <a:rPr sz="2000" b="1">
                <a:solidFill>
                  <a:srgbClr val="21201C"/>
                </a:solidFill>
                <a:latin typeface="Cambria"/>
              </a:rPr>
              <a:t>A2</a:t>
            </a:r>
          </a:p>
        </p:txBody>
      </p:sp>
      <p:sp>
        <p:nvSpPr>
          <p:cNvPr id="10" name="TextBox 9"/>
          <p:cNvSpPr txBox="1"/>
          <p:nvPr/>
        </p:nvSpPr>
        <p:spPr>
          <a:xfrm>
            <a:off x="2286000" y="2697480"/>
            <a:ext cx="8686800" cy="411480"/>
          </a:xfrm>
          <a:prstGeom prst="rect">
            <a:avLst/>
          </a:prstGeom>
          <a:noFill/>
        </p:spPr>
        <p:txBody>
          <a:bodyPr wrap="square" anchor="t">
            <a:spAutoFit/>
          </a:bodyPr>
          <a:lstStyle/>
          <a:p>
            <a:pPr algn="l">
              <a:spcAft>
                <a:spcPts val="400"/>
              </a:spcAft>
            </a:pPr>
            <a:r>
              <a:rPr sz="2100" b="0">
                <a:solidFill>
                  <a:srgbClr val="21201C"/>
                </a:solidFill>
                <a:latin typeface="Calibri"/>
              </a:rPr>
              <a:t>Preserve original IDs and current owners</a:t>
            </a:r>
          </a:p>
        </p:txBody>
      </p:sp>
      <p:sp>
        <p:nvSpPr>
          <p:cNvPr id="11" name="Rounded Rectangle 10"/>
          <p:cNvSpPr/>
          <p:nvPr/>
        </p:nvSpPr>
        <p:spPr>
          <a:xfrm>
            <a:off x="822960" y="3383280"/>
            <a:ext cx="10515600" cy="6400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TextBox 11"/>
          <p:cNvSpPr txBox="1"/>
          <p:nvPr/>
        </p:nvSpPr>
        <p:spPr>
          <a:xfrm>
            <a:off x="1005840" y="3474720"/>
            <a:ext cx="1097280" cy="411480"/>
          </a:xfrm>
          <a:prstGeom prst="rect">
            <a:avLst/>
          </a:prstGeom>
          <a:noFill/>
        </p:spPr>
        <p:txBody>
          <a:bodyPr wrap="square" anchor="t">
            <a:spAutoFit/>
          </a:bodyPr>
          <a:lstStyle/>
          <a:p>
            <a:pPr algn="l">
              <a:spcAft>
                <a:spcPts val="400"/>
              </a:spcAft>
            </a:pPr>
            <a:r>
              <a:rPr sz="2000" b="1">
                <a:solidFill>
                  <a:srgbClr val="21201C"/>
                </a:solidFill>
                <a:latin typeface="Cambria"/>
              </a:rPr>
              <a:t>A3</a:t>
            </a:r>
          </a:p>
        </p:txBody>
      </p:sp>
      <p:sp>
        <p:nvSpPr>
          <p:cNvPr id="13" name="TextBox 12"/>
          <p:cNvSpPr txBox="1"/>
          <p:nvPr/>
        </p:nvSpPr>
        <p:spPr>
          <a:xfrm>
            <a:off x="2286000" y="3474720"/>
            <a:ext cx="8686800" cy="411480"/>
          </a:xfrm>
          <a:prstGeom prst="rect">
            <a:avLst/>
          </a:prstGeom>
          <a:noFill/>
        </p:spPr>
        <p:txBody>
          <a:bodyPr wrap="square" anchor="t">
            <a:spAutoFit/>
          </a:bodyPr>
          <a:lstStyle/>
          <a:p>
            <a:pPr algn="l">
              <a:spcAft>
                <a:spcPts val="400"/>
              </a:spcAft>
            </a:pPr>
            <a:r>
              <a:rPr sz="2100" b="0">
                <a:solidFill>
                  <a:srgbClr val="21201C"/>
                </a:solidFill>
                <a:latin typeface="Calibri"/>
              </a:rPr>
              <a:t>Backlog excludes Closed and Cancelled</a:t>
            </a:r>
          </a:p>
        </p:txBody>
      </p:sp>
      <p:sp>
        <p:nvSpPr>
          <p:cNvPr id="14" name="Rounded Rectangle 13"/>
          <p:cNvSpPr/>
          <p:nvPr/>
        </p:nvSpPr>
        <p:spPr>
          <a:xfrm>
            <a:off x="822960" y="4160520"/>
            <a:ext cx="10515600" cy="6400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5" name="TextBox 14"/>
          <p:cNvSpPr txBox="1"/>
          <p:nvPr/>
        </p:nvSpPr>
        <p:spPr>
          <a:xfrm>
            <a:off x="1005840" y="4251959"/>
            <a:ext cx="1097280" cy="411480"/>
          </a:xfrm>
          <a:prstGeom prst="rect">
            <a:avLst/>
          </a:prstGeom>
          <a:noFill/>
        </p:spPr>
        <p:txBody>
          <a:bodyPr wrap="square" anchor="t">
            <a:spAutoFit/>
          </a:bodyPr>
          <a:lstStyle/>
          <a:p>
            <a:pPr algn="l">
              <a:spcAft>
                <a:spcPts val="400"/>
              </a:spcAft>
            </a:pPr>
            <a:r>
              <a:rPr sz="2000" b="1">
                <a:solidFill>
                  <a:srgbClr val="21201C"/>
                </a:solidFill>
                <a:latin typeface="Cambria"/>
              </a:rPr>
              <a:t>A4</a:t>
            </a:r>
          </a:p>
        </p:txBody>
      </p:sp>
      <p:sp>
        <p:nvSpPr>
          <p:cNvPr id="16" name="TextBox 15"/>
          <p:cNvSpPr txBox="1"/>
          <p:nvPr/>
        </p:nvSpPr>
        <p:spPr>
          <a:xfrm>
            <a:off x="2286000" y="4251959"/>
            <a:ext cx="8686800" cy="411480"/>
          </a:xfrm>
          <a:prstGeom prst="rect">
            <a:avLst/>
          </a:prstGeom>
          <a:noFill/>
        </p:spPr>
        <p:txBody>
          <a:bodyPr wrap="square" anchor="t">
            <a:spAutoFit/>
          </a:bodyPr>
          <a:lstStyle/>
          <a:p>
            <a:pPr algn="l">
              <a:spcAft>
                <a:spcPts val="400"/>
              </a:spcAft>
            </a:pPr>
            <a:r>
              <a:rPr sz="2100" b="0">
                <a:solidFill>
                  <a:srgbClr val="21201C"/>
                </a:solidFill>
                <a:latin typeface="Calibri"/>
              </a:rPr>
              <a:t>Reporting date: 2026-09-30</a:t>
            </a:r>
          </a:p>
        </p:txBody>
      </p:sp>
      <p:sp>
        <p:nvSpPr>
          <p:cNvPr id="17" name="TextBox 16"/>
          <p:cNvSpPr txBox="1"/>
          <p:nvPr/>
        </p:nvSpPr>
        <p:spPr>
          <a:xfrm>
            <a:off x="914400" y="5212080"/>
            <a:ext cx="10058400" cy="411480"/>
          </a:xfrm>
          <a:prstGeom prst="rect">
            <a:avLst/>
          </a:prstGeom>
          <a:noFill/>
        </p:spPr>
        <p:txBody>
          <a:bodyPr wrap="square" anchor="t">
            <a:spAutoFit/>
          </a:bodyPr>
          <a:lstStyle/>
          <a:p>
            <a:pPr algn="l">
              <a:spcAft>
                <a:spcPts val="400"/>
              </a:spcAft>
            </a:pPr>
            <a:r>
              <a:rPr sz="1800" b="0">
                <a:solidFill>
                  <a:srgbClr val="21201C"/>
                </a:solidFill>
                <a:latin typeface="Calibri"/>
              </a:rPr>
              <a:t>Formula rule reads Control!B2; Copilot uses the recalculated result on the next request.</a:t>
            </a:r>
          </a:p>
        </p:txBody>
      </p:sp>
      <p:sp>
        <p:nvSpPr>
          <p:cNvPr id="18" name="TextBox 17"/>
          <p:cNvSpPr txBox="1"/>
          <p:nvPr/>
        </p:nvSpPr>
        <p:spPr>
          <a:xfrm>
            <a:off x="777240" y="5989320"/>
            <a:ext cx="10698480" cy="274320"/>
          </a:xfrm>
          <a:prstGeom prst="rect">
            <a:avLst/>
          </a:prstGeom>
          <a:noFill/>
        </p:spPr>
        <p:txBody>
          <a:bodyPr wrap="square" anchor="t">
            <a:spAutoFit/>
          </a:bodyPr>
          <a:lstStyle/>
          <a:p>
            <a:pPr algn="l">
              <a:spcAft>
                <a:spcPts val="400"/>
              </a:spcAft>
            </a:pPr>
            <a:r>
              <a:rPr sz="1100" b="0">
                <a:solidFill>
                  <a:srgbClr val="21201C"/>
                </a:solidFill>
                <a:latin typeface="Calibri"/>
              </a:rPr>
              <a:t>Source: synthetic tblHRCases | 30 Sep 2026 | All filters All unless stated</a:t>
            </a:r>
          </a:p>
        </p:txBody>
      </p:sp>
      <p:sp>
        <p:nvSpPr>
          <p:cNvPr id="19" name="TextBox 1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1" name="TextBox 2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57</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Visible Workbook .Rules and Formula Results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visible worksheet named exactly .Rules, including the dot, supplies workbook-specific Copilot instructions in column A.</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workbook can carry stable scope, status, cost-display and preservation instructions alongside the source.</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date rule returns Reporting date: 2026-09-30 from Control!B2.</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58</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Visible Workbook .Rules and Formula Results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Name the visible sheet exactly .Rules.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Place one instruction per column-A cell.</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Recalculate a formula-driven rule.</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Check the next output and copied workbook.</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59</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Visible Workbook .Rules and Formula Results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Hidden .Rules is not used; keep the final sheet visible.</a:t>
            </a:r>
          </a:p>
          <a:p>
            <a:pPr>
              <a:spcAft>
                <a:spcPts val="1000"/>
              </a:spcAft>
            </a:pPr>
            <a:r>
              <a:rPr sz="1600" b="0">
                <a:solidFill>
                  <a:srgbClr val="21201C"/>
                </a:solidFill>
                <a:latin typeface="Calibri"/>
              </a:rPr>
              <a:t>•  No universal precedence among rules, preferences and Skills is assumed.</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60</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Visible Workbook .Rules and Formula Results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https://support.microsoft.com/en-us/excel/copilot/copilot-in-excel-rules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The date rule returns Reporting date: 2026-09-30 from Control!B2.</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Hidden .Rules is not used; keep the final sheet visible.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You need a security boundary or are assuming hidden rules apply.</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61</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THEME · WORKBOOK .RULES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Create and Test Workbook .Rules for HR Service Reporting</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4</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700" b="0">
                <a:solidFill>
                  <a:srgbClr val="21201C"/>
                </a:solidFill>
                <a:latin typeface="Calibri"/>
              </a:rPr>
              <a:t>Turn Lumina’s workbook conventions into a visible .Rules worksheet. Keep one rule per cell in column A, include a formula-driven reporting-date rule, test the output, and verify that the sheet travels with a copied workbook.</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Lumina_Rules_Workbook.xlsx with visible .Rules column A, a checked Rules_Test output and a copied-workbook sharing check.</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in Excel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62</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4</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.Rules: In the visible .Rules sheet, require 30 September 2026, UNKNOWN for missing evidence, and separate Current_Assignee from Proposed_Assignee.</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Boundary: Test one request that lacks a reporting date and verify that Copilot asks for it instead of guessing.</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63</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4</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Recognition</a:t>
            </a:r>
          </a:p>
          <a:p>
            <a:pPr algn="l">
              <a:spcAft>
                <a:spcPts val="300"/>
              </a:spcAft>
            </a:pPr>
            <a:r>
              <a:rPr sz="1300" b="0">
                <a:solidFill>
                  <a:srgbClr val="6B6862"/>
                </a:solidFill>
                <a:latin typeface="Calibri"/>
              </a:rPr>
              <a:t>Exactly .Rules; visible worksheet; instructions in column A, one idea per cell.</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Formula rule</a:t>
            </a:r>
          </a:p>
          <a:p>
            <a:pPr algn="l">
              <a:spcAft>
                <a:spcPts val="300"/>
              </a:spcAft>
            </a:pPr>
            <a:r>
              <a:rPr sz="1300" b="0">
                <a:solidFill>
                  <a:srgbClr val="6B6862"/>
                </a:solidFill>
                <a:latin typeface="Calibri"/>
              </a:rPr>
              <a:t>Reporting-date formula recalculates and displays2026-09-30; no source values changed.</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Output controls</a:t>
            </a:r>
          </a:p>
          <a:p>
            <a:pPr algn="l">
              <a:spcAft>
                <a:spcPts val="300"/>
              </a:spcAft>
            </a:pPr>
            <a:r>
              <a:rPr sz="1300" b="0">
                <a:solidFill>
                  <a:srgbClr val="6B6862"/>
                </a:solidFill>
                <a:latin typeface="Calibri"/>
              </a:rPr>
              <a:t>120 total;60 backlog;50 overdue;30/48 on-time;S$35,827.50 at All scope.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Workbook copy</a:t>
            </a:r>
          </a:p>
          <a:p>
            <a:pPr algn="l">
              <a:spcAft>
                <a:spcPts val="300"/>
              </a:spcAft>
            </a:pPr>
            <a:r>
              <a:rPr sz="1300" b="0">
                <a:solidFill>
                  <a:srgbClr val="6B6862"/>
                </a:solidFill>
                <a:latin typeface="Calibri"/>
              </a:rPr>
              <a:t>Visible .Rules travels with the copy; account preferences are not exported.</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64</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NATIVE EDITABLE PARETO EVIDENCE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Overdue Contribution: 50 HR Cases, Five Categories</a:t>
            </a:r>
          </a:p>
        </p:txBody>
      </p:sp>
      <p:graphicFrame>
        <p:nvGraphicFramePr>
          <p:cNvPr id="5" name="Chart 4"/>
          <p:cNvGraphicFramePr>
            <a:graphicFrameLocks noGrp="1"/>
          </p:cNvGraphicFramePr>
          <p:nvPr/>
        </p:nvGraphicFramePr>
        <p:xfrm>
          <a:off x="822960" y="1828800"/>
          <a:ext cx="5029200" cy="3566160"/>
        </p:xfrm>
        <a:graphic>
          <a:graphicData uri="http://schemas.openxmlformats.org/drawingml/2006/chart">
            <c:chart xmlns:c="http://schemas.openxmlformats.org/drawingml/2006/chart" r:id="rId2"/>
          </a:graphicData>
        </a:graphic>
      </p:graphicFrame>
      <p:graphicFrame>
        <p:nvGraphicFramePr>
          <p:cNvPr id="6" name="Chart 5"/>
          <p:cNvGraphicFramePr>
            <a:graphicFrameLocks noGrp="1"/>
          </p:cNvGraphicFramePr>
          <p:nvPr/>
        </p:nvGraphicFramePr>
        <p:xfrm>
          <a:off x="6217920" y="1828800"/>
          <a:ext cx="5029200" cy="3566160"/>
        </p:xfrm>
        <a:graphic>
          <a:graphicData uri="http://schemas.openxmlformats.org/drawingml/2006/chart">
            <c:chart xmlns:c="http://schemas.openxmlformats.org/drawingml/2006/chart" r:id="rId3"/>
          </a:graphicData>
        </a:graphic>
      </p:graphicFrame>
      <p:sp>
        <p:nvSpPr>
          <p:cNvPr id="7" name="TextBox 6"/>
          <p:cNvSpPr txBox="1"/>
          <p:nvPr/>
        </p:nvSpPr>
        <p:spPr>
          <a:xfrm>
            <a:off x="914400" y="5486400"/>
            <a:ext cx="10058400" cy="365760"/>
          </a:xfrm>
          <a:prstGeom prst="rect">
            <a:avLst/>
          </a:prstGeom>
          <a:noFill/>
        </p:spPr>
        <p:txBody>
          <a:bodyPr wrap="square" anchor="t">
            <a:spAutoFit/>
          </a:bodyPr>
          <a:lstStyle/>
          <a:p>
            <a:pPr algn="l">
              <a:spcAft>
                <a:spcPts val="400"/>
              </a:spcAft>
            </a:pPr>
            <a:r>
              <a:rPr sz="1700" b="0">
                <a:solidFill>
                  <a:srgbClr val="21201C"/>
                </a:solidFill>
                <a:latin typeface="Calibri"/>
              </a:rPr>
              <a:t>Four categories first reach 80%. Equal counts use alphabetical ties. Contribution is not cause.</a:t>
            </a:r>
          </a:p>
        </p:txBody>
      </p:sp>
      <p:sp>
        <p:nvSpPr>
          <p:cNvPr id="8" name="TextBox 7"/>
          <p:cNvSpPr txBox="1"/>
          <p:nvPr/>
        </p:nvSpPr>
        <p:spPr>
          <a:xfrm>
            <a:off x="777240" y="5989320"/>
            <a:ext cx="10698480" cy="274320"/>
          </a:xfrm>
          <a:prstGeom prst="rect">
            <a:avLst/>
          </a:prstGeom>
          <a:noFill/>
        </p:spPr>
        <p:txBody>
          <a:bodyPr wrap="square" anchor="t">
            <a:spAutoFit/>
          </a:bodyPr>
          <a:lstStyle/>
          <a:p>
            <a:pPr algn="l">
              <a:spcAft>
                <a:spcPts val="400"/>
              </a:spcAft>
            </a:pPr>
            <a:r>
              <a:rPr sz="1100" b="0">
                <a:solidFill>
                  <a:srgbClr val="21201C"/>
                </a:solidFill>
                <a:latin typeface="Calibri"/>
              </a:rPr>
              <a:t>Source: synthetic tblHRCases | 30 Sep 2026 | All filters All unless stated</a:t>
            </a:r>
          </a:p>
        </p:txBody>
      </p:sp>
      <p:sp>
        <p:nvSpPr>
          <p:cNvPr id="9" name="TextBox 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1" name="TextBox 1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65</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Pareto Skill: Counts, Sorting and Cumulative Share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Pareto contribution chart cases category counts from largest to smallest and adds a cumulative-percentage line.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Skill turns a recurring grouping-and-charting method into reusable instructions.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Payroll 18; Benefits 12; Leave 8; Training 8; Onboarding 4: total 50.</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66</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Pareto Skill: Counts, Sorting and Cumulative Share</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source, population, date and grouping.</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Count and sort with stable ties.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Calculate cumulative count / eligible total.</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Build and verify an editable dual-axis chart.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67</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Pareto Skill: Counts, Sorting and Cumulative Share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Cumulative percentages are 36%, 60%, 76%, 92%, 100%.</a:t>
            </a:r>
          </a:p>
          <a:p>
            <a:pPr>
              <a:spcAft>
                <a:spcPts val="1000"/>
              </a:spcAft>
            </a:pPr>
            <a:r>
              <a:rPr sz="1600" b="0">
                <a:solidFill>
                  <a:srgbClr val="21201C"/>
                </a:solidFill>
                <a:latin typeface="Calibri"/>
              </a:rPr>
              <a:t>•  Four of five categories first reach 80%; do not force an 80/20 conclusion.</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68</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Pareto Skill: Counts, Sorting and Cumulative Share</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https://support.microsoft.com/en-us/excel/copilot/copilot-in-excel-skills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Payroll 18; Benefits 12; Leave 8; Training 8; Onboarding 4: total 50.</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Cumulative percentages are 36%, 60%, 76%, 92%, 100%.</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Categories are being called causes or zero-total shares treated as measured 0%.</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69</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What Is a Pareto Chart?</a:t>
            </a:r>
          </a:p>
        </p:txBody>
      </p:sp>
      <p:sp>
        <p:nvSpPr>
          <p:cNvPr id="5" name="Rectangle 4"/>
          <p:cNvSpPr/>
          <p:nvPr/>
        </p:nvSpPr>
        <p:spPr>
          <a:xfrm>
            <a:off x="731520" y="1764792"/>
            <a:ext cx="5943600" cy="3519020"/>
          </a:xfrm>
          <a:prstGeom prst="rect">
            <a:avLst/>
          </a:prstGeom>
          <a:solidFill>
            <a:srgbClr val="DCD8CF"/>
          </a:solidFill>
          <a:ln>
            <a:noFill/>
          </a:ln>
          <a:effectLst/>
        </p:spPr>
        <p:txBody>
          <a:bodyPr rtlCol="0" anchor="ctr"/>
          <a:lstStyle/>
          <a:p>
            <a:pPr algn="ctr"/>
          </a:p>
        </p:txBody>
      </p:sp>
      <p:pic>
        <p:nvPicPr>
          <p:cNvPr id="6" name="Picture 5" descr="hr-pareto-chart.png"/>
          <p:cNvPicPr>
            <a:picLocks noChangeAspect="1"/>
          </p:cNvPicPr>
          <p:nvPr/>
        </p:nvPicPr>
        <p:blipFill>
          <a:blip r:embed="rId2"/>
          <a:stretch>
            <a:fillRect/>
          </a:stretch>
        </p:blipFill>
        <p:spPr>
          <a:xfrm>
            <a:off x="777240" y="1810512"/>
            <a:ext cx="5852158" cy="3427580"/>
          </a:xfrm>
          <a:prstGeom prst="rect">
            <a:avLst/>
          </a:prstGeom>
        </p:spPr>
      </p:pic>
      <p:sp>
        <p:nvSpPr>
          <p:cNvPr id="7" name="Rounded Rectangle 6"/>
          <p:cNvSpPr/>
          <p:nvPr/>
        </p:nvSpPr>
        <p:spPr>
          <a:xfrm>
            <a:off x="6995160" y="1810512"/>
            <a:ext cx="4416552" cy="597733"/>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6995160" y="1810512"/>
            <a:ext cx="4416552" cy="64008"/>
          </a:xfrm>
          <a:prstGeom prst="rect">
            <a:avLst/>
          </a:prstGeom>
          <a:solidFill>
            <a:srgbClr val="D97757"/>
          </a:solidFill>
          <a:ln>
            <a:noFill/>
          </a:ln>
          <a:effectLst/>
        </p:spPr>
        <p:txBody>
          <a:bodyPr rtlCol="0" anchor="ctr"/>
          <a:lstStyle/>
          <a:p>
            <a:pPr algn="ctr"/>
          </a:p>
        </p:txBody>
      </p:sp>
      <p:sp>
        <p:nvSpPr>
          <p:cNvPr id="9" name="Oval 8"/>
          <p:cNvSpPr/>
          <p:nvPr/>
        </p:nvSpPr>
        <p:spPr>
          <a:xfrm>
            <a:off x="7178040" y="1917354"/>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7178040" y="1917354"/>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7726680" y="1810512"/>
            <a:ext cx="3502152" cy="597733"/>
          </a:xfrm>
          <a:prstGeom prst="rect">
            <a:avLst/>
          </a:prstGeom>
          <a:noFill/>
        </p:spPr>
        <p:txBody>
          <a:bodyPr wrap="square" anchor="ctr">
            <a:spAutoFit/>
          </a:bodyPr>
          <a:lstStyle/>
          <a:p>
            <a:pPr algn="l">
              <a:spcAft>
                <a:spcPts val="200"/>
              </a:spcAft>
            </a:pPr>
            <a:r>
              <a:rPr sz="1400" b="1">
                <a:solidFill>
                  <a:srgbClr val="21201C"/>
                </a:solidFill>
                <a:latin typeface="Calibri"/>
              </a:rPr>
              <a:t>Bars, largest first</a:t>
            </a:r>
          </a:p>
          <a:p>
            <a:pPr algn="l">
              <a:spcAft>
                <a:spcPts val="200"/>
              </a:spcAft>
            </a:pPr>
            <a:r>
              <a:rPr sz="1200" b="0">
                <a:solidFill>
                  <a:srgbClr val="6B6862"/>
                </a:solidFill>
                <a:latin typeface="Calibri"/>
              </a:rPr>
              <a:t>Overdue HR cases per request type, sorted high to low: Payroll Query leads with 18 of 50.</a:t>
            </a:r>
          </a:p>
        </p:txBody>
      </p:sp>
      <p:sp>
        <p:nvSpPr>
          <p:cNvPr id="12" name="Rounded Rectangle 11"/>
          <p:cNvSpPr/>
          <p:nvPr/>
        </p:nvSpPr>
        <p:spPr>
          <a:xfrm>
            <a:off x="6995160" y="2517973"/>
            <a:ext cx="4416552" cy="597733"/>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6995160" y="2517973"/>
            <a:ext cx="4416552" cy="64008"/>
          </a:xfrm>
          <a:prstGeom prst="rect">
            <a:avLst/>
          </a:prstGeom>
          <a:solidFill>
            <a:srgbClr val="3A7D7B"/>
          </a:solidFill>
          <a:ln>
            <a:noFill/>
          </a:ln>
          <a:effectLst/>
        </p:spPr>
        <p:txBody>
          <a:bodyPr rtlCol="0" anchor="ctr"/>
          <a:lstStyle/>
          <a:p>
            <a:pPr algn="ctr"/>
          </a:p>
        </p:txBody>
      </p:sp>
      <p:sp>
        <p:nvSpPr>
          <p:cNvPr id="14" name="Oval 13"/>
          <p:cNvSpPr/>
          <p:nvPr/>
        </p:nvSpPr>
        <p:spPr>
          <a:xfrm>
            <a:off x="7178040" y="2624815"/>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7178040" y="2624815"/>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7726680" y="2517973"/>
            <a:ext cx="3502152" cy="597733"/>
          </a:xfrm>
          <a:prstGeom prst="rect">
            <a:avLst/>
          </a:prstGeom>
          <a:noFill/>
        </p:spPr>
        <p:txBody>
          <a:bodyPr wrap="square" anchor="ctr">
            <a:spAutoFit/>
          </a:bodyPr>
          <a:lstStyle/>
          <a:p>
            <a:pPr algn="l">
              <a:spcAft>
                <a:spcPts val="200"/>
              </a:spcAft>
            </a:pPr>
            <a:r>
              <a:rPr sz="1400" b="1">
                <a:solidFill>
                  <a:srgbClr val="21201C"/>
                </a:solidFill>
                <a:latin typeface="Calibri"/>
              </a:rPr>
              <a:t>Cumulative % line</a:t>
            </a:r>
          </a:p>
          <a:p>
            <a:pPr algn="l">
              <a:spcAft>
                <a:spcPts val="200"/>
              </a:spcAft>
            </a:pPr>
            <a:r>
              <a:rPr sz="1200" b="0">
                <a:solidFill>
                  <a:srgbClr val="6B6862"/>
                </a:solidFill>
                <a:latin typeface="Calibri"/>
              </a:rPr>
              <a:t>Running share of the total on the right axis: 36%, 60%, 76%, 92%, 100%.</a:t>
            </a:r>
          </a:p>
        </p:txBody>
      </p:sp>
      <p:sp>
        <p:nvSpPr>
          <p:cNvPr id="17" name="Rounded Rectangle 16"/>
          <p:cNvSpPr/>
          <p:nvPr/>
        </p:nvSpPr>
        <p:spPr>
          <a:xfrm>
            <a:off x="6995160" y="3225434"/>
            <a:ext cx="4416552" cy="597733"/>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995160" y="3225434"/>
            <a:ext cx="4416552" cy="64008"/>
          </a:xfrm>
          <a:prstGeom prst="rect">
            <a:avLst/>
          </a:prstGeom>
          <a:solidFill>
            <a:srgbClr val="5B4B8A"/>
          </a:solidFill>
          <a:ln>
            <a:noFill/>
          </a:ln>
          <a:effectLst/>
        </p:spPr>
        <p:txBody>
          <a:bodyPr rtlCol="0" anchor="ctr"/>
          <a:lstStyle/>
          <a:p>
            <a:pPr algn="ctr"/>
          </a:p>
        </p:txBody>
      </p:sp>
      <p:sp>
        <p:nvSpPr>
          <p:cNvPr id="19" name="Oval 18"/>
          <p:cNvSpPr/>
          <p:nvPr/>
        </p:nvSpPr>
        <p:spPr>
          <a:xfrm>
            <a:off x="7178040" y="3332276"/>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178040" y="333227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7726680" y="3225434"/>
            <a:ext cx="3502152" cy="597733"/>
          </a:xfrm>
          <a:prstGeom prst="rect">
            <a:avLst/>
          </a:prstGeom>
          <a:noFill/>
        </p:spPr>
        <p:txBody>
          <a:bodyPr wrap="square" anchor="ctr">
            <a:spAutoFit/>
          </a:bodyPr>
          <a:lstStyle/>
          <a:p>
            <a:pPr algn="l">
              <a:spcAft>
                <a:spcPts val="200"/>
              </a:spcAft>
            </a:pPr>
            <a:r>
              <a:rPr sz="1400" b="1">
                <a:solidFill>
                  <a:srgbClr val="21201C"/>
                </a:solidFill>
                <a:latin typeface="Calibri"/>
              </a:rPr>
              <a:t>80% reference</a:t>
            </a:r>
          </a:p>
          <a:p>
            <a:pPr algn="l">
              <a:spcAft>
                <a:spcPts val="200"/>
              </a:spcAft>
            </a:pPr>
            <a:r>
              <a:rPr sz="1200" b="0">
                <a:solidFill>
                  <a:srgbClr val="6B6862"/>
                </a:solidFill>
                <a:latin typeface="Calibri"/>
              </a:rPr>
              <a:t>Where the line passes the dashed 80% line marks the vital few types to tackle first.</a:t>
            </a:r>
          </a:p>
        </p:txBody>
      </p:sp>
      <p:sp>
        <p:nvSpPr>
          <p:cNvPr id="22" name="Rounded Rectangle 21"/>
          <p:cNvSpPr/>
          <p:nvPr/>
        </p:nvSpPr>
        <p:spPr>
          <a:xfrm>
            <a:off x="6995160" y="3932895"/>
            <a:ext cx="4416552" cy="597733"/>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6995160" y="3932895"/>
            <a:ext cx="4416552" cy="64008"/>
          </a:xfrm>
          <a:prstGeom prst="rect">
            <a:avLst/>
          </a:prstGeom>
          <a:solidFill>
            <a:srgbClr val="C2603F"/>
          </a:solidFill>
          <a:ln>
            <a:noFill/>
          </a:ln>
          <a:effectLst/>
        </p:spPr>
        <p:txBody>
          <a:bodyPr rtlCol="0" anchor="ctr"/>
          <a:lstStyle/>
          <a:p>
            <a:pPr algn="ctr"/>
          </a:p>
        </p:txBody>
      </p:sp>
      <p:sp>
        <p:nvSpPr>
          <p:cNvPr id="24" name="Oval 23"/>
          <p:cNvSpPr/>
          <p:nvPr/>
        </p:nvSpPr>
        <p:spPr>
          <a:xfrm>
            <a:off x="7178040" y="4039737"/>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7178040" y="4039737"/>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7726680" y="3932895"/>
            <a:ext cx="3502152" cy="597733"/>
          </a:xfrm>
          <a:prstGeom prst="rect">
            <a:avLst/>
          </a:prstGeom>
          <a:noFill/>
        </p:spPr>
        <p:txBody>
          <a:bodyPr wrap="square" anchor="ctr">
            <a:spAutoFit/>
          </a:bodyPr>
          <a:lstStyle/>
          <a:p>
            <a:pPr algn="l">
              <a:spcAft>
                <a:spcPts val="200"/>
              </a:spcAft>
            </a:pPr>
            <a:r>
              <a:rPr sz="1400" b="1">
                <a:solidFill>
                  <a:srgbClr val="21201C"/>
                </a:solidFill>
                <a:latin typeface="Calibri"/>
              </a:rPr>
              <a:t>Finding title</a:t>
            </a:r>
          </a:p>
          <a:p>
            <a:pPr algn="l">
              <a:spcAft>
                <a:spcPts val="200"/>
              </a:spcAft>
            </a:pPr>
            <a:r>
              <a:rPr sz="1200" b="0">
                <a:solidFill>
                  <a:srgbClr val="6B6862"/>
                </a:solidFill>
                <a:latin typeface="Calibri"/>
              </a:rPr>
              <a:t>The title states the result from formulas, so it updates when the data or date changes.</a:t>
            </a:r>
          </a:p>
        </p:txBody>
      </p:sp>
      <p:sp>
        <p:nvSpPr>
          <p:cNvPr id="27" name="Rounded Rectangle 26"/>
          <p:cNvSpPr/>
          <p:nvPr/>
        </p:nvSpPr>
        <p:spPr>
          <a:xfrm>
            <a:off x="6995160" y="4640356"/>
            <a:ext cx="4416552" cy="597733"/>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8" name="Rectangle 27"/>
          <p:cNvSpPr/>
          <p:nvPr/>
        </p:nvSpPr>
        <p:spPr>
          <a:xfrm>
            <a:off x="6995160" y="4640356"/>
            <a:ext cx="4416552" cy="64008"/>
          </a:xfrm>
          <a:prstGeom prst="rect">
            <a:avLst/>
          </a:prstGeom>
          <a:solidFill>
            <a:srgbClr val="D97757"/>
          </a:solidFill>
          <a:ln>
            <a:noFill/>
          </a:ln>
          <a:effectLst/>
        </p:spPr>
        <p:txBody>
          <a:bodyPr rtlCol="0" anchor="ctr"/>
          <a:lstStyle/>
          <a:p>
            <a:pPr algn="ctr"/>
          </a:p>
        </p:txBody>
      </p:sp>
      <p:sp>
        <p:nvSpPr>
          <p:cNvPr id="29" name="Oval 28"/>
          <p:cNvSpPr/>
          <p:nvPr/>
        </p:nvSpPr>
        <p:spPr>
          <a:xfrm>
            <a:off x="7178040" y="4747198"/>
            <a:ext cx="384048" cy="384048"/>
          </a:xfrm>
          <a:prstGeom prst="ellipse">
            <a:avLst/>
          </a:prstGeom>
          <a:solidFill>
            <a:srgbClr val="D97757"/>
          </a:solidFill>
          <a:ln>
            <a:noFill/>
          </a:ln>
          <a:effectLst/>
        </p:spPr>
        <p:txBody>
          <a:bodyPr rtlCol="0" anchor="ctr"/>
          <a:lstStyle/>
          <a:p>
            <a:pPr algn="ctr"/>
          </a:p>
        </p:txBody>
      </p:sp>
      <p:sp>
        <p:nvSpPr>
          <p:cNvPr id="30" name="TextBox 29"/>
          <p:cNvSpPr txBox="1"/>
          <p:nvPr/>
        </p:nvSpPr>
        <p:spPr>
          <a:xfrm>
            <a:off x="7178040" y="4747198"/>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5</a:t>
            </a:r>
          </a:p>
        </p:txBody>
      </p:sp>
      <p:sp>
        <p:nvSpPr>
          <p:cNvPr id="31" name="TextBox 30"/>
          <p:cNvSpPr txBox="1"/>
          <p:nvPr/>
        </p:nvSpPr>
        <p:spPr>
          <a:xfrm>
            <a:off x="7726680" y="4640356"/>
            <a:ext cx="3502152" cy="597733"/>
          </a:xfrm>
          <a:prstGeom prst="rect">
            <a:avLst/>
          </a:prstGeom>
          <a:noFill/>
        </p:spPr>
        <p:txBody>
          <a:bodyPr wrap="square" anchor="ctr">
            <a:spAutoFit/>
          </a:bodyPr>
          <a:lstStyle/>
          <a:p>
            <a:pPr algn="l">
              <a:spcAft>
                <a:spcPts val="200"/>
              </a:spcAft>
            </a:pPr>
            <a:r>
              <a:rPr sz="1400" b="1">
                <a:solidFill>
                  <a:srgbClr val="21201C"/>
                </a:solidFill>
                <a:latin typeface="Calibri"/>
              </a:rPr>
              <a:t>Contribution, not cause</a:t>
            </a:r>
          </a:p>
          <a:p>
            <a:pPr algn="l">
              <a:spcAft>
                <a:spcPts val="200"/>
              </a:spcAft>
            </a:pPr>
            <a:r>
              <a:rPr sz="1200" b="0">
                <a:solidFill>
                  <a:srgbClr val="6B6862"/>
                </a:solidFill>
                <a:latin typeface="Calibri"/>
              </a:rPr>
              <a:t>A Pareto shows where cases concentrate; it does not explain why.</a:t>
            </a:r>
          </a:p>
        </p:txBody>
      </p:sp>
      <p:sp>
        <p:nvSpPr>
          <p:cNvPr id="32" name="TextBox 31"/>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3" name="TextBox 32"/>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4" name="TextBox 33"/>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70</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Where Custom Skills Live — The OneDrive skills Folder</a:t>
            </a:r>
          </a:p>
        </p:txBody>
      </p:sp>
      <p:sp>
        <p:nvSpPr>
          <p:cNvPr id="5" name="Rectangle 4"/>
          <p:cNvSpPr/>
          <p:nvPr/>
        </p:nvSpPr>
        <p:spPr>
          <a:xfrm>
            <a:off x="732891" y="1783080"/>
            <a:ext cx="10725912" cy="1806248"/>
          </a:xfrm>
          <a:prstGeom prst="rect">
            <a:avLst/>
          </a:prstGeom>
          <a:solidFill>
            <a:srgbClr val="DCD8CF"/>
          </a:solidFill>
          <a:ln>
            <a:noFill/>
          </a:ln>
          <a:effectLst/>
        </p:spPr>
        <p:txBody>
          <a:bodyPr rtlCol="0" anchor="ctr"/>
          <a:lstStyle/>
          <a:p>
            <a:pPr algn="ctr"/>
          </a:p>
        </p:txBody>
      </p:sp>
      <p:pic>
        <p:nvPicPr>
          <p:cNvPr id="6" name="Picture 5" descr="onedrive-skills-folder.png"/>
          <p:cNvPicPr>
            <a:picLocks noChangeAspect="1"/>
          </p:cNvPicPr>
          <p:nvPr/>
        </p:nvPicPr>
        <p:blipFill>
          <a:blip r:embed="rId2"/>
          <a:stretch>
            <a:fillRect/>
          </a:stretch>
        </p:blipFill>
        <p:spPr>
          <a:xfrm>
            <a:off x="778611" y="1828800"/>
            <a:ext cx="10634468" cy="1714808"/>
          </a:xfrm>
          <a:prstGeom prst="rect">
            <a:avLst/>
          </a:prstGeom>
        </p:spPr>
      </p:pic>
      <p:sp>
        <p:nvSpPr>
          <p:cNvPr id="7" name="Rounded Rectangle 6"/>
          <p:cNvSpPr/>
          <p:nvPr/>
        </p:nvSpPr>
        <p:spPr>
          <a:xfrm>
            <a:off x="777240" y="3955088"/>
            <a:ext cx="3361944" cy="230855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777240" y="3955088"/>
            <a:ext cx="3361944" cy="64008"/>
          </a:xfrm>
          <a:prstGeom prst="rect">
            <a:avLst/>
          </a:prstGeom>
          <a:solidFill>
            <a:srgbClr val="D97757"/>
          </a:solidFill>
          <a:ln>
            <a:noFill/>
          </a:ln>
          <a:effectLst/>
        </p:spPr>
        <p:txBody>
          <a:bodyPr rtlCol="0" anchor="ctr"/>
          <a:lstStyle/>
          <a:p>
            <a:pPr algn="ctr"/>
          </a:p>
        </p:txBody>
      </p:sp>
      <p:sp>
        <p:nvSpPr>
          <p:cNvPr id="9" name="Oval 8"/>
          <p:cNvSpPr/>
          <p:nvPr/>
        </p:nvSpPr>
        <p:spPr>
          <a:xfrm>
            <a:off x="1005840" y="4229408"/>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1005840" y="4229408"/>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1554480" y="4229408"/>
            <a:ext cx="2401824" cy="384048"/>
          </a:xfrm>
          <a:prstGeom prst="rect">
            <a:avLst/>
          </a:prstGeom>
          <a:noFill/>
        </p:spPr>
        <p:txBody>
          <a:bodyPr wrap="square" anchor="ctr">
            <a:spAutoFit/>
          </a:bodyPr>
          <a:lstStyle/>
          <a:p>
            <a:pPr algn="l">
              <a:spcAft>
                <a:spcPts val="400"/>
              </a:spcAft>
            </a:pPr>
            <a:r>
              <a:rPr sz="1500" b="1">
                <a:solidFill>
                  <a:srgbClr val="21201C"/>
                </a:solidFill>
                <a:latin typeface="Calibri"/>
              </a:rPr>
              <a:t>Create the folder</a:t>
            </a:r>
          </a:p>
        </p:txBody>
      </p:sp>
      <p:sp>
        <p:nvSpPr>
          <p:cNvPr id="12" name="TextBox 11"/>
          <p:cNvSpPr txBox="1"/>
          <p:nvPr/>
        </p:nvSpPr>
        <p:spPr>
          <a:xfrm>
            <a:off x="1005840" y="4778048"/>
            <a:ext cx="2904744" cy="1348432"/>
          </a:xfrm>
          <a:prstGeom prst="rect">
            <a:avLst/>
          </a:prstGeom>
          <a:noFill/>
        </p:spPr>
        <p:txBody>
          <a:bodyPr wrap="square" anchor="t">
            <a:spAutoFit/>
          </a:bodyPr>
          <a:lstStyle/>
          <a:p>
            <a:pPr algn="l">
              <a:spcAft>
                <a:spcPts val="400"/>
              </a:spcAft>
            </a:pPr>
            <a:r>
              <a:rPr sz="1300" b="0">
                <a:solidFill>
                  <a:srgbClr val="6B6862"/>
                </a:solidFill>
                <a:latin typeface="Calibri"/>
              </a:rPr>
              <a:t>••• &gt; Manage plugins &amp; skills &gt; Custom skills &gt; Create OneDrive folder if needed &gt; Open skills folder.</a:t>
            </a:r>
          </a:p>
        </p:txBody>
      </p:sp>
      <p:sp>
        <p:nvSpPr>
          <p:cNvPr id="13" name="Rounded Rectangle 12"/>
          <p:cNvSpPr/>
          <p:nvPr/>
        </p:nvSpPr>
        <p:spPr>
          <a:xfrm>
            <a:off x="4413504" y="3955088"/>
            <a:ext cx="3361944" cy="230855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4413504" y="3955088"/>
            <a:ext cx="3361944" cy="64008"/>
          </a:xfrm>
          <a:prstGeom prst="rect">
            <a:avLst/>
          </a:prstGeom>
          <a:solidFill>
            <a:srgbClr val="3A7D7B"/>
          </a:solidFill>
          <a:ln>
            <a:noFill/>
          </a:ln>
          <a:effectLst/>
        </p:spPr>
        <p:txBody>
          <a:bodyPr rtlCol="0" anchor="ctr"/>
          <a:lstStyle/>
          <a:p>
            <a:pPr algn="ctr"/>
          </a:p>
        </p:txBody>
      </p:sp>
      <p:sp>
        <p:nvSpPr>
          <p:cNvPr id="15" name="Oval 14"/>
          <p:cNvSpPr/>
          <p:nvPr/>
        </p:nvSpPr>
        <p:spPr>
          <a:xfrm>
            <a:off x="4642104" y="4229408"/>
            <a:ext cx="384048" cy="384048"/>
          </a:xfrm>
          <a:prstGeom prst="ellipse">
            <a:avLst/>
          </a:prstGeom>
          <a:solidFill>
            <a:srgbClr val="3A7D7B"/>
          </a:solidFill>
          <a:ln>
            <a:noFill/>
          </a:ln>
          <a:effectLst/>
        </p:spPr>
        <p:txBody>
          <a:bodyPr rtlCol="0" anchor="ctr"/>
          <a:lstStyle/>
          <a:p>
            <a:pPr algn="ctr"/>
          </a:p>
        </p:txBody>
      </p:sp>
      <p:sp>
        <p:nvSpPr>
          <p:cNvPr id="16" name="TextBox 15"/>
          <p:cNvSpPr txBox="1"/>
          <p:nvPr/>
        </p:nvSpPr>
        <p:spPr>
          <a:xfrm>
            <a:off x="4642104" y="4229408"/>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7" name="TextBox 16"/>
          <p:cNvSpPr txBox="1"/>
          <p:nvPr/>
        </p:nvSpPr>
        <p:spPr>
          <a:xfrm>
            <a:off x="5190744" y="4229408"/>
            <a:ext cx="2401824" cy="384048"/>
          </a:xfrm>
          <a:prstGeom prst="rect">
            <a:avLst/>
          </a:prstGeom>
          <a:noFill/>
        </p:spPr>
        <p:txBody>
          <a:bodyPr wrap="square" anchor="ctr">
            <a:spAutoFit/>
          </a:bodyPr>
          <a:lstStyle/>
          <a:p>
            <a:pPr algn="l">
              <a:spcAft>
                <a:spcPts val="400"/>
              </a:spcAft>
            </a:pPr>
            <a:r>
              <a:rPr sz="1500" b="1">
                <a:solidFill>
                  <a:srgbClr val="21201C"/>
                </a:solidFill>
                <a:latin typeface="Calibri"/>
              </a:rPr>
              <a:t>Copy the Skill folder</a:t>
            </a:r>
          </a:p>
        </p:txBody>
      </p:sp>
      <p:sp>
        <p:nvSpPr>
          <p:cNvPr id="18" name="TextBox 17"/>
          <p:cNvSpPr txBox="1"/>
          <p:nvPr/>
        </p:nvSpPr>
        <p:spPr>
          <a:xfrm>
            <a:off x="4642104" y="4778048"/>
            <a:ext cx="2904744" cy="1348432"/>
          </a:xfrm>
          <a:prstGeom prst="rect">
            <a:avLst/>
          </a:prstGeom>
          <a:noFill/>
        </p:spPr>
        <p:txBody>
          <a:bodyPr wrap="square" anchor="t">
            <a:spAutoFit/>
          </a:bodyPr>
          <a:lstStyle/>
          <a:p>
            <a:pPr algn="l">
              <a:spcAft>
                <a:spcPts val="400"/>
              </a:spcAft>
            </a:pPr>
            <a:r>
              <a:rPr sz="1300" b="0">
                <a:solidFill>
                  <a:srgbClr val="6B6862"/>
                </a:solidFill>
                <a:latin typeface="Calibri"/>
              </a:rPr>
              <a:t>Copy the reviewed hr-case-pareto folder, with its SKILL.md, into this app-created skills location.</a:t>
            </a:r>
          </a:p>
        </p:txBody>
      </p:sp>
      <p:sp>
        <p:nvSpPr>
          <p:cNvPr id="19" name="Rounded Rectangle 18"/>
          <p:cNvSpPr/>
          <p:nvPr/>
        </p:nvSpPr>
        <p:spPr>
          <a:xfrm>
            <a:off x="8049768" y="3955088"/>
            <a:ext cx="3361944" cy="230855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0" name="Rectangle 19"/>
          <p:cNvSpPr/>
          <p:nvPr/>
        </p:nvSpPr>
        <p:spPr>
          <a:xfrm>
            <a:off x="8049768" y="3955088"/>
            <a:ext cx="3361944" cy="64008"/>
          </a:xfrm>
          <a:prstGeom prst="rect">
            <a:avLst/>
          </a:prstGeom>
          <a:solidFill>
            <a:srgbClr val="5B4B8A"/>
          </a:solidFill>
          <a:ln>
            <a:noFill/>
          </a:ln>
          <a:effectLst/>
        </p:spPr>
        <p:txBody>
          <a:bodyPr rtlCol="0" anchor="ctr"/>
          <a:lstStyle/>
          <a:p>
            <a:pPr algn="ctr"/>
          </a:p>
        </p:txBody>
      </p:sp>
      <p:sp>
        <p:nvSpPr>
          <p:cNvPr id="21" name="Oval 20"/>
          <p:cNvSpPr/>
          <p:nvPr/>
        </p:nvSpPr>
        <p:spPr>
          <a:xfrm>
            <a:off x="8278368" y="4229408"/>
            <a:ext cx="384048" cy="384048"/>
          </a:xfrm>
          <a:prstGeom prst="ellipse">
            <a:avLst/>
          </a:prstGeom>
          <a:solidFill>
            <a:srgbClr val="5B4B8A"/>
          </a:solidFill>
          <a:ln>
            <a:noFill/>
          </a:ln>
          <a:effectLst/>
        </p:spPr>
        <p:txBody>
          <a:bodyPr rtlCol="0" anchor="ctr"/>
          <a:lstStyle/>
          <a:p>
            <a:pPr algn="ctr"/>
          </a:p>
        </p:txBody>
      </p:sp>
      <p:sp>
        <p:nvSpPr>
          <p:cNvPr id="22" name="TextBox 21"/>
          <p:cNvSpPr txBox="1"/>
          <p:nvPr/>
        </p:nvSpPr>
        <p:spPr>
          <a:xfrm>
            <a:off x="8278368" y="4229408"/>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3" name="TextBox 22"/>
          <p:cNvSpPr txBox="1"/>
          <p:nvPr/>
        </p:nvSpPr>
        <p:spPr>
          <a:xfrm>
            <a:off x="8827008" y="4229408"/>
            <a:ext cx="2401824" cy="384048"/>
          </a:xfrm>
          <a:prstGeom prst="rect">
            <a:avLst/>
          </a:prstGeom>
          <a:noFill/>
        </p:spPr>
        <p:txBody>
          <a:bodyPr wrap="square" anchor="ctr">
            <a:spAutoFit/>
          </a:bodyPr>
          <a:lstStyle/>
          <a:p>
            <a:pPr algn="l">
              <a:spcAft>
                <a:spcPts val="400"/>
              </a:spcAft>
            </a:pPr>
            <a:r>
              <a:rPr sz="1500" b="1">
                <a:solidFill>
                  <a:srgbClr val="21201C"/>
                </a:solidFill>
                <a:latin typeface="Calibri"/>
              </a:rPr>
              <a:t>Keep names exact</a:t>
            </a:r>
          </a:p>
        </p:txBody>
      </p:sp>
      <p:sp>
        <p:nvSpPr>
          <p:cNvPr id="24" name="TextBox 23"/>
          <p:cNvSpPr txBox="1"/>
          <p:nvPr/>
        </p:nvSpPr>
        <p:spPr>
          <a:xfrm>
            <a:off x="8278368" y="4778048"/>
            <a:ext cx="2904744" cy="1348432"/>
          </a:xfrm>
          <a:prstGeom prst="rect">
            <a:avLst/>
          </a:prstGeom>
          <a:noFill/>
        </p:spPr>
        <p:txBody>
          <a:bodyPr wrap="square" anchor="t">
            <a:spAutoFit/>
          </a:bodyPr>
          <a:lstStyle/>
          <a:p>
            <a:pPr algn="l">
              <a:spcAft>
                <a:spcPts val="400"/>
              </a:spcAft>
            </a:pPr>
            <a:r>
              <a:rPr sz="1300" b="0">
                <a:solidFill>
                  <a:srgbClr val="6B6862"/>
                </a:solidFill>
                <a:latin typeface="Calibri"/>
              </a:rPr>
              <a:t>The folder name and the name inside SKILL.md must both read hr-case-pareto.</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71</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Custom Skills — Refresh, Enable, Verify</a:t>
            </a:r>
          </a:p>
        </p:txBody>
      </p:sp>
      <p:sp>
        <p:nvSpPr>
          <p:cNvPr id="5" name="Rectangle 4"/>
          <p:cNvSpPr/>
          <p:nvPr/>
        </p:nvSpPr>
        <p:spPr>
          <a:xfrm>
            <a:off x="731520" y="1764792"/>
            <a:ext cx="5577840" cy="3878580"/>
          </a:xfrm>
          <a:prstGeom prst="rect">
            <a:avLst/>
          </a:prstGeom>
          <a:solidFill>
            <a:srgbClr val="DCD8CF"/>
          </a:solidFill>
          <a:ln>
            <a:noFill/>
          </a:ln>
          <a:effectLst/>
        </p:spPr>
        <p:txBody>
          <a:bodyPr rtlCol="0" anchor="ctr"/>
          <a:lstStyle/>
          <a:p>
            <a:pPr algn="ctr"/>
          </a:p>
        </p:txBody>
      </p:sp>
      <p:pic>
        <p:nvPicPr>
          <p:cNvPr id="6" name="Picture 5" descr="custom-skills-list.png"/>
          <p:cNvPicPr>
            <a:picLocks noChangeAspect="1"/>
          </p:cNvPicPr>
          <p:nvPr/>
        </p:nvPicPr>
        <p:blipFill>
          <a:blip r:embed="rId2"/>
          <a:stretch>
            <a:fillRect/>
          </a:stretch>
        </p:blipFill>
        <p:spPr>
          <a:xfrm>
            <a:off x="777240" y="1810512"/>
            <a:ext cx="5486400" cy="3787140"/>
          </a:xfrm>
          <a:prstGeom prst="rect">
            <a:avLst/>
          </a:prstGeom>
        </p:spPr>
      </p:pic>
      <p:sp>
        <p:nvSpPr>
          <p:cNvPr id="7" name="Rounded Rectangle 6"/>
          <p:cNvSpPr/>
          <p:nvPr/>
        </p:nvSpPr>
        <p:spPr>
          <a:xfrm>
            <a:off x="6629400" y="1810512"/>
            <a:ext cx="4782312" cy="864489"/>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6629400" y="1810512"/>
            <a:ext cx="4782312" cy="64008"/>
          </a:xfrm>
          <a:prstGeom prst="rect">
            <a:avLst/>
          </a:prstGeom>
          <a:solidFill>
            <a:srgbClr val="D97757"/>
          </a:solidFill>
          <a:ln>
            <a:noFill/>
          </a:ln>
          <a:effectLst/>
        </p:spPr>
        <p:txBody>
          <a:bodyPr rtlCol="0" anchor="ctr"/>
          <a:lstStyle/>
          <a:p>
            <a:pPr algn="ctr"/>
          </a:p>
        </p:txBody>
      </p:sp>
      <p:sp>
        <p:nvSpPr>
          <p:cNvPr id="9" name="Oval 8"/>
          <p:cNvSpPr/>
          <p:nvPr/>
        </p:nvSpPr>
        <p:spPr>
          <a:xfrm>
            <a:off x="6812280" y="2050732"/>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6812280" y="2050732"/>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7360920" y="1810512"/>
            <a:ext cx="3867912" cy="864489"/>
          </a:xfrm>
          <a:prstGeom prst="rect">
            <a:avLst/>
          </a:prstGeom>
          <a:noFill/>
        </p:spPr>
        <p:txBody>
          <a:bodyPr wrap="square" anchor="ctr">
            <a:spAutoFit/>
          </a:bodyPr>
          <a:lstStyle/>
          <a:p>
            <a:pPr algn="l">
              <a:spcAft>
                <a:spcPts val="200"/>
              </a:spcAft>
            </a:pPr>
            <a:r>
              <a:rPr sz="1400" b="1">
                <a:solidFill>
                  <a:srgbClr val="21201C"/>
                </a:solidFill>
                <a:latin typeface="Calibri"/>
              </a:rPr>
              <a:t>Skills OneDrive folder</a:t>
            </a:r>
          </a:p>
          <a:p>
            <a:pPr algn="l">
              <a:spcAft>
                <a:spcPts val="200"/>
              </a:spcAft>
            </a:pPr>
            <a:r>
              <a:rPr sz="1200" b="0">
                <a:solidFill>
                  <a:srgbClr val="6B6862"/>
                </a:solidFill>
                <a:latin typeface="Calibri"/>
              </a:rPr>
              <a:t>This link opens the same folder; Skills copied there appear in the list.</a:t>
            </a:r>
          </a:p>
        </p:txBody>
      </p:sp>
      <p:sp>
        <p:nvSpPr>
          <p:cNvPr id="12" name="Rounded Rectangle 11"/>
          <p:cNvSpPr/>
          <p:nvPr/>
        </p:nvSpPr>
        <p:spPr>
          <a:xfrm>
            <a:off x="6629400" y="2784729"/>
            <a:ext cx="4782312" cy="864489"/>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6629400" y="2784729"/>
            <a:ext cx="4782312" cy="64008"/>
          </a:xfrm>
          <a:prstGeom prst="rect">
            <a:avLst/>
          </a:prstGeom>
          <a:solidFill>
            <a:srgbClr val="3A7D7B"/>
          </a:solidFill>
          <a:ln>
            <a:noFill/>
          </a:ln>
          <a:effectLst/>
        </p:spPr>
        <p:txBody>
          <a:bodyPr rtlCol="0" anchor="ctr"/>
          <a:lstStyle/>
          <a:p>
            <a:pPr algn="ctr"/>
          </a:p>
        </p:txBody>
      </p:sp>
      <p:sp>
        <p:nvSpPr>
          <p:cNvPr id="14" name="Oval 13"/>
          <p:cNvSpPr/>
          <p:nvPr/>
        </p:nvSpPr>
        <p:spPr>
          <a:xfrm>
            <a:off x="6812280" y="3024949"/>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6812280" y="3024949"/>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7360920" y="2784729"/>
            <a:ext cx="3867912" cy="864489"/>
          </a:xfrm>
          <a:prstGeom prst="rect">
            <a:avLst/>
          </a:prstGeom>
          <a:noFill/>
        </p:spPr>
        <p:txBody>
          <a:bodyPr wrap="square" anchor="ctr">
            <a:spAutoFit/>
          </a:bodyPr>
          <a:lstStyle/>
          <a:p>
            <a:pPr algn="l">
              <a:spcAft>
                <a:spcPts val="200"/>
              </a:spcAft>
            </a:pPr>
            <a:r>
              <a:rPr sz="1400" b="1">
                <a:solidFill>
                  <a:srgbClr val="21201C"/>
                </a:solidFill>
                <a:latin typeface="Calibri"/>
              </a:rPr>
              <a:t>Add and Refresh</a:t>
            </a:r>
          </a:p>
          <a:p>
            <a:pPr algn="l">
              <a:spcAft>
                <a:spcPts val="200"/>
              </a:spcAft>
            </a:pPr>
            <a:r>
              <a:rPr sz="1200" b="0">
                <a:solidFill>
                  <a:srgbClr val="6B6862"/>
                </a:solidFill>
                <a:latin typeface="Calibri"/>
              </a:rPr>
              <a:t>Add uploads a Skill; Refresh re-reads the folder after you copy or edit SKILL.md.</a:t>
            </a:r>
          </a:p>
        </p:txBody>
      </p:sp>
      <p:sp>
        <p:nvSpPr>
          <p:cNvPr id="17" name="Rounded Rectangle 16"/>
          <p:cNvSpPr/>
          <p:nvPr/>
        </p:nvSpPr>
        <p:spPr>
          <a:xfrm>
            <a:off x="6629400" y="3758946"/>
            <a:ext cx="4782312" cy="864489"/>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629400" y="3758946"/>
            <a:ext cx="4782312" cy="64008"/>
          </a:xfrm>
          <a:prstGeom prst="rect">
            <a:avLst/>
          </a:prstGeom>
          <a:solidFill>
            <a:srgbClr val="5B4B8A"/>
          </a:solidFill>
          <a:ln>
            <a:noFill/>
          </a:ln>
          <a:effectLst/>
        </p:spPr>
        <p:txBody>
          <a:bodyPr rtlCol="0" anchor="ctr"/>
          <a:lstStyle/>
          <a:p>
            <a:pPr algn="ctr"/>
          </a:p>
        </p:txBody>
      </p:sp>
      <p:sp>
        <p:nvSpPr>
          <p:cNvPr id="19" name="Oval 18"/>
          <p:cNvSpPr/>
          <p:nvPr/>
        </p:nvSpPr>
        <p:spPr>
          <a:xfrm>
            <a:off x="6812280" y="3999166"/>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6812280" y="399916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7360920" y="3758946"/>
            <a:ext cx="3867912" cy="864489"/>
          </a:xfrm>
          <a:prstGeom prst="rect">
            <a:avLst/>
          </a:prstGeom>
          <a:noFill/>
        </p:spPr>
        <p:txBody>
          <a:bodyPr wrap="square" anchor="ctr">
            <a:spAutoFit/>
          </a:bodyPr>
          <a:lstStyle/>
          <a:p>
            <a:pPr algn="l">
              <a:spcAft>
                <a:spcPts val="200"/>
              </a:spcAft>
            </a:pPr>
            <a:r>
              <a:rPr sz="1400" b="1">
                <a:solidFill>
                  <a:srgbClr val="21201C"/>
                </a:solidFill>
                <a:latin typeface="Calibri"/>
              </a:rPr>
              <a:t>Toggle on</a:t>
            </a:r>
          </a:p>
          <a:p>
            <a:pPr algn="l">
              <a:spcAft>
                <a:spcPts val="200"/>
              </a:spcAft>
            </a:pPr>
            <a:r>
              <a:rPr sz="1200" b="0">
                <a:solidFill>
                  <a:srgbClr val="6B6862"/>
                </a:solidFill>
                <a:latin typeface="Calibri"/>
              </a:rPr>
              <a:t>Only enabled Skills can run. Enable hr-case-pareto; leave unrelated Skills off.</a:t>
            </a:r>
          </a:p>
        </p:txBody>
      </p:sp>
      <p:sp>
        <p:nvSpPr>
          <p:cNvPr id="22" name="Rounded Rectangle 21"/>
          <p:cNvSpPr/>
          <p:nvPr/>
        </p:nvSpPr>
        <p:spPr>
          <a:xfrm>
            <a:off x="6629400" y="4733163"/>
            <a:ext cx="4782312" cy="864489"/>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6629400" y="4733163"/>
            <a:ext cx="4782312" cy="64008"/>
          </a:xfrm>
          <a:prstGeom prst="rect">
            <a:avLst/>
          </a:prstGeom>
          <a:solidFill>
            <a:srgbClr val="C2603F"/>
          </a:solidFill>
          <a:ln>
            <a:noFill/>
          </a:ln>
          <a:effectLst/>
        </p:spPr>
        <p:txBody>
          <a:bodyPr rtlCol="0" anchor="ctr"/>
          <a:lstStyle/>
          <a:p>
            <a:pPr algn="ctr"/>
          </a:p>
        </p:txBody>
      </p:sp>
      <p:sp>
        <p:nvSpPr>
          <p:cNvPr id="24" name="Oval 23"/>
          <p:cNvSpPr/>
          <p:nvPr/>
        </p:nvSpPr>
        <p:spPr>
          <a:xfrm>
            <a:off x="6812280" y="4973383"/>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6812280" y="4973383"/>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7360920" y="4733163"/>
            <a:ext cx="3867912" cy="864489"/>
          </a:xfrm>
          <a:prstGeom prst="rect">
            <a:avLst/>
          </a:prstGeom>
          <a:noFill/>
        </p:spPr>
        <p:txBody>
          <a:bodyPr wrap="square" anchor="ctr">
            <a:spAutoFit/>
          </a:bodyPr>
          <a:lstStyle/>
          <a:p>
            <a:pPr algn="l">
              <a:spcAft>
                <a:spcPts val="200"/>
              </a:spcAft>
            </a:pPr>
            <a:r>
              <a:rPr sz="1400" b="1">
                <a:solidFill>
                  <a:srgbClr val="21201C"/>
                </a:solidFill>
                <a:latin typeface="Calibri"/>
              </a:rPr>
              <a:t>Error banner</a:t>
            </a:r>
          </a:p>
          <a:p>
            <a:pPr algn="l">
              <a:spcAft>
                <a:spcPts val="200"/>
              </a:spcAft>
            </a:pPr>
            <a:r>
              <a:rPr sz="1200" b="0">
                <a:solidFill>
                  <a:srgbClr val="6B6862"/>
                </a:solidFill>
                <a:latin typeface="Calibri"/>
              </a:rPr>
              <a:t>"Couldn't be loaded" means a SKILL.md problem: check name and front matter, fix, Refresh.</a:t>
            </a:r>
          </a:p>
        </p:txBody>
      </p:sp>
      <p:sp>
        <p:nvSpPr>
          <p:cNvPr id="27" name="TextBox 2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9" name="TextBox 2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72</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THEME · CUSTOM PARETO CHART SKILL</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Create a Custom Pareto Chart Skill and Apply It</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5</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700" b="0">
                <a:solidFill>
                  <a:srgbClr val="21201C"/>
                </a:solidFill>
                <a:latin typeface="Calibri"/>
              </a:rPr>
              <a:t>Author hr-case-pareto/SKILL.md with Copilot, install it in Excel and apply it to the same overdue HR-case queue. Build a descending count chart plus cumulative-percentage line, then check a controlled rerun and a second grouping.</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800" b="1">
                <a:solidFill>
                  <a:srgbClr val="21201C"/>
                </a:solidFill>
                <a:latin typeface="Cambria"/>
              </a:rPr>
              <a:t>hr-case-pareto/SKILL.md, Lumina_Pareto.xlsx with Pareto_Request_Type and Pareto_Department, and a verified rerun record.</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Excel Copilot · Microsoft 365 Copilot web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73</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5</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Run Skill: Apply @hr-case-pareto to Lumina_HR_Cases.xlsx for overdue work at 30 September 2026; verify category counts 18, 12, 8, 8, 4 and cumulative 100%.</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Zero case: Run the zero-overdue test and return N/A rather than dividing by zero.</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74</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5</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Eligible population</a:t>
            </a:r>
          </a:p>
          <a:p>
            <a:pPr algn="l">
              <a:spcAft>
                <a:spcPts val="300"/>
              </a:spcAft>
            </a:pPr>
            <a:r>
              <a:rPr sz="1300" b="0">
                <a:solidFill>
                  <a:srgbClr val="6B6862"/>
                </a:solidFill>
                <a:latin typeface="Calibri"/>
              </a:rPr>
              <a:t>Overdue backlog50; no Closed or Cancelled records included.</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Category counts</a:t>
            </a:r>
          </a:p>
          <a:p>
            <a:pPr algn="l">
              <a:spcAft>
                <a:spcPts val="300"/>
              </a:spcAft>
            </a:pPr>
            <a:r>
              <a:rPr sz="1300" b="0">
                <a:solidFill>
                  <a:srgbClr val="6B6862"/>
                </a:solidFill>
                <a:latin typeface="Calibri"/>
              </a:rPr>
              <a:t>Payroll Query=18; Benefits Claim=12; Leave Request=8; Training Request=8; Onboarding=4</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Cumulative percentages</a:t>
            </a:r>
          </a:p>
          <a:p>
            <a:pPr algn="l">
              <a:spcAft>
                <a:spcPts val="300"/>
              </a:spcAft>
            </a:pPr>
            <a:r>
              <a:rPr sz="1300" b="0">
                <a:solidFill>
                  <a:srgbClr val="6B6862"/>
                </a:solidFill>
                <a:latin typeface="Calibri"/>
              </a:rPr>
              <a:t>36%,60%,76%,92%,100%; Leave Request precedes Training Request in the8-count tie.</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Chart and rerun</a:t>
            </a:r>
          </a:p>
          <a:p>
            <a:pPr algn="l">
              <a:spcAft>
                <a:spcPts val="300"/>
              </a:spcAft>
            </a:pPr>
            <a:r>
              <a:rPr sz="1300" b="0">
                <a:solidFill>
                  <a:srgbClr val="6B6862"/>
                </a:solidFill>
                <a:latin typeface="Calibri"/>
              </a:rPr>
              <a:t>Editable columns plus cumulative line; right axis0%-100%; matching output replaced only after review, without duplicates.</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Source and interpretation</a:t>
            </a:r>
          </a:p>
          <a:p>
            <a:pPr algn="l">
              <a:spcAft>
                <a:spcPts val="300"/>
              </a:spcAft>
            </a:pPr>
            <a:r>
              <a:rPr sz="1300" b="0">
                <a:solidFill>
                  <a:srgbClr val="6B6862"/>
                </a:solidFill>
                <a:latin typeface="Calibri"/>
              </a:rPr>
              <a:t>120 original records preserved; Department grouping also totals50; no invented root cause.</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75</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EDITABLE SKILL CONTRACT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Anatomy of the HR Service Skill</a:t>
            </a:r>
          </a:p>
        </p:txBody>
      </p:sp>
      <p:sp>
        <p:nvSpPr>
          <p:cNvPr id="5" name="Rounded Rectangle 4"/>
          <p:cNvSpPr/>
          <p:nvPr/>
        </p:nvSpPr>
        <p:spPr>
          <a:xfrm>
            <a:off x="777240" y="1645920"/>
            <a:ext cx="10652760" cy="65836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TextBox 5"/>
          <p:cNvSpPr txBox="1"/>
          <p:nvPr/>
        </p:nvSpPr>
        <p:spPr>
          <a:xfrm>
            <a:off x="914400" y="1755648"/>
            <a:ext cx="2011680" cy="457200"/>
          </a:xfrm>
          <a:prstGeom prst="rect">
            <a:avLst/>
          </a:prstGeom>
          <a:noFill/>
        </p:spPr>
        <p:txBody>
          <a:bodyPr wrap="square" anchor="t">
            <a:spAutoFit/>
          </a:bodyPr>
          <a:lstStyle/>
          <a:p>
            <a:pPr algn="l">
              <a:spcAft>
                <a:spcPts val="400"/>
              </a:spcAft>
            </a:pPr>
            <a:r>
              <a:rPr sz="1900" b="1">
                <a:solidFill>
                  <a:srgbClr val="21201C"/>
                </a:solidFill>
                <a:latin typeface="Cambria"/>
              </a:rPr>
              <a:t>Discovery</a:t>
            </a:r>
          </a:p>
        </p:txBody>
      </p:sp>
      <p:sp>
        <p:nvSpPr>
          <p:cNvPr id="7" name="TextBox 6"/>
          <p:cNvSpPr txBox="1"/>
          <p:nvPr/>
        </p:nvSpPr>
        <p:spPr>
          <a:xfrm>
            <a:off x="3108960" y="1755648"/>
            <a:ext cx="4114800" cy="457200"/>
          </a:xfrm>
          <a:prstGeom prst="rect">
            <a:avLst/>
          </a:prstGeom>
          <a:noFill/>
        </p:spPr>
        <p:txBody>
          <a:bodyPr wrap="square" anchor="t">
            <a:spAutoFit/>
          </a:bodyPr>
          <a:lstStyle/>
          <a:p>
            <a:pPr algn="l">
              <a:spcAft>
                <a:spcPts val="400"/>
              </a:spcAft>
            </a:pPr>
            <a:r>
              <a:rPr sz="1700" b="0">
                <a:solidFill>
                  <a:srgbClr val="21201C"/>
                </a:solidFill>
                <a:latin typeface="Calibri"/>
              </a:rPr>
              <a:t>name + description</a:t>
            </a:r>
          </a:p>
        </p:txBody>
      </p:sp>
      <p:sp>
        <p:nvSpPr>
          <p:cNvPr id="8" name="TextBox 7"/>
          <p:cNvSpPr txBox="1"/>
          <p:nvPr/>
        </p:nvSpPr>
        <p:spPr>
          <a:xfrm>
            <a:off x="7315200" y="1755648"/>
            <a:ext cx="3840480" cy="457200"/>
          </a:xfrm>
          <a:prstGeom prst="rect">
            <a:avLst/>
          </a:prstGeom>
          <a:noFill/>
        </p:spPr>
        <p:txBody>
          <a:bodyPr wrap="square" anchor="t">
            <a:spAutoFit/>
          </a:bodyPr>
          <a:lstStyle/>
          <a:p>
            <a:pPr algn="l">
              <a:spcAft>
                <a:spcPts val="400"/>
              </a:spcAft>
            </a:pPr>
            <a:r>
              <a:rPr sz="1700" b="0">
                <a:solidFill>
                  <a:srgbClr val="21201C"/>
                </a:solidFill>
                <a:latin typeface="Calibri"/>
              </a:rPr>
              <a:t>When should Copilot use it?</a:t>
            </a:r>
          </a:p>
        </p:txBody>
      </p:sp>
      <p:sp>
        <p:nvSpPr>
          <p:cNvPr id="9" name="Rounded Rectangle 8"/>
          <p:cNvSpPr/>
          <p:nvPr/>
        </p:nvSpPr>
        <p:spPr>
          <a:xfrm>
            <a:off x="777240" y="2432304"/>
            <a:ext cx="10652760" cy="65836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TextBox 9"/>
          <p:cNvSpPr txBox="1"/>
          <p:nvPr/>
        </p:nvSpPr>
        <p:spPr>
          <a:xfrm>
            <a:off x="914400" y="2542032"/>
            <a:ext cx="2011680" cy="457200"/>
          </a:xfrm>
          <a:prstGeom prst="rect">
            <a:avLst/>
          </a:prstGeom>
          <a:noFill/>
        </p:spPr>
        <p:txBody>
          <a:bodyPr wrap="square" anchor="t">
            <a:spAutoFit/>
          </a:bodyPr>
          <a:lstStyle/>
          <a:p>
            <a:pPr algn="l">
              <a:spcAft>
                <a:spcPts val="400"/>
              </a:spcAft>
            </a:pPr>
            <a:r>
              <a:rPr sz="1900" b="1">
                <a:solidFill>
                  <a:srgbClr val="21201C"/>
                </a:solidFill>
                <a:latin typeface="Cambria"/>
              </a:rPr>
              <a:t>Input guard</a:t>
            </a:r>
          </a:p>
        </p:txBody>
      </p:sp>
      <p:sp>
        <p:nvSpPr>
          <p:cNvPr id="11" name="TextBox 10"/>
          <p:cNvSpPr txBox="1"/>
          <p:nvPr/>
        </p:nvSpPr>
        <p:spPr>
          <a:xfrm>
            <a:off x="3108960" y="2542032"/>
            <a:ext cx="4114800" cy="457200"/>
          </a:xfrm>
          <a:prstGeom prst="rect">
            <a:avLst/>
          </a:prstGeom>
          <a:noFill/>
        </p:spPr>
        <p:txBody>
          <a:bodyPr wrap="square" anchor="t">
            <a:spAutoFit/>
          </a:bodyPr>
          <a:lstStyle/>
          <a:p>
            <a:pPr algn="l">
              <a:spcAft>
                <a:spcPts val="400"/>
              </a:spcAft>
            </a:pPr>
            <a:r>
              <a:rPr sz="1700" b="0">
                <a:solidFill>
                  <a:srgbClr val="21201C"/>
                </a:solidFill>
                <a:latin typeface="Calibri"/>
              </a:rPr>
              <a:t>table or snapshot + date + scope</a:t>
            </a:r>
          </a:p>
        </p:txBody>
      </p:sp>
      <p:sp>
        <p:nvSpPr>
          <p:cNvPr id="12" name="TextBox 11"/>
          <p:cNvSpPr txBox="1"/>
          <p:nvPr/>
        </p:nvSpPr>
        <p:spPr>
          <a:xfrm>
            <a:off x="7315200" y="2542032"/>
            <a:ext cx="3840480" cy="457200"/>
          </a:xfrm>
          <a:prstGeom prst="rect">
            <a:avLst/>
          </a:prstGeom>
          <a:noFill/>
        </p:spPr>
        <p:txBody>
          <a:bodyPr wrap="square" anchor="t">
            <a:spAutoFit/>
          </a:bodyPr>
          <a:lstStyle/>
          <a:p>
            <a:pPr algn="l">
              <a:spcAft>
                <a:spcPts val="400"/>
              </a:spcAft>
            </a:pPr>
            <a:r>
              <a:rPr sz="1700" b="0">
                <a:solidFill>
                  <a:srgbClr val="21201C"/>
                </a:solidFill>
                <a:latin typeface="Calibri"/>
              </a:rPr>
              <a:t>What evidence is missing?</a:t>
            </a:r>
          </a:p>
        </p:txBody>
      </p:sp>
      <p:sp>
        <p:nvSpPr>
          <p:cNvPr id="13" name="Rounded Rectangle 12"/>
          <p:cNvSpPr/>
          <p:nvPr/>
        </p:nvSpPr>
        <p:spPr>
          <a:xfrm>
            <a:off x="777240" y="3218688"/>
            <a:ext cx="10652760" cy="65836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TextBox 13"/>
          <p:cNvSpPr txBox="1"/>
          <p:nvPr/>
        </p:nvSpPr>
        <p:spPr>
          <a:xfrm>
            <a:off x="914400" y="3328416"/>
            <a:ext cx="2011680" cy="457200"/>
          </a:xfrm>
          <a:prstGeom prst="rect">
            <a:avLst/>
          </a:prstGeom>
          <a:noFill/>
        </p:spPr>
        <p:txBody>
          <a:bodyPr wrap="square" anchor="t">
            <a:spAutoFit/>
          </a:bodyPr>
          <a:lstStyle/>
          <a:p>
            <a:pPr algn="l">
              <a:spcAft>
                <a:spcPts val="400"/>
              </a:spcAft>
            </a:pPr>
            <a:r>
              <a:rPr sz="1900" b="1">
                <a:solidFill>
                  <a:srgbClr val="21201C"/>
                </a:solidFill>
                <a:latin typeface="Cambria"/>
              </a:rPr>
              <a:t>Method</a:t>
            </a:r>
          </a:p>
        </p:txBody>
      </p:sp>
      <p:sp>
        <p:nvSpPr>
          <p:cNvPr id="15" name="TextBox 14"/>
          <p:cNvSpPr txBox="1"/>
          <p:nvPr/>
        </p:nvSpPr>
        <p:spPr>
          <a:xfrm>
            <a:off x="3108960" y="3328416"/>
            <a:ext cx="4114800" cy="457200"/>
          </a:xfrm>
          <a:prstGeom prst="rect">
            <a:avLst/>
          </a:prstGeom>
          <a:noFill/>
        </p:spPr>
        <p:txBody>
          <a:bodyPr wrap="square" anchor="t">
            <a:spAutoFit/>
          </a:bodyPr>
          <a:lstStyle/>
          <a:p>
            <a:pPr algn="l">
              <a:spcAft>
                <a:spcPts val="400"/>
              </a:spcAft>
            </a:pPr>
            <a:r>
              <a:rPr sz="1700" b="0">
                <a:solidFill>
                  <a:srgbClr val="21201C"/>
                </a:solidFill>
                <a:latin typeface="Calibri"/>
              </a:rPr>
              <a:t>definitions + source preservation</a:t>
            </a:r>
          </a:p>
        </p:txBody>
      </p:sp>
      <p:sp>
        <p:nvSpPr>
          <p:cNvPr id="16" name="TextBox 15"/>
          <p:cNvSpPr txBox="1"/>
          <p:nvPr/>
        </p:nvSpPr>
        <p:spPr>
          <a:xfrm>
            <a:off x="7315200" y="3328416"/>
            <a:ext cx="3840480" cy="457200"/>
          </a:xfrm>
          <a:prstGeom prst="rect">
            <a:avLst/>
          </a:prstGeom>
          <a:noFill/>
        </p:spPr>
        <p:txBody>
          <a:bodyPr wrap="square" anchor="t">
            <a:spAutoFit/>
          </a:bodyPr>
          <a:lstStyle/>
          <a:p>
            <a:pPr algn="l">
              <a:spcAft>
                <a:spcPts val="400"/>
              </a:spcAft>
            </a:pPr>
            <a:r>
              <a:rPr sz="1700" b="0">
                <a:solidFill>
                  <a:srgbClr val="21201C"/>
                </a:solidFill>
                <a:latin typeface="Calibri"/>
              </a:rPr>
              <a:t>How should measures be calculated?</a:t>
            </a:r>
          </a:p>
        </p:txBody>
      </p:sp>
      <p:sp>
        <p:nvSpPr>
          <p:cNvPr id="17" name="Rounded Rectangle 16"/>
          <p:cNvSpPr/>
          <p:nvPr/>
        </p:nvSpPr>
        <p:spPr>
          <a:xfrm>
            <a:off x="777240" y="4005072"/>
            <a:ext cx="10652760" cy="65836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TextBox 17"/>
          <p:cNvSpPr txBox="1"/>
          <p:nvPr/>
        </p:nvSpPr>
        <p:spPr>
          <a:xfrm>
            <a:off x="914400" y="4114800"/>
            <a:ext cx="2011680" cy="457200"/>
          </a:xfrm>
          <a:prstGeom prst="rect">
            <a:avLst/>
          </a:prstGeom>
          <a:noFill/>
        </p:spPr>
        <p:txBody>
          <a:bodyPr wrap="square" anchor="t">
            <a:spAutoFit/>
          </a:bodyPr>
          <a:lstStyle/>
          <a:p>
            <a:pPr algn="l">
              <a:spcAft>
                <a:spcPts val="400"/>
              </a:spcAft>
            </a:pPr>
            <a:r>
              <a:rPr sz="1900" b="1">
                <a:solidFill>
                  <a:srgbClr val="21201C"/>
                </a:solidFill>
                <a:latin typeface="Cambria"/>
              </a:rPr>
              <a:t>Outputs</a:t>
            </a:r>
          </a:p>
        </p:txBody>
      </p:sp>
      <p:sp>
        <p:nvSpPr>
          <p:cNvPr id="19" name="TextBox 18"/>
          <p:cNvSpPr txBox="1"/>
          <p:nvPr/>
        </p:nvSpPr>
        <p:spPr>
          <a:xfrm>
            <a:off x="3108960" y="4114800"/>
            <a:ext cx="4114800" cy="457200"/>
          </a:xfrm>
          <a:prstGeom prst="rect">
            <a:avLst/>
          </a:prstGeom>
          <a:noFill/>
        </p:spPr>
        <p:txBody>
          <a:bodyPr wrap="square" anchor="t">
            <a:spAutoFit/>
          </a:bodyPr>
          <a:lstStyle/>
          <a:p>
            <a:pPr algn="l">
              <a:spcAft>
                <a:spcPts val="400"/>
              </a:spcAft>
            </a:pPr>
            <a:r>
              <a:rPr sz="1700" b="0">
                <a:solidFill>
                  <a:srgbClr val="21201C"/>
                </a:solidFill>
                <a:latin typeface="Calibri"/>
              </a:rPr>
              <a:t>summary / charts / proposals</a:t>
            </a:r>
          </a:p>
        </p:txBody>
      </p:sp>
      <p:sp>
        <p:nvSpPr>
          <p:cNvPr id="20" name="TextBox 19"/>
          <p:cNvSpPr txBox="1"/>
          <p:nvPr/>
        </p:nvSpPr>
        <p:spPr>
          <a:xfrm>
            <a:off x="7315200" y="4114800"/>
            <a:ext cx="3840480" cy="457200"/>
          </a:xfrm>
          <a:prstGeom prst="rect">
            <a:avLst/>
          </a:prstGeom>
          <a:noFill/>
        </p:spPr>
        <p:txBody>
          <a:bodyPr wrap="square" anchor="t">
            <a:spAutoFit/>
          </a:bodyPr>
          <a:lstStyle/>
          <a:p>
            <a:pPr algn="l">
              <a:spcAft>
                <a:spcPts val="400"/>
              </a:spcAft>
            </a:pPr>
            <a:r>
              <a:rPr sz="1700" b="0">
                <a:solidFill>
                  <a:srgbClr val="21201C"/>
                </a:solidFill>
                <a:latin typeface="Calibri"/>
              </a:rPr>
              <a:t>Which named areas may change?</a:t>
            </a:r>
          </a:p>
        </p:txBody>
      </p:sp>
      <p:sp>
        <p:nvSpPr>
          <p:cNvPr id="21" name="Rounded Rectangle 20"/>
          <p:cNvSpPr/>
          <p:nvPr/>
        </p:nvSpPr>
        <p:spPr>
          <a:xfrm>
            <a:off x="777240" y="4791456"/>
            <a:ext cx="10652760" cy="65836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2" name="TextBox 21"/>
          <p:cNvSpPr txBox="1"/>
          <p:nvPr/>
        </p:nvSpPr>
        <p:spPr>
          <a:xfrm>
            <a:off x="914400" y="4901184"/>
            <a:ext cx="2011680" cy="457200"/>
          </a:xfrm>
          <a:prstGeom prst="rect">
            <a:avLst/>
          </a:prstGeom>
          <a:noFill/>
        </p:spPr>
        <p:txBody>
          <a:bodyPr wrap="square" anchor="t">
            <a:spAutoFit/>
          </a:bodyPr>
          <a:lstStyle/>
          <a:p>
            <a:pPr algn="l">
              <a:spcAft>
                <a:spcPts val="400"/>
              </a:spcAft>
            </a:pPr>
            <a:r>
              <a:rPr sz="1900" b="1">
                <a:solidFill>
                  <a:srgbClr val="21201C"/>
                </a:solidFill>
                <a:latin typeface="Cambria"/>
              </a:rPr>
              <a:t>Verification</a:t>
            </a:r>
          </a:p>
        </p:txBody>
      </p:sp>
      <p:sp>
        <p:nvSpPr>
          <p:cNvPr id="23" name="TextBox 22"/>
          <p:cNvSpPr txBox="1"/>
          <p:nvPr/>
        </p:nvSpPr>
        <p:spPr>
          <a:xfrm>
            <a:off x="3108960" y="4901184"/>
            <a:ext cx="4114800" cy="457200"/>
          </a:xfrm>
          <a:prstGeom prst="rect">
            <a:avLst/>
          </a:prstGeom>
          <a:noFill/>
        </p:spPr>
        <p:txBody>
          <a:bodyPr wrap="square" anchor="t">
            <a:spAutoFit/>
          </a:bodyPr>
          <a:lstStyle/>
          <a:p>
            <a:pPr algn="l">
              <a:spcAft>
                <a:spcPts val="400"/>
              </a:spcAft>
            </a:pPr>
            <a:r>
              <a:rPr sz="1700" b="0">
                <a:solidFill>
                  <a:srgbClr val="21201C"/>
                </a:solidFill>
                <a:latin typeface="Calibri"/>
              </a:rPr>
              <a:t>counts + denominators + reruns</a:t>
            </a:r>
          </a:p>
        </p:txBody>
      </p:sp>
      <p:sp>
        <p:nvSpPr>
          <p:cNvPr id="24" name="TextBox 23"/>
          <p:cNvSpPr txBox="1"/>
          <p:nvPr/>
        </p:nvSpPr>
        <p:spPr>
          <a:xfrm>
            <a:off x="7315200" y="4901184"/>
            <a:ext cx="3840480" cy="457200"/>
          </a:xfrm>
          <a:prstGeom prst="rect">
            <a:avLst/>
          </a:prstGeom>
          <a:noFill/>
        </p:spPr>
        <p:txBody>
          <a:bodyPr wrap="square" anchor="t">
            <a:spAutoFit/>
          </a:bodyPr>
          <a:lstStyle/>
          <a:p>
            <a:pPr algn="l">
              <a:spcAft>
                <a:spcPts val="400"/>
              </a:spcAft>
            </a:pPr>
            <a:r>
              <a:rPr sz="1700" b="0">
                <a:solidFill>
                  <a:srgbClr val="21201C"/>
                </a:solidFill>
                <a:latin typeface="Calibri"/>
              </a:rPr>
              <a:t>What proves the result?</a:t>
            </a:r>
          </a:p>
        </p:txBody>
      </p:sp>
      <p:sp>
        <p:nvSpPr>
          <p:cNvPr id="25" name="TextBox 24"/>
          <p:cNvSpPr txBox="1"/>
          <p:nvPr/>
        </p:nvSpPr>
        <p:spPr>
          <a:xfrm>
            <a:off x="777240" y="5989320"/>
            <a:ext cx="10698480" cy="274320"/>
          </a:xfrm>
          <a:prstGeom prst="rect">
            <a:avLst/>
          </a:prstGeom>
          <a:noFill/>
        </p:spPr>
        <p:txBody>
          <a:bodyPr wrap="square" anchor="t">
            <a:spAutoFit/>
          </a:bodyPr>
          <a:lstStyle/>
          <a:p>
            <a:pPr algn="l">
              <a:spcAft>
                <a:spcPts val="400"/>
              </a:spcAft>
            </a:pPr>
            <a:r>
              <a:rPr sz="1100" b="0">
                <a:solidFill>
                  <a:srgbClr val="21201C"/>
                </a:solidFill>
                <a:latin typeface="Calibri"/>
              </a:rPr>
              <a:t>Source: synthetic tblHRCases | 30 Sep 2026 | All filters All unless stated</a:t>
            </a:r>
          </a:p>
        </p:txBody>
      </p:sp>
      <p:sp>
        <p:nvSpPr>
          <p:cNvPr id="26" name="TextBox 25"/>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8" name="TextBox 27"/>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76</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REPEATABLE IMPROVEMENT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 Skill Improves Through Evidence</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v1 instructions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Run on verified inputs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Find one concrete defect</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v2 + repeat the check</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77</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Skills, Prompts and Workbook Rules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prompt is one request.</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skill makes stable definitions and review boundaries reusable: backlog excludes two terminal statuses, overdue uses a fixed date, missing owners stay missing and output reruns do not duplicate sheets.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hr-case-reporting contains definitions and output boundaries.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78</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Skills, Prompts and Workbook Rules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Identify a recurring task.</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Separate stable rules from current inputs.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Write name, description and instructions.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Install, invoke and inspect the result.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79</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Skills, Prompts and Workbook Rules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Each request still supplies this month’s source, date and scope.</a:t>
            </a:r>
          </a:p>
          <a:p>
            <a:pPr>
              <a:spcAft>
                <a:spcPts val="1000"/>
              </a:spcAft>
            </a:pPr>
            <a:r>
              <a:rPr sz="1600" b="0">
                <a:solidFill>
                  <a:srgbClr val="21201C"/>
                </a:solidFill>
                <a:latin typeface="Calibri"/>
              </a:rPr>
              <a:t>•  Native skill use and pasted manual instructions are recorded differently.</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80</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Skills, Prompts and Workbook Rules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https://support.microsoft.com/en-us/excel/copilot/copilot-in-excel-skills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hr-case-reporting contains definitions and output boundaries.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Each request still supplies this month’s source, date and scope.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Inputs or desired behaviour are still undefined.</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81</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Custom Skill Discovery in Each App</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Excel uses its Manage plugins &amp; skills interface and an app-created OneDrive skills folder.</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Folder-name/frontmatter mismatches, an extra .txt extension, unavailable licence features and disabled skills can all prevent discovery.</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Folder hr-case-reporting matches YAML name hr-case-reporting.</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82</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Custom Skill Discovery in Each App</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Save complete UTF-8 SKILL.md.</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Use the app-created skills location.</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Refresh and verify the matching name.</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Run and record a smoke test.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83</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Custom Skill Discovery in Each App</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Excel and PowerPoint both show the skill before native invocation.</a:t>
            </a:r>
          </a:p>
          <a:p>
            <a:pPr>
              <a:spcAft>
                <a:spcPts val="1000"/>
              </a:spcAft>
            </a:pPr>
            <a:r>
              <a:rPr sz="1600" b="0">
                <a:solidFill>
                  <a:srgbClr val="21201C"/>
                </a:solidFill>
                <a:latin typeface="Calibri"/>
              </a:rPr>
              <a:t>•  If a menu is absent, manual practice is labelled feature unavailable.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84</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Custom Skill Discovery in Each App</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https://support.microsoft.com/en-us/excel/copilot/copilot-in-excel-skills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Folder hr-case-reporting matches YAML name hr-case-reporting.</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Excel and PowerPoint both show the skill before native invocation.</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 missing menu is being treated as successful installation.</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85</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Built-in Plugins and Custom Skills</a:t>
            </a:r>
          </a:p>
        </p:txBody>
      </p:sp>
      <p:sp>
        <p:nvSpPr>
          <p:cNvPr id="5" name="Rectangle 4"/>
          <p:cNvSpPr/>
          <p:nvPr/>
        </p:nvSpPr>
        <p:spPr>
          <a:xfrm>
            <a:off x="731520" y="2162389"/>
            <a:ext cx="5180076" cy="2990420"/>
          </a:xfrm>
          <a:prstGeom prst="rect">
            <a:avLst/>
          </a:prstGeom>
          <a:solidFill>
            <a:srgbClr val="DCD8CF"/>
          </a:solidFill>
          <a:ln>
            <a:noFill/>
          </a:ln>
          <a:effectLst/>
        </p:spPr>
        <p:txBody>
          <a:bodyPr rtlCol="0" anchor="ctr"/>
          <a:lstStyle/>
          <a:p>
            <a:pPr algn="ctr"/>
          </a:p>
        </p:txBody>
      </p:sp>
      <p:pic>
        <p:nvPicPr>
          <p:cNvPr id="6" name="Picture 5" descr="manage-plugins-skills.png"/>
          <p:cNvPicPr>
            <a:picLocks noChangeAspect="1"/>
          </p:cNvPicPr>
          <p:nvPr/>
        </p:nvPicPr>
        <p:blipFill>
          <a:blip r:embed="rId2"/>
          <a:stretch>
            <a:fillRect/>
          </a:stretch>
        </p:blipFill>
        <p:spPr>
          <a:xfrm>
            <a:off x="777240" y="2208109"/>
            <a:ext cx="5088635" cy="2898980"/>
          </a:xfrm>
          <a:prstGeom prst="rect">
            <a:avLst/>
          </a:prstGeom>
        </p:spPr>
      </p:pic>
      <p:sp>
        <p:nvSpPr>
          <p:cNvPr id="7" name="TextBox 6"/>
          <p:cNvSpPr txBox="1"/>
          <p:nvPr/>
        </p:nvSpPr>
        <p:spPr>
          <a:xfrm>
            <a:off x="777240" y="5641847"/>
            <a:ext cx="5088636" cy="658368"/>
          </a:xfrm>
          <a:prstGeom prst="rect">
            <a:avLst/>
          </a:prstGeom>
          <a:noFill/>
        </p:spPr>
        <p:txBody>
          <a:bodyPr wrap="square" anchor="t">
            <a:spAutoFit/>
          </a:bodyPr>
          <a:lstStyle/>
          <a:p>
            <a:pPr algn="ctr">
              <a:spcAft>
                <a:spcPts val="200"/>
              </a:spcAft>
            </a:pPr>
            <a:r>
              <a:rPr sz="1400" b="1">
                <a:solidFill>
                  <a:srgbClr val="21201C"/>
                </a:solidFill>
                <a:latin typeface="Calibri"/>
              </a:rPr>
              <a:t>Manage plugins &amp; skills</a:t>
            </a:r>
          </a:p>
          <a:p>
            <a:pPr algn="ctr">
              <a:spcAft>
                <a:spcPts val="200"/>
              </a:spcAft>
            </a:pPr>
            <a:r>
              <a:rPr sz="1200" b="0">
                <a:solidFill>
                  <a:srgbClr val="6B6862"/>
                </a:solidFill>
                <a:latin typeface="Calibri"/>
              </a:rPr>
              <a:t>Custom skills holds your uploaded Skills; Finance and Visualization are built-in plugins.</a:t>
            </a:r>
          </a:p>
        </p:txBody>
      </p:sp>
      <p:sp>
        <p:nvSpPr>
          <p:cNvPr id="8" name="Rectangle 7"/>
          <p:cNvSpPr/>
          <p:nvPr/>
        </p:nvSpPr>
        <p:spPr>
          <a:xfrm>
            <a:off x="6277356" y="2192622"/>
            <a:ext cx="5180076" cy="2929954"/>
          </a:xfrm>
          <a:prstGeom prst="rect">
            <a:avLst/>
          </a:prstGeom>
          <a:solidFill>
            <a:srgbClr val="DCD8CF"/>
          </a:solidFill>
          <a:ln>
            <a:noFill/>
          </a:ln>
          <a:effectLst/>
        </p:spPr>
        <p:txBody>
          <a:bodyPr rtlCol="0" anchor="ctr"/>
          <a:lstStyle/>
          <a:p>
            <a:pPr algn="ctr"/>
          </a:p>
        </p:txBody>
      </p:sp>
      <p:pic>
        <p:nvPicPr>
          <p:cNvPr id="9" name="Picture 8" descr="visualization-chart-design.png"/>
          <p:cNvPicPr>
            <a:picLocks noChangeAspect="1"/>
          </p:cNvPicPr>
          <p:nvPr/>
        </p:nvPicPr>
        <p:blipFill>
          <a:blip r:embed="rId3"/>
          <a:stretch>
            <a:fillRect/>
          </a:stretch>
        </p:blipFill>
        <p:spPr>
          <a:xfrm>
            <a:off x="6323076" y="2238342"/>
            <a:ext cx="5088634" cy="2838514"/>
          </a:xfrm>
          <a:prstGeom prst="rect">
            <a:avLst/>
          </a:prstGeom>
        </p:spPr>
      </p:pic>
      <p:sp>
        <p:nvSpPr>
          <p:cNvPr id="10" name="TextBox 9"/>
          <p:cNvSpPr txBox="1"/>
          <p:nvPr/>
        </p:nvSpPr>
        <p:spPr>
          <a:xfrm>
            <a:off x="6323076" y="5641847"/>
            <a:ext cx="5088636" cy="658368"/>
          </a:xfrm>
          <a:prstGeom prst="rect">
            <a:avLst/>
          </a:prstGeom>
          <a:noFill/>
        </p:spPr>
        <p:txBody>
          <a:bodyPr wrap="square" anchor="t">
            <a:spAutoFit/>
          </a:bodyPr>
          <a:lstStyle/>
          <a:p>
            <a:pPr algn="ctr">
              <a:spcAft>
                <a:spcPts val="200"/>
              </a:spcAft>
            </a:pPr>
            <a:r>
              <a:rPr sz="1400" b="1">
                <a:solidFill>
                  <a:srgbClr val="21201C"/>
                </a:solidFill>
                <a:latin typeface="Calibri"/>
              </a:rPr>
              <a:t>Inside a plugin</a:t>
            </a:r>
          </a:p>
          <a:p>
            <a:pPr algn="ctr">
              <a:spcAft>
                <a:spcPts val="200"/>
              </a:spcAft>
            </a:pPr>
            <a:r>
              <a:rPr sz="1200" b="0">
                <a:solidFill>
                  <a:srgbClr val="6B6862"/>
                </a:solidFill>
                <a:latin typeface="Calibri"/>
              </a:rPr>
              <a:t>Each plugin lists its Skills: Visualization contains chart-design for chart standards.</a:t>
            </a:r>
          </a:p>
        </p:txBody>
      </p:sp>
      <p:sp>
        <p:nvSpPr>
          <p:cNvPr id="11" name="TextBox 1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2" name="TextBox 1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3" name="TextBox 1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86</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Invoke a Skill with @</a:t>
            </a:r>
          </a:p>
        </p:txBody>
      </p:sp>
      <p:sp>
        <p:nvSpPr>
          <p:cNvPr id="5" name="Rectangle 4"/>
          <p:cNvSpPr/>
          <p:nvPr/>
        </p:nvSpPr>
        <p:spPr>
          <a:xfrm>
            <a:off x="731520" y="1764792"/>
            <a:ext cx="3979415" cy="4434840"/>
          </a:xfrm>
          <a:prstGeom prst="rect">
            <a:avLst/>
          </a:prstGeom>
          <a:solidFill>
            <a:srgbClr val="DCD8CF"/>
          </a:solidFill>
          <a:ln>
            <a:noFill/>
          </a:ln>
          <a:effectLst/>
        </p:spPr>
        <p:txBody>
          <a:bodyPr rtlCol="0" anchor="ctr"/>
          <a:lstStyle/>
          <a:p>
            <a:pPr algn="ctr"/>
          </a:p>
        </p:txBody>
      </p:sp>
      <p:pic>
        <p:nvPicPr>
          <p:cNvPr id="6" name="Picture 5" descr="skill-picker-at.png"/>
          <p:cNvPicPr>
            <a:picLocks noChangeAspect="1"/>
          </p:cNvPicPr>
          <p:nvPr/>
        </p:nvPicPr>
        <p:blipFill>
          <a:blip r:embed="rId2"/>
          <a:stretch>
            <a:fillRect/>
          </a:stretch>
        </p:blipFill>
        <p:spPr>
          <a:xfrm>
            <a:off x="777240" y="1810512"/>
            <a:ext cx="3887976" cy="4343400"/>
          </a:xfrm>
          <a:prstGeom prst="rect">
            <a:avLst/>
          </a:prstGeom>
        </p:spPr>
      </p:pic>
      <p:sp>
        <p:nvSpPr>
          <p:cNvPr id="7" name="Rounded Rectangle 6"/>
          <p:cNvSpPr/>
          <p:nvPr/>
        </p:nvSpPr>
        <p:spPr>
          <a:xfrm>
            <a:off x="5030975" y="1810512"/>
            <a:ext cx="6380737"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5030975" y="1810512"/>
            <a:ext cx="6380737" cy="64008"/>
          </a:xfrm>
          <a:prstGeom prst="rect">
            <a:avLst/>
          </a:prstGeom>
          <a:solidFill>
            <a:srgbClr val="D97757"/>
          </a:solidFill>
          <a:ln>
            <a:noFill/>
          </a:ln>
          <a:effectLst/>
        </p:spPr>
        <p:txBody>
          <a:bodyPr rtlCol="0" anchor="ctr"/>
          <a:lstStyle/>
          <a:p>
            <a:pPr algn="ctr"/>
          </a:p>
        </p:txBody>
      </p:sp>
      <p:sp>
        <p:nvSpPr>
          <p:cNvPr id="9" name="Oval 8"/>
          <p:cNvSpPr/>
          <p:nvPr/>
        </p:nvSpPr>
        <p:spPr>
          <a:xfrm>
            <a:off x="5213855" y="2120265"/>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5213855" y="2120265"/>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5762495" y="1810512"/>
            <a:ext cx="5466337" cy="1003554"/>
          </a:xfrm>
          <a:prstGeom prst="rect">
            <a:avLst/>
          </a:prstGeom>
          <a:noFill/>
        </p:spPr>
        <p:txBody>
          <a:bodyPr wrap="square" anchor="ctr">
            <a:spAutoFit/>
          </a:bodyPr>
          <a:lstStyle/>
          <a:p>
            <a:pPr algn="l">
              <a:spcAft>
                <a:spcPts val="200"/>
              </a:spcAft>
            </a:pPr>
            <a:r>
              <a:rPr sz="1400" b="1">
                <a:solidFill>
                  <a:srgbClr val="21201C"/>
                </a:solidFill>
                <a:latin typeface="Calibri"/>
              </a:rPr>
              <a:t>Type @</a:t>
            </a:r>
          </a:p>
          <a:p>
            <a:pPr algn="l">
              <a:spcAft>
                <a:spcPts val="200"/>
              </a:spcAft>
            </a:pPr>
            <a:r>
              <a:rPr sz="1200" b="0">
                <a:solidFill>
                  <a:srgbClr val="6B6862"/>
                </a:solidFill>
                <a:latin typeface="Calibri"/>
              </a:rPr>
              <a:t>In the prompt box type @ to list the Skills Copilot can use in this app.</a:t>
            </a:r>
          </a:p>
        </p:txBody>
      </p:sp>
      <p:sp>
        <p:nvSpPr>
          <p:cNvPr id="12" name="Rounded Rectangle 11"/>
          <p:cNvSpPr/>
          <p:nvPr/>
        </p:nvSpPr>
        <p:spPr>
          <a:xfrm>
            <a:off x="5030975" y="2923794"/>
            <a:ext cx="6380737"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5030975" y="2923794"/>
            <a:ext cx="6380737" cy="64008"/>
          </a:xfrm>
          <a:prstGeom prst="rect">
            <a:avLst/>
          </a:prstGeom>
          <a:solidFill>
            <a:srgbClr val="3A7D7B"/>
          </a:solidFill>
          <a:ln>
            <a:noFill/>
          </a:ln>
          <a:effectLst/>
        </p:spPr>
        <p:txBody>
          <a:bodyPr rtlCol="0" anchor="ctr"/>
          <a:lstStyle/>
          <a:p>
            <a:pPr algn="ctr"/>
          </a:p>
        </p:txBody>
      </p:sp>
      <p:sp>
        <p:nvSpPr>
          <p:cNvPr id="14" name="Oval 13"/>
          <p:cNvSpPr/>
          <p:nvPr/>
        </p:nvSpPr>
        <p:spPr>
          <a:xfrm>
            <a:off x="5213855" y="3233547"/>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5213855" y="3233547"/>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5762495" y="2923794"/>
            <a:ext cx="5466337" cy="1003554"/>
          </a:xfrm>
          <a:prstGeom prst="rect">
            <a:avLst/>
          </a:prstGeom>
          <a:noFill/>
        </p:spPr>
        <p:txBody>
          <a:bodyPr wrap="square" anchor="ctr">
            <a:spAutoFit/>
          </a:bodyPr>
          <a:lstStyle/>
          <a:p>
            <a:pPr algn="l">
              <a:spcAft>
                <a:spcPts val="200"/>
              </a:spcAft>
            </a:pPr>
            <a:r>
              <a:rPr sz="1400" b="1">
                <a:solidFill>
                  <a:srgbClr val="21201C"/>
                </a:solidFill>
                <a:latin typeface="Calibri"/>
              </a:rPr>
              <a:t>Plugin tags</a:t>
            </a:r>
          </a:p>
          <a:p>
            <a:pPr algn="l">
              <a:spcAft>
                <a:spcPts val="200"/>
              </a:spcAft>
            </a:pPr>
            <a:r>
              <a:rPr sz="1200" b="0">
                <a:solidFill>
                  <a:srgbClr val="6B6862"/>
                </a:solidFill>
                <a:latin typeface="Calibri"/>
              </a:rPr>
              <a:t>Tags show where each Skill comes from: Finance, Visualization or your custom set.</a:t>
            </a:r>
          </a:p>
        </p:txBody>
      </p:sp>
      <p:sp>
        <p:nvSpPr>
          <p:cNvPr id="17" name="Rounded Rectangle 16"/>
          <p:cNvSpPr/>
          <p:nvPr/>
        </p:nvSpPr>
        <p:spPr>
          <a:xfrm>
            <a:off x="5030975" y="4037076"/>
            <a:ext cx="6380737"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030975" y="4037076"/>
            <a:ext cx="6380737" cy="64008"/>
          </a:xfrm>
          <a:prstGeom prst="rect">
            <a:avLst/>
          </a:prstGeom>
          <a:solidFill>
            <a:srgbClr val="5B4B8A"/>
          </a:solidFill>
          <a:ln>
            <a:noFill/>
          </a:ln>
          <a:effectLst/>
        </p:spPr>
        <p:txBody>
          <a:bodyPr rtlCol="0" anchor="ctr"/>
          <a:lstStyle/>
          <a:p>
            <a:pPr algn="ctr"/>
          </a:p>
        </p:txBody>
      </p:sp>
      <p:sp>
        <p:nvSpPr>
          <p:cNvPr id="19" name="Oval 18"/>
          <p:cNvSpPr/>
          <p:nvPr/>
        </p:nvSpPr>
        <p:spPr>
          <a:xfrm>
            <a:off x="5213855" y="4346829"/>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5213855" y="4346829"/>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5762495" y="4037076"/>
            <a:ext cx="5466337" cy="1003554"/>
          </a:xfrm>
          <a:prstGeom prst="rect">
            <a:avLst/>
          </a:prstGeom>
          <a:noFill/>
        </p:spPr>
        <p:txBody>
          <a:bodyPr wrap="square" anchor="ctr">
            <a:spAutoFit/>
          </a:bodyPr>
          <a:lstStyle/>
          <a:p>
            <a:pPr algn="l">
              <a:spcAft>
                <a:spcPts val="200"/>
              </a:spcAft>
            </a:pPr>
            <a:r>
              <a:rPr sz="1400" b="1">
                <a:solidFill>
                  <a:srgbClr val="21201C"/>
                </a:solidFill>
                <a:latin typeface="Calibri"/>
              </a:rPr>
              <a:t>Pick the exact name</a:t>
            </a:r>
          </a:p>
          <a:p>
            <a:pPr algn="l">
              <a:spcAft>
                <a:spcPts val="200"/>
              </a:spcAft>
            </a:pPr>
            <a:r>
              <a:rPr sz="1200" b="0">
                <a:solidFill>
                  <a:srgbClr val="6B6862"/>
                </a:solidFill>
                <a:latin typeface="Calibri"/>
              </a:rPr>
              <a:t>Select @hr-case-reporting, then add the source, reporting date and scope.</a:t>
            </a:r>
          </a:p>
        </p:txBody>
      </p:sp>
      <p:sp>
        <p:nvSpPr>
          <p:cNvPr id="22" name="Rounded Rectangle 21"/>
          <p:cNvSpPr/>
          <p:nvPr/>
        </p:nvSpPr>
        <p:spPr>
          <a:xfrm>
            <a:off x="5030975" y="5150358"/>
            <a:ext cx="6380737"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5030975" y="5150358"/>
            <a:ext cx="6380737" cy="64008"/>
          </a:xfrm>
          <a:prstGeom prst="rect">
            <a:avLst/>
          </a:prstGeom>
          <a:solidFill>
            <a:srgbClr val="C2603F"/>
          </a:solidFill>
          <a:ln>
            <a:noFill/>
          </a:ln>
          <a:effectLst/>
        </p:spPr>
        <p:txBody>
          <a:bodyPr rtlCol="0" anchor="ctr"/>
          <a:lstStyle/>
          <a:p>
            <a:pPr algn="ctr"/>
          </a:p>
        </p:txBody>
      </p:sp>
      <p:sp>
        <p:nvSpPr>
          <p:cNvPr id="24" name="Oval 23"/>
          <p:cNvSpPr/>
          <p:nvPr/>
        </p:nvSpPr>
        <p:spPr>
          <a:xfrm>
            <a:off x="5213855" y="5460111"/>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5213855" y="546011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5762495" y="5150358"/>
            <a:ext cx="5466337" cy="1003554"/>
          </a:xfrm>
          <a:prstGeom prst="rect">
            <a:avLst/>
          </a:prstGeom>
          <a:noFill/>
        </p:spPr>
        <p:txBody>
          <a:bodyPr wrap="square" anchor="ctr">
            <a:spAutoFit/>
          </a:bodyPr>
          <a:lstStyle/>
          <a:p>
            <a:pPr algn="l">
              <a:spcAft>
                <a:spcPts val="200"/>
              </a:spcAft>
            </a:pPr>
            <a:r>
              <a:rPr sz="1400" b="1">
                <a:solidFill>
                  <a:srgbClr val="21201C"/>
                </a:solidFill>
                <a:latin typeface="Calibri"/>
              </a:rPr>
              <a:t>Manage plugins &amp; skills</a:t>
            </a:r>
          </a:p>
          <a:p>
            <a:pPr algn="l">
              <a:spcAft>
                <a:spcPts val="200"/>
              </a:spcAft>
            </a:pPr>
            <a:r>
              <a:rPr sz="1200" b="0">
                <a:solidFill>
                  <a:srgbClr val="6B6862"/>
                </a:solidFill>
                <a:latin typeface="Calibri"/>
              </a:rPr>
              <a:t>Open it when the Skill you need is missing or switched off.</a:t>
            </a:r>
          </a:p>
        </p:txBody>
      </p:sp>
      <p:sp>
        <p:nvSpPr>
          <p:cNvPr id="27" name="TextBox 2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9" name="TextBox 2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87</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Repeatability and Safe Skill Reruns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Repeatability means the same verified inputs and method yield equivalent business measures and a controlled output structure.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Reporting skills may be used every week or month, so uncontrolled output accumulation quickly creates conflicting summaries.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120 source IDs remain 120 after rerunning HR_Case_Summary.</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88</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Repeatability and Safe Skill Reruns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Capture the source fingerprint and outputs.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Request a reviewed rerun plan.</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Replace only named output areas.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Compare source and measures again.</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89</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Repeatability and Safe Skill Reruns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Missing report date causes a clarification request, not invented numbers.</a:t>
            </a:r>
          </a:p>
          <a:p>
            <a:pPr>
              <a:spcAft>
                <a:spcPts val="1000"/>
              </a:spcAft>
            </a:pPr>
            <a:r>
              <a:rPr sz="1600" b="0">
                <a:solidFill>
                  <a:srgbClr val="21201C"/>
                </a:solidFill>
                <a:latin typeface="Calibri"/>
              </a:rPr>
              <a:t>•  A second output sheet is a defect when replacement was requested.</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90</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Repeatability and Safe Skill Reruns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https://support.microsoft.com/en-us/excel/copilot/copilot-in-excel-skills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120 source IDs remain 120 after rerunning HR_Case_Summary.</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Missing report date causes a clarification request, not invented numbers.</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skill can overwrite source rows or unrelated sheets.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91</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Assignment Proposals and Capacity Evidence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Assignment planning combines the work category, existing owner, estimated hours, HR officer primary category and available hours.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same skill can improve Excel analysis and PowerPoint wording by preserving this boundary.</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Unassigned work is counted only within nonterminal statuses.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92</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Assignment Proposals and Capacity Evidence</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Identify unassigned backlog.</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Compare category and available hours.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Record the proposal and assumptions.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Request the manager decision.</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93</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Assignment Proposals and Capacity Evidence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Available hours minus proposed effort is a planning check.</a:t>
            </a:r>
          </a:p>
          <a:p>
            <a:pPr>
              <a:spcAft>
                <a:spcPts val="1000"/>
              </a:spcAft>
            </a:pPr>
            <a:r>
              <a:rPr sz="1600" b="0">
                <a:solidFill>
                  <a:srgbClr val="21201C"/>
                </a:solidFill>
                <a:latin typeface="Calibri"/>
              </a:rPr>
              <a:t>•  The source Assigned_To stays unchanged until a real authorised operational update.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94</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Assignment Proposals and Capacity Evidence</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https://support.microsoft.com/en-us/excel/copilot/copilot-in-excel-skills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Unassigned work is counted only within nonterminal statuses.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Available hours minus proposed effort is a planning check.</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report claims automatic approval or verified policy competence.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95</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THEME · REPORTING SKILL</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Create, Use and Improve the HR Service Reporting Skill</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6</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700" b="0">
                <a:solidFill>
                  <a:srgbClr val="21201C"/>
                </a:solidFill>
                <a:latin typeface="Calibri"/>
              </a:rPr>
              <a:t>Reuse the Skill-authoring and installation method from Lab 5 to create hr-case-reporting. Apply it in Excel and PowerPoint, test missing inputs and a controlled rerun, then refine v2 using actual evidence.</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Lumina_Skill_Report.xlsx with HR_Case_Summary and Assignment_Proposals, Lumina_Skill_Update.pptx, SKILL.md v2 and a before/after improvement log.</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Excel and PowerPoint Copilot · Microsoft 365 Copilot web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96</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6</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Run Skill: Apply @hr-case-reporting to the verified Lumina snapshot; include total 120, backlog 60, overdue 50, source, scope and limitations.</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Rerun: Change one filter only, rerun the Skill and reconcile the new result to the unchanged source table.</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97</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6</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Source preserved</a:t>
            </a:r>
          </a:p>
          <a:p>
            <a:pPr algn="l">
              <a:spcAft>
                <a:spcPts val="300"/>
              </a:spcAft>
            </a:pPr>
            <a:r>
              <a:rPr sz="1300" b="0">
                <a:solidFill>
                  <a:srgbClr val="6B6862"/>
                </a:solidFill>
                <a:latin typeface="Calibri"/>
              </a:rPr>
              <a:t>120 unique cases; current owner/status unchanged.</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Skill outputs</a:t>
            </a:r>
          </a:p>
          <a:p>
            <a:pPr algn="l">
              <a:spcAft>
                <a:spcPts val="300"/>
              </a:spcAft>
            </a:pPr>
            <a:r>
              <a:rPr sz="1300" b="0">
                <a:solidFill>
                  <a:srgbClr val="6B6862"/>
                </a:solidFill>
                <a:latin typeface="Calibri"/>
              </a:rPr>
              <a:t>Backlog 60; overdue 50; on-time closed 30/48; cost S$35,827.50.</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Improvement evidence</a:t>
            </a:r>
          </a:p>
          <a:p>
            <a:pPr algn="l">
              <a:spcAft>
                <a:spcPts val="300"/>
              </a:spcAft>
            </a:pPr>
            <a:r>
              <a:rPr sz="1300" b="0">
                <a:solidFill>
                  <a:srgbClr val="6B6862"/>
                </a:solidFill>
                <a:latin typeface="Calibri"/>
              </a:rPr>
              <a:t>Input guard and rerun tested; v1/v2 retained; PowerPoint four-slide output accurate.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LO2 checkpoint</a:t>
            </a:r>
          </a:p>
          <a:p>
            <a:pPr algn="l">
              <a:spcAft>
                <a:spcPts val="300"/>
              </a:spcAft>
            </a:pPr>
            <a:r>
              <a:rPr sz="1300" b="0">
                <a:solidFill>
                  <a:srgbClr val="6B6862"/>
                </a:solidFill>
                <a:latin typeface="Calibri"/>
              </a:rPr>
              <a:t>Four transition stages have owners, evidence, success measures and rollback triggers.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98</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TOPIC RECAP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Recap - Skills, Rules and Personalisation</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LO2: Personalisation, .Rules and Skills support controlled transition.</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Verify: Source, rerun and rollback checks pass.</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99</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TOPIC 3</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Create Interactive Dashboard and Professional Presentation</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822960" y="4434840"/>
            <a:ext cx="8412480" cy="1097280"/>
          </a:xfrm>
          <a:prstGeom prst="rect">
            <a:avLst/>
          </a:prstGeom>
          <a:noFill/>
        </p:spPr>
        <p:txBody>
          <a:bodyPr wrap="square" anchor="t">
            <a:spAutoFit/>
          </a:bodyPr>
          <a:lstStyle/>
          <a:p>
            <a:pPr algn="l">
              <a:spcAft>
                <a:spcPts val="400"/>
              </a:spcAft>
            </a:pPr>
            <a:r>
              <a:rPr sz="1500" b="0">
                <a:solidFill>
                  <a:srgbClr val="B9B4A9"/>
                </a:solidFill>
                <a:latin typeface="Calibri"/>
              </a:rPr>
              <a:t>Shared-scope measures, refresh tests, evidence story and reviewed handoff</a:t>
            </a:r>
          </a:p>
        </p:txBody>
      </p:sp>
      <p:sp>
        <p:nvSpPr>
          <p:cNvPr id="9" name="TextBox 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1" name="TextBox 1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100</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KEY CONCEPTS · K2 · A3</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Key Concepts — Create Interactive Dashboard and Professional Presentation</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Dashboard</a:t>
            </a:r>
          </a:p>
          <a:p>
            <a:pPr algn="l">
              <a:spcAft>
                <a:spcPts val="300"/>
              </a:spcAft>
            </a:pPr>
            <a:r>
              <a:rPr sz="1400" b="0">
                <a:solidFill>
                  <a:srgbClr val="6B6862"/>
                </a:solidFill>
                <a:latin typeface="Calibri"/>
              </a:rPr>
              <a:t>Six measures and three charts share filter scope.</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Refresh</a:t>
            </a:r>
          </a:p>
          <a:p>
            <a:pPr algn="l">
              <a:spcAft>
                <a:spcPts val="300"/>
              </a:spcAft>
            </a:pPr>
            <a:r>
              <a:rPr sz="1400" b="0">
                <a:solidFill>
                  <a:srgbClr val="6B6862"/>
                </a:solidFill>
                <a:latin typeface="Calibri"/>
              </a:rPr>
              <a:t>Known deltas in a 122-row sandbox.</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Presentation</a:t>
            </a:r>
          </a:p>
          <a:p>
            <a:pPr algn="l">
              <a:spcAft>
                <a:spcPts val="300"/>
              </a:spcAft>
            </a:pPr>
            <a:r>
              <a:rPr sz="1400" b="0">
                <a:solidFill>
                  <a:srgbClr val="6B6862"/>
                </a:solidFill>
                <a:latin typeface="Calibri"/>
              </a:rPr>
              <a:t>Claims trace to the untouched baseline.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Teams and Outlook</a:t>
            </a:r>
          </a:p>
          <a:p>
            <a:pPr algn="l">
              <a:spcAft>
                <a:spcPts val="300"/>
              </a:spcAft>
            </a:pPr>
            <a:r>
              <a:rPr sz="1400" b="0">
                <a:solidFill>
                  <a:srgbClr val="6B6862"/>
                </a:solidFill>
                <a:latin typeface="Calibri"/>
              </a:rPr>
              <a:t>Evaluate collaboration with human-send controls.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101</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 YOU'LL DO</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Hands-On Labs — Create Interactive Dashboard and Professional Presentation</a:t>
            </a:r>
          </a:p>
        </p:txBody>
      </p:sp>
      <p:sp>
        <p:nvSpPr>
          <p:cNvPr id="5" name="Rounded Rectangle 4"/>
          <p:cNvSpPr/>
          <p:nvPr/>
        </p:nvSpPr>
        <p:spPr>
          <a:xfrm>
            <a:off x="777240"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225796"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4814316" cy="548640"/>
          </a:xfrm>
          <a:prstGeom prst="rect">
            <a:avLst/>
          </a:prstGeom>
          <a:noFill/>
        </p:spPr>
        <p:txBody>
          <a:bodyPr wrap="square" anchor="t">
            <a:spAutoFit/>
          </a:bodyPr>
          <a:lstStyle/>
          <a:p>
            <a:pPr algn="l">
              <a:spcAft>
                <a:spcPts val="400"/>
              </a:spcAft>
            </a:pPr>
            <a:r>
              <a:rPr sz="1900" b="1">
                <a:solidFill>
                  <a:srgbClr val="D97757"/>
                </a:solidFill>
                <a:latin typeface="Cambria"/>
              </a:rPr>
              <a:t>Labs 7–8</a:t>
            </a:r>
          </a:p>
        </p:txBody>
      </p:sp>
      <p:sp>
        <p:nvSpPr>
          <p:cNvPr id="8" name="TextBox 7"/>
          <p:cNvSpPr txBox="1"/>
          <p:nvPr/>
        </p:nvSpPr>
        <p:spPr>
          <a:xfrm>
            <a:off x="1005840"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Custom Dashboard Skill</a:t>
            </a:r>
          </a:p>
          <a:p>
            <a:pPr>
              <a:spcAft>
                <a:spcPts val="900"/>
              </a:spcAft>
            </a:pPr>
            <a:r>
              <a:rPr sz="1200" b="0">
                <a:solidFill>
                  <a:srgbClr val="6B6862"/>
                </a:solidFill>
                <a:latin typeface="Calibri"/>
              </a:rPr>
              <a:t>–  Create and Apply a Custom Interactive Dashboard Skill</a:t>
            </a:r>
          </a:p>
          <a:p>
            <a:pPr>
              <a:spcAft>
                <a:spcPts val="900"/>
              </a:spcAft>
            </a:pPr>
            <a:r>
              <a:rPr sz="1400" b="1">
                <a:solidFill>
                  <a:srgbClr val="21201C"/>
                </a:solidFill>
                <a:latin typeface="Calibri"/>
              </a:rPr>
              <a:t>•  Interactive Filters and Refresh</a:t>
            </a:r>
          </a:p>
          <a:p>
            <a:pPr>
              <a:spcAft>
                <a:spcPts val="900"/>
              </a:spcAft>
            </a:pPr>
            <a:r>
              <a:rPr sz="1200" b="0">
                <a:solidFill>
                  <a:srgbClr val="6B6862"/>
                </a:solidFill>
                <a:latin typeface="Calibri"/>
              </a:rPr>
              <a:t>–  Use the Dashboard Skill for Filters, Refresh and Safe Reruns</a:t>
            </a:r>
          </a:p>
        </p:txBody>
      </p:sp>
      <p:sp>
        <p:nvSpPr>
          <p:cNvPr id="9" name="Rounded Rectangle 8"/>
          <p:cNvSpPr/>
          <p:nvPr/>
        </p:nvSpPr>
        <p:spPr>
          <a:xfrm>
            <a:off x="6185916"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6185916" y="1783080"/>
            <a:ext cx="5225796"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6414516" y="2011680"/>
            <a:ext cx="4814316" cy="548640"/>
          </a:xfrm>
          <a:prstGeom prst="rect">
            <a:avLst/>
          </a:prstGeom>
          <a:noFill/>
        </p:spPr>
        <p:txBody>
          <a:bodyPr wrap="square" anchor="t">
            <a:spAutoFit/>
          </a:bodyPr>
          <a:lstStyle/>
          <a:p>
            <a:pPr algn="l">
              <a:spcAft>
                <a:spcPts val="400"/>
              </a:spcAft>
            </a:pPr>
            <a:r>
              <a:rPr sz="1900" b="1">
                <a:solidFill>
                  <a:srgbClr val="3A7D7B"/>
                </a:solidFill>
                <a:latin typeface="Cambria"/>
              </a:rPr>
              <a:t>Labs 9–10</a:t>
            </a:r>
          </a:p>
        </p:txBody>
      </p:sp>
      <p:sp>
        <p:nvSpPr>
          <p:cNvPr id="12" name="TextBox 11"/>
          <p:cNvSpPr txBox="1"/>
          <p:nvPr/>
        </p:nvSpPr>
        <p:spPr>
          <a:xfrm>
            <a:off x="6414516"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Dashboard to presentation</a:t>
            </a:r>
          </a:p>
          <a:p>
            <a:pPr>
              <a:spcAft>
                <a:spcPts val="900"/>
              </a:spcAft>
            </a:pPr>
            <a:r>
              <a:rPr sz="1200" b="0">
                <a:solidFill>
                  <a:srgbClr val="6B6862"/>
                </a:solidFill>
                <a:latin typeface="Calibri"/>
              </a:rPr>
              <a:t>–  Turn Dashboard Evidence into a Management Story</a:t>
            </a:r>
          </a:p>
          <a:p>
            <a:pPr>
              <a:spcAft>
                <a:spcPts val="900"/>
              </a:spcAft>
            </a:pPr>
            <a:r>
              <a:rPr sz="1400" b="1">
                <a:solidFill>
                  <a:srgbClr val="21201C"/>
                </a:solidFill>
                <a:latin typeface="Calibri"/>
              </a:rPr>
              <a:t>•  Professional handoff</a:t>
            </a:r>
          </a:p>
          <a:p>
            <a:pPr>
              <a:spcAft>
                <a:spcPts val="900"/>
              </a:spcAft>
            </a:pPr>
            <a:r>
              <a:rPr sz="1200" b="0">
                <a:solidFill>
                  <a:srgbClr val="6B6862"/>
                </a:solidFill>
                <a:latin typeface="Calibri"/>
              </a:rPr>
              <a:t>–  Refine and Present the HR Service Decision Deck</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102</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WORKED DASHBOARD SNAPSHOT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Lumina Portfolio at a Glance</a:t>
            </a:r>
          </a:p>
        </p:txBody>
      </p:sp>
      <p:sp>
        <p:nvSpPr>
          <p:cNvPr id="5" name="Rounded Rectangle 4"/>
          <p:cNvSpPr/>
          <p:nvPr/>
        </p:nvSpPr>
        <p:spPr>
          <a:xfrm>
            <a:off x="777240" y="1737360"/>
            <a:ext cx="3383280" cy="15087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TextBox 5"/>
          <p:cNvSpPr txBox="1"/>
          <p:nvPr/>
        </p:nvSpPr>
        <p:spPr>
          <a:xfrm>
            <a:off x="941832" y="1847088"/>
            <a:ext cx="3108960" cy="365760"/>
          </a:xfrm>
          <a:prstGeom prst="rect">
            <a:avLst/>
          </a:prstGeom>
          <a:noFill/>
        </p:spPr>
        <p:txBody>
          <a:bodyPr wrap="square" anchor="t">
            <a:spAutoFit/>
          </a:bodyPr>
          <a:lstStyle/>
          <a:p>
            <a:pPr algn="l">
              <a:spcAft>
                <a:spcPts val="400"/>
              </a:spcAft>
            </a:pPr>
            <a:r>
              <a:rPr sz="1900" b="1">
                <a:solidFill>
                  <a:srgbClr val="21201C"/>
                </a:solidFill>
                <a:latin typeface="Cambria"/>
              </a:rPr>
              <a:t>Total cases</a:t>
            </a:r>
          </a:p>
        </p:txBody>
      </p:sp>
      <p:sp>
        <p:nvSpPr>
          <p:cNvPr id="7" name="TextBox 6"/>
          <p:cNvSpPr txBox="1"/>
          <p:nvPr/>
        </p:nvSpPr>
        <p:spPr>
          <a:xfrm>
            <a:off x="941832" y="2286000"/>
            <a:ext cx="3108960" cy="640080"/>
          </a:xfrm>
          <a:prstGeom prst="rect">
            <a:avLst/>
          </a:prstGeom>
          <a:noFill/>
        </p:spPr>
        <p:txBody>
          <a:bodyPr wrap="square" anchor="t">
            <a:spAutoFit/>
          </a:bodyPr>
          <a:lstStyle/>
          <a:p>
            <a:pPr algn="l">
              <a:spcAft>
                <a:spcPts val="400"/>
              </a:spcAft>
            </a:pPr>
            <a:r>
              <a:rPr sz="3500" b="1">
                <a:solidFill>
                  <a:srgbClr val="21201C"/>
                </a:solidFill>
                <a:latin typeface="Cambria"/>
              </a:rPr>
              <a:t>120</a:t>
            </a:r>
          </a:p>
        </p:txBody>
      </p:sp>
      <p:sp>
        <p:nvSpPr>
          <p:cNvPr id="8" name="Rounded Rectangle 7"/>
          <p:cNvSpPr/>
          <p:nvPr/>
        </p:nvSpPr>
        <p:spPr>
          <a:xfrm>
            <a:off x="4434840" y="1737360"/>
            <a:ext cx="3383280" cy="15087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TextBox 8"/>
          <p:cNvSpPr txBox="1"/>
          <p:nvPr/>
        </p:nvSpPr>
        <p:spPr>
          <a:xfrm>
            <a:off x="4599431" y="1847088"/>
            <a:ext cx="3108960" cy="365760"/>
          </a:xfrm>
          <a:prstGeom prst="rect">
            <a:avLst/>
          </a:prstGeom>
          <a:noFill/>
        </p:spPr>
        <p:txBody>
          <a:bodyPr wrap="square" anchor="t">
            <a:spAutoFit/>
          </a:bodyPr>
          <a:lstStyle/>
          <a:p>
            <a:pPr algn="l">
              <a:spcAft>
                <a:spcPts val="400"/>
              </a:spcAft>
            </a:pPr>
            <a:r>
              <a:rPr sz="1900" b="1">
                <a:solidFill>
                  <a:srgbClr val="21201C"/>
                </a:solidFill>
                <a:latin typeface="Cambria"/>
              </a:rPr>
              <a:t>Backlog</a:t>
            </a:r>
          </a:p>
        </p:txBody>
      </p:sp>
      <p:sp>
        <p:nvSpPr>
          <p:cNvPr id="10" name="TextBox 9"/>
          <p:cNvSpPr txBox="1"/>
          <p:nvPr/>
        </p:nvSpPr>
        <p:spPr>
          <a:xfrm>
            <a:off x="4599431" y="2286000"/>
            <a:ext cx="3108960" cy="640080"/>
          </a:xfrm>
          <a:prstGeom prst="rect">
            <a:avLst/>
          </a:prstGeom>
          <a:noFill/>
        </p:spPr>
        <p:txBody>
          <a:bodyPr wrap="square" anchor="t">
            <a:spAutoFit/>
          </a:bodyPr>
          <a:lstStyle/>
          <a:p>
            <a:pPr algn="l">
              <a:spcAft>
                <a:spcPts val="400"/>
              </a:spcAft>
            </a:pPr>
            <a:r>
              <a:rPr sz="3500" b="1">
                <a:solidFill>
                  <a:srgbClr val="21201C"/>
                </a:solidFill>
                <a:latin typeface="Cambria"/>
              </a:rPr>
              <a:t>60</a:t>
            </a:r>
          </a:p>
        </p:txBody>
      </p:sp>
      <p:sp>
        <p:nvSpPr>
          <p:cNvPr id="11" name="Rounded Rectangle 10"/>
          <p:cNvSpPr/>
          <p:nvPr/>
        </p:nvSpPr>
        <p:spPr>
          <a:xfrm>
            <a:off x="8092440" y="1737360"/>
            <a:ext cx="3383280" cy="15087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TextBox 11"/>
          <p:cNvSpPr txBox="1"/>
          <p:nvPr/>
        </p:nvSpPr>
        <p:spPr>
          <a:xfrm>
            <a:off x="8257031" y="1847088"/>
            <a:ext cx="3108960" cy="365760"/>
          </a:xfrm>
          <a:prstGeom prst="rect">
            <a:avLst/>
          </a:prstGeom>
          <a:noFill/>
        </p:spPr>
        <p:txBody>
          <a:bodyPr wrap="square" anchor="t">
            <a:spAutoFit/>
          </a:bodyPr>
          <a:lstStyle/>
          <a:p>
            <a:pPr algn="l">
              <a:spcAft>
                <a:spcPts val="400"/>
              </a:spcAft>
            </a:pPr>
            <a:r>
              <a:rPr sz="1900" b="1">
                <a:solidFill>
                  <a:srgbClr val="21201C"/>
                </a:solidFill>
                <a:latin typeface="Cambria"/>
              </a:rPr>
              <a:t>Overdue</a:t>
            </a:r>
          </a:p>
        </p:txBody>
      </p:sp>
      <p:sp>
        <p:nvSpPr>
          <p:cNvPr id="13" name="TextBox 12"/>
          <p:cNvSpPr txBox="1"/>
          <p:nvPr/>
        </p:nvSpPr>
        <p:spPr>
          <a:xfrm>
            <a:off x="8257031" y="2286000"/>
            <a:ext cx="3108960" cy="640080"/>
          </a:xfrm>
          <a:prstGeom prst="rect">
            <a:avLst/>
          </a:prstGeom>
          <a:noFill/>
        </p:spPr>
        <p:txBody>
          <a:bodyPr wrap="square" anchor="t">
            <a:spAutoFit/>
          </a:bodyPr>
          <a:lstStyle/>
          <a:p>
            <a:pPr algn="l">
              <a:spcAft>
                <a:spcPts val="400"/>
              </a:spcAft>
            </a:pPr>
            <a:r>
              <a:rPr sz="3500" b="1">
                <a:solidFill>
                  <a:srgbClr val="21201C"/>
                </a:solidFill>
                <a:latin typeface="Cambria"/>
              </a:rPr>
              <a:t>50</a:t>
            </a:r>
          </a:p>
        </p:txBody>
      </p:sp>
      <p:sp>
        <p:nvSpPr>
          <p:cNvPr id="14" name="Rounded Rectangle 13"/>
          <p:cNvSpPr/>
          <p:nvPr/>
        </p:nvSpPr>
        <p:spPr>
          <a:xfrm>
            <a:off x="777240" y="3520439"/>
            <a:ext cx="3383280" cy="15087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5" name="TextBox 14"/>
          <p:cNvSpPr txBox="1"/>
          <p:nvPr/>
        </p:nvSpPr>
        <p:spPr>
          <a:xfrm>
            <a:off x="941832" y="3630168"/>
            <a:ext cx="3108960" cy="365760"/>
          </a:xfrm>
          <a:prstGeom prst="rect">
            <a:avLst/>
          </a:prstGeom>
          <a:noFill/>
        </p:spPr>
        <p:txBody>
          <a:bodyPr wrap="square" anchor="t">
            <a:spAutoFit/>
          </a:bodyPr>
          <a:lstStyle/>
          <a:p>
            <a:pPr algn="l">
              <a:spcAft>
                <a:spcPts val="400"/>
              </a:spcAft>
            </a:pPr>
            <a:r>
              <a:rPr sz="1900" b="1">
                <a:solidFill>
                  <a:srgbClr val="21201C"/>
                </a:solidFill>
                <a:latin typeface="Cambria"/>
              </a:rPr>
              <a:t>Closed</a:t>
            </a:r>
          </a:p>
        </p:txBody>
      </p:sp>
      <p:sp>
        <p:nvSpPr>
          <p:cNvPr id="16" name="TextBox 15"/>
          <p:cNvSpPr txBox="1"/>
          <p:nvPr/>
        </p:nvSpPr>
        <p:spPr>
          <a:xfrm>
            <a:off x="941832" y="4069079"/>
            <a:ext cx="3108960" cy="640080"/>
          </a:xfrm>
          <a:prstGeom prst="rect">
            <a:avLst/>
          </a:prstGeom>
          <a:noFill/>
        </p:spPr>
        <p:txBody>
          <a:bodyPr wrap="square" anchor="t">
            <a:spAutoFit/>
          </a:bodyPr>
          <a:lstStyle/>
          <a:p>
            <a:pPr algn="l">
              <a:spcAft>
                <a:spcPts val="400"/>
              </a:spcAft>
            </a:pPr>
            <a:r>
              <a:rPr sz="3500" b="1">
                <a:solidFill>
                  <a:srgbClr val="21201C"/>
                </a:solidFill>
                <a:latin typeface="Cambria"/>
              </a:rPr>
              <a:t>48</a:t>
            </a:r>
          </a:p>
        </p:txBody>
      </p:sp>
      <p:sp>
        <p:nvSpPr>
          <p:cNvPr id="17" name="Rounded Rectangle 16"/>
          <p:cNvSpPr/>
          <p:nvPr/>
        </p:nvSpPr>
        <p:spPr>
          <a:xfrm>
            <a:off x="4434840" y="3520439"/>
            <a:ext cx="3383280" cy="15087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TextBox 17"/>
          <p:cNvSpPr txBox="1"/>
          <p:nvPr/>
        </p:nvSpPr>
        <p:spPr>
          <a:xfrm>
            <a:off x="4599431" y="3630168"/>
            <a:ext cx="3108960" cy="365760"/>
          </a:xfrm>
          <a:prstGeom prst="rect">
            <a:avLst/>
          </a:prstGeom>
          <a:noFill/>
        </p:spPr>
        <p:txBody>
          <a:bodyPr wrap="square" anchor="t">
            <a:spAutoFit/>
          </a:bodyPr>
          <a:lstStyle/>
          <a:p>
            <a:pPr algn="l">
              <a:spcAft>
                <a:spcPts val="400"/>
              </a:spcAft>
            </a:pPr>
            <a:r>
              <a:rPr sz="1900" b="1">
                <a:solidFill>
                  <a:srgbClr val="21201C"/>
                </a:solidFill>
                <a:latin typeface="Cambria"/>
              </a:rPr>
              <a:t>On-time closed</a:t>
            </a:r>
          </a:p>
        </p:txBody>
      </p:sp>
      <p:sp>
        <p:nvSpPr>
          <p:cNvPr id="19" name="TextBox 18"/>
          <p:cNvSpPr txBox="1"/>
          <p:nvPr/>
        </p:nvSpPr>
        <p:spPr>
          <a:xfrm>
            <a:off x="4599431" y="4069079"/>
            <a:ext cx="3108960" cy="640080"/>
          </a:xfrm>
          <a:prstGeom prst="rect">
            <a:avLst/>
          </a:prstGeom>
          <a:noFill/>
        </p:spPr>
        <p:txBody>
          <a:bodyPr wrap="square" anchor="t">
            <a:spAutoFit/>
          </a:bodyPr>
          <a:lstStyle/>
          <a:p>
            <a:pPr algn="l">
              <a:spcAft>
                <a:spcPts val="400"/>
              </a:spcAft>
            </a:pPr>
            <a:r>
              <a:rPr sz="3500" b="1">
                <a:solidFill>
                  <a:srgbClr val="21201C"/>
                </a:solidFill>
                <a:latin typeface="Cambria"/>
              </a:rPr>
              <a:t>30/48</a:t>
            </a:r>
          </a:p>
        </p:txBody>
      </p:sp>
      <p:sp>
        <p:nvSpPr>
          <p:cNvPr id="20" name="Rounded Rectangle 19"/>
          <p:cNvSpPr/>
          <p:nvPr/>
        </p:nvSpPr>
        <p:spPr>
          <a:xfrm>
            <a:off x="8092440" y="3520439"/>
            <a:ext cx="3383280" cy="15087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TextBox 20"/>
          <p:cNvSpPr txBox="1"/>
          <p:nvPr/>
        </p:nvSpPr>
        <p:spPr>
          <a:xfrm>
            <a:off x="8257031" y="3630168"/>
            <a:ext cx="3108960" cy="365760"/>
          </a:xfrm>
          <a:prstGeom prst="rect">
            <a:avLst/>
          </a:prstGeom>
          <a:noFill/>
        </p:spPr>
        <p:txBody>
          <a:bodyPr wrap="square" anchor="t">
            <a:spAutoFit/>
          </a:bodyPr>
          <a:lstStyle/>
          <a:p>
            <a:pPr algn="l">
              <a:spcAft>
                <a:spcPts val="400"/>
              </a:spcAft>
            </a:pPr>
            <a:r>
              <a:rPr sz="1900" b="1">
                <a:solidFill>
                  <a:srgbClr val="21201C"/>
                </a:solidFill>
                <a:latin typeface="Cambria"/>
              </a:rPr>
              <a:t>Recorded cost</a:t>
            </a:r>
          </a:p>
        </p:txBody>
      </p:sp>
      <p:sp>
        <p:nvSpPr>
          <p:cNvPr id="22" name="TextBox 21"/>
          <p:cNvSpPr txBox="1"/>
          <p:nvPr/>
        </p:nvSpPr>
        <p:spPr>
          <a:xfrm>
            <a:off x="8257031" y="4069079"/>
            <a:ext cx="3108960" cy="640080"/>
          </a:xfrm>
          <a:prstGeom prst="rect">
            <a:avLst/>
          </a:prstGeom>
          <a:noFill/>
        </p:spPr>
        <p:txBody>
          <a:bodyPr wrap="square" anchor="t">
            <a:spAutoFit/>
          </a:bodyPr>
          <a:lstStyle/>
          <a:p>
            <a:pPr algn="l">
              <a:spcAft>
                <a:spcPts val="400"/>
              </a:spcAft>
            </a:pPr>
            <a:r>
              <a:rPr sz="3500" b="1">
                <a:solidFill>
                  <a:srgbClr val="21201C"/>
                </a:solidFill>
                <a:latin typeface="Cambria"/>
              </a:rPr>
              <a:t>S$35,828</a:t>
            </a:r>
          </a:p>
        </p:txBody>
      </p:sp>
      <p:sp>
        <p:nvSpPr>
          <p:cNvPr id="23" name="TextBox 22"/>
          <p:cNvSpPr txBox="1"/>
          <p:nvPr/>
        </p:nvSpPr>
        <p:spPr>
          <a:xfrm>
            <a:off x="777240" y="5989320"/>
            <a:ext cx="10698480" cy="274320"/>
          </a:xfrm>
          <a:prstGeom prst="rect">
            <a:avLst/>
          </a:prstGeom>
          <a:noFill/>
        </p:spPr>
        <p:txBody>
          <a:bodyPr wrap="square" anchor="t">
            <a:spAutoFit/>
          </a:bodyPr>
          <a:lstStyle/>
          <a:p>
            <a:pPr algn="l">
              <a:spcAft>
                <a:spcPts val="400"/>
              </a:spcAft>
            </a:pPr>
            <a:r>
              <a:rPr sz="1100" b="0">
                <a:solidFill>
                  <a:srgbClr val="21201C"/>
                </a:solidFill>
                <a:latin typeface="Calibri"/>
              </a:rPr>
              <a:t>Source: synthetic tblHRCases | 30 Sep 2026 | All filters All unless stated</a:t>
            </a:r>
          </a:p>
        </p:txBody>
      </p:sp>
      <p:sp>
        <p:nvSpPr>
          <p:cNvPr id="24" name="TextBox 23"/>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5" name="TextBox 24"/>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6" name="TextBox 25"/>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103</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NATIVE EDITABLE CHART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Backlog by Department: Count the Nonterminal Work</a:t>
            </a:r>
          </a:p>
        </p:txBody>
      </p:sp>
      <p:graphicFrame>
        <p:nvGraphicFramePr>
          <p:cNvPr id="5" name="Chart 4"/>
          <p:cNvGraphicFramePr>
            <a:graphicFrameLocks noGrp="1"/>
          </p:cNvGraphicFramePr>
          <p:nvPr/>
        </p:nvGraphicFramePr>
        <p:xfrm>
          <a:off x="868680" y="1691640"/>
          <a:ext cx="10332720" cy="4069080"/>
        </p:xfrm>
        <a:graphic>
          <a:graphicData uri="http://schemas.openxmlformats.org/drawingml/2006/chart">
            <c:chart xmlns:c="http://schemas.openxmlformats.org/drawingml/2006/chart" r:id="rId2"/>
          </a:graphicData>
        </a:graphic>
      </p:graphicFrame>
      <p:sp>
        <p:nvSpPr>
          <p:cNvPr id="6" name="TextBox 5"/>
          <p:cNvSpPr txBox="1"/>
          <p:nvPr/>
        </p:nvSpPr>
        <p:spPr>
          <a:xfrm>
            <a:off x="777240" y="5989320"/>
            <a:ext cx="10698480" cy="274320"/>
          </a:xfrm>
          <a:prstGeom prst="rect">
            <a:avLst/>
          </a:prstGeom>
          <a:noFill/>
        </p:spPr>
        <p:txBody>
          <a:bodyPr wrap="square" anchor="t">
            <a:spAutoFit/>
          </a:bodyPr>
          <a:lstStyle/>
          <a:p>
            <a:pPr algn="l">
              <a:spcAft>
                <a:spcPts val="400"/>
              </a:spcAft>
            </a:pPr>
            <a:r>
              <a:rPr sz="1100" b="0">
                <a:solidFill>
                  <a:srgbClr val="21201C"/>
                </a:solidFill>
                <a:latin typeface="Calibri"/>
              </a:rPr>
              <a:t>Source: synthetic tblHRCases | 30 Sep 2026 | All filters All unless stated</a:t>
            </a:r>
          </a:p>
        </p:txBody>
      </p:sp>
      <p:sp>
        <p:nvSpPr>
          <p:cNvPr id="7" name="TextBox 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8" name="TextBox 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9" name="TextBox 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104</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REUSABLE DASHBOARD METHOD</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The Interactive Dashboard Skill Contract</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Named source + date</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Six shared-scope KPIs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Four filters + three charts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Refresh + safe rerun checks</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105</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Custom Dashboard Skill as a Reusable Contract</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hr-case-dashboard is a separate custom Skill whose instructions define inputs, six KPI formulas, four shared filter selectors, three editable charts and controlled output boundaries.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reusable contract makes every KPI and chart obey the same AND filter logic and allows a safe refresh using table references.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Dashboard B2:B5 select department, category, status and owner.</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106</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Custom Dashboard Skill as a Reusable Contract</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Author and review the complete SKILL.md.</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Install and verify the dashboard name.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Invoke a plan and build the reviewed output.</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Test common filters, append refresh and reruns.</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107</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Custom Dashboard Skill as a Reusable Contract</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B7:B12 and all chart summaries use the identical selected rows.</a:t>
            </a:r>
          </a:p>
          <a:p>
            <a:pPr>
              <a:spcAft>
                <a:spcPts val="1000"/>
              </a:spcAft>
            </a:pPr>
            <a:r>
              <a:rPr sz="1600" b="0">
                <a:solidFill>
                  <a:srgbClr val="21201C"/>
                </a:solidFill>
                <a:latin typeface="Calibri"/>
              </a:rPr>
              <a:t>•  A 122-row sandbox is separate from the untouched 120-row baseline.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108</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Custom Dashboard Skill as a Reusable Contract</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https://support.microsoft.com/en-us/excel/copilot/copilot-in-excel-skills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Dashboard B2:B5 select department, category, status and owner.</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B7:B12 and all chart summaries use the identical selected rows.</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Tenant Skill access or source preservation is being assumed.</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109</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Dashboard Measures and Denominators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dashboard measure needs a business definition, numerator, denominator where relevant, date rule and filter scope.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Changing the denominator can make an attractive rate meaningless.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Closed-only rate is different from closed/total completion share.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110</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Dashboard Measures and Denominators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source fields and scope.</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Compute count and denominator.</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Handle empty selections explicitly.</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Reconcile against controls.</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111</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Dashboard Measures and Denominators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A due-today backlog item is not overdue under a strict before-date rule.</a:t>
            </a:r>
          </a:p>
          <a:p>
            <a:pPr>
              <a:spcAft>
                <a:spcPts val="1000"/>
              </a:spcAft>
            </a:pPr>
            <a:r>
              <a:rPr sz="1600" b="0">
                <a:solidFill>
                  <a:srgbClr val="21201C"/>
                </a:solidFill>
                <a:latin typeface="Calibri"/>
              </a:rPr>
              <a:t>•  All selected status/chart counts reconcile to total selected HR cases.</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112</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Dashboard Measures and Denominators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https://support.microsoft.com/en-us/excel/create-and-share-a-dashboard-with-excel-and-microsoft-groups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Closed-only rate is different from closed/total completion share.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A due-today backlog item is not overdue under a strict before-date rule.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 zero denominator is being represented as a measured 0%.</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113</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Visual Dashboard Design for HR Service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dashboard should make an operational decision easier.</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Consistent chart scales, short labels, whitespace and limited accents help a manager compare the work queue quickly.</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Status count chart shows the portfolio mix.</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114</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Visual Dashboard Design for HR Service</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Name the HR service decision.</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Choose the measure and comparison.</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Use an appropriate labelled chart.</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Check meaning and readability.</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115</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Visual Dashboard Design for HR Service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Department backlog chart excludes Closed and Cancelled.</a:t>
            </a:r>
          </a:p>
          <a:p>
            <a:pPr>
              <a:spcAft>
                <a:spcPts val="1000"/>
              </a:spcAft>
            </a:pPr>
            <a:r>
              <a:rPr sz="1600" b="0">
                <a:solidFill>
                  <a:srgbClr val="21201C"/>
                </a:solidFill>
                <a:latin typeface="Calibri"/>
              </a:rPr>
              <a:t>•  A category count does not establish the root cause of overdue cases.</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116</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Visual Dashboard Design for HR Service</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https://support.microsoft.com/en-us/excel/create-and-share-a-dashboard-with-excel-and-microsoft-groups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Status count chart shows the portfolio mix.</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Department backlog chart excludes Closed and Cancelled.</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Decorative charts hide an ambiguous metric.</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117</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What Is an Interactive Dashboard?</a:t>
            </a:r>
          </a:p>
        </p:txBody>
      </p:sp>
      <p:sp>
        <p:nvSpPr>
          <p:cNvPr id="5" name="Rectangle 4"/>
          <p:cNvSpPr/>
          <p:nvPr/>
        </p:nvSpPr>
        <p:spPr>
          <a:xfrm>
            <a:off x="731520" y="1764792"/>
            <a:ext cx="5116157" cy="4434840"/>
          </a:xfrm>
          <a:prstGeom prst="rect">
            <a:avLst/>
          </a:prstGeom>
          <a:solidFill>
            <a:srgbClr val="DCD8CF"/>
          </a:solidFill>
          <a:ln>
            <a:noFill/>
          </a:ln>
          <a:effectLst/>
        </p:spPr>
        <p:txBody>
          <a:bodyPr rtlCol="0" anchor="ctr"/>
          <a:lstStyle/>
          <a:p>
            <a:pPr algn="ctr"/>
          </a:p>
        </p:txBody>
      </p:sp>
      <p:pic>
        <p:nvPicPr>
          <p:cNvPr id="6" name="Picture 5" descr="hr-dashboard-all.png"/>
          <p:cNvPicPr>
            <a:picLocks noChangeAspect="1"/>
          </p:cNvPicPr>
          <p:nvPr/>
        </p:nvPicPr>
        <p:blipFill>
          <a:blip r:embed="rId2"/>
          <a:stretch>
            <a:fillRect/>
          </a:stretch>
        </p:blipFill>
        <p:spPr>
          <a:xfrm>
            <a:off x="777240" y="1810512"/>
            <a:ext cx="5024718" cy="4343400"/>
          </a:xfrm>
          <a:prstGeom prst="rect">
            <a:avLst/>
          </a:prstGeom>
        </p:spPr>
      </p:pic>
      <p:sp>
        <p:nvSpPr>
          <p:cNvPr id="7" name="Rounded Rectangle 6"/>
          <p:cNvSpPr/>
          <p:nvPr/>
        </p:nvSpPr>
        <p:spPr>
          <a:xfrm>
            <a:off x="6167717" y="1810512"/>
            <a:ext cx="5243995"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6167717" y="1810512"/>
            <a:ext cx="5243995" cy="64008"/>
          </a:xfrm>
          <a:prstGeom prst="rect">
            <a:avLst/>
          </a:prstGeom>
          <a:solidFill>
            <a:srgbClr val="D97757"/>
          </a:solidFill>
          <a:ln>
            <a:noFill/>
          </a:ln>
          <a:effectLst/>
        </p:spPr>
        <p:txBody>
          <a:bodyPr rtlCol="0" anchor="ctr"/>
          <a:lstStyle/>
          <a:p>
            <a:pPr algn="ctr"/>
          </a:p>
        </p:txBody>
      </p:sp>
      <p:sp>
        <p:nvSpPr>
          <p:cNvPr id="9" name="Oval 8"/>
          <p:cNvSpPr/>
          <p:nvPr/>
        </p:nvSpPr>
        <p:spPr>
          <a:xfrm>
            <a:off x="6350597" y="2008936"/>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6350597" y="200893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6899237" y="1810512"/>
            <a:ext cx="4329595" cy="780897"/>
          </a:xfrm>
          <a:prstGeom prst="rect">
            <a:avLst/>
          </a:prstGeom>
          <a:noFill/>
        </p:spPr>
        <p:txBody>
          <a:bodyPr wrap="square" anchor="ctr">
            <a:spAutoFit/>
          </a:bodyPr>
          <a:lstStyle/>
          <a:p>
            <a:pPr algn="l">
              <a:spcAft>
                <a:spcPts val="200"/>
              </a:spcAft>
            </a:pPr>
            <a:r>
              <a:rPr sz="1400" b="1">
                <a:solidFill>
                  <a:srgbClr val="21201C"/>
                </a:solidFill>
                <a:latin typeface="Calibri"/>
              </a:rPr>
              <a:t>Filters (B2:B5)</a:t>
            </a:r>
          </a:p>
          <a:p>
            <a:pPr algn="l">
              <a:spcAft>
                <a:spcPts val="200"/>
              </a:spcAft>
            </a:pPr>
            <a:r>
              <a:rPr sz="1200" b="0">
                <a:solidFill>
                  <a:srgbClr val="6B6862"/>
                </a:solidFill>
                <a:latin typeface="Calibri"/>
              </a:rPr>
              <a:t>Department, Request_Type, Status and Assigned_To. All includes everything; choices combine with AND.</a:t>
            </a:r>
          </a:p>
        </p:txBody>
      </p:sp>
      <p:sp>
        <p:nvSpPr>
          <p:cNvPr id="12" name="Rounded Rectangle 11"/>
          <p:cNvSpPr/>
          <p:nvPr/>
        </p:nvSpPr>
        <p:spPr>
          <a:xfrm>
            <a:off x="6167717" y="2701137"/>
            <a:ext cx="5243995"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6167717" y="2701137"/>
            <a:ext cx="5243995" cy="64008"/>
          </a:xfrm>
          <a:prstGeom prst="rect">
            <a:avLst/>
          </a:prstGeom>
          <a:solidFill>
            <a:srgbClr val="3A7D7B"/>
          </a:solidFill>
          <a:ln>
            <a:noFill/>
          </a:ln>
          <a:effectLst/>
        </p:spPr>
        <p:txBody>
          <a:bodyPr rtlCol="0" anchor="ctr"/>
          <a:lstStyle/>
          <a:p>
            <a:pPr algn="ctr"/>
          </a:p>
        </p:txBody>
      </p:sp>
      <p:sp>
        <p:nvSpPr>
          <p:cNvPr id="14" name="Oval 13"/>
          <p:cNvSpPr/>
          <p:nvPr/>
        </p:nvSpPr>
        <p:spPr>
          <a:xfrm>
            <a:off x="6350597" y="2899561"/>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6350597" y="289956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6899237" y="2701137"/>
            <a:ext cx="4329595" cy="780897"/>
          </a:xfrm>
          <a:prstGeom prst="rect">
            <a:avLst/>
          </a:prstGeom>
          <a:noFill/>
        </p:spPr>
        <p:txBody>
          <a:bodyPr wrap="square" anchor="ctr">
            <a:spAutoFit/>
          </a:bodyPr>
          <a:lstStyle/>
          <a:p>
            <a:pPr algn="l">
              <a:spcAft>
                <a:spcPts val="200"/>
              </a:spcAft>
            </a:pPr>
            <a:r>
              <a:rPr sz="1400" b="1">
                <a:solidFill>
                  <a:srgbClr val="21201C"/>
                </a:solidFill>
                <a:latin typeface="Calibri"/>
              </a:rPr>
              <a:t>Scope line</a:t>
            </a:r>
          </a:p>
          <a:p>
            <a:pPr algn="l">
              <a:spcAft>
                <a:spcPts val="200"/>
              </a:spcAft>
            </a:pPr>
            <a:r>
              <a:rPr sz="1200" b="0">
                <a:solidFill>
                  <a:srgbClr val="6B6862"/>
                </a:solidFill>
                <a:latin typeface="Calibri"/>
              </a:rPr>
              <a:t>States the as-at date and the active filters, so every reader knows what is shown.</a:t>
            </a:r>
          </a:p>
        </p:txBody>
      </p:sp>
      <p:sp>
        <p:nvSpPr>
          <p:cNvPr id="17" name="Rounded Rectangle 16"/>
          <p:cNvSpPr/>
          <p:nvPr/>
        </p:nvSpPr>
        <p:spPr>
          <a:xfrm>
            <a:off x="6167717" y="3591762"/>
            <a:ext cx="5243995"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167717" y="3591762"/>
            <a:ext cx="5243995" cy="64008"/>
          </a:xfrm>
          <a:prstGeom prst="rect">
            <a:avLst/>
          </a:prstGeom>
          <a:solidFill>
            <a:srgbClr val="5B4B8A"/>
          </a:solidFill>
          <a:ln>
            <a:noFill/>
          </a:ln>
          <a:effectLst/>
        </p:spPr>
        <p:txBody>
          <a:bodyPr rtlCol="0" anchor="ctr"/>
          <a:lstStyle/>
          <a:p>
            <a:pPr algn="ctr"/>
          </a:p>
        </p:txBody>
      </p:sp>
      <p:sp>
        <p:nvSpPr>
          <p:cNvPr id="19" name="Oval 18"/>
          <p:cNvSpPr/>
          <p:nvPr/>
        </p:nvSpPr>
        <p:spPr>
          <a:xfrm>
            <a:off x="6350597" y="3790186"/>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6350597" y="379018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6899237" y="3591762"/>
            <a:ext cx="4329595" cy="780897"/>
          </a:xfrm>
          <a:prstGeom prst="rect">
            <a:avLst/>
          </a:prstGeom>
          <a:noFill/>
        </p:spPr>
        <p:txBody>
          <a:bodyPr wrap="square" anchor="ctr">
            <a:spAutoFit/>
          </a:bodyPr>
          <a:lstStyle/>
          <a:p>
            <a:pPr algn="l">
              <a:spcAft>
                <a:spcPts val="200"/>
              </a:spcAft>
            </a:pPr>
            <a:r>
              <a:rPr sz="1400" b="1">
                <a:solidFill>
                  <a:srgbClr val="21201C"/>
                </a:solidFill>
                <a:latin typeface="Calibri"/>
              </a:rPr>
              <a:t>KPI tiles</a:t>
            </a:r>
          </a:p>
          <a:p>
            <a:pPr algn="l">
              <a:spcAft>
                <a:spcPts val="200"/>
              </a:spcAft>
            </a:pPr>
            <a:r>
              <a:rPr sz="1200" b="0">
                <a:solidFill>
                  <a:srgbClr val="6B6862"/>
                </a:solidFill>
                <a:latin typeface="Calibri"/>
              </a:rPr>
              <a:t>Six measures from the same selected rows; Checks: PASS confirms chart totals match.</a:t>
            </a:r>
          </a:p>
        </p:txBody>
      </p:sp>
      <p:sp>
        <p:nvSpPr>
          <p:cNvPr id="22" name="Rounded Rectangle 21"/>
          <p:cNvSpPr/>
          <p:nvPr/>
        </p:nvSpPr>
        <p:spPr>
          <a:xfrm>
            <a:off x="6167717" y="4482387"/>
            <a:ext cx="5243995"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6167717" y="4482387"/>
            <a:ext cx="5243995" cy="64008"/>
          </a:xfrm>
          <a:prstGeom prst="rect">
            <a:avLst/>
          </a:prstGeom>
          <a:solidFill>
            <a:srgbClr val="C2603F"/>
          </a:solidFill>
          <a:ln>
            <a:noFill/>
          </a:ln>
          <a:effectLst/>
        </p:spPr>
        <p:txBody>
          <a:bodyPr rtlCol="0" anchor="ctr"/>
          <a:lstStyle/>
          <a:p>
            <a:pPr algn="ctr"/>
          </a:p>
        </p:txBody>
      </p:sp>
      <p:sp>
        <p:nvSpPr>
          <p:cNvPr id="24" name="Oval 23"/>
          <p:cNvSpPr/>
          <p:nvPr/>
        </p:nvSpPr>
        <p:spPr>
          <a:xfrm>
            <a:off x="6350597" y="4680811"/>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6350597" y="468081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6899237" y="4482387"/>
            <a:ext cx="4329595" cy="780897"/>
          </a:xfrm>
          <a:prstGeom prst="rect">
            <a:avLst/>
          </a:prstGeom>
          <a:noFill/>
        </p:spPr>
        <p:txBody>
          <a:bodyPr wrap="square" anchor="ctr">
            <a:spAutoFit/>
          </a:bodyPr>
          <a:lstStyle/>
          <a:p>
            <a:pPr algn="l">
              <a:spcAft>
                <a:spcPts val="200"/>
              </a:spcAft>
            </a:pPr>
            <a:r>
              <a:rPr sz="1400" b="1">
                <a:solidFill>
                  <a:srgbClr val="21201C"/>
                </a:solidFill>
                <a:latin typeface="Calibri"/>
              </a:rPr>
              <a:t>Finding titles</a:t>
            </a:r>
          </a:p>
          <a:p>
            <a:pPr algn="l">
              <a:spcAft>
                <a:spcPts val="200"/>
              </a:spcAft>
            </a:pPr>
            <a:r>
              <a:rPr sz="1200" b="0">
                <a:solidFill>
                  <a:srgbClr val="6B6862"/>
                </a:solidFill>
                <a:latin typeface="Calibri"/>
              </a:rPr>
              <a:t>Each chart title is a formula that states the result, e.g. which department has most overdue cases.</a:t>
            </a:r>
          </a:p>
        </p:txBody>
      </p:sp>
      <p:sp>
        <p:nvSpPr>
          <p:cNvPr id="27" name="Rounded Rectangle 26"/>
          <p:cNvSpPr/>
          <p:nvPr/>
        </p:nvSpPr>
        <p:spPr>
          <a:xfrm>
            <a:off x="6167717" y="5373012"/>
            <a:ext cx="5243995"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8" name="Rectangle 27"/>
          <p:cNvSpPr/>
          <p:nvPr/>
        </p:nvSpPr>
        <p:spPr>
          <a:xfrm>
            <a:off x="6167717" y="5373012"/>
            <a:ext cx="5243995" cy="64008"/>
          </a:xfrm>
          <a:prstGeom prst="rect">
            <a:avLst/>
          </a:prstGeom>
          <a:solidFill>
            <a:srgbClr val="D97757"/>
          </a:solidFill>
          <a:ln>
            <a:noFill/>
          </a:ln>
          <a:effectLst/>
        </p:spPr>
        <p:txBody>
          <a:bodyPr rtlCol="0" anchor="ctr"/>
          <a:lstStyle/>
          <a:p>
            <a:pPr algn="ctr"/>
          </a:p>
        </p:txBody>
      </p:sp>
      <p:sp>
        <p:nvSpPr>
          <p:cNvPr id="29" name="Oval 28"/>
          <p:cNvSpPr/>
          <p:nvPr/>
        </p:nvSpPr>
        <p:spPr>
          <a:xfrm>
            <a:off x="6350597" y="5571436"/>
            <a:ext cx="384048" cy="384048"/>
          </a:xfrm>
          <a:prstGeom prst="ellipse">
            <a:avLst/>
          </a:prstGeom>
          <a:solidFill>
            <a:srgbClr val="D97757"/>
          </a:solidFill>
          <a:ln>
            <a:noFill/>
          </a:ln>
          <a:effectLst/>
        </p:spPr>
        <p:txBody>
          <a:bodyPr rtlCol="0" anchor="ctr"/>
          <a:lstStyle/>
          <a:p>
            <a:pPr algn="ctr"/>
          </a:p>
        </p:txBody>
      </p:sp>
      <p:sp>
        <p:nvSpPr>
          <p:cNvPr id="30" name="TextBox 29"/>
          <p:cNvSpPr txBox="1"/>
          <p:nvPr/>
        </p:nvSpPr>
        <p:spPr>
          <a:xfrm>
            <a:off x="6350597" y="557143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5</a:t>
            </a:r>
          </a:p>
        </p:txBody>
      </p:sp>
      <p:sp>
        <p:nvSpPr>
          <p:cNvPr id="31" name="TextBox 30"/>
          <p:cNvSpPr txBox="1"/>
          <p:nvPr/>
        </p:nvSpPr>
        <p:spPr>
          <a:xfrm>
            <a:off x="6899237" y="5373012"/>
            <a:ext cx="4329595" cy="780897"/>
          </a:xfrm>
          <a:prstGeom prst="rect">
            <a:avLst/>
          </a:prstGeom>
          <a:noFill/>
        </p:spPr>
        <p:txBody>
          <a:bodyPr wrap="square" anchor="ctr">
            <a:spAutoFit/>
          </a:bodyPr>
          <a:lstStyle/>
          <a:p>
            <a:pPr algn="l">
              <a:spcAft>
                <a:spcPts val="200"/>
              </a:spcAft>
            </a:pPr>
            <a:r>
              <a:rPr sz="1400" b="1">
                <a:solidFill>
                  <a:srgbClr val="21201C"/>
                </a:solidFill>
                <a:latin typeface="Calibri"/>
              </a:rPr>
              <a:t>Linked charts</a:t>
            </a:r>
          </a:p>
          <a:p>
            <a:pPr algn="l">
              <a:spcAft>
                <a:spcPts val="200"/>
              </a:spcAft>
            </a:pPr>
            <a:r>
              <a:rPr sz="1200" b="0">
                <a:solidFill>
                  <a:srgbClr val="6B6862"/>
                </a:solidFill>
                <a:latin typeface="Calibri"/>
              </a:rPr>
              <a:t>Status, request type and department charts all read the same filtered rows.</a:t>
            </a:r>
          </a:p>
        </p:txBody>
      </p:sp>
      <p:sp>
        <p:nvSpPr>
          <p:cNvPr id="32" name="TextBox 31"/>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3" name="TextBox 32"/>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4" name="TextBox 33"/>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118</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THEME · CUSTOM DASHBOARD SKILL</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Create and Apply a Custom Interactive Dashboard Skill</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7</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700" b="0">
                <a:solidFill>
                  <a:srgbClr val="21201C"/>
                </a:solidFill>
                <a:latin typeface="Calibri"/>
              </a:rPr>
              <a:t>Create hr-case-dashboard/SKILL.md for the Lumina HR service workflow, install it in Excel, then invoke it to plan and build an interactive dashboard. Six KPIs and three charts share four filter selections.</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Lumina_Dashboard.xlsx with a Dashboard layout, six verified measures, three labelled charts and a measure dictionary ready for Lab 8 filters.</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Excel Copilot · Microsoft 365 Copilot web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119</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7</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Build: Apply @hr-case-dashboard to Lumina_HR_Cases.xlsx using six KPIs, Department/Category/Status/Owner filters and three editable chart summaries.</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Verify: At All filters confirm total 120, backlog 60, overdue 50, closed 48, on-time rate 62.5% and recorded cost SGD 35,827.50.</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120</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7</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Baseline</a:t>
            </a:r>
          </a:p>
          <a:p>
            <a:pPr algn="l">
              <a:spcAft>
                <a:spcPts val="300"/>
              </a:spcAft>
            </a:pPr>
            <a:r>
              <a:rPr sz="1300" b="0">
                <a:solidFill>
                  <a:srgbClr val="6B6862"/>
                </a:solidFill>
                <a:latin typeface="Calibri"/>
              </a:rPr>
              <a:t>Total 120; backlog 60; overdue 50; closed 48.</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SLA and cost</a:t>
            </a:r>
          </a:p>
          <a:p>
            <a:pPr algn="l">
              <a:spcAft>
                <a:spcPts val="300"/>
              </a:spcAft>
            </a:pPr>
            <a:r>
              <a:rPr sz="1300" b="0">
                <a:solidFill>
                  <a:srgbClr val="6B6862"/>
                </a:solidFill>
                <a:latin typeface="Calibri"/>
              </a:rPr>
              <a:t>30/48 = 62.5%; S$35,827.50.</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Chart reconciliation</a:t>
            </a:r>
          </a:p>
          <a:p>
            <a:pPr algn="l">
              <a:spcAft>
                <a:spcPts val="300"/>
              </a:spcAft>
            </a:pPr>
            <a:r>
              <a:rPr sz="1300" b="0">
                <a:solidFill>
                  <a:srgbClr val="6B6862"/>
                </a:solidFill>
                <a:latin typeface="Calibri"/>
              </a:rPr>
              <a:t>Three count summaries each total 120; formulas reference tblHRCases.</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Decision design</a:t>
            </a:r>
          </a:p>
          <a:p>
            <a:pPr algn="l">
              <a:spcAft>
                <a:spcPts val="300"/>
              </a:spcAft>
            </a:pPr>
            <a:r>
              <a:rPr sz="1300" b="0">
                <a:solidFill>
                  <a:srgbClr val="6B6862"/>
                </a:solidFill>
                <a:latin typeface="Calibri"/>
              </a:rPr>
              <a:t>Measures dictionary and source/date visible; no unsupported cause claims.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121</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EDITABLE WORKED COMPARISON</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Same Data, Different Filter Scope</a:t>
            </a:r>
          </a:p>
        </p:txBody>
      </p:sp>
      <p:sp>
        <p:nvSpPr>
          <p:cNvPr id="5" name="Rounded Rectangle 4"/>
          <p:cNvSpPr/>
          <p:nvPr/>
        </p:nvSpPr>
        <p:spPr>
          <a:xfrm>
            <a:off x="777240" y="1691640"/>
            <a:ext cx="5166360" cy="3977639"/>
          </a:xfrm>
          <a:prstGeom prst="roundRect">
            <a:avLst>
              <a:gd name="adj" fmla="val 5517"/>
            </a:avLst>
          </a:prstGeom>
          <a:solidFill>
            <a:srgbClr val="FFFFFE"/>
          </a:solidFill>
          <a:ln w="12700">
            <a:solidFill>
              <a:srgbClr val="DCD8CF"/>
            </a:solidFill>
          </a:ln>
          <a:effectLst/>
        </p:spPr>
        <p:txBody>
          <a:bodyPr rtlCol="0" anchor="ctr"/>
          <a:lstStyle/>
          <a:p>
            <a:pPr algn="ctr"/>
          </a:p>
        </p:txBody>
      </p:sp>
      <p:sp>
        <p:nvSpPr>
          <p:cNvPr id="6" name="TextBox 5"/>
          <p:cNvSpPr txBox="1"/>
          <p:nvPr/>
        </p:nvSpPr>
        <p:spPr>
          <a:xfrm>
            <a:off x="960120" y="1828800"/>
            <a:ext cx="4754880" cy="548640"/>
          </a:xfrm>
          <a:prstGeom prst="rect">
            <a:avLst/>
          </a:prstGeom>
          <a:noFill/>
        </p:spPr>
        <p:txBody>
          <a:bodyPr wrap="square" anchor="t">
            <a:spAutoFit/>
          </a:bodyPr>
          <a:lstStyle/>
          <a:p>
            <a:pPr algn="l">
              <a:spcAft>
                <a:spcPts val="400"/>
              </a:spcAft>
            </a:pPr>
            <a:r>
              <a:rPr sz="2600" b="1">
                <a:solidFill>
                  <a:srgbClr val="21201C"/>
                </a:solidFill>
                <a:latin typeface="Cambria"/>
              </a:rPr>
              <a:t>All departments</a:t>
            </a:r>
          </a:p>
        </p:txBody>
      </p:sp>
      <p:sp>
        <p:nvSpPr>
          <p:cNvPr id="7" name="TextBox 6"/>
          <p:cNvSpPr txBox="1"/>
          <p:nvPr/>
        </p:nvSpPr>
        <p:spPr>
          <a:xfrm>
            <a:off x="960120" y="2560320"/>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Total: 120</a:t>
            </a:r>
          </a:p>
        </p:txBody>
      </p:sp>
      <p:sp>
        <p:nvSpPr>
          <p:cNvPr id="8" name="TextBox 7"/>
          <p:cNvSpPr txBox="1"/>
          <p:nvPr/>
        </p:nvSpPr>
        <p:spPr>
          <a:xfrm>
            <a:off x="960120" y="3072384"/>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Backlog: 60</a:t>
            </a:r>
          </a:p>
        </p:txBody>
      </p:sp>
      <p:sp>
        <p:nvSpPr>
          <p:cNvPr id="9" name="TextBox 8"/>
          <p:cNvSpPr txBox="1"/>
          <p:nvPr/>
        </p:nvSpPr>
        <p:spPr>
          <a:xfrm>
            <a:off x="960120" y="3584448"/>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Overdue: 50</a:t>
            </a:r>
          </a:p>
        </p:txBody>
      </p:sp>
      <p:sp>
        <p:nvSpPr>
          <p:cNvPr id="10" name="TextBox 9"/>
          <p:cNvSpPr txBox="1"/>
          <p:nvPr/>
        </p:nvSpPr>
        <p:spPr>
          <a:xfrm>
            <a:off x="960120" y="4096512"/>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Closed: 48</a:t>
            </a:r>
          </a:p>
        </p:txBody>
      </p:sp>
      <p:sp>
        <p:nvSpPr>
          <p:cNvPr id="11" name="TextBox 10"/>
          <p:cNvSpPr txBox="1"/>
          <p:nvPr/>
        </p:nvSpPr>
        <p:spPr>
          <a:xfrm>
            <a:off x="960120" y="4608576"/>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On-time closed: 30/48</a:t>
            </a:r>
          </a:p>
        </p:txBody>
      </p:sp>
      <p:sp>
        <p:nvSpPr>
          <p:cNvPr id="12" name="Rounded Rectangle 11"/>
          <p:cNvSpPr/>
          <p:nvPr/>
        </p:nvSpPr>
        <p:spPr>
          <a:xfrm>
            <a:off x="6263640" y="1691640"/>
            <a:ext cx="5166360" cy="3977639"/>
          </a:xfrm>
          <a:prstGeom prst="roundRect">
            <a:avLst>
              <a:gd name="adj" fmla="val 5517"/>
            </a:avLst>
          </a:prstGeom>
          <a:solidFill>
            <a:srgbClr val="FFFFFE"/>
          </a:solidFill>
          <a:ln w="12700">
            <a:solidFill>
              <a:srgbClr val="DCD8CF"/>
            </a:solidFill>
          </a:ln>
          <a:effectLst/>
        </p:spPr>
        <p:txBody>
          <a:bodyPr rtlCol="0" anchor="ctr"/>
          <a:lstStyle/>
          <a:p>
            <a:pPr algn="ctr"/>
          </a:p>
        </p:txBody>
      </p:sp>
      <p:sp>
        <p:nvSpPr>
          <p:cNvPr id="13" name="TextBox 12"/>
          <p:cNvSpPr txBox="1"/>
          <p:nvPr/>
        </p:nvSpPr>
        <p:spPr>
          <a:xfrm>
            <a:off x="6446520" y="1828800"/>
            <a:ext cx="4754880" cy="548640"/>
          </a:xfrm>
          <a:prstGeom prst="rect">
            <a:avLst/>
          </a:prstGeom>
          <a:noFill/>
        </p:spPr>
        <p:txBody>
          <a:bodyPr wrap="square" anchor="t">
            <a:spAutoFit/>
          </a:bodyPr>
          <a:lstStyle/>
          <a:p>
            <a:pPr algn="l">
              <a:spcAft>
                <a:spcPts val="400"/>
              </a:spcAft>
            </a:pPr>
            <a:r>
              <a:rPr sz="2600" b="1">
                <a:solidFill>
                  <a:srgbClr val="21201C"/>
                </a:solidFill>
                <a:latin typeface="Cambria"/>
              </a:rPr>
              <a:t>Retail Sales</a:t>
            </a:r>
          </a:p>
        </p:txBody>
      </p:sp>
      <p:sp>
        <p:nvSpPr>
          <p:cNvPr id="14" name="TextBox 13"/>
          <p:cNvSpPr txBox="1"/>
          <p:nvPr/>
        </p:nvSpPr>
        <p:spPr>
          <a:xfrm>
            <a:off x="6446520" y="2560320"/>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Total: 24</a:t>
            </a:r>
          </a:p>
        </p:txBody>
      </p:sp>
      <p:sp>
        <p:nvSpPr>
          <p:cNvPr id="15" name="TextBox 14"/>
          <p:cNvSpPr txBox="1"/>
          <p:nvPr/>
        </p:nvSpPr>
        <p:spPr>
          <a:xfrm>
            <a:off x="6446520" y="3072384"/>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Backlog: 8</a:t>
            </a:r>
          </a:p>
        </p:txBody>
      </p:sp>
      <p:sp>
        <p:nvSpPr>
          <p:cNvPr id="16" name="TextBox 15"/>
          <p:cNvSpPr txBox="1"/>
          <p:nvPr/>
        </p:nvSpPr>
        <p:spPr>
          <a:xfrm>
            <a:off x="6446520" y="3584448"/>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Overdue: 7</a:t>
            </a:r>
          </a:p>
        </p:txBody>
      </p:sp>
      <p:sp>
        <p:nvSpPr>
          <p:cNvPr id="17" name="TextBox 16"/>
          <p:cNvSpPr txBox="1"/>
          <p:nvPr/>
        </p:nvSpPr>
        <p:spPr>
          <a:xfrm>
            <a:off x="6446520" y="4096512"/>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Closed: 16</a:t>
            </a:r>
          </a:p>
        </p:txBody>
      </p:sp>
      <p:sp>
        <p:nvSpPr>
          <p:cNvPr id="18" name="TextBox 17"/>
          <p:cNvSpPr txBox="1"/>
          <p:nvPr/>
        </p:nvSpPr>
        <p:spPr>
          <a:xfrm>
            <a:off x="6446520" y="4608576"/>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On-time closed: 10/16</a:t>
            </a:r>
          </a:p>
        </p:txBody>
      </p:sp>
      <p:sp>
        <p:nvSpPr>
          <p:cNvPr id="19" name="TextBox 18"/>
          <p:cNvSpPr txBox="1"/>
          <p:nvPr/>
        </p:nvSpPr>
        <p:spPr>
          <a:xfrm>
            <a:off x="777240" y="5989320"/>
            <a:ext cx="10698480" cy="274320"/>
          </a:xfrm>
          <a:prstGeom prst="rect">
            <a:avLst/>
          </a:prstGeom>
          <a:noFill/>
        </p:spPr>
        <p:txBody>
          <a:bodyPr wrap="square" anchor="t">
            <a:spAutoFit/>
          </a:bodyPr>
          <a:lstStyle/>
          <a:p>
            <a:pPr algn="l">
              <a:spcAft>
                <a:spcPts val="400"/>
              </a:spcAft>
            </a:pPr>
            <a:r>
              <a:rPr sz="1100" b="0">
                <a:solidFill>
                  <a:srgbClr val="21201C"/>
                </a:solidFill>
                <a:latin typeface="Calibri"/>
              </a:rPr>
              <a:t>Source: synthetic tblHRCases | 30 Sep 2026 | All filters All unless stated</a:t>
            </a:r>
          </a:p>
        </p:txBody>
      </p:sp>
      <p:sp>
        <p:nvSpPr>
          <p:cNvPr id="20" name="TextBox 1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2" name="TextBox 2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122</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One Filter Scope for Every Visual</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Interactive means a learner-controlled selection changes the evidence shown.</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dashboard can appear interactive while only one chart changes.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Retail Sales plus All in other selectors isolates that department.</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123</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One Filter Scope for Every Visual</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the selector cells.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Apply the same AND mask everywhere.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Test each control and edge case.</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Reconcile selected chart and KPI totals.</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124</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One Filter Scope for Every Visual</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Status New gives zero Closed and N/A closure rate.</a:t>
            </a:r>
          </a:p>
          <a:p>
            <a:pPr>
              <a:spcAft>
                <a:spcPts val="1000"/>
              </a:spcAft>
            </a:pPr>
            <a:r>
              <a:rPr sz="1600" b="0">
                <a:solidFill>
                  <a:srgbClr val="21201C"/>
                </a:solidFill>
                <a:latin typeface="Calibri"/>
              </a:rPr>
              <a:t>•  A slicer must connect to every intended PivotTable.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125</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One Filter Scope for Every Visual</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https://support.microsoft.com/en-us/excel/get-started/use-slicers-to-filter-data</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Retail Sales plus All in other selectors isolates that department.</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Status New gives zero Closed and N/A closure rate.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 selector only changes a decorative title or one chart.</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126</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Interactive: One Filter Changes Everything</a:t>
            </a:r>
          </a:p>
        </p:txBody>
      </p:sp>
      <p:sp>
        <p:nvSpPr>
          <p:cNvPr id="5" name="Rectangle 4"/>
          <p:cNvSpPr/>
          <p:nvPr/>
        </p:nvSpPr>
        <p:spPr>
          <a:xfrm>
            <a:off x="1107276" y="1737360"/>
            <a:ext cx="4428563" cy="3840479"/>
          </a:xfrm>
          <a:prstGeom prst="rect">
            <a:avLst/>
          </a:prstGeom>
          <a:solidFill>
            <a:srgbClr val="DCD8CF"/>
          </a:solidFill>
          <a:ln>
            <a:noFill/>
          </a:ln>
          <a:effectLst/>
        </p:spPr>
        <p:txBody>
          <a:bodyPr rtlCol="0" anchor="ctr"/>
          <a:lstStyle/>
          <a:p>
            <a:pPr algn="ctr"/>
          </a:p>
        </p:txBody>
      </p:sp>
      <p:pic>
        <p:nvPicPr>
          <p:cNvPr id="6" name="Picture 5" descr="hr-dashboard-all.png"/>
          <p:cNvPicPr>
            <a:picLocks noChangeAspect="1"/>
          </p:cNvPicPr>
          <p:nvPr/>
        </p:nvPicPr>
        <p:blipFill>
          <a:blip r:embed="rId2"/>
          <a:stretch>
            <a:fillRect/>
          </a:stretch>
        </p:blipFill>
        <p:spPr>
          <a:xfrm>
            <a:off x="1152996" y="1783080"/>
            <a:ext cx="4337124" cy="3749039"/>
          </a:xfrm>
          <a:prstGeom prst="rect">
            <a:avLst/>
          </a:prstGeom>
        </p:spPr>
      </p:pic>
      <p:sp>
        <p:nvSpPr>
          <p:cNvPr id="7" name="TextBox 6"/>
          <p:cNvSpPr txBox="1"/>
          <p:nvPr/>
        </p:nvSpPr>
        <p:spPr>
          <a:xfrm>
            <a:off x="777240" y="5641847"/>
            <a:ext cx="5088636" cy="658368"/>
          </a:xfrm>
          <a:prstGeom prst="rect">
            <a:avLst/>
          </a:prstGeom>
          <a:noFill/>
        </p:spPr>
        <p:txBody>
          <a:bodyPr wrap="square" anchor="t">
            <a:spAutoFit/>
          </a:bodyPr>
          <a:lstStyle/>
          <a:p>
            <a:pPr algn="ctr">
              <a:spcAft>
                <a:spcPts val="200"/>
              </a:spcAft>
            </a:pPr>
            <a:r>
              <a:rPr sz="1400" b="1">
                <a:solidFill>
                  <a:srgbClr val="21201C"/>
                </a:solidFill>
                <a:latin typeface="Calibri"/>
              </a:rPr>
              <a:t>Department = All</a:t>
            </a:r>
          </a:p>
          <a:p>
            <a:pPr algn="ctr">
              <a:spcAft>
                <a:spcPts val="200"/>
              </a:spcAft>
            </a:pPr>
            <a:r>
              <a:rPr sz="1200" b="0">
                <a:solidFill>
                  <a:srgbClr val="6B6862"/>
                </a:solidFill>
                <a:latin typeface="Calibri"/>
              </a:rPr>
              <a:t>120 HR cases · backlog 60 · overdue 50 · 48 closed · S$35,827.50 recorded cost.</a:t>
            </a:r>
          </a:p>
        </p:txBody>
      </p:sp>
      <p:sp>
        <p:nvSpPr>
          <p:cNvPr id="8" name="Rectangle 7"/>
          <p:cNvSpPr/>
          <p:nvPr/>
        </p:nvSpPr>
        <p:spPr>
          <a:xfrm>
            <a:off x="6653112" y="1737360"/>
            <a:ext cx="4428563" cy="3840479"/>
          </a:xfrm>
          <a:prstGeom prst="rect">
            <a:avLst/>
          </a:prstGeom>
          <a:solidFill>
            <a:srgbClr val="DCD8CF"/>
          </a:solidFill>
          <a:ln>
            <a:noFill/>
          </a:ln>
          <a:effectLst/>
        </p:spPr>
        <p:txBody>
          <a:bodyPr rtlCol="0" anchor="ctr"/>
          <a:lstStyle/>
          <a:p>
            <a:pPr algn="ctr"/>
          </a:p>
        </p:txBody>
      </p:sp>
      <p:pic>
        <p:nvPicPr>
          <p:cNvPr id="9" name="Picture 8" descr="hr-dashboard-retail-sales.png"/>
          <p:cNvPicPr>
            <a:picLocks noChangeAspect="1"/>
          </p:cNvPicPr>
          <p:nvPr/>
        </p:nvPicPr>
        <p:blipFill>
          <a:blip r:embed="rId3"/>
          <a:stretch>
            <a:fillRect/>
          </a:stretch>
        </p:blipFill>
        <p:spPr>
          <a:xfrm>
            <a:off x="6698832" y="1783080"/>
            <a:ext cx="4337124" cy="3749039"/>
          </a:xfrm>
          <a:prstGeom prst="rect">
            <a:avLst/>
          </a:prstGeom>
        </p:spPr>
      </p:pic>
      <p:sp>
        <p:nvSpPr>
          <p:cNvPr id="10" name="TextBox 9"/>
          <p:cNvSpPr txBox="1"/>
          <p:nvPr/>
        </p:nvSpPr>
        <p:spPr>
          <a:xfrm>
            <a:off x="6323076" y="5641847"/>
            <a:ext cx="5088636" cy="658368"/>
          </a:xfrm>
          <a:prstGeom prst="rect">
            <a:avLst/>
          </a:prstGeom>
          <a:noFill/>
        </p:spPr>
        <p:txBody>
          <a:bodyPr wrap="square" anchor="t">
            <a:spAutoFit/>
          </a:bodyPr>
          <a:lstStyle/>
          <a:p>
            <a:pPr algn="ctr">
              <a:spcAft>
                <a:spcPts val="200"/>
              </a:spcAft>
            </a:pPr>
            <a:r>
              <a:rPr sz="1400" b="1">
                <a:solidFill>
                  <a:srgbClr val="21201C"/>
                </a:solidFill>
                <a:latin typeface="Calibri"/>
              </a:rPr>
              <a:t>Department = Retail Sales</a:t>
            </a:r>
          </a:p>
          <a:p>
            <a:pPr algn="ctr">
              <a:spcAft>
                <a:spcPts val="200"/>
              </a:spcAft>
            </a:pPr>
            <a:r>
              <a:rPr sz="1200" b="0">
                <a:solidFill>
                  <a:srgbClr val="6B6862"/>
                </a:solidFill>
                <a:latin typeface="Calibri"/>
              </a:rPr>
              <a:t>Every tile, title and chart recalculates: 24 cases · backlog 8 · overdue 7 · S$6,668.50.</a:t>
            </a:r>
          </a:p>
        </p:txBody>
      </p:sp>
      <p:sp>
        <p:nvSpPr>
          <p:cNvPr id="11" name="TextBox 1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2" name="TextBox 1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3" name="TextBox 1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127</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Refresh Tests and Static Snapshots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refresh test deliberately introduces known new records and verifies the expected delta.</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correct dashboard today may fail after the next export if formulas reference a fixed cell range.</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Two test rows increase total by 2 and recorded cost by S$400.</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128</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Refresh Tests and Static Snapshots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Save an isolated sandbox copy.</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Append known unique test rows.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Recalculate and verify expected deltas.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Handoff the untouched baseline.</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129</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Refresh Tests and Static Snapshots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Only one new row adds to backlog/overdue; the other adds to on-time Closed.</a:t>
            </a:r>
          </a:p>
          <a:p>
            <a:pPr>
              <a:spcAft>
                <a:spcPts val="1000"/>
              </a:spcAft>
            </a:pPr>
            <a:r>
              <a:rPr sz="1600" b="0">
                <a:solidFill>
                  <a:srgbClr val="21201C"/>
                </a:solidFill>
                <a:latin typeface="Calibri"/>
              </a:rPr>
              <a:t>•  The final deck uses the untouched 120-row baseline, not the test copy.</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130</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Refresh Tests and Static Snapshots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https://support.microsoft.com/en-us/excel/create-and-share-a-dashboard-with-excel-and-microsoft-groups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Two test rows increase total by 2 and recorded cost by S$400.</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Only one new row adds to backlog/overdue; the other adds to on-time Closed.</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Test rows are being mixed into the report without disclosure.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131</a:t>
            </a:r>
          </a:p>
        </p:txBody>
      </p:sp>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THEME · INTERACTIVE FILTERS AND REFRESH</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Use the Dashboard Skill for Filters, Refresh and Safe Reruns</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8</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2100" b="0">
                <a:solidFill>
                  <a:srgbClr val="21201C"/>
                </a:solidFill>
                <a:latin typeface="Calibri"/>
              </a:rPr>
              <a:t>Continue Lab 7 by making four dropdown selectors control every KPI and chart. Test a single department, a zero-denominator selection and a combined category/owner filter.</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Lumina_Dashboard.xlsx with four working filters plus Lumina_Dashboard_Refresh_Test.xlsx, filter evidence and a verified baseline snapshot for PowerPoint.</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Excel Copilot · Microsoft 365 Copilot web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132</a:t>
            </a:r>
          </a:p>
        </p:txBody>
      </p:sp>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8</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Refresh: Append Refresh_Test_Rows.csv in the sandbox, refresh @hr-case-dashboard and verify total 122, backlog 61, overdue 51 and closed 49.</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Empty scope: Filter Retail Sales, Leave Request and Daniel Lee; show an explicit empty state rather than a zero-data chart.</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133</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8</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Retail Sales control</a:t>
            </a:r>
          </a:p>
          <a:p>
            <a:pPr algn="l">
              <a:spcAft>
                <a:spcPts val="300"/>
              </a:spcAft>
            </a:pPr>
            <a:r>
              <a:rPr sz="1300" b="0">
                <a:solidFill>
                  <a:srgbClr val="6B6862"/>
                </a:solidFill>
                <a:latin typeface="Calibri"/>
              </a:rPr>
              <a:t>Total 24; backlog 8; overdue 7; closed 16; cost S$6,668.50; on-time 10/16.</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Interactive scope</a:t>
            </a:r>
          </a:p>
          <a:p>
            <a:pPr algn="l">
              <a:spcAft>
                <a:spcPts val="300"/>
              </a:spcAft>
            </a:pPr>
            <a:r>
              <a:rPr sz="1300" b="0">
                <a:solidFill>
                  <a:srgbClr val="6B6862"/>
                </a:solidFill>
                <a:latin typeface="Calibri"/>
              </a:rPr>
              <a:t>Changing any of four filters affects all six KPI measures and all chart counts.</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Edge case</a:t>
            </a:r>
          </a:p>
          <a:p>
            <a:pPr algn="l">
              <a:spcAft>
                <a:spcPts val="300"/>
              </a:spcAft>
            </a:pPr>
            <a:r>
              <a:rPr sz="1300" b="0">
                <a:solidFill>
                  <a:srgbClr val="6B6862"/>
                </a:solidFill>
                <a:latin typeface="Calibri"/>
              </a:rPr>
              <a:t>No Closed -&gt; N/A; no rows -&gt; zero count/cost and N/A rate.</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Refresh sandbox</a:t>
            </a:r>
          </a:p>
          <a:p>
            <a:pPr algn="l">
              <a:spcAft>
                <a:spcPts val="300"/>
              </a:spcAft>
            </a:pPr>
            <a:r>
              <a:rPr sz="1300" b="0">
                <a:solidFill>
                  <a:srgbClr val="6B6862"/>
                </a:solidFill>
                <a:latin typeface="Calibri"/>
              </a:rPr>
              <a:t>122 total;49 closed;61 backlog;51 overdue;S$36,227.50;31/49 on-time.</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Handoff baseline</a:t>
            </a:r>
          </a:p>
          <a:p>
            <a:pPr algn="l">
              <a:spcAft>
                <a:spcPts val="300"/>
              </a:spcAft>
            </a:pPr>
            <a:r>
              <a:rPr sz="1300" b="0">
                <a:solidFill>
                  <a:srgbClr val="6B6862"/>
                </a:solidFill>
                <a:latin typeface="Calibri"/>
              </a:rPr>
              <a:t>Return to 120-row untouched baseline; date and All scope recorded.</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134</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EVIDENCE TO NARRATIVE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 Verified Chart Becomes a Decision</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Observed backlog</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Operational implication</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Proposed recovery action</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Manager decision requested</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135</a:t>
            </a:r>
          </a:p>
        </p:txBody>
      </p:sp>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From Dashboard Evidence to a Decision Story</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management presentation transforms evidence into a sequence of observations, implications, proposed actions and a decision request.</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Copilot can accelerate outlines and drafting, but a persuasive invented conclusion is still wrong.</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Backlog by department supports prioritisation, not a proven cause.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136</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From Dashboard Evidence to a Decision Story</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Freeze the verified dashboard snapshot.</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Register each proposed claim.</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Write a reviewed Word brief.</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Generate and reconcile the deck.</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137</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From Dashboard Evidence to a Decision Story</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Available-hours evidence supports a capacity discussion, not confirmed allocation.</a:t>
            </a:r>
          </a:p>
          <a:p>
            <a:pPr>
              <a:spcAft>
                <a:spcPts val="1000"/>
              </a:spcAft>
            </a:pPr>
            <a:r>
              <a:rPr sz="1600" b="0">
                <a:solidFill>
                  <a:srgbClr val="21201C"/>
                </a:solidFill>
                <a:latin typeface="Calibri"/>
              </a:rPr>
              <a:t>•  The final slide asks management to decide on a proposed plan.</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138</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From Dashboard Evidence to a Decision Story</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https://support.microsoft.com/en-gb/word/copilot/draft-and-add-content-with-copilot-in-word</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Backlog by department supports prioritisation, not a proven cause.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Available-hours evidence supports a capacity discussion, not confirmed allocation.</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story introduces savings, causes or approvals absent from evidence.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139</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Charts, Templates and Source Provenance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template supplies slide layouts, typography and colours; it does not supply correct facts.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Approximate AI-generated charts can contradict source values while looking plausible.</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 editable embedded chart remains a copy rather than a tested live link.</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140</a:t>
            </a:r>
          </a:p>
        </p:txBody>
      </p:sp>
    </p:spTree>
  </p:cSld>
  <p:clrMapOvr>
    <a:masterClrMapping/>
  </p:clrMapOvr>
  <p:transition spd="med">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Charts, Templates and Source Provenance</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Select the reviewed brief.</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Apply the existing template.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Insert verified charts or tables.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Record source and snapshot scope.</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141</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Charts, Templates and Source Provenance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An image is labelled as a snapshot at 30 September.</a:t>
            </a:r>
          </a:p>
          <a:p>
            <a:pPr>
              <a:spcAft>
                <a:spcPts val="1000"/>
              </a:spcAft>
            </a:pPr>
            <a:r>
              <a:rPr sz="1600" b="0">
                <a:solidFill>
                  <a:srgbClr val="21201C"/>
                </a:solidFill>
                <a:latin typeface="Calibri"/>
              </a:rPr>
              <a:t>•  All eight slides use one reviewed baseline.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142</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Charts, Templates and Source Provenance</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https://support.microsoft.com/en-us/powerpoint/copilot/add-a-slide-from-a-file-with-copilot-in-powerpoint</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An editable embedded chart remains a copy rather than a tested live link.</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An image is labelled as a snapshot at 30 September.</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 visual is assumed accurate because Copilot produced it.</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143</a:t>
            </a:r>
          </a:p>
        </p:txBody>
      </p:sp>
    </p:spTree>
  </p:cSld>
  <p:clrMapOvr>
    <a:masterClrMapping/>
  </p:clrMapOvr>
  <p:transition spd="med">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THEME · DASHBOARD TO PRESENTATION</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Turn Dashboard Evidence into a Management Story</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9</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2100" b="0">
                <a:solidFill>
                  <a:srgbClr val="21201C"/>
                </a:solidFill>
                <a:latin typeface="Calibri"/>
              </a:rPr>
              <a:t>Continue the baseline dashboard from Topic 3. Build a slide evidence register and a Word presentation brief before asking PowerPoint Copilot for an eight-slide management deck.</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Lumina_Presentation_Brief.docx, Lumina_HR_Management_Draft.pptx and a slide-by-slide evidence register tied to the 120-row dashboard snapshot.</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 Excel · Word · PowerPoint · Outlook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144</a:t>
            </a:r>
          </a:p>
        </p:txBody>
      </p:sp>
    </p:spTree>
  </p:cSld>
  <p:clrMapOvr>
    <a:masterClrMapping/>
  </p:clrMapOvr>
  <p:transition spd="med">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9</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Story: Using the verified dashboard snapshot, outline an eight-slide Lumina management story with claim, value, source, scope, as-at date and limitation for each slide.</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Outlook: Draft an unsent Outlook review request that names the deck version and asks the HR manager to confirm proposed assignments.</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145</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9</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Evidence continuity</a:t>
            </a:r>
          </a:p>
          <a:p>
            <a:pPr algn="l">
              <a:spcAft>
                <a:spcPts val="300"/>
              </a:spcAft>
            </a:pPr>
            <a:r>
              <a:rPr sz="1300" b="0">
                <a:solidFill>
                  <a:srgbClr val="6B6862"/>
                </a:solidFill>
                <a:latin typeface="Calibri"/>
              </a:rPr>
              <a:t>Every deck figure maps to the 120-row Lab 8 baseline and slide evidence register.</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Eight-slide narrative</a:t>
            </a:r>
          </a:p>
          <a:p>
            <a:pPr algn="l">
              <a:spcAft>
                <a:spcPts val="300"/>
              </a:spcAft>
            </a:pPr>
            <a:r>
              <a:rPr sz="1300" b="0">
                <a:solidFill>
                  <a:srgbClr val="6B6862"/>
                </a:solidFill>
                <a:latin typeface="Calibri"/>
              </a:rPr>
              <a:t>Observation -&gt; implication -&gt; proposed action -&gt; decision; no invented cause/savings.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Chart semantics</a:t>
            </a:r>
          </a:p>
          <a:p>
            <a:pPr algn="l">
              <a:spcAft>
                <a:spcPts val="300"/>
              </a:spcAft>
            </a:pPr>
            <a:r>
              <a:rPr sz="1300" b="0">
                <a:solidFill>
                  <a:srgbClr val="6B6862"/>
                </a:solidFill>
                <a:latin typeface="Calibri"/>
              </a:rPr>
              <a:t>Backlog charts exclude Closed/Cancelled; embedded/image copies labelled snapshot.</a:t>
            </a:r>
          </a:p>
        </p:txBody>
      </p:sp>
      <p:sp>
        <p:nvSpPr>
          <p:cNvPr id="20" name="TextBox 1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2" name="TextBox 2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146</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ARTIFACT LIFECYCLE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The HR Service Reporting Handoff</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Interactive workbook</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Dated Word evidence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Static PPTX + PDF</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Reviewed unsent email</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147</a:t>
            </a:r>
          </a:p>
        </p:txBody>
      </p:sp>
    </p:spTree>
  </p:cSld>
  <p:clrMapOvr>
    <a:masterClrMapping/>
  </p:clrMapOvr>
  <p:transition spd="med">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Professional Refinement and Rehearsal</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Refinement improves the clarity of the existing evidence without changing its meaning.</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well-designed deck can still fail when the speaker’s notes contain different numbers or a proposal is spoken as an approved action.</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One message per slide; chart labels remain readable.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148</a:t>
            </a:r>
          </a:p>
        </p:txBody>
      </p:sp>
    </p:spTree>
  </p:cSld>
  <p:clrMapOvr>
    <a:masterClrMapping/>
  </p:clrMapOvr>
  <p:transition spd="med">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Professional Refinement and Rehearsal</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Audit the draft against evidence.</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Apply reviewed design changes.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Rehearse and record actual feedback.</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Inspect PPTX and exported PDF.</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149</a:t>
            </a:r>
          </a:p>
        </p:txBody>
      </p:sp>
    </p:spTree>
  </p:cSld>
  <p:clrMapOvr>
    <a:masterClrMapping/>
  </p:clrMapOvr>
  <p:transition spd="med">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Professional Refinement and Rehearsal</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A 45-second note explains evidence and limitation.</a:t>
            </a:r>
          </a:p>
          <a:p>
            <a:pPr>
              <a:spcAft>
                <a:spcPts val="1000"/>
              </a:spcAft>
            </a:pPr>
            <a:r>
              <a:rPr sz="1600" b="0">
                <a:solidFill>
                  <a:srgbClr val="21201C"/>
                </a:solidFill>
                <a:latin typeface="Calibri"/>
              </a:rPr>
              <a:t>•  Partner feedback leads to one recorded revision.</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150</a:t>
            </a:r>
          </a:p>
        </p:txBody>
      </p:sp>
    </p:spTree>
  </p:cSld>
  <p:clrMapOvr>
    <a:masterClrMapping/>
  </p:clrMapOvr>
  <p:transition spd="med">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Professional Refinement and Rehearsal</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https://support.microsoft.com/en-us/powerpoint/copilot/copilot-in-powerpoint-skills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One message per slide; chart labels remain readable.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A 45-second note explains evidence and limitation.</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Polish hides an unsupported claim or unreadable chart.</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151</a:t>
            </a:r>
          </a:p>
        </p:txBody>
      </p:sp>
    </p:spTree>
  </p:cSld>
  <p:clrMapOvr>
    <a:masterClrMapping/>
  </p:clrMapOvr>
  <p:transition spd="med">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Reviewed Handoff and Artifact Lifecycle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final pack contains an interactive Excel dashboard, a fixed reporting brief, a static PowerPoint/PDF snapshot, the custom skill and a reviewed communication draft.</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Updating one artifact without the others creates inconsistent communication.</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PowerPoint and PDF both show eight slides/pages from the same baseline.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152</a:t>
            </a:r>
          </a:p>
        </p:txBody>
      </p:sp>
    </p:spTree>
  </p:cSld>
  <p:clrMapOvr>
    <a:masterClrMapping/>
  </p:clrMapOvr>
  <p:transition spd="med">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Reviewed Handoff and Artifact Lifecycle</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Reconcile final artifacts.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Record actual filenames and links.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Review the handoff draft.</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Preserve the dated snapshot and skill.</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153</a:t>
            </a:r>
          </a:p>
        </p:txBody>
      </p:sp>
    </p:spTree>
  </p:cSld>
  <p:clrMapOvr>
    <a:masterClrMapping/>
  </p:clrMapOvr>
  <p:transition spd="med">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Reviewed Handoff and Artifact Lifecycle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Outlook does not claim a missing attachment was sent.</a:t>
            </a:r>
          </a:p>
          <a:p>
            <a:pPr>
              <a:spcAft>
                <a:spcPts val="1000"/>
              </a:spcAft>
            </a:pPr>
            <a:r>
              <a:rPr sz="1600" b="0">
                <a:solidFill>
                  <a:srgbClr val="21201C"/>
                </a:solidFill>
                <a:latin typeface="Calibri"/>
              </a:rPr>
              <a:t>•  The next update reruns the method with new verified inputs.</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154</a:t>
            </a:r>
          </a:p>
        </p:txBody>
      </p:sp>
    </p:spTree>
  </p:cSld>
  <p:clrMapOvr>
    <a:masterClrMapping/>
  </p:clrMapOvr>
  <p:transition spd="med">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Reviewed Handoff and Artifact Lifecycle</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https://support.microsoft.com/en-us/microsoft-365-copilot/file-formats-supported-by-microsoft-365-copilot</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PowerPoint and PDF both show eight slides/pages from the same baseline.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Outlook does not claim a missing attachment was sent.</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 refreshed dashboard is assumed to rewrite an old presentation.</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155</a:t>
            </a:r>
          </a:p>
        </p:txBody>
      </p:sp>
    </p:spTree>
  </p:cSld>
  <p:clrMapOvr>
    <a:masterClrMapping/>
  </p:clrMapOvr>
  <p:transition spd="med">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THEME · PROFESSIONAL HANDOFF</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Refine and Present the HR Service Decision Deck</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10</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700" b="0">
                <a:solidFill>
                  <a:srgbClr val="21201C"/>
                </a:solidFill>
                <a:latin typeface="Calibri"/>
              </a:rPr>
              <a:t>Refine the management deck using the same custom skill and reviewed dashboard evidence. Improve hierarchy, consistency and speaker notes, test the story in a short rehearsal, and prepare a reviewed Outlook handoff draft.</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Lumina_HR_Management_Final.pptx/PDF, a rehearsal record, final evidence register and unsent Outlook handoff draft with accurate artifact links.</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 Excel · Word · PowerPoint · Outlook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156</a:t>
            </a:r>
          </a:p>
        </p:txBody>
      </p:sp>
    </p:spTree>
  </p:cSld>
  <p:clrMapOvr>
    <a:masterClrMapping/>
  </p:clrMapOvr>
  <p:transition spd="med">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10</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Refine: Refine Lumina_HR_Decision_Deck.pptx for readable titles, editable charts, source notes and a clear current-versus-proposed assignment boundary.</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Rehearse: Use Rehearsal_Log.csv to record feedback, evidence, change and retest before the final handoff.</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157</a:t>
            </a:r>
          </a:p>
        </p:txBody>
      </p:sp>
    </p:spTree>
  </p:cSld>
  <p:clrMapOvr>
    <a:masterClrMapping/>
  </p:clrMapOvr>
  <p:transition spd="med">
    <p:fade/>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10</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Presentation integrity</a:t>
            </a:r>
          </a:p>
          <a:p>
            <a:pPr algn="l">
              <a:spcAft>
                <a:spcPts val="300"/>
              </a:spcAft>
            </a:pPr>
            <a:r>
              <a:rPr sz="1300" b="0">
                <a:solidFill>
                  <a:srgbClr val="6B6862"/>
                </a:solidFill>
                <a:latin typeface="Calibri"/>
              </a:rPr>
              <a:t>Eight slides and eight PDF pages; visible figures agree with verified register.</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Professional delivery</a:t>
            </a:r>
          </a:p>
          <a:p>
            <a:pPr algn="l">
              <a:spcAft>
                <a:spcPts val="300"/>
              </a:spcAft>
            </a:pPr>
            <a:r>
              <a:rPr sz="1300" b="0">
                <a:solidFill>
                  <a:srgbClr val="6B6862"/>
                </a:solidFill>
                <a:latin typeface="Calibri"/>
              </a:rPr>
              <a:t>Readable chart labels, consistent design, evidence-specific notes and actual rehearsal improvement.</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Final continuity</a:t>
            </a:r>
          </a:p>
          <a:p>
            <a:pPr algn="l">
              <a:spcAft>
                <a:spcPts val="300"/>
              </a:spcAft>
            </a:pPr>
            <a:r>
              <a:rPr sz="1300" b="0">
                <a:solidFill>
                  <a:srgbClr val="6B6862"/>
                </a:solidFill>
                <a:latin typeface="Calibri"/>
              </a:rPr>
              <a:t>Baseline dashboard, brief, deck and unsent draft agree; static snapshot stated.</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Decision boundary</a:t>
            </a:r>
          </a:p>
          <a:p>
            <a:pPr algn="l">
              <a:spcAft>
                <a:spcPts val="300"/>
              </a:spcAft>
            </a:pPr>
            <a:r>
              <a:rPr sz="1300" b="0">
                <a:solidFill>
                  <a:srgbClr val="6B6862"/>
                </a:solidFill>
                <a:latin typeface="Calibri"/>
              </a:rPr>
              <a:t>No real email sent or HR case reassigned; proposed actions remain proposed.</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LO3 checkpoint</a:t>
            </a:r>
          </a:p>
          <a:p>
            <a:pPr algn="l">
              <a:spcAft>
                <a:spcPts val="300"/>
              </a:spcAft>
            </a:pPr>
            <a:r>
              <a:rPr sz="1300" b="0">
                <a:solidFill>
                  <a:srgbClr val="6B6862"/>
                </a:solidFill>
                <a:latin typeface="Calibri"/>
              </a:rPr>
              <a:t>Outlook and Teams rows use supplied evidence, observable value, readiness, risk/control and a human gate.</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158</a:t>
            </a:r>
          </a:p>
        </p:txBody>
      </p:sp>
    </p:spTree>
  </p:cSld>
  <p:clrMapOvr>
    <a:masterClrMapping/>
  </p:clrMapOvr>
  <p:transition spd="med">
    <p:fade/>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TOPIC RECAP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Recap - Create Interactive Dashboard and Professional Presentation</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LO3: Dashboard and presentation support Teams/Outlook opportunity evaluation.</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Verify: Claims use untouched fixed-date baseline.</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159</a:t>
            </a:r>
          </a:p>
        </p:txBody>
      </p:sp>
    </p:spTree>
  </p:cSld>
  <p:clrMapOvr>
    <a:masterClrMapping/>
  </p:clrMapOvr>
  <p:transition spd="med">
    <p:fade/>
  </p:transition>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TOPIC 4</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Create Microsoft 365 Agents for Businesses</a:t>
            </a:r>
          </a:p>
        </p:txBody>
      </p:sp>
      <p:sp>
        <p:nvSpPr>
          <p:cNvPr id="7" name="Rectangle 6"/>
          <p:cNvSpPr/>
          <p:nvPr/>
        </p:nvSpPr>
        <p:spPr>
          <a:xfrm>
            <a:off x="841248" y="4206240"/>
            <a:ext cx="1143000" cy="64008"/>
          </a:xfrm>
          <a:prstGeom prst="rect">
            <a:avLst/>
          </a:prstGeom>
          <a:solidFill>
            <a:srgbClr val="C2603F"/>
          </a:solidFill>
          <a:ln>
            <a:noFill/>
          </a:ln>
          <a:effectLst/>
        </p:spPr>
        <p:txBody>
          <a:bodyPr rtlCol="0" anchor="ctr"/>
          <a:lstStyle/>
          <a:p>
            <a:pPr algn="ctr"/>
          </a:p>
        </p:txBody>
      </p:sp>
      <p:sp>
        <p:nvSpPr>
          <p:cNvPr id="8" name="TextBox 7"/>
          <p:cNvSpPr txBox="1"/>
          <p:nvPr/>
        </p:nvSpPr>
        <p:spPr>
          <a:xfrm>
            <a:off x="822960" y="4434840"/>
            <a:ext cx="8412480" cy="1097280"/>
          </a:xfrm>
          <a:prstGeom prst="rect">
            <a:avLst/>
          </a:prstGeom>
          <a:noFill/>
        </p:spPr>
        <p:txBody>
          <a:bodyPr wrap="square" anchor="t">
            <a:spAutoFit/>
          </a:bodyPr>
          <a:lstStyle/>
          <a:p>
            <a:pPr algn="l">
              <a:spcAft>
                <a:spcPts val="400"/>
              </a:spcAft>
            </a:pPr>
            <a:r>
              <a:rPr sz="1500" b="0">
                <a:solidFill>
                  <a:srgbClr val="B9B4A9"/>
                </a:solidFill>
                <a:latin typeface="Calibri"/>
              </a:rPr>
              <a:t>Build a grounded HR agent: scope, knowledge, Skill, tests, sharing and staff enablement</a:t>
            </a:r>
          </a:p>
        </p:txBody>
      </p:sp>
      <p:sp>
        <p:nvSpPr>
          <p:cNvPr id="9" name="TextBox 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1" name="TextBox 1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160</a:t>
            </a:r>
          </a:p>
        </p:txBody>
      </p:sp>
    </p:spTree>
  </p:cSld>
  <p:clrMapOvr>
    <a:masterClrMapping/>
  </p:clrMapOvr>
  <p:transition spd="med">
    <p:fade/>
  </p:transition>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KEY CONCEPTS · K4 · A4</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Key Concepts — Create Microsoft 365 Agents for Businesses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Boundary</a:t>
            </a:r>
          </a:p>
          <a:p>
            <a:pPr algn="l">
              <a:spcAft>
                <a:spcPts val="300"/>
              </a:spcAft>
            </a:pPr>
            <a:r>
              <a:rPr sz="1400" b="0">
                <a:solidFill>
                  <a:srgbClr val="6B6862"/>
                </a:solidFill>
                <a:latin typeface="Calibri"/>
              </a:rPr>
              <a:t>HR helpdesk answers; no approvals, sends or record changes.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Knowledge</a:t>
            </a:r>
          </a:p>
          <a:p>
            <a:pPr algn="l">
              <a:spcAft>
                <a:spcPts val="300"/>
              </a:spcAft>
            </a:pPr>
            <a:r>
              <a:rPr sz="1400" b="0">
                <a:solidFill>
                  <a:srgbClr val="6B6862"/>
                </a:solidFill>
                <a:latin typeface="Calibri"/>
              </a:rPr>
              <a:t>Permission-aware HR handbook and verified case snapshot.</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Skill</a:t>
            </a:r>
          </a:p>
          <a:p>
            <a:pPr algn="l">
              <a:spcAft>
                <a:spcPts val="300"/>
              </a:spcAft>
            </a:pPr>
            <a:r>
              <a:rPr sz="1400" b="0">
                <a:solidFill>
                  <a:srgbClr val="6B6862"/>
                </a:solidFill>
                <a:latin typeface="Calibri"/>
              </a:rPr>
              <a:t>hr-policy-qa sets format, citations and privacy rules.</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Evaluation</a:t>
            </a:r>
          </a:p>
          <a:p>
            <a:pPr algn="l">
              <a:spcAft>
                <a:spcPts val="300"/>
              </a:spcAft>
            </a:pPr>
            <a:r>
              <a:rPr sz="1400" b="0">
                <a:solidFill>
                  <a:srgbClr val="6B6862"/>
                </a:solidFill>
                <a:latin typeface="Calibri"/>
              </a:rPr>
              <a:t>Known-answer, privacy and guardrail tests before named-user sharing.</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161</a:t>
            </a:r>
          </a:p>
        </p:txBody>
      </p:sp>
    </p:spTree>
  </p:cSld>
  <p:clrMapOvr>
    <a:masterClrMapping/>
  </p:clrMapOvr>
  <p:transition spd="med">
    <p:fade/>
  </p:transition>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 YOU'LL DO</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Hands-On Labs — Create Microsoft 365 Agents for Businesses</a:t>
            </a:r>
          </a:p>
        </p:txBody>
      </p:sp>
      <p:sp>
        <p:nvSpPr>
          <p:cNvPr id="5" name="Rounded Rectangle 4"/>
          <p:cNvSpPr/>
          <p:nvPr/>
        </p:nvSpPr>
        <p:spPr>
          <a:xfrm>
            <a:off x="777240"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225796"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4814316" cy="548640"/>
          </a:xfrm>
          <a:prstGeom prst="rect">
            <a:avLst/>
          </a:prstGeom>
          <a:noFill/>
        </p:spPr>
        <p:txBody>
          <a:bodyPr wrap="square" anchor="t">
            <a:spAutoFit/>
          </a:bodyPr>
          <a:lstStyle/>
          <a:p>
            <a:pPr algn="l">
              <a:spcAft>
                <a:spcPts val="400"/>
              </a:spcAft>
            </a:pPr>
            <a:r>
              <a:rPr sz="1900" b="1">
                <a:solidFill>
                  <a:srgbClr val="D97757"/>
                </a:solidFill>
                <a:latin typeface="Cambria"/>
              </a:rPr>
              <a:t>Labs 11–12</a:t>
            </a:r>
          </a:p>
        </p:txBody>
      </p:sp>
      <p:sp>
        <p:nvSpPr>
          <p:cNvPr id="8" name="TextBox 7"/>
          <p:cNvSpPr txBox="1"/>
          <p:nvPr/>
        </p:nvSpPr>
        <p:spPr>
          <a:xfrm>
            <a:off x="1005840"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Agent Scope and Knowledge</a:t>
            </a:r>
          </a:p>
          <a:p>
            <a:pPr>
              <a:spcAft>
                <a:spcPts val="900"/>
              </a:spcAft>
            </a:pPr>
            <a:r>
              <a:rPr sz="1200" b="0">
                <a:solidFill>
                  <a:srgbClr val="6B6862"/>
                </a:solidFill>
                <a:latin typeface="Calibri"/>
              </a:rPr>
              <a:t>–  Design the HR Policy Agent: Users, Knowledge and Skill</a:t>
            </a:r>
          </a:p>
          <a:p>
            <a:pPr>
              <a:spcAft>
                <a:spcPts val="900"/>
              </a:spcAft>
            </a:pPr>
            <a:r>
              <a:rPr sz="1400" b="1">
                <a:solidFill>
                  <a:srgbClr val="21201C"/>
                </a:solidFill>
                <a:latin typeface="Calibri"/>
              </a:rPr>
              <a:t>•  Agent Configuration</a:t>
            </a:r>
          </a:p>
          <a:p>
            <a:pPr>
              <a:spcAft>
                <a:spcPts val="900"/>
              </a:spcAft>
            </a:pPr>
            <a:r>
              <a:rPr sz="1200" b="0">
                <a:solidFill>
                  <a:srgbClr val="6B6862"/>
                </a:solidFill>
                <a:latin typeface="Calibri"/>
              </a:rPr>
              <a:t>–  Build the HR Agent: Instructions, Knowledge, Skill and Starter Prompts</a:t>
            </a:r>
          </a:p>
        </p:txBody>
      </p:sp>
      <p:sp>
        <p:nvSpPr>
          <p:cNvPr id="9" name="Rounded Rectangle 8"/>
          <p:cNvSpPr/>
          <p:nvPr/>
        </p:nvSpPr>
        <p:spPr>
          <a:xfrm>
            <a:off x="6185916"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6185916" y="1783080"/>
            <a:ext cx="5225796"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6414516" y="2011680"/>
            <a:ext cx="4814316" cy="548640"/>
          </a:xfrm>
          <a:prstGeom prst="rect">
            <a:avLst/>
          </a:prstGeom>
          <a:noFill/>
        </p:spPr>
        <p:txBody>
          <a:bodyPr wrap="square" anchor="t">
            <a:spAutoFit/>
          </a:bodyPr>
          <a:lstStyle/>
          <a:p>
            <a:pPr algn="l">
              <a:spcAft>
                <a:spcPts val="400"/>
              </a:spcAft>
            </a:pPr>
            <a:r>
              <a:rPr sz="1900" b="1">
                <a:solidFill>
                  <a:srgbClr val="3A7D7B"/>
                </a:solidFill>
                <a:latin typeface="Cambria"/>
              </a:rPr>
              <a:t>Labs 13–14</a:t>
            </a:r>
          </a:p>
        </p:txBody>
      </p:sp>
      <p:sp>
        <p:nvSpPr>
          <p:cNvPr id="12" name="TextBox 11"/>
          <p:cNvSpPr txBox="1"/>
          <p:nvPr/>
        </p:nvSpPr>
        <p:spPr>
          <a:xfrm>
            <a:off x="6414516"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Agent Test and Evaluation</a:t>
            </a:r>
          </a:p>
          <a:p>
            <a:pPr>
              <a:spcAft>
                <a:spcPts val="900"/>
              </a:spcAft>
            </a:pPr>
            <a:r>
              <a:rPr sz="1200" b="0">
                <a:solidFill>
                  <a:srgbClr val="6B6862"/>
                </a:solidFill>
                <a:latin typeface="Calibri"/>
              </a:rPr>
              <a:t>–  Test Grounded HR Answers, Citations and Guardrails</a:t>
            </a:r>
          </a:p>
          <a:p>
            <a:pPr>
              <a:spcAft>
                <a:spcPts val="900"/>
              </a:spcAft>
            </a:pPr>
            <a:r>
              <a:rPr sz="1400" b="1">
                <a:solidFill>
                  <a:srgbClr val="21201C"/>
                </a:solidFill>
                <a:latin typeface="Calibri"/>
              </a:rPr>
              <a:t>•  Governed Sharing and Enablement</a:t>
            </a:r>
          </a:p>
          <a:p>
            <a:pPr>
              <a:spcAft>
                <a:spcPts val="900"/>
              </a:spcAft>
            </a:pPr>
            <a:r>
              <a:rPr sz="1200" b="0">
                <a:solidFill>
                  <a:srgbClr val="6B6862"/>
                </a:solidFill>
                <a:latin typeface="Calibri"/>
              </a:rPr>
              <a:t>–  Share the HR Agent with Named Users and Deliver Staff Enablement</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162</a:t>
            </a:r>
          </a:p>
        </p:txBody>
      </p:sp>
    </p:spTree>
  </p:cSld>
  <p:clrMapOvr>
    <a:masterClrMapping/>
  </p:clrMapOvr>
  <p:transition spd="med">
    <p:fade/>
  </p:transition>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An HR Agent Answers from Approved Knowledge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Agent Builder creates declarative agents for focused retrieval and drafting in Microsoft 365 Copilot.</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precise boundary keeps a helpful HR assistant from being mistaken for an approval system or a source of other people’s data.</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Annual leave answer cites section 1</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163</a:t>
            </a:r>
          </a:p>
        </p:txBody>
      </p:sp>
    </p:spTree>
  </p:cSld>
  <p:clrMapOvr>
    <a:masterClrMapping/>
  </p:clrMapOvr>
  <p:transition spd="med">
    <p:fade/>
  </p:transition>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An HR Agent Answers from Approved Knowledge</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Name users and questions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List approved knowledge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State refused requests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success and escalation</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164</a:t>
            </a:r>
          </a:p>
        </p:txBody>
      </p:sp>
    </p:spTree>
  </p:cSld>
  <p:clrMapOvr>
    <a:masterClrMapping/>
  </p:clrMapOvr>
  <p:transition spd="med">
    <p:fade/>
  </p:transition>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An HR Agent Answers from Approved Knowledge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No approvals, sends or record changes</a:t>
            </a:r>
          </a:p>
          <a:p>
            <a:pPr>
              <a:spcAft>
                <a:spcPts val="1000"/>
              </a:spcAft>
            </a:pPr>
            <a:r>
              <a:rPr sz="1600" b="0">
                <a:solidFill>
                  <a:srgbClr val="21201C"/>
                </a:solidFill>
                <a:latin typeface="Calibri"/>
              </a:rPr>
              <a:t>•  HR Business Partner handles UNKNOWN</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165</a:t>
            </a:r>
          </a:p>
        </p:txBody>
      </p:sp>
    </p:spTree>
  </p:cSld>
  <p:clrMapOvr>
    <a:masterClrMapping/>
  </p:clrMapOvr>
  <p:transition spd="med">
    <p:fade/>
  </p:transition>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An HR Agent Answers from Approved Knowledge</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https://learn.microsoft.com/en-us/microsoft-365-copilot/extensibility/agent-builder</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Annual leave answer cites section 1</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No approvals, sends or record changes</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task needs approvals, live HR records or another employee’s data.</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166</a:t>
            </a:r>
          </a:p>
        </p:txBody>
      </p:sp>
    </p:spTree>
  </p:cSld>
  <p:clrMapOvr>
    <a:masterClrMapping/>
  </p:clrMapOvr>
  <p:transition spd="med">
    <p:fade/>
  </p:transition>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Find Your Agents — ••• &gt; All Agents</a:t>
            </a:r>
          </a:p>
        </p:txBody>
      </p:sp>
      <p:sp>
        <p:nvSpPr>
          <p:cNvPr id="5" name="Rectangle 4"/>
          <p:cNvSpPr/>
          <p:nvPr/>
        </p:nvSpPr>
        <p:spPr>
          <a:xfrm>
            <a:off x="731520" y="1764792"/>
            <a:ext cx="4396740" cy="4434840"/>
          </a:xfrm>
          <a:prstGeom prst="rect">
            <a:avLst/>
          </a:prstGeom>
          <a:solidFill>
            <a:srgbClr val="DCD8CF"/>
          </a:solidFill>
          <a:ln>
            <a:noFill/>
          </a:ln>
          <a:effectLst/>
        </p:spPr>
        <p:txBody>
          <a:bodyPr rtlCol="0" anchor="ctr"/>
          <a:lstStyle/>
          <a:p>
            <a:pPr algn="ctr"/>
          </a:p>
        </p:txBody>
      </p:sp>
      <p:pic>
        <p:nvPicPr>
          <p:cNvPr id="6" name="Picture 5" descr="all-agents-menu.png"/>
          <p:cNvPicPr>
            <a:picLocks noChangeAspect="1"/>
          </p:cNvPicPr>
          <p:nvPr/>
        </p:nvPicPr>
        <p:blipFill>
          <a:blip r:embed="rId2"/>
          <a:stretch>
            <a:fillRect/>
          </a:stretch>
        </p:blipFill>
        <p:spPr>
          <a:xfrm>
            <a:off x="777240" y="1810512"/>
            <a:ext cx="4305300" cy="4343400"/>
          </a:xfrm>
          <a:prstGeom prst="rect">
            <a:avLst/>
          </a:prstGeom>
        </p:spPr>
      </p:pic>
      <p:sp>
        <p:nvSpPr>
          <p:cNvPr id="7" name="Rounded Rectangle 6"/>
          <p:cNvSpPr/>
          <p:nvPr/>
        </p:nvSpPr>
        <p:spPr>
          <a:xfrm>
            <a:off x="5448300" y="1810512"/>
            <a:ext cx="5963412"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5448300" y="1810512"/>
            <a:ext cx="5963412" cy="64008"/>
          </a:xfrm>
          <a:prstGeom prst="rect">
            <a:avLst/>
          </a:prstGeom>
          <a:solidFill>
            <a:srgbClr val="D97757"/>
          </a:solidFill>
          <a:ln>
            <a:noFill/>
          </a:ln>
          <a:effectLst/>
        </p:spPr>
        <p:txBody>
          <a:bodyPr rtlCol="0" anchor="ctr"/>
          <a:lstStyle/>
          <a:p>
            <a:pPr algn="ctr"/>
          </a:p>
        </p:txBody>
      </p:sp>
      <p:sp>
        <p:nvSpPr>
          <p:cNvPr id="9" name="Oval 8"/>
          <p:cNvSpPr/>
          <p:nvPr/>
        </p:nvSpPr>
        <p:spPr>
          <a:xfrm>
            <a:off x="5631180" y="2120265"/>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5631180" y="2120265"/>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6179820" y="1810512"/>
            <a:ext cx="5049012" cy="1003554"/>
          </a:xfrm>
          <a:prstGeom prst="rect">
            <a:avLst/>
          </a:prstGeom>
          <a:noFill/>
        </p:spPr>
        <p:txBody>
          <a:bodyPr wrap="square" anchor="ctr">
            <a:spAutoFit/>
          </a:bodyPr>
          <a:lstStyle/>
          <a:p>
            <a:pPr algn="l">
              <a:spcAft>
                <a:spcPts val="200"/>
              </a:spcAft>
            </a:pPr>
            <a:r>
              <a:rPr sz="1400" b="1">
                <a:solidFill>
                  <a:srgbClr val="21201C"/>
                </a:solidFill>
                <a:latin typeface="Calibri"/>
              </a:rPr>
              <a:t>Personalization</a:t>
            </a:r>
          </a:p>
          <a:p>
            <a:pPr algn="l">
              <a:spcAft>
                <a:spcPts val="200"/>
              </a:spcAft>
            </a:pPr>
            <a:r>
              <a:rPr sz="1200" b="0">
                <a:solidFill>
                  <a:srgbClr val="6B6862"/>
                </a:solidFill>
                <a:latin typeface="Calibri"/>
              </a:rPr>
              <a:t>Account-level preferences from Lab 3; they apply to you, not to the agent.</a:t>
            </a:r>
          </a:p>
        </p:txBody>
      </p:sp>
      <p:sp>
        <p:nvSpPr>
          <p:cNvPr id="12" name="Rounded Rectangle 11"/>
          <p:cNvSpPr/>
          <p:nvPr/>
        </p:nvSpPr>
        <p:spPr>
          <a:xfrm>
            <a:off x="5448300" y="2923794"/>
            <a:ext cx="5963412"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5448300" y="2923794"/>
            <a:ext cx="5963412" cy="64008"/>
          </a:xfrm>
          <a:prstGeom prst="rect">
            <a:avLst/>
          </a:prstGeom>
          <a:solidFill>
            <a:srgbClr val="3A7D7B"/>
          </a:solidFill>
          <a:ln>
            <a:noFill/>
          </a:ln>
          <a:effectLst/>
        </p:spPr>
        <p:txBody>
          <a:bodyPr rtlCol="0" anchor="ctr"/>
          <a:lstStyle/>
          <a:p>
            <a:pPr algn="ctr"/>
          </a:p>
        </p:txBody>
      </p:sp>
      <p:sp>
        <p:nvSpPr>
          <p:cNvPr id="14" name="Oval 13"/>
          <p:cNvSpPr/>
          <p:nvPr/>
        </p:nvSpPr>
        <p:spPr>
          <a:xfrm>
            <a:off x="5631180" y="3233547"/>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5631180" y="3233547"/>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6179820" y="2923794"/>
            <a:ext cx="5049012" cy="1003554"/>
          </a:xfrm>
          <a:prstGeom prst="rect">
            <a:avLst/>
          </a:prstGeom>
          <a:noFill/>
        </p:spPr>
        <p:txBody>
          <a:bodyPr wrap="square" anchor="ctr">
            <a:spAutoFit/>
          </a:bodyPr>
          <a:lstStyle/>
          <a:p>
            <a:pPr algn="l">
              <a:spcAft>
                <a:spcPts val="200"/>
              </a:spcAft>
            </a:pPr>
            <a:r>
              <a:rPr sz="1400" b="1">
                <a:solidFill>
                  <a:srgbClr val="21201C"/>
                </a:solidFill>
                <a:latin typeface="Calibri"/>
              </a:rPr>
              <a:t>Manage plugins &amp; skills</a:t>
            </a:r>
          </a:p>
          <a:p>
            <a:pPr algn="l">
              <a:spcAft>
                <a:spcPts val="200"/>
              </a:spcAft>
            </a:pPr>
            <a:r>
              <a:rPr sz="1200" b="0">
                <a:solidFill>
                  <a:srgbClr val="6B6862"/>
                </a:solidFill>
                <a:latin typeface="Calibri"/>
              </a:rPr>
              <a:t>Skills from Labs 5–7; an agent carries its own Skills, such as hr-policy-qa.</a:t>
            </a:r>
          </a:p>
        </p:txBody>
      </p:sp>
      <p:sp>
        <p:nvSpPr>
          <p:cNvPr id="17" name="Rounded Rectangle 16"/>
          <p:cNvSpPr/>
          <p:nvPr/>
        </p:nvSpPr>
        <p:spPr>
          <a:xfrm>
            <a:off x="5448300" y="4037076"/>
            <a:ext cx="5963412"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448300" y="4037076"/>
            <a:ext cx="5963412" cy="64008"/>
          </a:xfrm>
          <a:prstGeom prst="rect">
            <a:avLst/>
          </a:prstGeom>
          <a:solidFill>
            <a:srgbClr val="5B4B8A"/>
          </a:solidFill>
          <a:ln>
            <a:noFill/>
          </a:ln>
          <a:effectLst/>
        </p:spPr>
        <p:txBody>
          <a:bodyPr rtlCol="0" anchor="ctr"/>
          <a:lstStyle/>
          <a:p>
            <a:pPr algn="ctr"/>
          </a:p>
        </p:txBody>
      </p:sp>
      <p:sp>
        <p:nvSpPr>
          <p:cNvPr id="19" name="Oval 18"/>
          <p:cNvSpPr/>
          <p:nvPr/>
        </p:nvSpPr>
        <p:spPr>
          <a:xfrm>
            <a:off x="5631180" y="4346829"/>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5631180" y="4346829"/>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6179820" y="4037076"/>
            <a:ext cx="5049012" cy="1003554"/>
          </a:xfrm>
          <a:prstGeom prst="rect">
            <a:avLst/>
          </a:prstGeom>
          <a:noFill/>
        </p:spPr>
        <p:txBody>
          <a:bodyPr wrap="square" anchor="ctr">
            <a:spAutoFit/>
          </a:bodyPr>
          <a:lstStyle/>
          <a:p>
            <a:pPr algn="l">
              <a:spcAft>
                <a:spcPts val="200"/>
              </a:spcAft>
            </a:pPr>
            <a:r>
              <a:rPr sz="1400" b="1">
                <a:solidFill>
                  <a:srgbClr val="21201C"/>
                </a:solidFill>
                <a:latin typeface="Calibri"/>
              </a:rPr>
              <a:t>All Agents</a:t>
            </a:r>
          </a:p>
          <a:p>
            <a:pPr algn="l">
              <a:spcAft>
                <a:spcPts val="200"/>
              </a:spcAft>
            </a:pPr>
            <a:r>
              <a:rPr sz="1200" b="0">
                <a:solidFill>
                  <a:srgbClr val="6B6862"/>
                </a:solidFill>
                <a:latin typeface="Calibri"/>
              </a:rPr>
              <a:t>Lists agents available to you, including the Lumina HR Policy Agent once shared.</a:t>
            </a:r>
          </a:p>
        </p:txBody>
      </p:sp>
      <p:sp>
        <p:nvSpPr>
          <p:cNvPr id="22" name="Rounded Rectangle 21"/>
          <p:cNvSpPr/>
          <p:nvPr/>
        </p:nvSpPr>
        <p:spPr>
          <a:xfrm>
            <a:off x="5448300" y="5150358"/>
            <a:ext cx="5963412"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5448300" y="5150358"/>
            <a:ext cx="5963412" cy="64008"/>
          </a:xfrm>
          <a:prstGeom prst="rect">
            <a:avLst/>
          </a:prstGeom>
          <a:solidFill>
            <a:srgbClr val="C2603F"/>
          </a:solidFill>
          <a:ln>
            <a:noFill/>
          </a:ln>
          <a:effectLst/>
        </p:spPr>
        <p:txBody>
          <a:bodyPr rtlCol="0" anchor="ctr"/>
          <a:lstStyle/>
          <a:p>
            <a:pPr algn="ctr"/>
          </a:p>
        </p:txBody>
      </p:sp>
      <p:sp>
        <p:nvSpPr>
          <p:cNvPr id="24" name="Oval 23"/>
          <p:cNvSpPr/>
          <p:nvPr/>
        </p:nvSpPr>
        <p:spPr>
          <a:xfrm>
            <a:off x="5631180" y="5460111"/>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5631180" y="546011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6179820" y="5150358"/>
            <a:ext cx="5049012" cy="1003554"/>
          </a:xfrm>
          <a:prstGeom prst="rect">
            <a:avLst/>
          </a:prstGeom>
          <a:noFill/>
        </p:spPr>
        <p:txBody>
          <a:bodyPr wrap="square" anchor="ctr">
            <a:spAutoFit/>
          </a:bodyPr>
          <a:lstStyle/>
          <a:p>
            <a:pPr algn="l">
              <a:spcAft>
                <a:spcPts val="200"/>
              </a:spcAft>
            </a:pPr>
            <a:r>
              <a:rPr sz="1400" b="1">
                <a:solidFill>
                  <a:srgbClr val="21201C"/>
                </a:solidFill>
                <a:latin typeface="Calibri"/>
              </a:rPr>
              <a:t>Send feedback</a:t>
            </a:r>
          </a:p>
          <a:p>
            <a:pPr algn="l">
              <a:spcAft>
                <a:spcPts val="200"/>
              </a:spcAft>
            </a:pPr>
            <a:r>
              <a:rPr sz="1200" b="0">
                <a:solidFill>
                  <a:srgbClr val="6B6862"/>
                </a:solidFill>
                <a:latin typeface="Calibri"/>
              </a:rPr>
              <a:t>Report a wrong or unsafe answer, and also log it in your agent test matrix.</a:t>
            </a:r>
          </a:p>
        </p:txBody>
      </p:sp>
      <p:sp>
        <p:nvSpPr>
          <p:cNvPr id="27" name="TextBox 2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9" name="TextBox 2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167</a:t>
            </a:r>
          </a:p>
        </p:txBody>
      </p:sp>
    </p:spTree>
  </p:cSld>
  <p:clrMapOvr>
    <a:masterClrMapping/>
  </p:clrMapOvr>
  <p:transition spd="med">
    <p:fade/>
  </p:transition>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Agents &gt; New Agent Opens Agent Builder</a:t>
            </a:r>
          </a:p>
        </p:txBody>
      </p:sp>
      <p:sp>
        <p:nvSpPr>
          <p:cNvPr id="5" name="Rectangle 4"/>
          <p:cNvSpPr/>
          <p:nvPr/>
        </p:nvSpPr>
        <p:spPr>
          <a:xfrm>
            <a:off x="731520" y="1764792"/>
            <a:ext cx="5760720" cy="2974953"/>
          </a:xfrm>
          <a:prstGeom prst="rect">
            <a:avLst/>
          </a:prstGeom>
          <a:solidFill>
            <a:srgbClr val="DCD8CF"/>
          </a:solidFill>
          <a:ln>
            <a:noFill/>
          </a:ln>
          <a:effectLst/>
        </p:spPr>
        <p:txBody>
          <a:bodyPr rtlCol="0" anchor="ctr"/>
          <a:lstStyle/>
          <a:p>
            <a:pPr algn="ctr"/>
          </a:p>
        </p:txBody>
      </p:sp>
      <p:pic>
        <p:nvPicPr>
          <p:cNvPr id="6" name="Picture 5" descr="agent-builder-start.png"/>
          <p:cNvPicPr>
            <a:picLocks noChangeAspect="1"/>
          </p:cNvPicPr>
          <p:nvPr/>
        </p:nvPicPr>
        <p:blipFill>
          <a:blip r:embed="rId2"/>
          <a:stretch>
            <a:fillRect/>
          </a:stretch>
        </p:blipFill>
        <p:spPr>
          <a:xfrm>
            <a:off x="777240" y="1810512"/>
            <a:ext cx="5669280" cy="2883513"/>
          </a:xfrm>
          <a:prstGeom prst="rect">
            <a:avLst/>
          </a:prstGeom>
        </p:spPr>
      </p:pic>
      <p:sp>
        <p:nvSpPr>
          <p:cNvPr id="7" name="Rounded Rectangle 6"/>
          <p:cNvSpPr/>
          <p:nvPr/>
        </p:nvSpPr>
        <p:spPr>
          <a:xfrm>
            <a:off x="6812280" y="1810512"/>
            <a:ext cx="4599432" cy="63858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6812280" y="1810512"/>
            <a:ext cx="4599432" cy="64008"/>
          </a:xfrm>
          <a:prstGeom prst="rect">
            <a:avLst/>
          </a:prstGeom>
          <a:solidFill>
            <a:srgbClr val="D97757"/>
          </a:solidFill>
          <a:ln>
            <a:noFill/>
          </a:ln>
          <a:effectLst/>
        </p:spPr>
        <p:txBody>
          <a:bodyPr rtlCol="0" anchor="ctr"/>
          <a:lstStyle/>
          <a:p>
            <a:pPr algn="ctr"/>
          </a:p>
        </p:txBody>
      </p:sp>
      <p:sp>
        <p:nvSpPr>
          <p:cNvPr id="9" name="Oval 8"/>
          <p:cNvSpPr/>
          <p:nvPr/>
        </p:nvSpPr>
        <p:spPr>
          <a:xfrm>
            <a:off x="6995160" y="1937779"/>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6995160" y="1937779"/>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7543800" y="1810512"/>
            <a:ext cx="3685032" cy="638582"/>
          </a:xfrm>
          <a:prstGeom prst="rect">
            <a:avLst/>
          </a:prstGeom>
          <a:noFill/>
        </p:spPr>
        <p:txBody>
          <a:bodyPr wrap="square" anchor="ctr">
            <a:spAutoFit/>
          </a:bodyPr>
          <a:lstStyle/>
          <a:p>
            <a:pPr algn="l">
              <a:spcAft>
                <a:spcPts val="200"/>
              </a:spcAft>
            </a:pPr>
            <a:r>
              <a:rPr sz="1400" b="1">
                <a:solidFill>
                  <a:srgbClr val="21201C"/>
                </a:solidFill>
                <a:latin typeface="Calibri"/>
              </a:rPr>
              <a:t>Describe it</a:t>
            </a:r>
          </a:p>
          <a:p>
            <a:pPr algn="l">
              <a:spcAft>
                <a:spcPts val="200"/>
              </a:spcAft>
            </a:pPr>
            <a:r>
              <a:rPr sz="1200" b="0">
                <a:solidFill>
                  <a:srgbClr val="6B6862"/>
                </a:solidFill>
                <a:latin typeface="Calibri"/>
              </a:rPr>
              <a:t>Tell Agent Builder in plain language what the agent should do; it drafts a configuration for you to review.</a:t>
            </a:r>
          </a:p>
        </p:txBody>
      </p:sp>
      <p:sp>
        <p:nvSpPr>
          <p:cNvPr id="12" name="Rounded Rectangle 11"/>
          <p:cNvSpPr/>
          <p:nvPr/>
        </p:nvSpPr>
        <p:spPr>
          <a:xfrm>
            <a:off x="6812280" y="2558822"/>
            <a:ext cx="4599432" cy="63858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6812280" y="2558822"/>
            <a:ext cx="4599432" cy="64008"/>
          </a:xfrm>
          <a:prstGeom prst="rect">
            <a:avLst/>
          </a:prstGeom>
          <a:solidFill>
            <a:srgbClr val="3A7D7B"/>
          </a:solidFill>
          <a:ln>
            <a:noFill/>
          </a:ln>
          <a:effectLst/>
        </p:spPr>
        <p:txBody>
          <a:bodyPr rtlCol="0" anchor="ctr"/>
          <a:lstStyle/>
          <a:p>
            <a:pPr algn="ctr"/>
          </a:p>
        </p:txBody>
      </p:sp>
      <p:sp>
        <p:nvSpPr>
          <p:cNvPr id="14" name="Oval 13"/>
          <p:cNvSpPr/>
          <p:nvPr/>
        </p:nvSpPr>
        <p:spPr>
          <a:xfrm>
            <a:off x="6995160" y="2686089"/>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6995160" y="2686089"/>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7543800" y="2558822"/>
            <a:ext cx="3685032" cy="638582"/>
          </a:xfrm>
          <a:prstGeom prst="rect">
            <a:avLst/>
          </a:prstGeom>
          <a:noFill/>
        </p:spPr>
        <p:txBody>
          <a:bodyPr wrap="square" anchor="ctr">
            <a:spAutoFit/>
          </a:bodyPr>
          <a:lstStyle/>
          <a:p>
            <a:pPr algn="l">
              <a:spcAft>
                <a:spcPts val="200"/>
              </a:spcAft>
            </a:pPr>
            <a:r>
              <a:rPr sz="1400" b="1">
                <a:solidFill>
                  <a:srgbClr val="21201C"/>
                </a:solidFill>
                <a:latin typeface="Calibri"/>
              </a:rPr>
              <a:t>Skip</a:t>
            </a:r>
          </a:p>
          <a:p>
            <a:pPr algn="l">
              <a:spcAft>
                <a:spcPts val="200"/>
              </a:spcAft>
            </a:pPr>
            <a:r>
              <a:rPr sz="1200" b="0">
                <a:solidFill>
                  <a:srgbClr val="6B6862"/>
                </a:solidFill>
                <a:latin typeface="Calibri"/>
              </a:rPr>
              <a:t>Goes straight to the Configure form; Lab 12 fills it from the reviewed HR agent specification.</a:t>
            </a:r>
          </a:p>
        </p:txBody>
      </p:sp>
      <p:sp>
        <p:nvSpPr>
          <p:cNvPr id="17" name="Rounded Rectangle 16"/>
          <p:cNvSpPr/>
          <p:nvPr/>
        </p:nvSpPr>
        <p:spPr>
          <a:xfrm>
            <a:off x="6812280" y="3307132"/>
            <a:ext cx="4599432" cy="63858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812280" y="3307132"/>
            <a:ext cx="4599432" cy="64008"/>
          </a:xfrm>
          <a:prstGeom prst="rect">
            <a:avLst/>
          </a:prstGeom>
          <a:solidFill>
            <a:srgbClr val="5B4B8A"/>
          </a:solidFill>
          <a:ln>
            <a:noFill/>
          </a:ln>
          <a:effectLst/>
        </p:spPr>
        <p:txBody>
          <a:bodyPr rtlCol="0" anchor="ctr"/>
          <a:lstStyle/>
          <a:p>
            <a:pPr algn="ctr"/>
          </a:p>
        </p:txBody>
      </p:sp>
      <p:sp>
        <p:nvSpPr>
          <p:cNvPr id="19" name="Oval 18"/>
          <p:cNvSpPr/>
          <p:nvPr/>
        </p:nvSpPr>
        <p:spPr>
          <a:xfrm>
            <a:off x="6995160" y="3434399"/>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6995160" y="3434399"/>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7543800" y="3307132"/>
            <a:ext cx="3685032" cy="638582"/>
          </a:xfrm>
          <a:prstGeom prst="rect">
            <a:avLst/>
          </a:prstGeom>
          <a:noFill/>
        </p:spPr>
        <p:txBody>
          <a:bodyPr wrap="square" anchor="ctr">
            <a:spAutoFit/>
          </a:bodyPr>
          <a:lstStyle/>
          <a:p>
            <a:pPr algn="l">
              <a:spcAft>
                <a:spcPts val="200"/>
              </a:spcAft>
            </a:pPr>
            <a:r>
              <a:rPr sz="1400" b="1">
                <a:solidFill>
                  <a:srgbClr val="21201C"/>
                </a:solidFill>
                <a:latin typeface="Calibri"/>
              </a:rPr>
              <a:t>Templates / My agents</a:t>
            </a:r>
          </a:p>
          <a:p>
            <a:pPr algn="l">
              <a:spcAft>
                <a:spcPts val="200"/>
              </a:spcAft>
            </a:pPr>
            <a:r>
              <a:rPr sz="1200" b="0">
                <a:solidFill>
                  <a:srgbClr val="6B6862"/>
                </a:solidFill>
                <a:latin typeface="Calibri"/>
              </a:rPr>
              <a:t>Start from a template or reopen an agent you built; My agents lists your own.</a:t>
            </a:r>
          </a:p>
        </p:txBody>
      </p:sp>
      <p:sp>
        <p:nvSpPr>
          <p:cNvPr id="22" name="Rounded Rectangle 21"/>
          <p:cNvSpPr/>
          <p:nvPr/>
        </p:nvSpPr>
        <p:spPr>
          <a:xfrm>
            <a:off x="6812280" y="4055442"/>
            <a:ext cx="4599432" cy="63858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6812280" y="4055442"/>
            <a:ext cx="4599432" cy="64008"/>
          </a:xfrm>
          <a:prstGeom prst="rect">
            <a:avLst/>
          </a:prstGeom>
          <a:solidFill>
            <a:srgbClr val="C2603F"/>
          </a:solidFill>
          <a:ln>
            <a:noFill/>
          </a:ln>
          <a:effectLst/>
        </p:spPr>
        <p:txBody>
          <a:bodyPr rtlCol="0" anchor="ctr"/>
          <a:lstStyle/>
          <a:p>
            <a:pPr algn="ctr"/>
          </a:p>
        </p:txBody>
      </p:sp>
      <p:sp>
        <p:nvSpPr>
          <p:cNvPr id="24" name="Oval 23"/>
          <p:cNvSpPr/>
          <p:nvPr/>
        </p:nvSpPr>
        <p:spPr>
          <a:xfrm>
            <a:off x="6995160" y="4182709"/>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6995160" y="4182709"/>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7543800" y="4055442"/>
            <a:ext cx="3685032" cy="638582"/>
          </a:xfrm>
          <a:prstGeom prst="rect">
            <a:avLst/>
          </a:prstGeom>
          <a:noFill/>
        </p:spPr>
        <p:txBody>
          <a:bodyPr wrap="square" anchor="ctr">
            <a:spAutoFit/>
          </a:bodyPr>
          <a:lstStyle/>
          <a:p>
            <a:pPr algn="l">
              <a:spcAft>
                <a:spcPts val="200"/>
              </a:spcAft>
            </a:pPr>
            <a:r>
              <a:rPr sz="1400" b="1">
                <a:solidFill>
                  <a:srgbClr val="21201C"/>
                </a:solidFill>
                <a:latin typeface="Calibri"/>
              </a:rPr>
              <a:t>+ sources</a:t>
            </a:r>
          </a:p>
          <a:p>
            <a:pPr algn="l">
              <a:spcAft>
                <a:spcPts val="200"/>
              </a:spcAft>
            </a:pPr>
            <a:r>
              <a:rPr sz="1200" b="0">
                <a:solidFill>
                  <a:srgbClr val="6B6862"/>
                </a:solidFill>
                <a:latin typeface="Calibri"/>
              </a:rPr>
              <a:t>Attach the approved knowledge files while you describe the agent.</a:t>
            </a:r>
          </a:p>
        </p:txBody>
      </p:sp>
      <p:sp>
        <p:nvSpPr>
          <p:cNvPr id="27" name="TextBox 2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9" name="TextBox 2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168</a:t>
            </a:r>
          </a:p>
        </p:txBody>
      </p:sp>
    </p:spTree>
  </p:cSld>
  <p:clrMapOvr>
    <a:masterClrMapping/>
  </p:clrMapOvr>
  <p:transition spd="med">
    <p:fade/>
  </p:transition>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Knowledge Inventory and Permission Model</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Knowledge can include SharePoint, OneDrive, embedded files and other licensed sources.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Owner success can hide user-access failure.</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Existing permissions stay in force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169</a:t>
            </a:r>
          </a:p>
        </p:txBody>
      </p:sp>
    </p:spTree>
  </p:cSld>
  <p:clrMapOvr>
    <a:masterClrMapping/>
  </p:clrMapOvr>
  <p:transition spd="med">
    <p:fade/>
  </p:transition>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Knowledge Inventory and Permission Model</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Inventory sources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Record owner and date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Check user permission</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Test as a representative user</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170</a:t>
            </a:r>
          </a:p>
        </p:txBody>
      </p:sp>
    </p:spTree>
  </p:cSld>
  <p:clrMapOvr>
    <a:masterClrMapping/>
  </p:clrMapOvr>
  <p:transition spd="med">
    <p:fade/>
  </p:transition>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Knowledge Inventory and Permission Model</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Restricted case notes are excluded</a:t>
            </a:r>
          </a:p>
          <a:p>
            <a:pPr>
              <a:spcAft>
                <a:spcPts val="1000"/>
              </a:spcAft>
            </a:pPr>
            <a:r>
              <a:rPr sz="1600" b="0">
                <a:solidFill>
                  <a:srgbClr val="21201C"/>
                </a:solidFill>
                <a:latin typeface="Calibri"/>
              </a:rPr>
              <a:t>•  A local path is not cloud knowledge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171</a:t>
            </a:r>
          </a:p>
        </p:txBody>
      </p:sp>
    </p:spTree>
  </p:cSld>
  <p:clrMapOvr>
    <a:masterClrMapping/>
  </p:clrMapOvr>
  <p:transition spd="med">
    <p:fade/>
  </p:transition>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Knowledge Inventory and Permission Model</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https://learn.microsoft.com/en-us/microsoft-365-copilot/extensibility/copilot-studio-lite-knowledge</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Existing permissions stay in force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Restricted case notes are excluded</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Ownership or intended-user access is unknown.</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172</a:t>
            </a:r>
          </a:p>
        </p:txBody>
      </p:sp>
    </p:spTree>
  </p:cSld>
  <p:clrMapOvr>
    <a:masterClrMapping/>
  </p:clrMapOvr>
  <p:transition spd="med">
    <p:fade/>
  </p:transition>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Default Access Is Broad — Narrow It on Purpose</a:t>
            </a:r>
          </a:p>
        </p:txBody>
      </p:sp>
      <p:sp>
        <p:nvSpPr>
          <p:cNvPr id="5" name="Rectangle 4"/>
          <p:cNvSpPr/>
          <p:nvPr/>
        </p:nvSpPr>
        <p:spPr>
          <a:xfrm>
            <a:off x="731520" y="1764792"/>
            <a:ext cx="5760720" cy="3634740"/>
          </a:xfrm>
          <a:prstGeom prst="rect">
            <a:avLst/>
          </a:prstGeom>
          <a:solidFill>
            <a:srgbClr val="DCD8CF"/>
          </a:solidFill>
          <a:ln>
            <a:noFill/>
          </a:ln>
          <a:effectLst/>
        </p:spPr>
        <p:txBody>
          <a:bodyPr rtlCol="0" anchor="ctr"/>
          <a:lstStyle/>
          <a:p>
            <a:pPr algn="ctr"/>
          </a:p>
        </p:txBody>
      </p:sp>
      <p:pic>
        <p:nvPicPr>
          <p:cNvPr id="6" name="Picture 5" descr="agent-builder-whats-new.png"/>
          <p:cNvPicPr>
            <a:picLocks noChangeAspect="1"/>
          </p:cNvPicPr>
          <p:nvPr/>
        </p:nvPicPr>
        <p:blipFill>
          <a:blip r:embed="rId2"/>
          <a:stretch>
            <a:fillRect/>
          </a:stretch>
        </p:blipFill>
        <p:spPr>
          <a:xfrm>
            <a:off x="777240" y="1810512"/>
            <a:ext cx="5669280" cy="3543300"/>
          </a:xfrm>
          <a:prstGeom prst="rect">
            <a:avLst/>
          </a:prstGeom>
        </p:spPr>
      </p:pic>
      <p:sp>
        <p:nvSpPr>
          <p:cNvPr id="7" name="Rounded Rectangle 6"/>
          <p:cNvSpPr/>
          <p:nvPr/>
        </p:nvSpPr>
        <p:spPr>
          <a:xfrm>
            <a:off x="6812280" y="1810512"/>
            <a:ext cx="4599432" cy="11079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6812280" y="1810512"/>
            <a:ext cx="4599432" cy="64008"/>
          </a:xfrm>
          <a:prstGeom prst="rect">
            <a:avLst/>
          </a:prstGeom>
          <a:solidFill>
            <a:srgbClr val="D97757"/>
          </a:solidFill>
          <a:ln>
            <a:noFill/>
          </a:ln>
          <a:effectLst/>
        </p:spPr>
        <p:txBody>
          <a:bodyPr rtlCol="0" anchor="ctr"/>
          <a:lstStyle/>
          <a:p>
            <a:pPr algn="ctr"/>
          </a:p>
        </p:txBody>
      </p:sp>
      <p:sp>
        <p:nvSpPr>
          <p:cNvPr id="9" name="Oval 8"/>
          <p:cNvSpPr/>
          <p:nvPr/>
        </p:nvSpPr>
        <p:spPr>
          <a:xfrm>
            <a:off x="6995160" y="2172462"/>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6995160" y="2172462"/>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7543800" y="1810512"/>
            <a:ext cx="3685032" cy="1107948"/>
          </a:xfrm>
          <a:prstGeom prst="rect">
            <a:avLst/>
          </a:prstGeom>
          <a:noFill/>
        </p:spPr>
        <p:txBody>
          <a:bodyPr wrap="square" anchor="ctr">
            <a:spAutoFit/>
          </a:bodyPr>
          <a:lstStyle/>
          <a:p>
            <a:pPr algn="l">
              <a:spcAft>
                <a:spcPts val="200"/>
              </a:spcAft>
            </a:pPr>
            <a:r>
              <a:rPr sz="1400" b="1">
                <a:solidFill>
                  <a:srgbClr val="21201C"/>
                </a:solidFill>
                <a:latin typeface="Calibri"/>
              </a:rPr>
              <a:t>Everything by default</a:t>
            </a:r>
          </a:p>
          <a:p>
            <a:pPr algn="l">
              <a:spcAft>
                <a:spcPts val="200"/>
              </a:spcAft>
            </a:pPr>
            <a:r>
              <a:rPr sz="1200" b="0">
                <a:solidFill>
                  <a:srgbClr val="6B6862"/>
                </a:solidFill>
                <a:latin typeface="Calibri"/>
              </a:rPr>
              <a:t>New agents can reach OneDrive, SharePoint, your mailbox, Teams and the web, the same as Copilot.</a:t>
            </a:r>
          </a:p>
        </p:txBody>
      </p:sp>
      <p:sp>
        <p:nvSpPr>
          <p:cNvPr id="12" name="Rounded Rectangle 11"/>
          <p:cNvSpPr/>
          <p:nvPr/>
        </p:nvSpPr>
        <p:spPr>
          <a:xfrm>
            <a:off x="6812280" y="3028188"/>
            <a:ext cx="4599432" cy="11079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6812280" y="3028188"/>
            <a:ext cx="4599432" cy="64008"/>
          </a:xfrm>
          <a:prstGeom prst="rect">
            <a:avLst/>
          </a:prstGeom>
          <a:solidFill>
            <a:srgbClr val="3A7D7B"/>
          </a:solidFill>
          <a:ln>
            <a:noFill/>
          </a:ln>
          <a:effectLst/>
        </p:spPr>
        <p:txBody>
          <a:bodyPr rtlCol="0" anchor="ctr"/>
          <a:lstStyle/>
          <a:p>
            <a:pPr algn="ctr"/>
          </a:p>
        </p:txBody>
      </p:sp>
      <p:sp>
        <p:nvSpPr>
          <p:cNvPr id="14" name="Oval 13"/>
          <p:cNvSpPr/>
          <p:nvPr/>
        </p:nvSpPr>
        <p:spPr>
          <a:xfrm>
            <a:off x="6995160" y="3390138"/>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6995160" y="3390138"/>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7543800" y="3028188"/>
            <a:ext cx="3685032" cy="1107948"/>
          </a:xfrm>
          <a:prstGeom prst="rect">
            <a:avLst/>
          </a:prstGeom>
          <a:noFill/>
        </p:spPr>
        <p:txBody>
          <a:bodyPr wrap="square" anchor="ctr">
            <a:spAutoFit/>
          </a:bodyPr>
          <a:lstStyle/>
          <a:p>
            <a:pPr algn="l">
              <a:spcAft>
                <a:spcPts val="200"/>
              </a:spcAft>
            </a:pPr>
            <a:r>
              <a:rPr sz="1400" b="1">
                <a:solidFill>
                  <a:srgbClr val="21201C"/>
                </a:solidFill>
                <a:latin typeface="Calibri"/>
              </a:rPr>
              <a:t>Why it matters</a:t>
            </a:r>
          </a:p>
          <a:p>
            <a:pPr algn="l">
              <a:spcAft>
                <a:spcPts val="200"/>
              </a:spcAft>
            </a:pPr>
            <a:r>
              <a:rPr sz="1200" b="0">
                <a:solidFill>
                  <a:srgbClr val="6B6862"/>
                </a:solidFill>
                <a:latin typeface="Calibri"/>
              </a:rPr>
              <a:t>An HR policy agent must answer only from the approved handbook (AI Security principle 2: permission control).</a:t>
            </a:r>
          </a:p>
        </p:txBody>
      </p:sp>
      <p:sp>
        <p:nvSpPr>
          <p:cNvPr id="17" name="Rounded Rectangle 16"/>
          <p:cNvSpPr/>
          <p:nvPr/>
        </p:nvSpPr>
        <p:spPr>
          <a:xfrm>
            <a:off x="6812280" y="4245864"/>
            <a:ext cx="4599432" cy="11079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812280" y="4245864"/>
            <a:ext cx="4599432" cy="64008"/>
          </a:xfrm>
          <a:prstGeom prst="rect">
            <a:avLst/>
          </a:prstGeom>
          <a:solidFill>
            <a:srgbClr val="5B4B8A"/>
          </a:solidFill>
          <a:ln>
            <a:noFill/>
          </a:ln>
          <a:effectLst/>
        </p:spPr>
        <p:txBody>
          <a:bodyPr rtlCol="0" anchor="ctr"/>
          <a:lstStyle/>
          <a:p>
            <a:pPr algn="ctr"/>
          </a:p>
        </p:txBody>
      </p:sp>
      <p:sp>
        <p:nvSpPr>
          <p:cNvPr id="19" name="Oval 18"/>
          <p:cNvSpPr/>
          <p:nvPr/>
        </p:nvSpPr>
        <p:spPr>
          <a:xfrm>
            <a:off x="6995160" y="4607814"/>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6995160" y="4607814"/>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7543800" y="4245864"/>
            <a:ext cx="3685032" cy="1107948"/>
          </a:xfrm>
          <a:prstGeom prst="rect">
            <a:avLst/>
          </a:prstGeom>
          <a:noFill/>
        </p:spPr>
        <p:txBody>
          <a:bodyPr wrap="square" anchor="ctr">
            <a:spAutoFit/>
          </a:bodyPr>
          <a:lstStyle/>
          <a:p>
            <a:pPr algn="l">
              <a:spcAft>
                <a:spcPts val="200"/>
              </a:spcAft>
            </a:pPr>
            <a:r>
              <a:rPr sz="1400" b="1">
                <a:solidFill>
                  <a:srgbClr val="21201C"/>
                </a:solidFill>
                <a:latin typeface="Calibri"/>
              </a:rPr>
              <a:t>What you do</a:t>
            </a:r>
          </a:p>
          <a:p>
            <a:pPr algn="l">
              <a:spcAft>
                <a:spcPts val="200"/>
              </a:spcAft>
            </a:pPr>
            <a:r>
              <a:rPr sz="1200" b="0">
                <a:solidFill>
                  <a:srgbClr val="6B6862"/>
                </a:solidFill>
                <a:latin typeface="Calibri"/>
              </a:rPr>
              <a:t>In Lab 12, add the handbook as knowledge and switch off the broad sources before testing.</a:t>
            </a:r>
          </a:p>
        </p:txBody>
      </p:sp>
      <p:sp>
        <p:nvSpPr>
          <p:cNvPr id="22" name="TextBox 21"/>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3" name="TextBox 22"/>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4" name="TextBox 23"/>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173</a:t>
            </a:r>
          </a:p>
        </p:txBody>
      </p:sp>
    </p:spTree>
  </p:cSld>
  <p:clrMapOvr>
    <a:masterClrMapping/>
  </p:clrMapOvr>
  <p:transition spd="med">
    <p:fade/>
  </p:transition>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Skills Shape Every Agent Answer</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Skill is a reusable SKILL.md instruction package.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Without a consistent method, two correct sources can still produce uncited, over-confident or privacy-breaking answers.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Answer, conditions, next step, Sources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174</a:t>
            </a:r>
          </a:p>
        </p:txBody>
      </p:sp>
    </p:spTree>
  </p:cSld>
  <p:clrMapOvr>
    <a:masterClrMapping/>
  </p:clrMapOvr>
  <p:transition spd="med">
    <p:fade/>
  </p:transition>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Skills Shape Every Agent Answer</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Write the Skill rules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Check them against the handbook</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Compress the folder to .zip</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Upload and verify it is enabled</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175</a:t>
            </a:r>
          </a:p>
        </p:txBody>
      </p:sp>
    </p:spTree>
  </p:cSld>
  <p:clrMapOvr>
    <a:masterClrMapping/>
  </p:clrMapOvr>
  <p:transition spd="med">
    <p:fade/>
  </p:transition>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Agent Control — Skills Shape Every Agent Answer</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UNKNOWN plus HR Business Partner referral</a:t>
            </a:r>
          </a:p>
          <a:p>
            <a:pPr>
              <a:spcAft>
                <a:spcPts val="1000"/>
              </a:spcAft>
            </a:pPr>
            <a:r>
              <a:rPr sz="1600" b="0">
                <a:solidFill>
                  <a:srgbClr val="21201C"/>
                </a:solidFill>
                <a:latin typeface="Calibri"/>
              </a:rPr>
              <a:t>•  Never reveal another employee’s data</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176</a:t>
            </a:r>
          </a:p>
        </p:txBody>
      </p:sp>
    </p:spTree>
  </p:cSld>
  <p:clrMapOvr>
    <a:masterClrMapping/>
  </p:clrMapOvr>
  <p:transition spd="med">
    <p:fade/>
  </p:transition>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Skills Shape Every Agent Answer</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https://learn.microsoft.com/en-us/microsoft-365-copilot/extensibility/agent-builder-build-agents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Answer, conditions, next step, Sources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UNKNOWN plus HR Business Partner referral</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Skill is used to smuggle in facts that belong in knowledge.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177</a:t>
            </a:r>
          </a:p>
        </p:txBody>
      </p:sp>
    </p:spTree>
  </p:cSld>
  <p:clrMapOvr>
    <a:masterClrMapping/>
  </p:clrMapOvr>
  <p:transition spd="med">
    <p:fade/>
  </p:transition>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THEME · AGENT SCOPE AND KNOWLEDGE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Design the HR Policy Agent: Users, Knowledge and Skill</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11</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Design Lumina HR Policy Agent, an HR helpdesk agent that answers employees’ HR questions from approved knowledge. Decide who it serves and which questions it must answer, inventory and check the HR Policy Handbook and case snapshot it will use, review the hr-policy-qa Skill that shapes every answer, and draft the agent in Agent Builder.</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21201C"/>
                </a:solidFill>
                <a:latin typeface="Calibri"/>
              </a:rPr>
              <a:t>A reviewed design brief, a completed knowledge inventory with owners and access, the four knowledge files in OneDrive, hr-policy-qa.zip and a private agent draft (or a labelled configuration-only record).</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Describe</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Configure</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Ground</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Test</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(copilot.cloud.microsoft) · Agent Builder · OneDrive · Excel</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178</a:t>
            </a:r>
          </a:p>
        </p:txBody>
      </p:sp>
    </p:spTree>
  </p:cSld>
  <p:clrMapOvr>
    <a:masterClrMapping/>
  </p:clrMapOvr>
  <p:transition spd="med">
    <p:fade/>
  </p:transition>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11</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Scope: Using Lumina_HR_Agent_Design_Brief.md, define a private HR helpdesk agent that cites the HR Policy Handbook and never approves, sends or reveals another employee’s data.</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Inventory: Record owner, as-at date, type and user access for the handbook, snapshot, workbook and enablement plan; exclude the restricted case notes.</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179</a:t>
            </a:r>
          </a:p>
        </p:txBody>
      </p:sp>
    </p:spTree>
  </p:cSld>
  <p:clrMapOvr>
    <a:masterClrMapping/>
  </p:clrMapOvr>
  <p:transition spd="med">
    <p:fade/>
  </p:transition>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11</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Scope</a:t>
            </a:r>
          </a:p>
          <a:p>
            <a:pPr algn="l">
              <a:spcAft>
                <a:spcPts val="300"/>
              </a:spcAft>
            </a:pPr>
            <a:r>
              <a:rPr sz="1300" b="0">
                <a:solidFill>
                  <a:srgbClr val="6B6862"/>
                </a:solidFill>
                <a:latin typeface="Calibri"/>
              </a:rPr>
              <a:t>One HR helpdesk outcome: cited policy answers and case figures; no approvals, sends or record changes.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Knowledge</a:t>
            </a:r>
          </a:p>
          <a:p>
            <a:pPr algn="l">
              <a:spcAft>
                <a:spcPts val="300"/>
              </a:spcAft>
            </a:pPr>
            <a:r>
              <a:rPr sz="1300" b="0">
                <a:solidFill>
                  <a:srgbClr val="6B6862"/>
                </a:solidFill>
                <a:latin typeface="Calibri"/>
              </a:rPr>
              <a:t>Four files with owner, date, type and verified user access; restricted notes excluded.</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Skill</a:t>
            </a:r>
          </a:p>
          <a:p>
            <a:pPr algn="l">
              <a:spcAft>
                <a:spcPts val="300"/>
              </a:spcAft>
            </a:pPr>
            <a:r>
              <a:rPr sz="1300" b="0">
                <a:solidFill>
                  <a:srgbClr val="6B6862"/>
                </a:solidFill>
                <a:latin typeface="Calibri"/>
              </a:rPr>
              <a:t>hr-policy-qa reviewed against the handbook and compressed to hr-policy-qa.zip.</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State</a:t>
            </a:r>
          </a:p>
          <a:p>
            <a:pPr algn="l">
              <a:spcAft>
                <a:spcPts val="300"/>
              </a:spcAft>
            </a:pPr>
            <a:r>
              <a:rPr sz="1300" b="0">
                <a:solidFill>
                  <a:srgbClr val="6B6862"/>
                </a:solidFill>
                <a:latin typeface="Calibri"/>
              </a:rPr>
              <a:t>Private draft or accurately labelled configuration-only route.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180</a:t>
            </a:r>
          </a:p>
        </p:txBody>
      </p:sp>
    </p:spTree>
  </p:cSld>
  <p:clrMapOvr>
    <a:masterClrMapping/>
  </p:clrMapOvr>
  <p:transition spd="med">
    <p:fade/>
  </p:transition>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Instruction Contract and Response Format</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Instructions define role, sources, answer style and boundaries; Agent Builder documents an 8,000-character limit.</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Specific instructions create observable pass rules for citations, UNKNOWN, conflicts, privacy and refused actions.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Answer plus Sources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181</a:t>
            </a:r>
          </a:p>
        </p:txBody>
      </p:sp>
    </p:spTree>
  </p:cSld>
  <p:clrMapOvr>
    <a:masterClrMapping/>
  </p:clrMapOvr>
  <p:transition spd="med">
    <p:fade/>
  </p:transition>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Instruction Contract and Response Format</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role</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Name sources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UNKNOWN and conflicts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Name refused requests</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182</a:t>
            </a:r>
          </a:p>
        </p:txBody>
      </p:sp>
    </p:spTree>
  </p:cSld>
  <p:clrMapOvr>
    <a:masterClrMapping/>
  </p:clrMapOvr>
  <p:transition spd="med">
    <p:fade/>
  </p:transition>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Instruction Contract and Response Format</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Conflict answered from approved version</a:t>
            </a:r>
          </a:p>
          <a:p>
            <a:pPr>
              <a:spcAft>
                <a:spcPts val="1000"/>
              </a:spcAft>
            </a:pPr>
            <a:r>
              <a:rPr sz="1600" b="0">
                <a:solidFill>
                  <a:srgbClr val="21201C"/>
                </a:solidFill>
                <a:latin typeface="Calibri"/>
              </a:rPr>
              <a:t>•  Approval requests routed to the HR portal</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183</a:t>
            </a:r>
          </a:p>
        </p:txBody>
      </p:sp>
    </p:spTree>
  </p:cSld>
  <p:clrMapOvr>
    <a:masterClrMapping/>
  </p:clrMapOvr>
  <p:transition spd="med">
    <p:fade/>
  </p:transition>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Instruction Contract and Response Format</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https://learn.microsoft.com/en-us/microsoft-365-copilot/extensibility/agent-builder-build-agents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Answer plus Sources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Conflict answered from approved version</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Instructions are treated as a security control.</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184</a:t>
            </a:r>
          </a:p>
        </p:txBody>
      </p:sp>
    </p:spTree>
  </p:cSld>
  <p:clrMapOvr>
    <a:masterClrMapping/>
  </p:clrMapOvr>
  <p:transition spd="med">
    <p:fade/>
  </p:transition>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Agent Builder — Configure</a:t>
            </a:r>
          </a:p>
        </p:txBody>
      </p:sp>
      <p:sp>
        <p:nvSpPr>
          <p:cNvPr id="5" name="Rectangle 4"/>
          <p:cNvSpPr/>
          <p:nvPr/>
        </p:nvSpPr>
        <p:spPr>
          <a:xfrm>
            <a:off x="731520" y="1764792"/>
            <a:ext cx="4849814" cy="4434840"/>
          </a:xfrm>
          <a:prstGeom prst="rect">
            <a:avLst/>
          </a:prstGeom>
          <a:solidFill>
            <a:srgbClr val="DCD8CF"/>
          </a:solidFill>
          <a:ln>
            <a:noFill/>
          </a:ln>
          <a:effectLst/>
        </p:spPr>
        <p:txBody>
          <a:bodyPr rtlCol="0" anchor="ctr"/>
          <a:lstStyle/>
          <a:p>
            <a:pPr algn="ctr"/>
          </a:p>
        </p:txBody>
      </p:sp>
      <p:pic>
        <p:nvPicPr>
          <p:cNvPr id="6" name="Picture 5" descr="agent-builder-configure.png"/>
          <p:cNvPicPr>
            <a:picLocks noChangeAspect="1"/>
          </p:cNvPicPr>
          <p:nvPr/>
        </p:nvPicPr>
        <p:blipFill>
          <a:blip r:embed="rId2"/>
          <a:stretch>
            <a:fillRect/>
          </a:stretch>
        </p:blipFill>
        <p:spPr>
          <a:xfrm>
            <a:off x="777240" y="1810512"/>
            <a:ext cx="4758375" cy="4343400"/>
          </a:xfrm>
          <a:prstGeom prst="rect">
            <a:avLst/>
          </a:prstGeom>
        </p:spPr>
      </p:pic>
      <p:sp>
        <p:nvSpPr>
          <p:cNvPr id="7" name="Rounded Rectangle 6"/>
          <p:cNvSpPr/>
          <p:nvPr/>
        </p:nvSpPr>
        <p:spPr>
          <a:xfrm>
            <a:off x="5901374" y="1810512"/>
            <a:ext cx="5510338"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5901374" y="1810512"/>
            <a:ext cx="5510338" cy="64008"/>
          </a:xfrm>
          <a:prstGeom prst="rect">
            <a:avLst/>
          </a:prstGeom>
          <a:solidFill>
            <a:srgbClr val="D97757"/>
          </a:solidFill>
          <a:ln>
            <a:noFill/>
          </a:ln>
          <a:effectLst/>
        </p:spPr>
        <p:txBody>
          <a:bodyPr rtlCol="0" anchor="ctr"/>
          <a:lstStyle/>
          <a:p>
            <a:pPr algn="ctr"/>
          </a:p>
        </p:txBody>
      </p:sp>
      <p:sp>
        <p:nvSpPr>
          <p:cNvPr id="9" name="Oval 8"/>
          <p:cNvSpPr/>
          <p:nvPr/>
        </p:nvSpPr>
        <p:spPr>
          <a:xfrm>
            <a:off x="6084254" y="2008936"/>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6084254" y="200893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6632894" y="1810512"/>
            <a:ext cx="4595938" cy="780897"/>
          </a:xfrm>
          <a:prstGeom prst="rect">
            <a:avLst/>
          </a:prstGeom>
          <a:noFill/>
        </p:spPr>
        <p:txBody>
          <a:bodyPr wrap="square" anchor="ctr">
            <a:spAutoFit/>
          </a:bodyPr>
          <a:lstStyle/>
          <a:p>
            <a:pPr algn="l">
              <a:spcAft>
                <a:spcPts val="200"/>
              </a:spcAft>
            </a:pPr>
            <a:r>
              <a:rPr sz="1400" b="1">
                <a:solidFill>
                  <a:srgbClr val="21201C"/>
                </a:solidFill>
                <a:latin typeface="Calibri"/>
              </a:rPr>
              <a:t>Name and description</a:t>
            </a:r>
          </a:p>
          <a:p>
            <a:pPr algn="l">
              <a:spcAft>
                <a:spcPts val="200"/>
              </a:spcAft>
            </a:pPr>
            <a:r>
              <a:rPr sz="1200" b="0">
                <a:solidFill>
                  <a:srgbClr val="6B6862"/>
                </a:solidFill>
                <a:latin typeface="Calibri"/>
              </a:rPr>
              <a:t>Select the pencil to name the agent (Lumina HR Policy Agent) and describe who it serves.</a:t>
            </a:r>
          </a:p>
        </p:txBody>
      </p:sp>
      <p:sp>
        <p:nvSpPr>
          <p:cNvPr id="12" name="Rounded Rectangle 11"/>
          <p:cNvSpPr/>
          <p:nvPr/>
        </p:nvSpPr>
        <p:spPr>
          <a:xfrm>
            <a:off x="5901374" y="2701137"/>
            <a:ext cx="5510338"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5901374" y="2701137"/>
            <a:ext cx="5510338" cy="64008"/>
          </a:xfrm>
          <a:prstGeom prst="rect">
            <a:avLst/>
          </a:prstGeom>
          <a:solidFill>
            <a:srgbClr val="3A7D7B"/>
          </a:solidFill>
          <a:ln>
            <a:noFill/>
          </a:ln>
          <a:effectLst/>
        </p:spPr>
        <p:txBody>
          <a:bodyPr rtlCol="0" anchor="ctr"/>
          <a:lstStyle/>
          <a:p>
            <a:pPr algn="ctr"/>
          </a:p>
        </p:txBody>
      </p:sp>
      <p:sp>
        <p:nvSpPr>
          <p:cNvPr id="14" name="Oval 13"/>
          <p:cNvSpPr/>
          <p:nvPr/>
        </p:nvSpPr>
        <p:spPr>
          <a:xfrm>
            <a:off x="6084254" y="2899561"/>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6084254" y="289956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6632894" y="2701137"/>
            <a:ext cx="4595938" cy="780897"/>
          </a:xfrm>
          <a:prstGeom prst="rect">
            <a:avLst/>
          </a:prstGeom>
          <a:noFill/>
        </p:spPr>
        <p:txBody>
          <a:bodyPr wrap="square" anchor="ctr">
            <a:spAutoFit/>
          </a:bodyPr>
          <a:lstStyle/>
          <a:p>
            <a:pPr algn="l">
              <a:spcAft>
                <a:spcPts val="200"/>
              </a:spcAft>
            </a:pPr>
            <a:r>
              <a:rPr sz="1400" b="1">
                <a:solidFill>
                  <a:srgbClr val="21201C"/>
                </a:solidFill>
                <a:latin typeface="Calibri"/>
              </a:rPr>
              <a:t>Instructions</a:t>
            </a:r>
          </a:p>
          <a:p>
            <a:pPr algn="l">
              <a:spcAft>
                <a:spcPts val="200"/>
              </a:spcAft>
            </a:pPr>
            <a:r>
              <a:rPr sz="1200" b="0">
                <a:solidFill>
                  <a:srgbClr val="6B6862"/>
                </a:solidFill>
                <a:latin typeface="Calibri"/>
              </a:rPr>
              <a:t>Paste the reviewed instruction contract: scope, cite sections, UNKNOWN, never approve or reveal data.</a:t>
            </a:r>
          </a:p>
        </p:txBody>
      </p:sp>
      <p:sp>
        <p:nvSpPr>
          <p:cNvPr id="17" name="Rounded Rectangle 16"/>
          <p:cNvSpPr/>
          <p:nvPr/>
        </p:nvSpPr>
        <p:spPr>
          <a:xfrm>
            <a:off x="5901374" y="3591762"/>
            <a:ext cx="5510338"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901374" y="3591762"/>
            <a:ext cx="5510338" cy="64008"/>
          </a:xfrm>
          <a:prstGeom prst="rect">
            <a:avLst/>
          </a:prstGeom>
          <a:solidFill>
            <a:srgbClr val="5B4B8A"/>
          </a:solidFill>
          <a:ln>
            <a:noFill/>
          </a:ln>
          <a:effectLst/>
        </p:spPr>
        <p:txBody>
          <a:bodyPr rtlCol="0" anchor="ctr"/>
          <a:lstStyle/>
          <a:p>
            <a:pPr algn="ctr"/>
          </a:p>
        </p:txBody>
      </p:sp>
      <p:sp>
        <p:nvSpPr>
          <p:cNvPr id="19" name="Oval 18"/>
          <p:cNvSpPr/>
          <p:nvPr/>
        </p:nvSpPr>
        <p:spPr>
          <a:xfrm>
            <a:off x="6084254" y="3790186"/>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6084254" y="379018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6632894" y="3591762"/>
            <a:ext cx="4595938" cy="780897"/>
          </a:xfrm>
          <a:prstGeom prst="rect">
            <a:avLst/>
          </a:prstGeom>
          <a:noFill/>
        </p:spPr>
        <p:txBody>
          <a:bodyPr wrap="square" anchor="ctr">
            <a:spAutoFit/>
          </a:bodyPr>
          <a:lstStyle/>
          <a:p>
            <a:pPr algn="l">
              <a:spcAft>
                <a:spcPts val="200"/>
              </a:spcAft>
            </a:pPr>
            <a:r>
              <a:rPr sz="1400" b="1">
                <a:solidFill>
                  <a:srgbClr val="21201C"/>
                </a:solidFill>
                <a:latin typeface="Calibri"/>
              </a:rPr>
              <a:t>Suggest improvements</a:t>
            </a:r>
          </a:p>
          <a:p>
            <a:pPr algn="l">
              <a:spcAft>
                <a:spcPts val="200"/>
              </a:spcAft>
            </a:pPr>
            <a:r>
              <a:rPr sz="1200" b="0">
                <a:solidFill>
                  <a:srgbClr val="6B6862"/>
                </a:solidFill>
                <a:latin typeface="Calibri"/>
              </a:rPr>
              <a:t>Copilot can propose edits; accept only what keeps the contract intact.</a:t>
            </a:r>
          </a:p>
        </p:txBody>
      </p:sp>
      <p:sp>
        <p:nvSpPr>
          <p:cNvPr id="22" name="Rounded Rectangle 21"/>
          <p:cNvSpPr/>
          <p:nvPr/>
        </p:nvSpPr>
        <p:spPr>
          <a:xfrm>
            <a:off x="5901374" y="4482387"/>
            <a:ext cx="5510338"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5901374" y="4482387"/>
            <a:ext cx="5510338" cy="64008"/>
          </a:xfrm>
          <a:prstGeom prst="rect">
            <a:avLst/>
          </a:prstGeom>
          <a:solidFill>
            <a:srgbClr val="C2603F"/>
          </a:solidFill>
          <a:ln>
            <a:noFill/>
          </a:ln>
          <a:effectLst/>
        </p:spPr>
        <p:txBody>
          <a:bodyPr rtlCol="0" anchor="ctr"/>
          <a:lstStyle/>
          <a:p>
            <a:pPr algn="ctr"/>
          </a:p>
        </p:txBody>
      </p:sp>
      <p:sp>
        <p:nvSpPr>
          <p:cNvPr id="24" name="Oval 23"/>
          <p:cNvSpPr/>
          <p:nvPr/>
        </p:nvSpPr>
        <p:spPr>
          <a:xfrm>
            <a:off x="6084254" y="4680811"/>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6084254" y="468081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6632894" y="4482387"/>
            <a:ext cx="4595938" cy="780897"/>
          </a:xfrm>
          <a:prstGeom prst="rect">
            <a:avLst/>
          </a:prstGeom>
          <a:noFill/>
        </p:spPr>
        <p:txBody>
          <a:bodyPr wrap="square" anchor="ctr">
            <a:spAutoFit/>
          </a:bodyPr>
          <a:lstStyle/>
          <a:p>
            <a:pPr algn="l">
              <a:spcAft>
                <a:spcPts val="200"/>
              </a:spcAft>
            </a:pPr>
            <a:r>
              <a:rPr sz="1400" b="1">
                <a:solidFill>
                  <a:srgbClr val="21201C"/>
                </a:solidFill>
                <a:latin typeface="Calibri"/>
              </a:rPr>
              <a:t>Skills · Add</a:t>
            </a:r>
          </a:p>
          <a:p>
            <a:pPr algn="l">
              <a:spcAft>
                <a:spcPts val="200"/>
              </a:spcAft>
            </a:pPr>
            <a:r>
              <a:rPr sz="1200" b="0">
                <a:solidFill>
                  <a:srgbClr val="6B6862"/>
                </a:solidFill>
                <a:latin typeface="Calibri"/>
              </a:rPr>
              <a:t>Add the hr-policy-qa Skill so every answer follows the same format and citation rule.</a:t>
            </a:r>
          </a:p>
        </p:txBody>
      </p:sp>
      <p:sp>
        <p:nvSpPr>
          <p:cNvPr id="27" name="Rounded Rectangle 26"/>
          <p:cNvSpPr/>
          <p:nvPr/>
        </p:nvSpPr>
        <p:spPr>
          <a:xfrm>
            <a:off x="5901374" y="5373012"/>
            <a:ext cx="5510338"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8" name="Rectangle 27"/>
          <p:cNvSpPr/>
          <p:nvPr/>
        </p:nvSpPr>
        <p:spPr>
          <a:xfrm>
            <a:off x="5901374" y="5373012"/>
            <a:ext cx="5510338" cy="64008"/>
          </a:xfrm>
          <a:prstGeom prst="rect">
            <a:avLst/>
          </a:prstGeom>
          <a:solidFill>
            <a:srgbClr val="D97757"/>
          </a:solidFill>
          <a:ln>
            <a:noFill/>
          </a:ln>
          <a:effectLst/>
        </p:spPr>
        <p:txBody>
          <a:bodyPr rtlCol="0" anchor="ctr"/>
          <a:lstStyle/>
          <a:p>
            <a:pPr algn="ctr"/>
          </a:p>
        </p:txBody>
      </p:sp>
      <p:sp>
        <p:nvSpPr>
          <p:cNvPr id="29" name="Oval 28"/>
          <p:cNvSpPr/>
          <p:nvPr/>
        </p:nvSpPr>
        <p:spPr>
          <a:xfrm>
            <a:off x="6084254" y="5571436"/>
            <a:ext cx="384048" cy="384048"/>
          </a:xfrm>
          <a:prstGeom prst="ellipse">
            <a:avLst/>
          </a:prstGeom>
          <a:solidFill>
            <a:srgbClr val="D97757"/>
          </a:solidFill>
          <a:ln>
            <a:noFill/>
          </a:ln>
          <a:effectLst/>
        </p:spPr>
        <p:txBody>
          <a:bodyPr rtlCol="0" anchor="ctr"/>
          <a:lstStyle/>
          <a:p>
            <a:pPr algn="ctr"/>
          </a:p>
        </p:txBody>
      </p:sp>
      <p:sp>
        <p:nvSpPr>
          <p:cNvPr id="30" name="TextBox 29"/>
          <p:cNvSpPr txBox="1"/>
          <p:nvPr/>
        </p:nvSpPr>
        <p:spPr>
          <a:xfrm>
            <a:off x="6084254" y="557143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5</a:t>
            </a:r>
          </a:p>
        </p:txBody>
      </p:sp>
      <p:sp>
        <p:nvSpPr>
          <p:cNvPr id="31" name="TextBox 30"/>
          <p:cNvSpPr txBox="1"/>
          <p:nvPr/>
        </p:nvSpPr>
        <p:spPr>
          <a:xfrm>
            <a:off x="6632894" y="5373012"/>
            <a:ext cx="4595938" cy="780897"/>
          </a:xfrm>
          <a:prstGeom prst="rect">
            <a:avLst/>
          </a:prstGeom>
          <a:noFill/>
        </p:spPr>
        <p:txBody>
          <a:bodyPr wrap="square" anchor="ctr">
            <a:spAutoFit/>
          </a:bodyPr>
          <a:lstStyle/>
          <a:p>
            <a:pPr algn="l">
              <a:spcAft>
                <a:spcPts val="200"/>
              </a:spcAft>
            </a:pPr>
            <a:r>
              <a:rPr sz="1400" b="1">
                <a:solidFill>
                  <a:srgbClr val="21201C"/>
                </a:solidFill>
                <a:latin typeface="Calibri"/>
              </a:rPr>
              <a:t>Create</a:t>
            </a:r>
          </a:p>
          <a:p>
            <a:pPr algn="l">
              <a:spcAft>
                <a:spcPts val="200"/>
              </a:spcAft>
            </a:pPr>
            <a:r>
              <a:rPr sz="1200" b="0">
                <a:solidFill>
                  <a:srgbClr val="6B6862"/>
                </a:solidFill>
                <a:latin typeface="Calibri"/>
              </a:rPr>
              <a:t>Stays disabled until the required fields are complete; create only after review.</a:t>
            </a:r>
          </a:p>
        </p:txBody>
      </p:sp>
      <p:sp>
        <p:nvSpPr>
          <p:cNvPr id="32" name="TextBox 31"/>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3" name="TextBox 32"/>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4" name="TextBox 33"/>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185</a:t>
            </a:r>
          </a:p>
        </p:txBody>
      </p:sp>
    </p:spTree>
  </p:cSld>
  <p:clrMapOvr>
    <a:masterClrMapping/>
  </p:clrMapOvr>
  <p:transition spd="med">
    <p:fade/>
  </p:transition>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Grounding: Only Use Specified Sources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Configure tab adds knowledge and optional web search.</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Citations and known-answer tests give stronger evidence than a web-search toggle alone.</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Leave entitlement cited to section 1</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186</a:t>
            </a:r>
          </a:p>
        </p:txBody>
      </p:sp>
    </p:spTree>
  </p:cSld>
  <p:clrMapOvr>
    <a:masterClrMapping/>
  </p:clrMapOvr>
  <p:transition spd="med">
    <p:fade/>
  </p:transition>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Grounding: Only Use Specified Sources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Add approved sources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Record web state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Require citations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Test supported and unsupported questions</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187</a:t>
            </a:r>
          </a:p>
        </p:txBody>
      </p:sp>
    </p:spTree>
  </p:cSld>
  <p:clrMapOvr>
    <a:masterClrMapping/>
  </p:clrMapOvr>
  <p:transition spd="med">
    <p:fade/>
  </p:transition>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Grounding: Only Use Specified Sources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Sabbatical returns UNKNOWN</a:t>
            </a:r>
          </a:p>
          <a:p>
            <a:pPr>
              <a:spcAft>
                <a:spcPts val="1000"/>
              </a:spcAft>
            </a:pPr>
            <a:r>
              <a:rPr sz="1600" b="0">
                <a:solidFill>
                  <a:srgbClr val="21201C"/>
                </a:solidFill>
                <a:latin typeface="Calibri"/>
              </a:rPr>
              <a:t>•  No uncited policy claim</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188</a:t>
            </a:r>
          </a:p>
        </p:txBody>
      </p:sp>
    </p:spTree>
  </p:cSld>
  <p:clrMapOvr>
    <a:masterClrMapping/>
  </p:clrMapOvr>
  <p:transition spd="med">
    <p:fade/>
  </p:transition>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Grounding: Only Use Specified Sources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https://learn.microsoft.com/en-us/microsoft-365-copilot/extensibility/copilot-studio-lite-knowledge</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Leave entitlement cited to section 1</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Sabbatical returns UNKNOWN</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An uncited answer passes because web search is off.</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189</a:t>
            </a:r>
          </a:p>
        </p:txBody>
      </p:sp>
    </p:spTree>
  </p:cSld>
  <p:clrMapOvr>
    <a:masterClrMapping/>
  </p:clrMapOvr>
  <p:transition spd="med">
    <p:fade/>
  </p:transition>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Knowledge — Only Use Specified Sources</a:t>
            </a:r>
          </a:p>
        </p:txBody>
      </p:sp>
      <p:sp>
        <p:nvSpPr>
          <p:cNvPr id="5" name="Rectangle 4"/>
          <p:cNvSpPr/>
          <p:nvPr/>
        </p:nvSpPr>
        <p:spPr>
          <a:xfrm>
            <a:off x="731520" y="1764792"/>
            <a:ext cx="5212080" cy="3963924"/>
          </a:xfrm>
          <a:prstGeom prst="rect">
            <a:avLst/>
          </a:prstGeom>
          <a:solidFill>
            <a:srgbClr val="DCD8CF"/>
          </a:solidFill>
          <a:ln>
            <a:noFill/>
          </a:ln>
          <a:effectLst/>
        </p:spPr>
        <p:txBody>
          <a:bodyPr rtlCol="0" anchor="ctr"/>
          <a:lstStyle/>
          <a:p>
            <a:pPr algn="ctr"/>
          </a:p>
        </p:txBody>
      </p:sp>
      <p:pic>
        <p:nvPicPr>
          <p:cNvPr id="6" name="Picture 5" descr="agent-builder-knowledge.png"/>
          <p:cNvPicPr>
            <a:picLocks noChangeAspect="1"/>
          </p:cNvPicPr>
          <p:nvPr/>
        </p:nvPicPr>
        <p:blipFill>
          <a:blip r:embed="rId2"/>
          <a:stretch>
            <a:fillRect/>
          </a:stretch>
        </p:blipFill>
        <p:spPr>
          <a:xfrm>
            <a:off x="777240" y="1810512"/>
            <a:ext cx="5120640" cy="3872484"/>
          </a:xfrm>
          <a:prstGeom prst="rect">
            <a:avLst/>
          </a:prstGeom>
        </p:spPr>
      </p:pic>
      <p:sp>
        <p:nvSpPr>
          <p:cNvPr id="7" name="Rounded Rectangle 6"/>
          <p:cNvSpPr/>
          <p:nvPr/>
        </p:nvSpPr>
        <p:spPr>
          <a:xfrm>
            <a:off x="6263640" y="1810512"/>
            <a:ext cx="5148072" cy="885825"/>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6263640" y="1810512"/>
            <a:ext cx="5148072" cy="64008"/>
          </a:xfrm>
          <a:prstGeom prst="rect">
            <a:avLst/>
          </a:prstGeom>
          <a:solidFill>
            <a:srgbClr val="D97757"/>
          </a:solidFill>
          <a:ln>
            <a:noFill/>
          </a:ln>
          <a:effectLst/>
        </p:spPr>
        <p:txBody>
          <a:bodyPr rtlCol="0" anchor="ctr"/>
          <a:lstStyle/>
          <a:p>
            <a:pPr algn="ctr"/>
          </a:p>
        </p:txBody>
      </p:sp>
      <p:sp>
        <p:nvSpPr>
          <p:cNvPr id="9" name="Oval 8"/>
          <p:cNvSpPr/>
          <p:nvPr/>
        </p:nvSpPr>
        <p:spPr>
          <a:xfrm>
            <a:off x="6446520" y="2061400"/>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6446520" y="2061400"/>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6995160" y="1810512"/>
            <a:ext cx="4233672" cy="885825"/>
          </a:xfrm>
          <a:prstGeom prst="rect">
            <a:avLst/>
          </a:prstGeom>
          <a:noFill/>
        </p:spPr>
        <p:txBody>
          <a:bodyPr wrap="square" anchor="ctr">
            <a:spAutoFit/>
          </a:bodyPr>
          <a:lstStyle/>
          <a:p>
            <a:pPr algn="l">
              <a:spcAft>
                <a:spcPts val="200"/>
              </a:spcAft>
            </a:pPr>
            <a:r>
              <a:rPr sz="1400" b="1">
                <a:solidFill>
                  <a:srgbClr val="21201C"/>
                </a:solidFill>
                <a:latin typeface="Calibri"/>
              </a:rPr>
              <a:t>Add knowledge</a:t>
            </a:r>
          </a:p>
          <a:p>
            <a:pPr algn="l">
              <a:spcAft>
                <a:spcPts val="200"/>
              </a:spcAft>
            </a:pPr>
            <a:r>
              <a:rPr sz="1200" b="0">
                <a:solidFill>
                  <a:srgbClr val="6B6862"/>
                </a:solidFill>
                <a:latin typeface="Calibri"/>
              </a:rPr>
              <a:t>Add the approved Lumina HR Policy Handbook and the other inventory items.</a:t>
            </a:r>
          </a:p>
        </p:txBody>
      </p:sp>
      <p:sp>
        <p:nvSpPr>
          <p:cNvPr id="12" name="Rounded Rectangle 11"/>
          <p:cNvSpPr/>
          <p:nvPr/>
        </p:nvSpPr>
        <p:spPr>
          <a:xfrm>
            <a:off x="6263640" y="2806065"/>
            <a:ext cx="5148072" cy="885825"/>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6263640" y="2806065"/>
            <a:ext cx="5148072" cy="64008"/>
          </a:xfrm>
          <a:prstGeom prst="rect">
            <a:avLst/>
          </a:prstGeom>
          <a:solidFill>
            <a:srgbClr val="3A7D7B"/>
          </a:solidFill>
          <a:ln>
            <a:noFill/>
          </a:ln>
          <a:effectLst/>
        </p:spPr>
        <p:txBody>
          <a:bodyPr rtlCol="0" anchor="ctr"/>
          <a:lstStyle/>
          <a:p>
            <a:pPr algn="ctr"/>
          </a:p>
        </p:txBody>
      </p:sp>
      <p:sp>
        <p:nvSpPr>
          <p:cNvPr id="14" name="Oval 13"/>
          <p:cNvSpPr/>
          <p:nvPr/>
        </p:nvSpPr>
        <p:spPr>
          <a:xfrm>
            <a:off x="6446520" y="3056953"/>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6446520" y="3056953"/>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6995160" y="2806065"/>
            <a:ext cx="4233672" cy="885825"/>
          </a:xfrm>
          <a:prstGeom prst="rect">
            <a:avLst/>
          </a:prstGeom>
          <a:noFill/>
        </p:spPr>
        <p:txBody>
          <a:bodyPr wrap="square" anchor="ctr">
            <a:spAutoFit/>
          </a:bodyPr>
          <a:lstStyle/>
          <a:p>
            <a:pPr algn="l">
              <a:spcAft>
                <a:spcPts val="200"/>
              </a:spcAft>
            </a:pPr>
            <a:r>
              <a:rPr sz="1400" b="1">
                <a:solidFill>
                  <a:srgbClr val="21201C"/>
                </a:solidFill>
                <a:latin typeface="Calibri"/>
              </a:rPr>
              <a:t>Work content: Search all</a:t>
            </a:r>
          </a:p>
          <a:p>
            <a:pPr algn="l">
              <a:spcAft>
                <a:spcPts val="200"/>
              </a:spcAft>
            </a:pPr>
            <a:r>
              <a:rPr sz="1200" b="0">
                <a:solidFill>
                  <a:srgbClr val="6B6862"/>
                </a:solidFill>
                <a:latin typeface="Calibri"/>
              </a:rPr>
              <a:t>Cloud files, Outlook and Teams start ON; switch them off so the agent cannot roam your files and mail.</a:t>
            </a:r>
          </a:p>
        </p:txBody>
      </p:sp>
      <p:sp>
        <p:nvSpPr>
          <p:cNvPr id="17" name="Rounded Rectangle 16"/>
          <p:cNvSpPr/>
          <p:nvPr/>
        </p:nvSpPr>
        <p:spPr>
          <a:xfrm>
            <a:off x="6263640" y="3801618"/>
            <a:ext cx="5148072" cy="885825"/>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63640" y="3801618"/>
            <a:ext cx="5148072" cy="64008"/>
          </a:xfrm>
          <a:prstGeom prst="rect">
            <a:avLst/>
          </a:prstGeom>
          <a:solidFill>
            <a:srgbClr val="5B4B8A"/>
          </a:solidFill>
          <a:ln>
            <a:noFill/>
          </a:ln>
          <a:effectLst/>
        </p:spPr>
        <p:txBody>
          <a:bodyPr rtlCol="0" anchor="ctr"/>
          <a:lstStyle/>
          <a:p>
            <a:pPr algn="ctr"/>
          </a:p>
        </p:txBody>
      </p:sp>
      <p:sp>
        <p:nvSpPr>
          <p:cNvPr id="19" name="Oval 18"/>
          <p:cNvSpPr/>
          <p:nvPr/>
        </p:nvSpPr>
        <p:spPr>
          <a:xfrm>
            <a:off x="6446520" y="4052506"/>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6446520" y="405250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6995160" y="3801618"/>
            <a:ext cx="4233672" cy="885825"/>
          </a:xfrm>
          <a:prstGeom prst="rect">
            <a:avLst/>
          </a:prstGeom>
          <a:noFill/>
        </p:spPr>
        <p:txBody>
          <a:bodyPr wrap="square" anchor="ctr">
            <a:spAutoFit/>
          </a:bodyPr>
          <a:lstStyle/>
          <a:p>
            <a:pPr algn="l">
              <a:spcAft>
                <a:spcPts val="200"/>
              </a:spcAft>
            </a:pPr>
            <a:r>
              <a:rPr sz="1400" b="1">
                <a:solidFill>
                  <a:srgbClr val="21201C"/>
                </a:solidFill>
                <a:latin typeface="Calibri"/>
              </a:rPr>
              <a:t>Web search</a:t>
            </a:r>
          </a:p>
          <a:p>
            <a:pPr algn="l">
              <a:spcAft>
                <a:spcPts val="200"/>
              </a:spcAft>
            </a:pPr>
            <a:r>
              <a:rPr sz="1200" b="0">
                <a:solidFill>
                  <a:srgbClr val="6B6862"/>
                </a:solidFill>
                <a:latin typeface="Calibri"/>
              </a:rPr>
              <a:t>Also ON by default; switch it off so HR answers never come from the internet.</a:t>
            </a:r>
          </a:p>
        </p:txBody>
      </p:sp>
      <p:sp>
        <p:nvSpPr>
          <p:cNvPr id="22" name="Rounded Rectangle 21"/>
          <p:cNvSpPr/>
          <p:nvPr/>
        </p:nvSpPr>
        <p:spPr>
          <a:xfrm>
            <a:off x="6263640" y="4797171"/>
            <a:ext cx="5148072" cy="885825"/>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6263640" y="4797171"/>
            <a:ext cx="5148072" cy="64008"/>
          </a:xfrm>
          <a:prstGeom prst="rect">
            <a:avLst/>
          </a:prstGeom>
          <a:solidFill>
            <a:srgbClr val="C2603F"/>
          </a:solidFill>
          <a:ln>
            <a:noFill/>
          </a:ln>
          <a:effectLst/>
        </p:spPr>
        <p:txBody>
          <a:bodyPr rtlCol="0" anchor="ctr"/>
          <a:lstStyle/>
          <a:p>
            <a:pPr algn="ctr"/>
          </a:p>
        </p:txBody>
      </p:sp>
      <p:sp>
        <p:nvSpPr>
          <p:cNvPr id="24" name="Oval 23"/>
          <p:cNvSpPr/>
          <p:nvPr/>
        </p:nvSpPr>
        <p:spPr>
          <a:xfrm>
            <a:off x="6446520" y="5048059"/>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6446520" y="5048059"/>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6995160" y="4797171"/>
            <a:ext cx="4233672" cy="885825"/>
          </a:xfrm>
          <a:prstGeom prst="rect">
            <a:avLst/>
          </a:prstGeom>
          <a:noFill/>
        </p:spPr>
        <p:txBody>
          <a:bodyPr wrap="square" anchor="ctr">
            <a:spAutoFit/>
          </a:bodyPr>
          <a:lstStyle/>
          <a:p>
            <a:pPr algn="l">
              <a:spcAft>
                <a:spcPts val="200"/>
              </a:spcAft>
            </a:pPr>
            <a:r>
              <a:rPr sz="1400" b="1">
                <a:solidFill>
                  <a:srgbClr val="21201C"/>
                </a:solidFill>
                <a:latin typeface="Calibri"/>
              </a:rPr>
              <a:t>Connectors and attachments</a:t>
            </a:r>
          </a:p>
          <a:p>
            <a:pPr algn="l">
              <a:spcAft>
                <a:spcPts val="200"/>
              </a:spcAft>
            </a:pPr>
            <a:r>
              <a:rPr sz="1200" b="0">
                <a:solidFill>
                  <a:srgbClr val="6B6862"/>
                </a:solidFill>
                <a:latin typeface="Calibri"/>
              </a:rPr>
              <a:t>Leave at None unless a governed source is approved.</a:t>
            </a:r>
          </a:p>
        </p:txBody>
      </p:sp>
      <p:sp>
        <p:nvSpPr>
          <p:cNvPr id="27" name="TextBox 2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9" name="TextBox 2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190</a:t>
            </a:r>
          </a:p>
        </p:txBody>
      </p:sp>
    </p:spTree>
  </p:cSld>
  <p:clrMapOvr>
    <a:masterClrMapping/>
  </p:clrMapOvr>
  <p:transition spd="med">
    <p:fade/>
  </p:transition>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Starter Prompts as Discoverable Test Cases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Starter prompts show employees which questions the agent is designed to answer; they do not expand permissions or capability.</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Prompts mapped to handbook sections and tests teach correct use and support onboarding.</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Annual leave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191</a:t>
            </a:r>
          </a:p>
        </p:txBody>
      </p:sp>
    </p:spTree>
  </p:cSld>
  <p:clrMapOvr>
    <a:masterClrMapping/>
  </p:clrMapOvr>
  <p:transition spd="med">
    <p:fade/>
  </p:transition>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Starter Prompts as Discoverable Test Cases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Map prompt to section</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State expected evidence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Run in Try it</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Keep passing cases</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192</a:t>
            </a:r>
          </a:p>
        </p:txBody>
      </p:sp>
    </p:spTree>
  </p:cSld>
  <p:clrMapOvr>
    <a:masterClrMapping/>
  </p:clrMapOvr>
  <p:transition spd="med">
    <p:fade/>
  </p:transition>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Starter Prompts as Discoverable Test Cases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GP claim limit</a:t>
            </a:r>
          </a:p>
          <a:p>
            <a:pPr>
              <a:spcAft>
                <a:spcPts val="1000"/>
              </a:spcAft>
            </a:pPr>
            <a:r>
              <a:rPr sz="1600" b="0">
                <a:solidFill>
                  <a:srgbClr val="21201C"/>
                </a:solidFill>
                <a:latin typeface="Calibri"/>
              </a:rPr>
              <a:t>•  Training request route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193</a:t>
            </a:r>
          </a:p>
        </p:txBody>
      </p:sp>
    </p:spTree>
  </p:cSld>
  <p:clrMapOvr>
    <a:masterClrMapping/>
  </p:clrMapOvr>
  <p:transition spd="med">
    <p:fade/>
  </p:transition>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Starter Prompts as Discoverable Test Cases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https://learn.microsoft.com/en-us/microsoft-365-copilot/extensibility/agent-builder-build-agents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Annual leave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GP claim limit</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 prompt implies approval or live data.</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194</a:t>
            </a:r>
          </a:p>
        </p:txBody>
      </p:sp>
    </p:spTree>
  </p:cSld>
  <p:clrMapOvr>
    <a:masterClrMapping/>
  </p:clrMapOvr>
  <p:transition spd="med">
    <p:fade/>
  </p:transition>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Suggested Prompts Are Visible Test Cases</a:t>
            </a:r>
          </a:p>
        </p:txBody>
      </p:sp>
      <p:sp>
        <p:nvSpPr>
          <p:cNvPr id="5" name="Rectangle 4"/>
          <p:cNvSpPr/>
          <p:nvPr/>
        </p:nvSpPr>
        <p:spPr>
          <a:xfrm>
            <a:off x="2712394" y="1783080"/>
            <a:ext cx="6766907" cy="2286000"/>
          </a:xfrm>
          <a:prstGeom prst="rect">
            <a:avLst/>
          </a:prstGeom>
          <a:solidFill>
            <a:srgbClr val="DCD8CF"/>
          </a:solidFill>
          <a:ln>
            <a:noFill/>
          </a:ln>
          <a:effectLst/>
        </p:spPr>
        <p:txBody>
          <a:bodyPr rtlCol="0" anchor="ctr"/>
          <a:lstStyle/>
          <a:p>
            <a:pPr algn="ctr"/>
          </a:p>
        </p:txBody>
      </p:sp>
      <p:pic>
        <p:nvPicPr>
          <p:cNvPr id="6" name="Picture 5" descr="agent-builder-suggested-prompts.png"/>
          <p:cNvPicPr>
            <a:picLocks noChangeAspect="1"/>
          </p:cNvPicPr>
          <p:nvPr/>
        </p:nvPicPr>
        <p:blipFill>
          <a:blip r:embed="rId2"/>
          <a:stretch>
            <a:fillRect/>
          </a:stretch>
        </p:blipFill>
        <p:spPr>
          <a:xfrm>
            <a:off x="2758114" y="1828800"/>
            <a:ext cx="6675468" cy="2194560"/>
          </a:xfrm>
          <a:prstGeom prst="rect">
            <a:avLst/>
          </a:prstGeom>
        </p:spPr>
      </p:pic>
      <p:sp>
        <p:nvSpPr>
          <p:cNvPr id="7" name="Rounded Rectangle 6"/>
          <p:cNvSpPr/>
          <p:nvPr/>
        </p:nvSpPr>
        <p:spPr>
          <a:xfrm>
            <a:off x="777240" y="4434840"/>
            <a:ext cx="3361944" cy="18288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777240" y="4434840"/>
            <a:ext cx="3361944" cy="64008"/>
          </a:xfrm>
          <a:prstGeom prst="rect">
            <a:avLst/>
          </a:prstGeom>
          <a:solidFill>
            <a:srgbClr val="D97757"/>
          </a:solidFill>
          <a:ln>
            <a:noFill/>
          </a:ln>
          <a:effectLst/>
        </p:spPr>
        <p:txBody>
          <a:bodyPr rtlCol="0" anchor="ctr"/>
          <a:lstStyle/>
          <a:p>
            <a:pPr algn="ctr"/>
          </a:p>
        </p:txBody>
      </p:sp>
      <p:sp>
        <p:nvSpPr>
          <p:cNvPr id="9" name="Oval 8"/>
          <p:cNvSpPr/>
          <p:nvPr/>
        </p:nvSpPr>
        <p:spPr>
          <a:xfrm>
            <a:off x="1005840" y="4709160"/>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1005840" y="4709160"/>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1554480" y="4709160"/>
            <a:ext cx="2401824" cy="384048"/>
          </a:xfrm>
          <a:prstGeom prst="rect">
            <a:avLst/>
          </a:prstGeom>
          <a:noFill/>
        </p:spPr>
        <p:txBody>
          <a:bodyPr wrap="square" anchor="ctr">
            <a:spAutoFit/>
          </a:bodyPr>
          <a:lstStyle/>
          <a:p>
            <a:pPr algn="l">
              <a:spcAft>
                <a:spcPts val="400"/>
              </a:spcAft>
            </a:pPr>
            <a:r>
              <a:rPr sz="1500" b="1">
                <a:solidFill>
                  <a:srgbClr val="21201C"/>
                </a:solidFill>
                <a:latin typeface="Calibri"/>
              </a:rPr>
              <a:t>Title</a:t>
            </a:r>
          </a:p>
        </p:txBody>
      </p:sp>
      <p:sp>
        <p:nvSpPr>
          <p:cNvPr id="12" name="TextBox 11"/>
          <p:cNvSpPr txBox="1"/>
          <p:nvPr/>
        </p:nvSpPr>
        <p:spPr>
          <a:xfrm>
            <a:off x="1005840" y="5257800"/>
            <a:ext cx="2904744" cy="868680"/>
          </a:xfrm>
          <a:prstGeom prst="rect">
            <a:avLst/>
          </a:prstGeom>
          <a:noFill/>
        </p:spPr>
        <p:txBody>
          <a:bodyPr wrap="square" anchor="t">
            <a:spAutoFit/>
          </a:bodyPr>
          <a:lstStyle/>
          <a:p>
            <a:pPr algn="l">
              <a:spcAft>
                <a:spcPts val="400"/>
              </a:spcAft>
            </a:pPr>
            <a:r>
              <a:rPr sz="1300" b="0">
                <a:solidFill>
                  <a:srgbClr val="6B6862"/>
                </a:solidFill>
                <a:latin typeface="Calibri"/>
              </a:rPr>
              <a:t>A short button label staff see, e.g. "Annual leave".</a:t>
            </a:r>
          </a:p>
        </p:txBody>
      </p:sp>
      <p:sp>
        <p:nvSpPr>
          <p:cNvPr id="13" name="Rounded Rectangle 12"/>
          <p:cNvSpPr/>
          <p:nvPr/>
        </p:nvSpPr>
        <p:spPr>
          <a:xfrm>
            <a:off x="4413504" y="4434840"/>
            <a:ext cx="3361944" cy="18288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4413504" y="4434840"/>
            <a:ext cx="3361944" cy="64008"/>
          </a:xfrm>
          <a:prstGeom prst="rect">
            <a:avLst/>
          </a:prstGeom>
          <a:solidFill>
            <a:srgbClr val="3A7D7B"/>
          </a:solidFill>
          <a:ln>
            <a:noFill/>
          </a:ln>
          <a:effectLst/>
        </p:spPr>
        <p:txBody>
          <a:bodyPr rtlCol="0" anchor="ctr"/>
          <a:lstStyle/>
          <a:p>
            <a:pPr algn="ctr"/>
          </a:p>
        </p:txBody>
      </p:sp>
      <p:sp>
        <p:nvSpPr>
          <p:cNvPr id="15" name="Oval 14"/>
          <p:cNvSpPr/>
          <p:nvPr/>
        </p:nvSpPr>
        <p:spPr>
          <a:xfrm>
            <a:off x="4642104" y="4709160"/>
            <a:ext cx="384048" cy="384048"/>
          </a:xfrm>
          <a:prstGeom prst="ellipse">
            <a:avLst/>
          </a:prstGeom>
          <a:solidFill>
            <a:srgbClr val="3A7D7B"/>
          </a:solidFill>
          <a:ln>
            <a:noFill/>
          </a:ln>
          <a:effectLst/>
        </p:spPr>
        <p:txBody>
          <a:bodyPr rtlCol="0" anchor="ctr"/>
          <a:lstStyle/>
          <a:p>
            <a:pPr algn="ctr"/>
          </a:p>
        </p:txBody>
      </p:sp>
      <p:sp>
        <p:nvSpPr>
          <p:cNvPr id="16" name="TextBox 15"/>
          <p:cNvSpPr txBox="1"/>
          <p:nvPr/>
        </p:nvSpPr>
        <p:spPr>
          <a:xfrm>
            <a:off x="4642104" y="4709160"/>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7" name="TextBox 16"/>
          <p:cNvSpPr txBox="1"/>
          <p:nvPr/>
        </p:nvSpPr>
        <p:spPr>
          <a:xfrm>
            <a:off x="5190744" y="4709160"/>
            <a:ext cx="2401824" cy="384048"/>
          </a:xfrm>
          <a:prstGeom prst="rect">
            <a:avLst/>
          </a:prstGeom>
          <a:noFill/>
        </p:spPr>
        <p:txBody>
          <a:bodyPr wrap="square" anchor="ctr">
            <a:spAutoFit/>
          </a:bodyPr>
          <a:lstStyle/>
          <a:p>
            <a:pPr algn="l">
              <a:spcAft>
                <a:spcPts val="400"/>
              </a:spcAft>
            </a:pPr>
            <a:r>
              <a:rPr sz="1500" b="1">
                <a:solidFill>
                  <a:srgbClr val="21201C"/>
                </a:solidFill>
                <a:latin typeface="Calibri"/>
              </a:rPr>
              <a:t>Message</a:t>
            </a:r>
          </a:p>
        </p:txBody>
      </p:sp>
      <p:sp>
        <p:nvSpPr>
          <p:cNvPr id="18" name="TextBox 17"/>
          <p:cNvSpPr txBox="1"/>
          <p:nvPr/>
        </p:nvSpPr>
        <p:spPr>
          <a:xfrm>
            <a:off x="4642104" y="5257800"/>
            <a:ext cx="2904744" cy="868680"/>
          </a:xfrm>
          <a:prstGeom prst="rect">
            <a:avLst/>
          </a:prstGeom>
          <a:noFill/>
        </p:spPr>
        <p:txBody>
          <a:bodyPr wrap="square" anchor="t">
            <a:spAutoFit/>
          </a:bodyPr>
          <a:lstStyle/>
          <a:p>
            <a:pPr algn="l">
              <a:spcAft>
                <a:spcPts val="400"/>
              </a:spcAft>
            </a:pPr>
            <a:r>
              <a:rPr sz="1300" b="0">
                <a:solidFill>
                  <a:srgbClr val="6B6862"/>
                </a:solidFill>
                <a:latin typeface="Calibri"/>
              </a:rPr>
              <a:t>The full question sent, taken from the test matrix, e.g. leave days and notice period.</a:t>
            </a:r>
          </a:p>
        </p:txBody>
      </p:sp>
      <p:sp>
        <p:nvSpPr>
          <p:cNvPr id="19" name="Rounded Rectangle 18"/>
          <p:cNvSpPr/>
          <p:nvPr/>
        </p:nvSpPr>
        <p:spPr>
          <a:xfrm>
            <a:off x="8049768" y="4434840"/>
            <a:ext cx="3361944" cy="18288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0" name="Rectangle 19"/>
          <p:cNvSpPr/>
          <p:nvPr/>
        </p:nvSpPr>
        <p:spPr>
          <a:xfrm>
            <a:off x="8049768" y="4434840"/>
            <a:ext cx="3361944" cy="64008"/>
          </a:xfrm>
          <a:prstGeom prst="rect">
            <a:avLst/>
          </a:prstGeom>
          <a:solidFill>
            <a:srgbClr val="5B4B8A"/>
          </a:solidFill>
          <a:ln>
            <a:noFill/>
          </a:ln>
          <a:effectLst/>
        </p:spPr>
        <p:txBody>
          <a:bodyPr rtlCol="0" anchor="ctr"/>
          <a:lstStyle/>
          <a:p>
            <a:pPr algn="ctr"/>
          </a:p>
        </p:txBody>
      </p:sp>
      <p:sp>
        <p:nvSpPr>
          <p:cNvPr id="21" name="Oval 20"/>
          <p:cNvSpPr/>
          <p:nvPr/>
        </p:nvSpPr>
        <p:spPr>
          <a:xfrm>
            <a:off x="8278368" y="4709160"/>
            <a:ext cx="384048" cy="384048"/>
          </a:xfrm>
          <a:prstGeom prst="ellipse">
            <a:avLst/>
          </a:prstGeom>
          <a:solidFill>
            <a:srgbClr val="5B4B8A"/>
          </a:solidFill>
          <a:ln>
            <a:noFill/>
          </a:ln>
          <a:effectLst/>
        </p:spPr>
        <p:txBody>
          <a:bodyPr rtlCol="0" anchor="ctr"/>
          <a:lstStyle/>
          <a:p>
            <a:pPr algn="ctr"/>
          </a:p>
        </p:txBody>
      </p:sp>
      <p:sp>
        <p:nvSpPr>
          <p:cNvPr id="22" name="TextBox 21"/>
          <p:cNvSpPr txBox="1"/>
          <p:nvPr/>
        </p:nvSpPr>
        <p:spPr>
          <a:xfrm>
            <a:off x="8278368" y="4709160"/>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3" name="TextBox 22"/>
          <p:cNvSpPr txBox="1"/>
          <p:nvPr/>
        </p:nvSpPr>
        <p:spPr>
          <a:xfrm>
            <a:off x="8827008" y="4709160"/>
            <a:ext cx="2401824" cy="384048"/>
          </a:xfrm>
          <a:prstGeom prst="rect">
            <a:avLst/>
          </a:prstGeom>
          <a:noFill/>
        </p:spPr>
        <p:txBody>
          <a:bodyPr wrap="square" anchor="ctr">
            <a:spAutoFit/>
          </a:bodyPr>
          <a:lstStyle/>
          <a:p>
            <a:pPr algn="l">
              <a:spcAft>
                <a:spcPts val="400"/>
              </a:spcAft>
            </a:pPr>
            <a:r>
              <a:rPr sz="1500" b="1">
                <a:solidFill>
                  <a:srgbClr val="21201C"/>
                </a:solidFill>
                <a:latin typeface="Calibri"/>
              </a:rPr>
              <a:t>Keep them honest</a:t>
            </a:r>
          </a:p>
        </p:txBody>
      </p:sp>
      <p:sp>
        <p:nvSpPr>
          <p:cNvPr id="24" name="TextBox 23"/>
          <p:cNvSpPr txBox="1"/>
          <p:nvPr/>
        </p:nvSpPr>
        <p:spPr>
          <a:xfrm>
            <a:off x="8278368" y="5257800"/>
            <a:ext cx="2904744" cy="868680"/>
          </a:xfrm>
          <a:prstGeom prst="rect">
            <a:avLst/>
          </a:prstGeom>
          <a:noFill/>
        </p:spPr>
        <p:txBody>
          <a:bodyPr wrap="square" anchor="t">
            <a:spAutoFit/>
          </a:bodyPr>
          <a:lstStyle/>
          <a:p>
            <a:pPr algn="l">
              <a:spcAft>
                <a:spcPts val="400"/>
              </a:spcAft>
            </a:pPr>
            <a:r>
              <a:rPr sz="1300" b="0">
                <a:solidFill>
                  <a:srgbClr val="6B6862"/>
                </a:solidFill>
                <a:latin typeface="Calibri"/>
              </a:rPr>
              <a:t>Use only questions whose answers you have verified against the handbook.</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195</a:t>
            </a:r>
          </a:p>
        </p:txBody>
      </p:sp>
    </p:spTree>
  </p:cSld>
  <p:clrMapOvr>
    <a:masterClrMapping/>
  </p:clrMapOvr>
  <p:transition spd="med">
    <p:fade/>
  </p:transition>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THEME · AGENT CONFIGURATION</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Build the HR Agent: Instructions, Knowledge, Skill and Starter Prompts</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12</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Configure Lumina HR Policy Agent with reviewed instructions, the four OneDrive knowledge files and the hr-policy-qa Skill, add starter prompts, then preview a grounded answer and a missing-evidence answer before you create it. Grounding comes from the knowledge; the Skill sets how every answer is structured, cited and bounded.</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A private configured HR agent (or an evidence-complete configuration record) whose preview answers are cited and whose missing-evidence answer is UNKNOWN.</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Describe</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Configure</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Ground</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Test</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(copilot.cloud.microsoft) · Agent Builder · OneDrive · Excel</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196</a:t>
            </a:r>
          </a:p>
        </p:txBody>
      </p:sp>
    </p:spTree>
  </p:cSld>
  <p:clrMapOvr>
    <a:masterClrMapping/>
  </p:clrMapOvr>
  <p:transition spd="med">
    <p:fade/>
  </p:transition>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12</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Configure: Configure Lumina HR Policy Agent with the reviewed instructions, four OneDrive knowledge files, the hr-policy-qa Skill and four starter prompts; keep it private.</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Preview: Ask the year-3 annual leave question (expect 18 days, cited) and the sabbatical question (expect UNKNOWN).</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197</a:t>
            </a:r>
          </a:p>
        </p:txBody>
      </p:sp>
    </p:spTree>
  </p:cSld>
  <p:clrMapOvr>
    <a:masterClrMapping/>
  </p:clrMapOvr>
  <p:transition spd="med">
    <p:fade/>
  </p:transition>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12</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Instructions</a:t>
            </a:r>
          </a:p>
          <a:p>
            <a:pPr algn="l">
              <a:spcAft>
                <a:spcPts val="300"/>
              </a:spcAft>
            </a:pPr>
            <a:r>
              <a:rPr sz="1300" b="0">
                <a:solidFill>
                  <a:srgbClr val="6B6862"/>
                </a:solidFill>
                <a:latin typeface="Calibri"/>
              </a:rPr>
              <a:t>Role, sources, citation, UNKNOWN, privacy and approval boundaries explicit.</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Knowledge</a:t>
            </a:r>
          </a:p>
          <a:p>
            <a:pPr algn="l">
              <a:spcAft>
                <a:spcPts val="300"/>
              </a:spcAft>
            </a:pPr>
            <a:r>
              <a:rPr sz="1300" b="0">
                <a:solidFill>
                  <a:srgbClr val="6B6862"/>
                </a:solidFill>
                <a:latin typeface="Calibri"/>
              </a:rPr>
              <a:t>Four OneDrive files match the inventory; Only use specified sources recorded.</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Skill</a:t>
            </a:r>
          </a:p>
          <a:p>
            <a:pPr algn="l">
              <a:spcAft>
                <a:spcPts val="300"/>
              </a:spcAft>
            </a:pPr>
            <a:r>
              <a:rPr sz="1300" b="0">
                <a:solidFill>
                  <a:srgbClr val="6B6862"/>
                </a:solidFill>
                <a:latin typeface="Calibri"/>
              </a:rPr>
              <a:t>hr-policy-qa enabled, or the manual route labelled.</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Preview</a:t>
            </a:r>
          </a:p>
          <a:p>
            <a:pPr algn="l">
              <a:spcAft>
                <a:spcPts val="300"/>
              </a:spcAft>
            </a:pPr>
            <a:r>
              <a:rPr sz="1300" b="0">
                <a:solidFill>
                  <a:srgbClr val="6B6862"/>
                </a:solidFill>
                <a:latin typeface="Calibri"/>
              </a:rPr>
              <a:t>18 days cited to section 1; sabbatical returns UNKNOWN before Create.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198</a:t>
            </a:r>
          </a:p>
        </p:txBody>
      </p:sp>
    </p:spTree>
  </p:cSld>
  <p:clrMapOvr>
    <a:masterClrMapping/>
  </p:clrMapOvr>
  <p:transition spd="med">
    <p:fade/>
  </p:transition>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HR Test Matrix and Known Answers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test matrix fixes prompt, configuration version, expected evidence and pass rule across retrieval and boundary cases.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Known answers such as 18 days of year-3 leave make grounding deterministic; boundary cases reveal unsafe answers before employees see them.</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T01 returns 18 days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199</a:t>
            </a:r>
          </a:p>
        </p:txBody>
      </p:sp>
    </p:spTree>
  </p:cSld>
  <p:clrMapOvr>
    <a:masterClrMapping/>
  </p:clrMapOvr>
  <p:transition spd="med">
    <p:fade/>
  </p:transition>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HR Test Matrix and Known Answers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Freeze configuration</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Run exact prompt</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Record answer and citation</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Repair or block</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200</a:t>
            </a:r>
          </a:p>
        </p:txBody>
      </p:sp>
    </p:spTree>
  </p:cSld>
  <p:clrMapOvr>
    <a:masterClrMapping/>
  </p:clrMapOvr>
  <p:transition spd="med">
    <p:fade/>
  </p:transition>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Agent Control — HR Test Matrix and Known Answers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T05 approves nothing</a:t>
            </a:r>
          </a:p>
          <a:p>
            <a:pPr>
              <a:spcAft>
                <a:spcPts val="1000"/>
              </a:spcAft>
            </a:pPr>
            <a:r>
              <a:rPr sz="1600" b="0">
                <a:solidFill>
                  <a:srgbClr val="21201C"/>
                </a:solidFill>
                <a:latin typeface="Calibri"/>
              </a:rPr>
              <a:t>•  T08 answers from the approved version</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201</a:t>
            </a:r>
          </a:p>
        </p:txBody>
      </p:sp>
    </p:spTree>
  </p:cSld>
  <p:clrMapOvr>
    <a:masterClrMapping/>
  </p:clrMapOvr>
  <p:transition spd="med">
    <p:fade/>
  </p:transition>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HR Test Matrix and Known Answers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https://learn.microsoft.com/en-us/microsoft-365-copilot/extensibility/declarative-agent-best-practices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T01 returns 18 days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T05 approves nothing</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Polish substitutes for evidence.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202</a:t>
            </a:r>
          </a:p>
        </p:txBody>
      </p:sp>
    </p:spTree>
  </p:cSld>
  <p:clrMapOvr>
    <a:masterClrMapping/>
  </p:clrMapOvr>
  <p:transition spd="med">
    <p:fade/>
  </p:transition>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Citation and Conflict Tests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Grounded answers identify the handbook section or snapshot for entitlements, amounts, deadlines and case figures; conflicting sources trigger a flag, not a merged answer.</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Citations reveal source drift and outdated pages before they reach employees.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S$40 per GP visit cited to section 4</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203</a:t>
            </a:r>
          </a:p>
        </p:txBody>
      </p:sp>
    </p:spTree>
  </p:cSld>
  <p:clrMapOvr>
    <a:masterClrMapping/>
  </p:clrMapOvr>
  <p:transition spd="med">
    <p:fade/>
  </p:transition>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Citation and Conflict Tests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Ask a known answer</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Open the citation</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Compare section and version</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Inject a conflict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204</a:t>
            </a:r>
          </a:p>
        </p:txBody>
      </p:sp>
    </p:spTree>
  </p:cSld>
  <p:clrMapOvr>
    <a:masterClrMapping/>
  </p:clrMapOvr>
  <p:transition spd="med">
    <p:fade/>
  </p:transition>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Agent Control — Citation and Conflict Tests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Overdue cases cited to the snapshot</a:t>
            </a:r>
          </a:p>
          <a:p>
            <a:pPr>
              <a:spcAft>
                <a:spcPts val="1000"/>
              </a:spcAft>
            </a:pPr>
            <a:r>
              <a:rPr sz="1600" b="0">
                <a:solidFill>
                  <a:srgbClr val="21201C"/>
                </a:solidFill>
                <a:latin typeface="Calibri"/>
              </a:rPr>
              <a:t>•  Old intranet page flagged</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205</a:t>
            </a:r>
          </a:p>
        </p:txBody>
      </p:sp>
    </p:spTree>
  </p:cSld>
  <p:clrMapOvr>
    <a:masterClrMapping/>
  </p:clrMapOvr>
  <p:transition spd="med">
    <p:fade/>
  </p:transition>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Evidence Trace — Citation and Conflict Tests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https://learn.microsoft.com/en-us/microsoft-365-copilot/extensibility/declarative-agent-best-practices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S$40 per GP visit cited to section 4</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Overdue cases cited to the snapshot</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agent averages or merges conflicting values.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206</a:t>
            </a:r>
          </a:p>
        </p:txBody>
      </p:sp>
    </p:spTree>
  </p:cSld>
  <p:clrMapOvr>
    <a:masterClrMapping/>
  </p:clrMapOvr>
  <p:transition spd="med">
    <p:fade/>
  </p:transition>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Test Result — A Grounded UNKNOWN Answer</a:t>
            </a:r>
          </a:p>
        </p:txBody>
      </p:sp>
      <p:sp>
        <p:nvSpPr>
          <p:cNvPr id="5" name="Rectangle 4"/>
          <p:cNvSpPr/>
          <p:nvPr/>
        </p:nvSpPr>
        <p:spPr>
          <a:xfrm>
            <a:off x="731520" y="1764792"/>
            <a:ext cx="4951188" cy="4434840"/>
          </a:xfrm>
          <a:prstGeom prst="rect">
            <a:avLst/>
          </a:prstGeom>
          <a:solidFill>
            <a:srgbClr val="DCD8CF"/>
          </a:solidFill>
          <a:ln>
            <a:noFill/>
          </a:ln>
          <a:effectLst/>
        </p:spPr>
        <p:txBody>
          <a:bodyPr rtlCol="0" anchor="ctr"/>
          <a:lstStyle/>
          <a:p>
            <a:pPr algn="ctr"/>
          </a:p>
        </p:txBody>
      </p:sp>
      <p:pic>
        <p:nvPicPr>
          <p:cNvPr id="6" name="Picture 5" descr="agent-unknown-answer.png"/>
          <p:cNvPicPr>
            <a:picLocks noChangeAspect="1"/>
          </p:cNvPicPr>
          <p:nvPr/>
        </p:nvPicPr>
        <p:blipFill>
          <a:blip r:embed="rId2"/>
          <a:stretch>
            <a:fillRect/>
          </a:stretch>
        </p:blipFill>
        <p:spPr>
          <a:xfrm>
            <a:off x="777240" y="1810512"/>
            <a:ext cx="4859748" cy="4343400"/>
          </a:xfrm>
          <a:prstGeom prst="rect">
            <a:avLst/>
          </a:prstGeom>
        </p:spPr>
      </p:pic>
      <p:sp>
        <p:nvSpPr>
          <p:cNvPr id="7" name="Rounded Rectangle 6"/>
          <p:cNvSpPr/>
          <p:nvPr/>
        </p:nvSpPr>
        <p:spPr>
          <a:xfrm>
            <a:off x="6002748" y="1810512"/>
            <a:ext cx="5408964"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6002748" y="1810512"/>
            <a:ext cx="5408964" cy="64008"/>
          </a:xfrm>
          <a:prstGeom prst="rect">
            <a:avLst/>
          </a:prstGeom>
          <a:solidFill>
            <a:srgbClr val="D97757"/>
          </a:solidFill>
          <a:ln>
            <a:noFill/>
          </a:ln>
          <a:effectLst/>
        </p:spPr>
        <p:txBody>
          <a:bodyPr rtlCol="0" anchor="ctr"/>
          <a:lstStyle/>
          <a:p>
            <a:pPr algn="ctr"/>
          </a:p>
        </p:txBody>
      </p:sp>
      <p:sp>
        <p:nvSpPr>
          <p:cNvPr id="9" name="Oval 8"/>
          <p:cNvSpPr/>
          <p:nvPr/>
        </p:nvSpPr>
        <p:spPr>
          <a:xfrm>
            <a:off x="6185628" y="2120265"/>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6185628" y="2120265"/>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6734268" y="1810512"/>
            <a:ext cx="4494564" cy="1003554"/>
          </a:xfrm>
          <a:prstGeom prst="rect">
            <a:avLst/>
          </a:prstGeom>
          <a:noFill/>
        </p:spPr>
        <p:txBody>
          <a:bodyPr wrap="square" anchor="ctr">
            <a:spAutoFit/>
          </a:bodyPr>
          <a:lstStyle/>
          <a:p>
            <a:pPr algn="l">
              <a:spcAft>
                <a:spcPts val="200"/>
              </a:spcAft>
            </a:pPr>
            <a:r>
              <a:rPr sz="1400" b="1">
                <a:solidFill>
                  <a:srgbClr val="21201C"/>
                </a:solidFill>
                <a:latin typeface="Calibri"/>
              </a:rPr>
              <a:t>The test</a:t>
            </a:r>
          </a:p>
          <a:p>
            <a:pPr algn="l">
              <a:spcAft>
                <a:spcPts val="200"/>
              </a:spcAft>
            </a:pPr>
            <a:r>
              <a:rPr sz="1200" b="0">
                <a:solidFill>
                  <a:srgbClr val="6B6862"/>
                </a:solidFill>
                <a:latin typeface="Calibri"/>
              </a:rPr>
              <a:t>Ask a policy question and require a citation. Here an earlier course agent was asked about annual leave.</a:t>
            </a:r>
          </a:p>
        </p:txBody>
      </p:sp>
      <p:sp>
        <p:nvSpPr>
          <p:cNvPr id="12" name="Rounded Rectangle 11"/>
          <p:cNvSpPr/>
          <p:nvPr/>
        </p:nvSpPr>
        <p:spPr>
          <a:xfrm>
            <a:off x="6002748" y="2923794"/>
            <a:ext cx="5408964"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6002748" y="2923794"/>
            <a:ext cx="5408964" cy="64008"/>
          </a:xfrm>
          <a:prstGeom prst="rect">
            <a:avLst/>
          </a:prstGeom>
          <a:solidFill>
            <a:srgbClr val="3A7D7B"/>
          </a:solidFill>
          <a:ln>
            <a:noFill/>
          </a:ln>
          <a:effectLst/>
        </p:spPr>
        <p:txBody>
          <a:bodyPr rtlCol="0" anchor="ctr"/>
          <a:lstStyle/>
          <a:p>
            <a:pPr algn="ctr"/>
          </a:p>
        </p:txBody>
      </p:sp>
      <p:sp>
        <p:nvSpPr>
          <p:cNvPr id="14" name="Oval 13"/>
          <p:cNvSpPr/>
          <p:nvPr/>
        </p:nvSpPr>
        <p:spPr>
          <a:xfrm>
            <a:off x="6185628" y="3233547"/>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6185628" y="3233547"/>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6734268" y="2923794"/>
            <a:ext cx="4494564" cy="1003554"/>
          </a:xfrm>
          <a:prstGeom prst="rect">
            <a:avLst/>
          </a:prstGeom>
          <a:noFill/>
        </p:spPr>
        <p:txBody>
          <a:bodyPr wrap="square" anchor="ctr">
            <a:spAutoFit/>
          </a:bodyPr>
          <a:lstStyle/>
          <a:p>
            <a:pPr algn="l">
              <a:spcAft>
                <a:spcPts val="200"/>
              </a:spcAft>
            </a:pPr>
            <a:r>
              <a:rPr sz="1400" b="1">
                <a:solidFill>
                  <a:srgbClr val="21201C"/>
                </a:solidFill>
                <a:latin typeface="Calibri"/>
              </a:rPr>
              <a:t>No invention</a:t>
            </a:r>
          </a:p>
          <a:p>
            <a:pPr algn="l">
              <a:spcAft>
                <a:spcPts val="200"/>
              </a:spcAft>
            </a:pPr>
            <a:r>
              <a:rPr sz="1200" b="0">
                <a:solidFill>
                  <a:srgbClr val="6B6862"/>
                </a:solidFill>
                <a:latin typeface="Calibri"/>
              </a:rPr>
              <a:t>Its knowledge file holds no leave policy, so it says "not specified" instead of guessing a number.</a:t>
            </a:r>
          </a:p>
        </p:txBody>
      </p:sp>
      <p:sp>
        <p:nvSpPr>
          <p:cNvPr id="17" name="Rounded Rectangle 16"/>
          <p:cNvSpPr/>
          <p:nvPr/>
        </p:nvSpPr>
        <p:spPr>
          <a:xfrm>
            <a:off x="6002748" y="4037076"/>
            <a:ext cx="5408964"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002748" y="4037076"/>
            <a:ext cx="5408964" cy="64008"/>
          </a:xfrm>
          <a:prstGeom prst="rect">
            <a:avLst/>
          </a:prstGeom>
          <a:solidFill>
            <a:srgbClr val="5B4B8A"/>
          </a:solidFill>
          <a:ln>
            <a:noFill/>
          </a:ln>
          <a:effectLst/>
        </p:spPr>
        <p:txBody>
          <a:bodyPr rtlCol="0" anchor="ctr"/>
          <a:lstStyle/>
          <a:p>
            <a:pPr algn="ctr"/>
          </a:p>
        </p:txBody>
      </p:sp>
      <p:sp>
        <p:nvSpPr>
          <p:cNvPr id="19" name="Oval 18"/>
          <p:cNvSpPr/>
          <p:nvPr/>
        </p:nvSpPr>
        <p:spPr>
          <a:xfrm>
            <a:off x="6185628" y="4346829"/>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6185628" y="4346829"/>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6734268" y="4037076"/>
            <a:ext cx="4494564" cy="1003554"/>
          </a:xfrm>
          <a:prstGeom prst="rect">
            <a:avLst/>
          </a:prstGeom>
          <a:noFill/>
        </p:spPr>
        <p:txBody>
          <a:bodyPr wrap="square" anchor="ctr">
            <a:spAutoFit/>
          </a:bodyPr>
          <a:lstStyle/>
          <a:p>
            <a:pPr algn="l">
              <a:spcAft>
                <a:spcPts val="200"/>
              </a:spcAft>
            </a:pPr>
            <a:r>
              <a:rPr sz="1400" b="1">
                <a:solidFill>
                  <a:srgbClr val="21201C"/>
                </a:solidFill>
                <a:latin typeface="Calibri"/>
              </a:rPr>
              <a:t>Cited evidence</a:t>
            </a:r>
          </a:p>
          <a:p>
            <a:pPr algn="l">
              <a:spcAft>
                <a:spcPts val="200"/>
              </a:spcAft>
            </a:pPr>
            <a:r>
              <a:rPr sz="1200" b="0">
                <a:solidFill>
                  <a:srgbClr val="6B6862"/>
                </a:solidFill>
                <a:latin typeface="Calibri"/>
              </a:rPr>
              <a:t>Each claim carries a citation icon that opens the exact source passage.</a:t>
            </a:r>
          </a:p>
        </p:txBody>
      </p:sp>
      <p:sp>
        <p:nvSpPr>
          <p:cNvPr id="22" name="Rounded Rectangle 21"/>
          <p:cNvSpPr/>
          <p:nvPr/>
        </p:nvSpPr>
        <p:spPr>
          <a:xfrm>
            <a:off x="6002748" y="5150358"/>
            <a:ext cx="5408964"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6002748" y="5150358"/>
            <a:ext cx="5408964" cy="64008"/>
          </a:xfrm>
          <a:prstGeom prst="rect">
            <a:avLst/>
          </a:prstGeom>
          <a:solidFill>
            <a:srgbClr val="C2603F"/>
          </a:solidFill>
          <a:ln>
            <a:noFill/>
          </a:ln>
          <a:effectLst/>
        </p:spPr>
        <p:txBody>
          <a:bodyPr rtlCol="0" anchor="ctr"/>
          <a:lstStyle/>
          <a:p>
            <a:pPr algn="ctr"/>
          </a:p>
        </p:txBody>
      </p:sp>
      <p:sp>
        <p:nvSpPr>
          <p:cNvPr id="24" name="Oval 23"/>
          <p:cNvSpPr/>
          <p:nvPr/>
        </p:nvSpPr>
        <p:spPr>
          <a:xfrm>
            <a:off x="6185628" y="5460111"/>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6185628" y="546011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6734268" y="5150358"/>
            <a:ext cx="4494564" cy="1003554"/>
          </a:xfrm>
          <a:prstGeom prst="rect">
            <a:avLst/>
          </a:prstGeom>
          <a:noFill/>
        </p:spPr>
        <p:txBody>
          <a:bodyPr wrap="square" anchor="ctr">
            <a:spAutoFit/>
          </a:bodyPr>
          <a:lstStyle/>
          <a:p>
            <a:pPr algn="l">
              <a:spcAft>
                <a:spcPts val="200"/>
              </a:spcAft>
            </a:pPr>
            <a:r>
              <a:rPr sz="1400" b="1">
                <a:solidFill>
                  <a:srgbClr val="21201C"/>
                </a:solidFill>
                <a:latin typeface="Calibri"/>
              </a:rPr>
              <a:t>Record it</a:t>
            </a:r>
          </a:p>
          <a:p>
            <a:pPr algn="l">
              <a:spcAft>
                <a:spcPts val="200"/>
              </a:spcAft>
            </a:pPr>
            <a:r>
              <a:rPr sz="1200" b="0">
                <a:solidFill>
                  <a:srgbClr val="6B6862"/>
                </a:solidFill>
                <a:latin typeface="Calibri"/>
              </a:rPr>
              <a:t>Log pass or fail in the HR test matrix; a made-up number would be a blocking failure.</a:t>
            </a:r>
          </a:p>
        </p:txBody>
      </p:sp>
      <p:sp>
        <p:nvSpPr>
          <p:cNvPr id="27" name="TextBox 2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9" name="TextBox 2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207</a:t>
            </a:r>
          </a:p>
        </p:txBody>
      </p:sp>
    </p:spTree>
  </p:cSld>
  <p:clrMapOvr>
    <a:masterClrMapping/>
  </p:clrMapOvr>
  <p:transition spd="med">
    <p:fade/>
  </p:transition>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Privacy, Live-Data and Approval Tests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Test as an intended user for another employee’s data, restricted files, live balances and approve/send requests.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Owner access conceals permission defects; a policy handbook cannot answer live balances; Agent Builder does not perform external actions.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No salary or medical disclosure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208</a:t>
            </a:r>
          </a:p>
        </p:txBody>
      </p:sp>
    </p:spTree>
  </p:cSld>
  <p:clrMapOvr>
    <a:masterClrMapping/>
  </p:clrMapOvr>
  <p:transition spd="med">
    <p:fade/>
  </p:transition>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Privacy, Live-Data and Approval Tests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Use a named tester</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Run the privacy case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Run the live-data case</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Request a prohibited action</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209</a:t>
            </a:r>
          </a:p>
        </p:txBody>
      </p:sp>
    </p:spTree>
  </p:cSld>
  <p:clrMapOvr>
    <a:masterClrMapping/>
  </p:clrMapOvr>
  <p:transition spd="med">
    <p:fade/>
  </p:transition>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Privacy, Live-Data and Approval Tests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Leave balance UNKNOWN, see HR portal</a:t>
            </a:r>
          </a:p>
          <a:p>
            <a:pPr>
              <a:spcAft>
                <a:spcPts val="1000"/>
              </a:spcAft>
            </a:pPr>
            <a:r>
              <a:rPr sz="1600" b="0">
                <a:solidFill>
                  <a:srgbClr val="21201C"/>
                </a:solidFill>
                <a:latin typeface="Calibri"/>
              </a:rPr>
              <a:t>•  No approval or email claimed</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210</a:t>
            </a:r>
          </a:p>
        </p:txBody>
      </p:sp>
    </p:spTree>
  </p:cSld>
  <p:clrMapOvr>
    <a:masterClrMapping/>
  </p:clrMapOvr>
  <p:transition spd="med">
    <p:fade/>
  </p:transition>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Privacy, Live-Data and Approval Tests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https://learn.microsoft.com/en-us/microsoft-365-copilot/extensibility/agent-builder</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No salary or medical disclosure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Leave balance UNKNOWN, see HR portal</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Testing needs broad permissions or simulated success.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211</a:t>
            </a:r>
          </a:p>
        </p:txBody>
      </p:sp>
    </p:spTree>
  </p:cSld>
  <p:clrMapOvr>
    <a:masterClrMapping/>
  </p:clrMapOvr>
  <p:transition spd="med">
    <p:fade/>
  </p:transition>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THEME · AGENT TEST AND EVALUATION</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Test Grounded HR Answers, Citations and Guardrails</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13</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700" b="0">
                <a:solidFill>
                  <a:srgbClr val="21201C"/>
                </a:solidFill>
                <a:latin typeface="Calibri"/>
              </a:rPr>
              <a:t>Run the eight-case evaluation against instruction version v1.0. Policy and case-figure questions must return the known answer with a cited section; unknown, live-data, privacy, conflict and approval requests must be handled safely.</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A completed eight-case test matrix with actual answers, citations and pass/fail, one corrected defect with a clean retest, and a sharing decision.</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Describe</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Configure</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Ground</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Test</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(copilot.cloud.microsoft) · Agent Builder · OneDrive · Excel</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212</a:t>
            </a:r>
          </a:p>
        </p:txBody>
      </p:sp>
    </p:spTree>
  </p:cSld>
  <p:clrMapOvr>
    <a:masterClrMapping/>
  </p:clrMapOvr>
  <p:transition spd="med">
    <p:fade/>
  </p:transition>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13</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Evaluate: Run T01 through T08 against instruction v1.0; record actual answer, citation, pass/fail, defect and retest.</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Guardrail: Verify T01 returns 18 days cited, T03 returns 50 overdue, T05 approves nothing and T06 discloses nothing.</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213</a:t>
            </a:r>
          </a:p>
        </p:txBody>
      </p:sp>
    </p:spTree>
  </p:cSld>
  <p:clrMapOvr>
    <a:masterClrMapping/>
  </p:clrMapOvr>
  <p:transition spd="med">
    <p:fade/>
  </p:transition>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13</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Coverage</a:t>
            </a:r>
          </a:p>
          <a:p>
            <a:pPr algn="l">
              <a:spcAft>
                <a:spcPts val="300"/>
              </a:spcAft>
            </a:pPr>
            <a:r>
              <a:rPr sz="1300" b="0">
                <a:solidFill>
                  <a:srgbClr val="6B6862"/>
                </a:solidFill>
                <a:latin typeface="Calibri"/>
              </a:rPr>
              <a:t>All eight tests have actual answers, citations and results.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Grounding</a:t>
            </a:r>
          </a:p>
          <a:p>
            <a:pPr algn="l">
              <a:spcAft>
                <a:spcPts val="300"/>
              </a:spcAft>
            </a:pPr>
            <a:r>
              <a:rPr sz="1300" b="0">
                <a:solidFill>
                  <a:srgbClr val="6B6862"/>
                </a:solidFill>
                <a:latin typeface="Calibri"/>
              </a:rPr>
              <a:t>T01 18 days; T02 S$40/S$500/30 days; T03 50 overdue - each cited.</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Boundaries</a:t>
            </a:r>
          </a:p>
          <a:p>
            <a:pPr algn="l">
              <a:spcAft>
                <a:spcPts val="300"/>
              </a:spcAft>
            </a:pPr>
            <a:r>
              <a:rPr sz="1300" b="0">
                <a:solidFill>
                  <a:srgbClr val="6B6862"/>
                </a:solidFill>
                <a:latin typeface="Calibri"/>
              </a:rPr>
              <a:t>T05 approves and sends nothing; T06 discloses nothing; T07 balance UNKNOWN.</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Repair</a:t>
            </a:r>
          </a:p>
          <a:p>
            <a:pPr algn="l">
              <a:spcAft>
                <a:spcPts val="300"/>
              </a:spcAft>
            </a:pPr>
            <a:r>
              <a:rPr sz="1300" b="0">
                <a:solidFill>
                  <a:srgbClr val="6B6862"/>
                </a:solidFill>
                <a:latin typeface="Calibri"/>
              </a:rPr>
              <a:t>One weakness corrected and retested, or a no-defect result critically documented.</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214</a:t>
            </a:r>
          </a:p>
        </p:txBody>
      </p:sp>
    </p:spTree>
  </p:cSld>
  <p:clrMapOvr>
    <a:masterClrMapping/>
  </p:clrMapOvr>
  <p:transition spd="med">
    <p:fade/>
  </p:transition>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Sharing Roles and Knowledge Access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Agent sharing supports user (Can chat) and owner (Can edit) roles, but access to the agent does not guarantee retrieval from every SharePoint or OneDrive source.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link that opens without grounded retrieval is not a successful rollout.</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Named tester: chat and open citations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215</a:t>
            </a:r>
          </a:p>
        </p:txBody>
      </p:sp>
    </p:spTree>
  </p:cSld>
  <p:clrMapOvr>
    <a:masterClrMapping/>
  </p:clrMapOvr>
  <p:transition spd="med">
    <p:fade/>
  </p:transition>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Sharing Roles and Knowledge Access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Pass blocking tests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Choose named roles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Verify sources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Acquire and retest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216</a:t>
            </a:r>
          </a:p>
        </p:txBody>
      </p:sp>
    </p:spTree>
  </p:cSld>
  <p:clrMapOvr>
    <a:masterClrMapping/>
  </p:clrMapOvr>
  <p:transition spd="med">
    <p:fade/>
  </p:transition>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Sharing Roles and Knowledge Access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Named owner: update, share and manage</a:t>
            </a:r>
          </a:p>
          <a:p>
            <a:pPr>
              <a:spcAft>
                <a:spcPts val="1000"/>
              </a:spcAft>
            </a:pPr>
            <a:r>
              <a:rPr sz="1600" b="0">
                <a:solidFill>
                  <a:srgbClr val="21201C"/>
                </a:solidFill>
                <a:latin typeface="Calibri"/>
              </a:rPr>
              <a:t>•  T06 privacy result blocks release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217</a:t>
            </a:r>
          </a:p>
        </p:txBody>
      </p:sp>
    </p:spTree>
  </p:cSld>
  <p:clrMapOvr>
    <a:masterClrMapping/>
  </p:clrMapOvr>
  <p:transition spd="med">
    <p:fade/>
  </p:transition>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Sharing Roles and Knowledge Access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https://learn.microsoft.com/en-us/microsoft-365-copilot/extensibility/agent-builder-share-manage-agents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Named tester: chat and open citations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Named owner: update, share and manage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Organisation-wide sharing bypasses missing source access.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218</a:t>
            </a:r>
          </a:p>
        </p:txBody>
      </p:sp>
    </p:spTree>
  </p:cSld>
  <p:clrMapOvr>
    <a:masterClrMapping/>
  </p:clrMapOvr>
  <p:transition spd="med">
    <p:fade/>
  </p:transition>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Agent Lifecycle Ownership and Rollback</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shared agent needs owners, instruction and Skill versions, a test log, a review trigger and a rollback record.</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handbook, permissions, product behaviour and tenant policy change; retesting protects current use.</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Instruction v1.0 plus handbook version 2026.3</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219</a:t>
            </a:r>
          </a:p>
        </p:txBody>
      </p:sp>
    </p:spTree>
  </p:cSld>
  <p:clrMapOvr>
    <a:masterClrMapping/>
  </p:clrMapOvr>
  <p:transition spd="med">
    <p:fade/>
  </p:transition>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Agent Lifecycle Ownership and Rollback</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Assign owners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Version configuration</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triggers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Retest and keep rollback</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220</a:t>
            </a:r>
          </a:p>
        </p:txBody>
      </p:sp>
    </p:spTree>
  </p:cSld>
  <p:clrMapOvr>
    <a:masterClrMapping/>
  </p:clrMapOvr>
  <p:transition spd="med">
    <p:fade/>
  </p:transition>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Agent Lifecycle Ownership and Rollback</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Retest T01, T05 and T06 monthly or after change</a:t>
            </a:r>
          </a:p>
          <a:p>
            <a:pPr>
              <a:spcAft>
                <a:spcPts val="1000"/>
              </a:spcAft>
            </a:pPr>
            <a:r>
              <a:rPr sz="1600" b="0">
                <a:solidFill>
                  <a:srgbClr val="21201C"/>
                </a:solidFill>
                <a:latin typeface="Calibri"/>
              </a:rPr>
              <a:t>•  Keep previous passing configuration and defect log</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221</a:t>
            </a:r>
          </a:p>
        </p:txBody>
      </p:sp>
    </p:spTree>
  </p:cSld>
  <p:clrMapOvr>
    <a:masterClrMapping/>
  </p:clrMapOvr>
  <p:transition spd="med">
    <p:fade/>
  </p:transition>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Agent Lifecycle Ownership and Rollback</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https://learn.microsoft.com/en-us/microsoft-365-copilot/extensibility/agent-builder-share-manage-agents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Instruction v1.0 plus handbook version 2026.3</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Retest T01, T05 and T06 monthly or after change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 shared link is treated as the end of the lifecycle.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222</a:t>
            </a:r>
          </a:p>
        </p:txBody>
      </p:sp>
    </p:spTree>
  </p:cSld>
  <p:clrMapOvr>
    <a:masterClrMapping/>
  </p:clrMapOvr>
  <p:transition spd="med">
    <p:fade/>
  </p:transition>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Staff Enablement Tracker Evidence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 Excel tracker can record roster, practice, evidence, defect, owner, retest and status; it does not prove agent action or approval.</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LO4 requires a staff training plan with observed evidence and support ownership.</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Tracker columns: User, Role, Practice test, Evidence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223</a:t>
            </a:r>
          </a:p>
        </p:txBody>
      </p:sp>
    </p:spTree>
  </p:cSld>
  <p:clrMapOvr>
    <a:masterClrMapping/>
  </p:clrMapOvr>
  <p:transition spd="med">
    <p:fade/>
  </p:transition>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Staff Enablement Tracker Evidence</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roles and cases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Run tests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Record evidence</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Assign retest and support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224</a:t>
            </a:r>
          </a:p>
        </p:txBody>
      </p:sp>
    </p:spTree>
  </p:cSld>
  <p:clrMapOvr>
    <a:masterClrMapping/>
  </p:clrMapOvr>
  <p:transition spd="med">
    <p:fade/>
  </p:transition>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Staff Enablement Tracker Evidence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Defect, Owner, Retest and Status stay observable</a:t>
            </a:r>
          </a:p>
          <a:p>
            <a:pPr>
              <a:spcAft>
                <a:spcPts val="1000"/>
              </a:spcAft>
            </a:pPr>
            <a:r>
              <a:rPr sz="1600" b="0">
                <a:solidFill>
                  <a:srgbClr val="21201C"/>
                </a:solidFill>
                <a:latin typeface="Calibri"/>
              </a:rPr>
              <a:t>•  Practice includes cited leave answer, UNKNOWN and refusal</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225</a:t>
            </a:r>
          </a:p>
        </p:txBody>
      </p:sp>
    </p:spTree>
  </p:cSld>
  <p:clrMapOvr>
    <a:masterClrMapping/>
  </p:clrMapOvr>
  <p:transition spd="med">
    <p:fade/>
  </p:transition>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Staff Enablement Tracker Evidence</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https://learn.microsoft.com/en-us/microsoft-365-copilot/extensibility/declarative-agent-best-practices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Tracker columns: User, Role, Practice test, Evidence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Defect, Owner, Retest and Status stay observable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 prefilled checklist is presented as completion.</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226</a:t>
            </a:r>
          </a:p>
        </p:txBody>
      </p:sp>
    </p:spTree>
  </p:cSld>
  <p:clrMapOvr>
    <a:masterClrMapping/>
  </p:clrMapOvr>
  <p:transition spd="med">
    <p:fade/>
  </p:transition>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THEME · GOVERNED SHARING AND ENABLEMENT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Share the HR Agent with Named Users and Deliver Staff Enablement</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14</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700" b="0">
                <a:solidFill>
                  <a:srgbClr val="21201C"/>
                </a:solidFill>
                <a:latin typeface="Calibri"/>
              </a:rPr>
              <a:t>Share Lumina HR Policy Agent only after the blocking tests pass. Verify that named users already have access to every knowledge file, retest as a user, then use an Excel staff enablement tracker to track staff practice, defects and retests as part of the LO4 staff training plan.</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800" b="1">
                <a:solidFill>
                  <a:srgbClr val="21201C"/>
                </a:solidFill>
                <a:latin typeface="Cambria"/>
              </a:rPr>
              <a:t>A named-user sharing record, a test-user result, an Excel staff enablement tracker and a rollback-ready owner plan.</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Describe</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Configure</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Ground</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Test</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(copilot.cloud.microsoft) · Agent Builder · OneDrive · Excel</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227</a:t>
            </a:r>
          </a:p>
        </p:txBody>
      </p:sp>
    </p:spTree>
  </p:cSld>
  <p:clrMapOvr>
    <a:masterClrMapping/>
  </p:clrMapOvr>
  <p:transition spd="med">
    <p:fade/>
  </p:transition>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14</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Share: After T01-T08 pass, share Lumina HR Policy Agent with one named test user (Can chat) who already has access to the knowledge files.</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Enable: Create an Excel tracker with User, Role, Practice test, Evidence, Defect, Owner, Retest and Status; do not prefill completion.</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228</a:t>
            </a:r>
          </a:p>
        </p:txBody>
      </p:sp>
    </p:spTree>
  </p:cSld>
  <p:clrMapOvr>
    <a:masterClrMapping/>
  </p:clrMapOvr>
  <p:transition spd="med">
    <p:fade/>
  </p:transition>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14</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Gate</a:t>
            </a:r>
          </a:p>
          <a:p>
            <a:pPr algn="l">
              <a:spcAft>
                <a:spcPts val="300"/>
              </a:spcAft>
            </a:pPr>
            <a:r>
              <a:rPr sz="1300" b="0">
                <a:solidFill>
                  <a:srgbClr val="6B6862"/>
                </a:solidFill>
                <a:latin typeface="Calibri"/>
              </a:rPr>
              <a:t>All blocking retrieval, privacy and approval tests pass before sharing.</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Sharing</a:t>
            </a:r>
          </a:p>
          <a:p>
            <a:pPr algn="l">
              <a:spcAft>
                <a:spcPts val="300"/>
              </a:spcAft>
            </a:pPr>
            <a:r>
              <a:rPr sz="1300" b="0">
                <a:solidFill>
                  <a:srgbClr val="6B6862"/>
                </a:solidFill>
                <a:latin typeface="Calibri"/>
              </a:rPr>
              <a:t>Named users only, with Can chat; knowledge access verified.</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Tracker</a:t>
            </a:r>
          </a:p>
          <a:p>
            <a:pPr algn="l">
              <a:spcAft>
                <a:spcPts val="300"/>
              </a:spcAft>
            </a:pPr>
            <a:r>
              <a:rPr sz="1300" b="0">
                <a:solidFill>
                  <a:srgbClr val="6B6862"/>
                </a:solidFill>
                <a:latin typeface="Calibri"/>
              </a:rPr>
              <a:t>Actual practice evidence, defect owner and retest visible.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Lifecycle</a:t>
            </a:r>
          </a:p>
          <a:p>
            <a:pPr algn="l">
              <a:spcAft>
                <a:spcPts val="300"/>
              </a:spcAft>
            </a:pPr>
            <a:r>
              <a:rPr sz="1300" b="0">
                <a:solidFill>
                  <a:srgbClr val="6B6862"/>
                </a:solidFill>
                <a:latin typeface="Calibri"/>
              </a:rPr>
              <a:t>Owners, review trigger and rollback assigned.</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229</a:t>
            </a:r>
          </a:p>
        </p:txBody>
      </p:sp>
    </p:spTree>
  </p:cSld>
  <p:clrMapOvr>
    <a:masterClrMapping/>
  </p:clrMapOvr>
  <p:transition spd="med">
    <p:fade/>
  </p:transition>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TOPIC RECAP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Recap - Create Microsoft 365 Agents for Businesses</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LO4: Staff training covers Agent Builder, tracked practice, owners and support.</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Verify: Eight tests and named-user access pass before sharing.</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230</a:t>
            </a:r>
          </a:p>
        </p:txBody>
      </p:sp>
    </p:spTree>
  </p:cSld>
  <p:clrMapOvr>
    <a:masterClrMapping/>
  </p:clrMapOvr>
  <p:transition spd="med">
    <p:fade/>
  </p:transition>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WRAP-UP</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Course Summary &amp; Next Steps</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231</a:t>
            </a:r>
          </a:p>
        </p:txBody>
      </p:sp>
    </p:spTree>
  </p:cSld>
  <p:clrMapOvr>
    <a:masterClrMapping/>
  </p:clrMapOvr>
  <p:transition spd="med">
    <p:fade/>
  </p:transition>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LEARNING OUTCOMES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What You Achieved</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Integration risks</a:t>
            </a:r>
          </a:p>
          <a:p>
            <a:pPr algn="l">
              <a:spcAft>
                <a:spcPts val="300"/>
              </a:spcAft>
            </a:pPr>
            <a:r>
              <a:rPr sz="1300" b="0">
                <a:solidFill>
                  <a:srgbClr val="6B6862"/>
                </a:solidFill>
                <a:latin typeface="Calibri"/>
              </a:rPr>
              <a:t>Predict and mitigate challenges in integrating Microsoft Copilot to workflow.</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Transition plan</a:t>
            </a:r>
          </a:p>
          <a:p>
            <a:pPr algn="l">
              <a:spcAft>
                <a:spcPts val="300"/>
              </a:spcAft>
            </a:pPr>
            <a:r>
              <a:rPr sz="1300" b="0">
                <a:solidFill>
                  <a:srgbClr val="6B6862"/>
                </a:solidFill>
                <a:latin typeface="Calibri"/>
              </a:rPr>
              <a:t>Develop a plan for implementing Microsoft Copilot to ensure seamless transition from legacy workflow.</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Teams and Outlook opportunities</a:t>
            </a:r>
          </a:p>
          <a:p>
            <a:pPr algn="l">
              <a:spcAft>
                <a:spcPts val="300"/>
              </a:spcAft>
            </a:pPr>
            <a:r>
              <a:rPr sz="1300" b="0">
                <a:solidFill>
                  <a:srgbClr val="6B6862"/>
                </a:solidFill>
                <a:latin typeface="Calibri"/>
              </a:rPr>
              <a:t>Evaluate opportunities in using Microsoft Copilot for Teams and Outlook.</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Staff training plan</a:t>
            </a:r>
          </a:p>
          <a:p>
            <a:pPr algn="l">
              <a:spcAft>
                <a:spcPts val="300"/>
              </a:spcAft>
            </a:pPr>
            <a:r>
              <a:rPr sz="1300" b="0">
                <a:solidFill>
                  <a:srgbClr val="6B6862"/>
                </a:solidFill>
                <a:latin typeface="Calibri"/>
              </a:rPr>
              <a:t>Design a training plan for staff to use Microsoft Copilot Studio.</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232</a:t>
            </a:r>
          </a:p>
        </p:txBody>
      </p:sp>
    </p:spTree>
  </p:cSld>
  <p:clrMapOvr>
    <a:masterClrMapping/>
  </p:clrMapOvr>
  <p:transition spd="med">
    <p:fade/>
  </p:transition>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NEXT STEPS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Your Next Governed HR Copilot Workflow</a:t>
            </a:r>
          </a:p>
        </p:txBody>
      </p:sp>
      <p:sp>
        <p:nvSpPr>
          <p:cNvPr id="5" name="Rounded Rectangle 4"/>
          <p:cNvSpPr/>
          <p:nvPr/>
        </p:nvSpPr>
        <p:spPr>
          <a:xfrm>
            <a:off x="777240" y="1828800"/>
            <a:ext cx="10634472"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316480"/>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21201C"/>
                </a:solidFill>
                <a:latin typeface="Calibri"/>
              </a:rPr>
              <a:t>Use a new verified date and keep the prior snapshot.</a:t>
            </a:r>
          </a:p>
        </p:txBody>
      </p:sp>
      <p:sp>
        <p:nvSpPr>
          <p:cNvPr id="10" name="Rounded Rectangle 9"/>
          <p:cNvSpPr/>
          <p:nvPr/>
        </p:nvSpPr>
        <p:spPr>
          <a:xfrm>
            <a:off x="777240" y="3316224"/>
            <a:ext cx="10634472"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3316224"/>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3803904"/>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21201C"/>
                </a:solidFill>
                <a:latin typeface="Calibri"/>
              </a:rPr>
              <a:t>Retest Skills and the HR agent after any handbook, permission, model or policy change.</a:t>
            </a:r>
          </a:p>
        </p:txBody>
      </p:sp>
      <p:sp>
        <p:nvSpPr>
          <p:cNvPr id="15" name="Rounded Rectangle 14"/>
          <p:cNvSpPr/>
          <p:nvPr/>
        </p:nvSpPr>
        <p:spPr>
          <a:xfrm>
            <a:off x="777240" y="4803648"/>
            <a:ext cx="10634472"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803648"/>
            <a:ext cx="10634472"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5291328"/>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21201C"/>
                </a:solidFill>
                <a:latin typeface="Calibri"/>
              </a:rPr>
              <a:t>Keep sends, approvals, HR decisions and case assignments under visible human control.</a:t>
            </a:r>
          </a:p>
        </p:txBody>
      </p:sp>
      <p:sp>
        <p:nvSpPr>
          <p:cNvPr id="20" name="TextBox 1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2" name="TextBox 2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233</a:t>
            </a:r>
          </a:p>
        </p:txBody>
      </p:sp>
    </p:spTree>
  </p:cSld>
  <p:clrMapOvr>
    <a:masterClrMapping/>
  </p:clrMapOvr>
  <p:transition spd="med">
    <p:fade/>
  </p:transition>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WRAP-UP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Keep Practising After the Course</a:t>
            </a:r>
          </a:p>
        </p:txBody>
      </p:sp>
      <p:sp>
        <p:nvSpPr>
          <p:cNvPr id="5" name="Rounded Rectangle 4"/>
          <p:cNvSpPr/>
          <p:nvPr/>
        </p:nvSpPr>
        <p:spPr>
          <a:xfrm>
            <a:off x="777240"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Re-run the labs on your own machine — repetition is what makes the skills stick.</a:t>
            </a:r>
          </a:p>
        </p:txBody>
      </p:sp>
      <p:sp>
        <p:nvSpPr>
          <p:cNvPr id="10" name="Rounded Rectangle 9"/>
          <p:cNvSpPr/>
          <p:nvPr/>
        </p:nvSpPr>
        <p:spPr>
          <a:xfrm>
            <a:off x="6176772"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688336"/>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Apply the techniques to a real process or project in your own organisation.</a:t>
            </a:r>
          </a:p>
        </p:txBody>
      </p:sp>
      <p:sp>
        <p:nvSpPr>
          <p:cNvPr id="15" name="Rounded Rectangle 14"/>
          <p:cNvSpPr/>
          <p:nvPr/>
        </p:nvSpPr>
        <p:spPr>
          <a:xfrm>
            <a:off x="777240"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59936"/>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Keep your downloaded TGS-2024043856 course files and use the lab checkpoints to restart safely.</a:t>
            </a:r>
          </a:p>
        </p:txBody>
      </p:sp>
      <p:sp>
        <p:nvSpPr>
          <p:cNvPr id="20" name="Rounded Rectangle 19"/>
          <p:cNvSpPr/>
          <p:nvPr/>
        </p:nvSpPr>
        <p:spPr>
          <a:xfrm>
            <a:off x="6176772"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4059936"/>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4919472"/>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Explore the follow-on courses at www.tertiarycourses.com.sg.</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234</a:t>
            </a:r>
          </a:p>
        </p:txBody>
      </p:sp>
    </p:spTree>
  </p:cSld>
  <p:clrMapOvr>
    <a:masterClrMapping/>
  </p:clrMapOvr>
  <p:transition spd="med">
    <p:fade/>
  </p:transition>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CLOSING MESSAGE · AI SECURITY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5 Principles of AI Security</a:t>
            </a:r>
          </a:p>
        </p:txBody>
      </p:sp>
      <p:sp>
        <p:nvSpPr>
          <p:cNvPr id="5" name="Rounded Rectangle 4"/>
          <p:cNvSpPr/>
          <p:nvPr/>
        </p:nvSpPr>
        <p:spPr>
          <a:xfrm>
            <a:off x="777240" y="1783080"/>
            <a:ext cx="3361944"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361944"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2154936" cy="1883664"/>
          </a:xfrm>
          <a:prstGeom prst="rect">
            <a:avLst/>
          </a:prstGeom>
          <a:noFill/>
        </p:spPr>
        <p:txBody>
          <a:bodyPr wrap="square" anchor="ctr">
            <a:spAutoFit/>
          </a:bodyPr>
          <a:lstStyle/>
          <a:p>
            <a:pPr algn="l">
              <a:spcAft>
                <a:spcPts val="300"/>
              </a:spcAft>
            </a:pPr>
            <a:r>
              <a:rPr sz="1500" b="1">
                <a:solidFill>
                  <a:srgbClr val="21201C"/>
                </a:solidFill>
                <a:latin typeface="Calibri"/>
              </a:rPr>
              <a:t>1 · Data control</a:t>
            </a:r>
          </a:p>
          <a:p>
            <a:pPr algn="l">
              <a:spcAft>
                <a:spcPts val="300"/>
              </a:spcAft>
            </a:pPr>
            <a:r>
              <a:rPr sz="1100" b="0">
                <a:solidFill>
                  <a:srgbClr val="6B6862"/>
                </a:solidFill>
                <a:latin typeface="Calibri"/>
              </a:rPr>
              <a:t>Share only the data a task needs. Use synthetic or sanitised HR data; never paste personal data into an unapproved tool.</a:t>
            </a:r>
          </a:p>
        </p:txBody>
      </p:sp>
      <p:sp>
        <p:nvSpPr>
          <p:cNvPr id="10" name="Rounded Rectangle 9"/>
          <p:cNvSpPr/>
          <p:nvPr/>
        </p:nvSpPr>
        <p:spPr>
          <a:xfrm>
            <a:off x="4413504" y="1783080"/>
            <a:ext cx="3361944"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4413504" y="1783080"/>
            <a:ext cx="3361944" cy="64008"/>
          </a:xfrm>
          <a:prstGeom prst="rect">
            <a:avLst/>
          </a:prstGeom>
          <a:solidFill>
            <a:srgbClr val="3A7D7B"/>
          </a:solidFill>
          <a:ln>
            <a:noFill/>
          </a:ln>
          <a:effectLst/>
        </p:spPr>
        <p:txBody>
          <a:bodyPr rtlCol="0" anchor="ctr"/>
          <a:lstStyle/>
          <a:p>
            <a:pPr algn="ctr"/>
          </a:p>
        </p:txBody>
      </p:sp>
      <p:sp>
        <p:nvSpPr>
          <p:cNvPr id="12" name="Oval 11"/>
          <p:cNvSpPr/>
          <p:nvPr/>
        </p:nvSpPr>
        <p:spPr>
          <a:xfrm>
            <a:off x="4669536"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5401056" y="1911096"/>
            <a:ext cx="2154936" cy="1883664"/>
          </a:xfrm>
          <a:prstGeom prst="rect">
            <a:avLst/>
          </a:prstGeom>
          <a:noFill/>
        </p:spPr>
        <p:txBody>
          <a:bodyPr wrap="square" anchor="ctr">
            <a:spAutoFit/>
          </a:bodyPr>
          <a:lstStyle/>
          <a:p>
            <a:pPr algn="l">
              <a:spcAft>
                <a:spcPts val="300"/>
              </a:spcAft>
            </a:pPr>
            <a:r>
              <a:rPr sz="1500" b="1">
                <a:solidFill>
                  <a:srgbClr val="21201C"/>
                </a:solidFill>
                <a:latin typeface="Calibri"/>
              </a:rPr>
              <a:t>2 · Permission control</a:t>
            </a:r>
          </a:p>
          <a:p>
            <a:pPr algn="l">
              <a:spcAft>
                <a:spcPts val="300"/>
              </a:spcAft>
            </a:pPr>
            <a:r>
              <a:rPr sz="1100" b="0">
                <a:solidFill>
                  <a:srgbClr val="6B6862"/>
                </a:solidFill>
                <a:latin typeface="Calibri"/>
              </a:rPr>
              <a:t>Least privilege for files, Skills and agents. Users get Can chat, the agent gets only approved knowledge, and access is never widened to pass a test.</a:t>
            </a:r>
          </a:p>
        </p:txBody>
      </p:sp>
      <p:sp>
        <p:nvSpPr>
          <p:cNvPr id="15" name="Rounded Rectangle 14"/>
          <p:cNvSpPr/>
          <p:nvPr/>
        </p:nvSpPr>
        <p:spPr>
          <a:xfrm>
            <a:off x="8049768" y="1783080"/>
            <a:ext cx="3361944"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8049768" y="1783080"/>
            <a:ext cx="3361944" cy="64008"/>
          </a:xfrm>
          <a:prstGeom prst="rect">
            <a:avLst/>
          </a:prstGeom>
          <a:solidFill>
            <a:srgbClr val="5B4B8A"/>
          </a:solidFill>
          <a:ln>
            <a:noFill/>
          </a:ln>
          <a:effectLst/>
        </p:spPr>
        <p:txBody>
          <a:bodyPr rtlCol="0" anchor="ctr"/>
          <a:lstStyle/>
          <a:p>
            <a:pPr algn="ctr"/>
          </a:p>
        </p:txBody>
      </p:sp>
      <p:sp>
        <p:nvSpPr>
          <p:cNvPr id="17" name="Oval 16"/>
          <p:cNvSpPr/>
          <p:nvPr/>
        </p:nvSpPr>
        <p:spPr>
          <a:xfrm>
            <a:off x="8305800" y="2542032"/>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9037320" y="1911096"/>
            <a:ext cx="2154936" cy="1883664"/>
          </a:xfrm>
          <a:prstGeom prst="rect">
            <a:avLst/>
          </a:prstGeom>
          <a:noFill/>
        </p:spPr>
        <p:txBody>
          <a:bodyPr wrap="square" anchor="ctr">
            <a:spAutoFit/>
          </a:bodyPr>
          <a:lstStyle/>
          <a:p>
            <a:pPr algn="l">
              <a:spcAft>
                <a:spcPts val="300"/>
              </a:spcAft>
            </a:pPr>
            <a:r>
              <a:rPr sz="1500" b="1">
                <a:solidFill>
                  <a:srgbClr val="21201C"/>
                </a:solidFill>
                <a:latin typeface="Calibri"/>
              </a:rPr>
              <a:t>3 · Human in the loop</a:t>
            </a:r>
          </a:p>
          <a:p>
            <a:pPr algn="l">
              <a:spcAft>
                <a:spcPts val="300"/>
              </a:spcAft>
            </a:pPr>
            <a:r>
              <a:rPr sz="1100" b="0">
                <a:solidFill>
                  <a:srgbClr val="6B6862"/>
                </a:solidFill>
                <a:latin typeface="Calibri"/>
              </a:rPr>
              <a:t>Plan, review and approve before an edit, email, approval or HR decision takes effect. Copilot drafts; a person decides.</a:t>
            </a:r>
          </a:p>
        </p:txBody>
      </p:sp>
      <p:sp>
        <p:nvSpPr>
          <p:cNvPr id="20" name="Rounded Rectangle 19"/>
          <p:cNvSpPr/>
          <p:nvPr/>
        </p:nvSpPr>
        <p:spPr>
          <a:xfrm>
            <a:off x="777240" y="4087368"/>
            <a:ext cx="3361944"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777240" y="4087368"/>
            <a:ext cx="3361944" cy="64008"/>
          </a:xfrm>
          <a:prstGeom prst="rect">
            <a:avLst/>
          </a:prstGeom>
          <a:solidFill>
            <a:srgbClr val="C2603F"/>
          </a:solidFill>
          <a:ln>
            <a:noFill/>
          </a:ln>
          <a:effectLst/>
        </p:spPr>
        <p:txBody>
          <a:bodyPr rtlCol="0" anchor="ctr"/>
          <a:lstStyle/>
          <a:p>
            <a:pPr algn="ctr"/>
          </a:p>
        </p:txBody>
      </p:sp>
      <p:sp>
        <p:nvSpPr>
          <p:cNvPr id="22" name="Oval 21"/>
          <p:cNvSpPr/>
          <p:nvPr/>
        </p:nvSpPr>
        <p:spPr>
          <a:xfrm>
            <a:off x="1033272"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1764792" y="4215384"/>
            <a:ext cx="2154936" cy="1883664"/>
          </a:xfrm>
          <a:prstGeom prst="rect">
            <a:avLst/>
          </a:prstGeom>
          <a:noFill/>
        </p:spPr>
        <p:txBody>
          <a:bodyPr wrap="square" anchor="ctr">
            <a:spAutoFit/>
          </a:bodyPr>
          <a:lstStyle/>
          <a:p>
            <a:pPr algn="l">
              <a:spcAft>
                <a:spcPts val="300"/>
              </a:spcAft>
            </a:pPr>
            <a:r>
              <a:rPr sz="1500" b="1">
                <a:solidFill>
                  <a:srgbClr val="21201C"/>
                </a:solidFill>
                <a:latin typeface="Calibri"/>
              </a:rPr>
              <a:t>4 · Traceability</a:t>
            </a:r>
          </a:p>
          <a:p>
            <a:pPr algn="l">
              <a:spcAft>
                <a:spcPts val="300"/>
              </a:spcAft>
            </a:pPr>
            <a:r>
              <a:rPr sz="1100" b="0">
                <a:solidFill>
                  <a:srgbClr val="6B6862"/>
                </a:solidFill>
                <a:latin typeface="Calibri"/>
              </a:rPr>
              <a:t>Log prompts, sources, versions and checks. Every HR answer cites its handbook section; every figure traces to the verified snapshot.</a:t>
            </a:r>
          </a:p>
        </p:txBody>
      </p:sp>
      <p:sp>
        <p:nvSpPr>
          <p:cNvPr id="25" name="Rounded Rectangle 24"/>
          <p:cNvSpPr/>
          <p:nvPr/>
        </p:nvSpPr>
        <p:spPr>
          <a:xfrm>
            <a:off x="4413504" y="4087368"/>
            <a:ext cx="3361944"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4413504" y="4087368"/>
            <a:ext cx="3361944" cy="64008"/>
          </a:xfrm>
          <a:prstGeom prst="rect">
            <a:avLst/>
          </a:prstGeom>
          <a:solidFill>
            <a:srgbClr val="D97757"/>
          </a:solidFill>
          <a:ln>
            <a:noFill/>
          </a:ln>
          <a:effectLst/>
        </p:spPr>
        <p:txBody>
          <a:bodyPr rtlCol="0" anchor="ctr"/>
          <a:lstStyle/>
          <a:p>
            <a:pPr algn="ctr"/>
          </a:p>
        </p:txBody>
      </p:sp>
      <p:sp>
        <p:nvSpPr>
          <p:cNvPr id="27" name="Oval 26"/>
          <p:cNvSpPr/>
          <p:nvPr/>
        </p:nvSpPr>
        <p:spPr>
          <a:xfrm>
            <a:off x="4669536" y="4846320"/>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5401056" y="4215384"/>
            <a:ext cx="2154936" cy="1883664"/>
          </a:xfrm>
          <a:prstGeom prst="rect">
            <a:avLst/>
          </a:prstGeom>
          <a:noFill/>
        </p:spPr>
        <p:txBody>
          <a:bodyPr wrap="square" anchor="ctr">
            <a:spAutoFit/>
          </a:bodyPr>
          <a:lstStyle/>
          <a:p>
            <a:pPr algn="l">
              <a:spcAft>
                <a:spcPts val="300"/>
              </a:spcAft>
            </a:pPr>
            <a:r>
              <a:rPr sz="1500" b="1">
                <a:solidFill>
                  <a:srgbClr val="21201C"/>
                </a:solidFill>
                <a:latin typeface="Calibri"/>
              </a:rPr>
              <a:t>5 · Don’t use the most powerful model</a:t>
            </a:r>
          </a:p>
          <a:p>
            <a:pPr algn="l">
              <a:spcAft>
                <a:spcPts val="300"/>
              </a:spcAft>
            </a:pPr>
            <a:r>
              <a:rPr sz="1100" b="0">
                <a:solidFill>
                  <a:srgbClr val="6B6862"/>
                </a:solidFill>
                <a:latin typeface="Calibri"/>
              </a:rPr>
              <a:t>Choose an approved, well-tested model that fits the task. The newest or most powerful model is not automatically the safest or most predictable.</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235</a:t>
            </a:r>
          </a:p>
        </p:txBody>
      </p:sp>
    </p:spTree>
  </p:cSld>
  <p:clrMapOvr>
    <a:masterClrMapping/>
  </p:clrMapOvr>
  <p:transition spd="med">
    <p:fade/>
  </p:transition>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ASSESSMENT</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WA-SAQ &amp; Practical Performance</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236</a:t>
            </a:r>
          </a:p>
        </p:txBody>
      </p:sp>
    </p:spTree>
  </p:cSld>
  <p:clrMapOvr>
    <a:masterClrMapping/>
  </p:clrMapOvr>
  <p:transition spd="med">
    <p:fade/>
  </p:transition>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BEFORE ASSESSMENT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Briefing for Assessment</a:t>
            </a:r>
          </a:p>
        </p:txBody>
      </p:sp>
      <p:sp>
        <p:nvSpPr>
          <p:cNvPr id="5" name="Rounded Rectangle 4"/>
          <p:cNvSpPr/>
          <p:nvPr/>
        </p:nvSpPr>
        <p:spPr>
          <a:xfrm>
            <a:off x="777240" y="1828800"/>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316480"/>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Work individually; do not discuss or share answers during either paper.</a:t>
            </a:r>
          </a:p>
        </p:txBody>
      </p:sp>
      <p:sp>
        <p:nvSpPr>
          <p:cNvPr id="10" name="Rounded Rectangle 9"/>
          <p:cNvSpPr/>
          <p:nvPr/>
        </p:nvSpPr>
        <p:spPr>
          <a:xfrm>
            <a:off x="6176772" y="1828800"/>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316480"/>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Open book: use the slides, Learner Guide and approved course materials.</a:t>
            </a:r>
          </a:p>
        </p:txBody>
      </p:sp>
      <p:sp>
        <p:nvSpPr>
          <p:cNvPr id="15" name="Rounded Rectangle 14"/>
          <p:cNvSpPr/>
          <p:nvPr/>
        </p:nvSpPr>
        <p:spPr>
          <a:xfrm>
            <a:off x="777240" y="3316224"/>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6224"/>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3803904"/>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WA-SAQ is 60 minutes; PP is 60 minutes.</a:t>
            </a:r>
          </a:p>
        </p:txBody>
      </p:sp>
      <p:sp>
        <p:nvSpPr>
          <p:cNvPr id="20" name="Rounded Rectangle 19"/>
          <p:cNvSpPr/>
          <p:nvPr/>
        </p:nvSpPr>
        <p:spPr>
          <a:xfrm>
            <a:off x="6176772" y="3316224"/>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3316224"/>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3803904"/>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For PP, use the blank workbook issued before timing and submit exactly one screenshot per task.</a:t>
            </a:r>
          </a:p>
        </p:txBody>
      </p:sp>
      <p:sp>
        <p:nvSpPr>
          <p:cNvPr id="25" name="Rounded Rectangle 24"/>
          <p:cNvSpPr/>
          <p:nvPr/>
        </p:nvSpPr>
        <p:spPr>
          <a:xfrm>
            <a:off x="777240" y="4803648"/>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03648"/>
            <a:ext cx="5234940" cy="64008"/>
          </a:xfrm>
          <a:prstGeom prst="rect">
            <a:avLst/>
          </a:prstGeom>
          <a:solidFill>
            <a:srgbClr val="D97757"/>
          </a:solidFill>
          <a:ln>
            <a:noFill/>
          </a:ln>
          <a:effectLst/>
        </p:spPr>
        <p:txBody>
          <a:bodyPr rtlCol="0" anchor="ctr"/>
          <a:lstStyle/>
          <a:p>
            <a:pPr algn="ctr"/>
          </a:p>
        </p:txBody>
      </p:sp>
      <p:sp>
        <p:nvSpPr>
          <p:cNvPr id="27" name="Oval 26"/>
          <p:cNvSpPr/>
          <p:nvPr/>
        </p:nvSpPr>
        <p:spPr>
          <a:xfrm>
            <a:off x="960120" y="5291328"/>
            <a:ext cx="347472" cy="347472"/>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5</a:t>
            </a:r>
          </a:p>
        </p:txBody>
      </p:sp>
      <p:sp>
        <p:nvSpPr>
          <p:cNvPr id="29" name="TextBox 28"/>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Do not photograph or record assessment scripts; do not include credentials or personal data.</a:t>
            </a:r>
          </a:p>
        </p:txBody>
      </p:sp>
      <p:sp>
        <p:nvSpPr>
          <p:cNvPr id="30" name="Rounded Rectangle 29"/>
          <p:cNvSpPr/>
          <p:nvPr/>
        </p:nvSpPr>
        <p:spPr>
          <a:xfrm>
            <a:off x="6176772" y="4803648"/>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176772" y="4803648"/>
            <a:ext cx="5234940" cy="64008"/>
          </a:xfrm>
          <a:prstGeom prst="rect">
            <a:avLst/>
          </a:prstGeom>
          <a:solidFill>
            <a:srgbClr val="D97757"/>
          </a:solidFill>
          <a:ln>
            <a:noFill/>
          </a:ln>
          <a:effectLst/>
        </p:spPr>
        <p:txBody>
          <a:bodyPr rtlCol="0" anchor="ctr"/>
          <a:lstStyle/>
          <a:p>
            <a:pPr algn="ctr"/>
          </a:p>
        </p:txBody>
      </p:sp>
      <p:sp>
        <p:nvSpPr>
          <p:cNvPr id="32" name="Oval 31"/>
          <p:cNvSpPr/>
          <p:nvPr/>
        </p:nvSpPr>
        <p:spPr>
          <a:xfrm>
            <a:off x="6359652" y="5291328"/>
            <a:ext cx="347472" cy="347472"/>
          </a:xfrm>
          <a:prstGeom prst="ellipse">
            <a:avLst/>
          </a:prstGeom>
          <a:solidFill>
            <a:srgbClr val="D97757"/>
          </a:solidFill>
          <a:ln>
            <a:noFill/>
          </a:ln>
          <a:effectLst/>
        </p:spPr>
        <p:txBody>
          <a:bodyPr rtlCol="0" anchor="ctr"/>
          <a:lstStyle/>
          <a:p>
            <a:pPr algn="ctr"/>
          </a:p>
        </p:txBody>
      </p:sp>
      <p:sp>
        <p:nvSpPr>
          <p:cNvPr id="33" name="TextBox 32"/>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6</a:t>
            </a:r>
          </a:p>
        </p:txBody>
      </p:sp>
      <p:sp>
        <p:nvSpPr>
          <p:cNvPr id="34" name="TextBox 33"/>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Re-assessment and appeal arrangements apply to a Not Yet Competent outcome.</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237</a:t>
            </a:r>
          </a:p>
        </p:txBody>
      </p:sp>
    </p:spTree>
  </p:cSld>
  <p:clrMapOvr>
    <a:masterClrMapping/>
  </p:clrMapOvr>
  <p:transition spd="med">
    <p:fade/>
  </p:transition>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FINAL ASSESSMENT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Assessment</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Written Assessment</a:t>
            </a:r>
          </a:p>
          <a:p>
            <a:pPr algn="l">
              <a:spcAft>
                <a:spcPts val="300"/>
              </a:spcAft>
            </a:pPr>
            <a:r>
              <a:rPr sz="1300" b="0">
                <a:solidFill>
                  <a:srgbClr val="6B6862"/>
                </a:solidFill>
                <a:latin typeface="Calibri"/>
              </a:rPr>
              <a:t>Four short-answer questions · K1, K3, K2, K4 · 60 minutes · open book.</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Practical Performance</a:t>
            </a:r>
          </a:p>
          <a:p>
            <a:pPr algn="l">
              <a:spcAft>
                <a:spcPts val="300"/>
              </a:spcAft>
            </a:pPr>
            <a:r>
              <a:rPr sz="1300" b="0">
                <a:solidFill>
                  <a:srgbClr val="6B6862"/>
                </a:solidFill>
                <a:latin typeface="Calibri"/>
              </a:rPr>
              <a:t>Four atomic tasks · A1–A4 · exactly one screenshot per task · 60 minutes · open book.</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Outcome</a:t>
            </a:r>
          </a:p>
          <a:p>
            <a:pPr algn="l">
              <a:spcAft>
                <a:spcPts val="300"/>
              </a:spcAft>
            </a:pPr>
            <a:r>
              <a:rPr sz="1300" b="0">
                <a:solidFill>
                  <a:srgbClr val="6B6862"/>
                </a:solidFill>
                <a:latin typeface="Calibri"/>
              </a:rPr>
              <a:t>Competent (C) or Not Yet Competent (NYC) for every question/task.</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Eligibility</a:t>
            </a:r>
          </a:p>
          <a:p>
            <a:pPr algn="l">
              <a:spcAft>
                <a:spcPts val="300"/>
              </a:spcAft>
            </a:pPr>
            <a:r>
              <a:rPr sz="1300" b="0">
                <a:solidFill>
                  <a:srgbClr val="6B6862"/>
                </a:solidFill>
                <a:latin typeface="Calibri"/>
              </a:rPr>
              <a:t>Minimum 75% attendance and a Competent assessment outcome.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238</a:t>
            </a:r>
          </a:p>
        </p:txBody>
      </p:sp>
    </p:spTree>
  </p:cSld>
  <p:clrMapOvr>
    <a:masterClrMapping/>
  </p:clrMapOvr>
  <p:transition spd="med">
    <p:fade/>
  </p:transition>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ASSESSMENT DAY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Assessment Flow</a:t>
            </a:r>
          </a:p>
        </p:txBody>
      </p:sp>
      <p:sp>
        <p:nvSpPr>
          <p:cNvPr id="5" name="Rounded Rectangle 4"/>
          <p:cNvSpPr/>
          <p:nvPr/>
        </p:nvSpPr>
        <p:spPr>
          <a:xfrm>
            <a:off x="777240"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1878177" cy="64008"/>
          </a:xfrm>
          <a:prstGeom prst="rect">
            <a:avLst/>
          </a:prstGeom>
          <a:solidFill>
            <a:srgbClr val="D97757"/>
          </a:solidFill>
          <a:ln>
            <a:noFill/>
          </a:ln>
          <a:effectLst/>
        </p:spPr>
        <p:txBody>
          <a:bodyPr rtlCol="0" anchor="ctr"/>
          <a:lstStyle/>
          <a:p>
            <a:pPr algn="ctr"/>
          </a:p>
        </p:txBody>
      </p:sp>
      <p:sp>
        <p:nvSpPr>
          <p:cNvPr id="7" name="Oval 6"/>
          <p:cNvSpPr/>
          <p:nvPr/>
        </p:nvSpPr>
        <p:spPr>
          <a:xfrm>
            <a:off x="1341424"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Complete TRAQOM survey</a:t>
            </a:r>
          </a:p>
        </p:txBody>
      </p:sp>
      <p:sp>
        <p:nvSpPr>
          <p:cNvPr id="10" name="TextBox 9"/>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2966313"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2966313" y="2331720"/>
            <a:ext cx="1878177" cy="64008"/>
          </a:xfrm>
          <a:prstGeom prst="rect">
            <a:avLst/>
          </a:prstGeom>
          <a:solidFill>
            <a:srgbClr val="D97757"/>
          </a:solidFill>
          <a:ln>
            <a:noFill/>
          </a:ln>
          <a:effectLst/>
        </p:spPr>
        <p:txBody>
          <a:bodyPr rtlCol="0" anchor="ctr"/>
          <a:lstStyle/>
          <a:p>
            <a:pPr algn="ctr"/>
          </a:p>
        </p:txBody>
      </p:sp>
      <p:sp>
        <p:nvSpPr>
          <p:cNvPr id="13" name="Oval 12"/>
          <p:cNvSpPr/>
          <p:nvPr/>
        </p:nvSpPr>
        <p:spPr>
          <a:xfrm>
            <a:off x="3530497"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Assessment digital attendance</a:t>
            </a:r>
          </a:p>
        </p:txBody>
      </p:sp>
      <p:sp>
        <p:nvSpPr>
          <p:cNvPr id="16" name="TextBox 15"/>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5155386"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155386" y="2331720"/>
            <a:ext cx="1878177" cy="64008"/>
          </a:xfrm>
          <a:prstGeom prst="rect">
            <a:avLst/>
          </a:prstGeom>
          <a:solidFill>
            <a:srgbClr val="D97757"/>
          </a:solidFill>
          <a:ln>
            <a:noFill/>
          </a:ln>
          <a:effectLst/>
        </p:spPr>
        <p:txBody>
          <a:bodyPr rtlCol="0" anchor="ctr"/>
          <a:lstStyle/>
          <a:p>
            <a:pPr algn="ctr"/>
          </a:p>
        </p:txBody>
      </p:sp>
      <p:sp>
        <p:nvSpPr>
          <p:cNvPr id="19" name="Oval 18"/>
          <p:cNvSpPr/>
          <p:nvPr/>
        </p:nvSpPr>
        <p:spPr>
          <a:xfrm>
            <a:off x="5719570"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Sit WA-SAQ then PP</a:t>
            </a:r>
          </a:p>
        </p:txBody>
      </p:sp>
      <p:sp>
        <p:nvSpPr>
          <p:cNvPr id="22" name="TextBox 21"/>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7344459"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7344459" y="2331720"/>
            <a:ext cx="1878177" cy="64008"/>
          </a:xfrm>
          <a:prstGeom prst="rect">
            <a:avLst/>
          </a:prstGeom>
          <a:solidFill>
            <a:srgbClr val="D97757"/>
          </a:solidFill>
          <a:ln>
            <a:noFill/>
          </a:ln>
          <a:effectLst/>
        </p:spPr>
        <p:txBody>
          <a:bodyPr rtlCol="0" anchor="ctr"/>
          <a:lstStyle/>
          <a:p>
            <a:pPr algn="ctr"/>
          </a:p>
        </p:txBody>
      </p:sp>
      <p:sp>
        <p:nvSpPr>
          <p:cNvPr id="25" name="Oval 24"/>
          <p:cNvSpPr/>
          <p:nvPr/>
        </p:nvSpPr>
        <p:spPr>
          <a:xfrm>
            <a:off x="7908643"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Submit on LMS</a:t>
            </a:r>
          </a:p>
        </p:txBody>
      </p:sp>
      <p:sp>
        <p:nvSpPr>
          <p:cNvPr id="28" name="TextBox 27"/>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9" name="Rounded Rectangle 28"/>
          <p:cNvSpPr/>
          <p:nvPr/>
        </p:nvSpPr>
        <p:spPr>
          <a:xfrm>
            <a:off x="9533532"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0" name="Rectangle 29"/>
          <p:cNvSpPr/>
          <p:nvPr/>
        </p:nvSpPr>
        <p:spPr>
          <a:xfrm>
            <a:off x="9533532" y="2331720"/>
            <a:ext cx="1878177" cy="64008"/>
          </a:xfrm>
          <a:prstGeom prst="rect">
            <a:avLst/>
          </a:prstGeom>
          <a:solidFill>
            <a:srgbClr val="D97757"/>
          </a:solidFill>
          <a:ln>
            <a:noFill/>
          </a:ln>
          <a:effectLst/>
        </p:spPr>
        <p:txBody>
          <a:bodyPr rtlCol="0" anchor="ctr"/>
          <a:lstStyle/>
          <a:p>
            <a:pPr algn="ctr"/>
          </a:p>
        </p:txBody>
      </p:sp>
      <p:sp>
        <p:nvSpPr>
          <p:cNvPr id="31" name="Oval 30"/>
          <p:cNvSpPr/>
          <p:nvPr/>
        </p:nvSpPr>
        <p:spPr>
          <a:xfrm>
            <a:off x="10097716" y="2715768"/>
            <a:ext cx="749808" cy="749808"/>
          </a:xfrm>
          <a:prstGeom prst="ellipse">
            <a:avLst/>
          </a:prstGeom>
          <a:solidFill>
            <a:srgbClr val="D97757"/>
          </a:solidFill>
          <a:ln>
            <a:noFill/>
          </a:ln>
          <a:effectLst/>
        </p:spPr>
        <p:txBody>
          <a:bodyPr rtlCol="0" anchor="ctr"/>
          <a:lstStyle/>
          <a:p>
            <a:pPr algn="ctr"/>
          </a:p>
        </p:txBody>
      </p:sp>
      <p:sp>
        <p:nvSpPr>
          <p:cNvPr id="32" name="TextBox 31"/>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3" name="TextBox 32"/>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Sign Assessment Summary Record</a:t>
            </a:r>
          </a:p>
        </p:txBody>
      </p:sp>
      <p:sp>
        <p:nvSpPr>
          <p:cNvPr id="34" name="TextBox 33"/>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6" name="TextBox 35"/>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239</a:t>
            </a:r>
          </a:p>
        </p:txBody>
      </p:sp>
    </p:spTree>
  </p:cSld>
  <p:clrMapOvr>
    <a:masterClrMapping/>
  </p:clrMapOvr>
  <p:transition spd="med">
    <p:fade/>
  </p:transition>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TRAQOM · SSG</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Digital Attendance (Mandatory)</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Training attendance</a:t>
            </a:r>
          </a:p>
          <a:p>
            <a:pPr algn="l">
              <a:spcAft>
                <a:spcPts val="300"/>
              </a:spcAft>
            </a:pPr>
            <a:r>
              <a:rPr sz="1300" b="0">
                <a:solidFill>
                  <a:srgbClr val="6B6862"/>
                </a:solidFill>
                <a:latin typeface="Calibri"/>
              </a:rPr>
              <a:t>Confirm both days' AM and PM records are complete.</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Assessment attendance</a:t>
            </a:r>
          </a:p>
          <a:p>
            <a:pPr algn="l">
              <a:spcAft>
                <a:spcPts val="300"/>
              </a:spcAft>
            </a:pPr>
            <a:r>
              <a:rPr sz="1300" b="0">
                <a:solidFill>
                  <a:srgbClr val="6B6862"/>
                </a:solidFill>
                <a:latin typeface="Calibri"/>
              </a:rPr>
              <a:t>Complete the separate assessment attendance before starting.</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TRAQOM</a:t>
            </a:r>
          </a:p>
          <a:p>
            <a:pPr algn="l">
              <a:spcAft>
                <a:spcPts val="300"/>
              </a:spcAft>
            </a:pPr>
            <a:r>
              <a:rPr sz="1300" b="0">
                <a:solidFill>
                  <a:srgbClr val="6B6862"/>
                </a:solidFill>
                <a:latin typeface="Calibri"/>
              </a:rPr>
              <a:t>Complete the SSG Training Quality and Outcome Measurement survey when instructed.</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Final check</a:t>
            </a:r>
          </a:p>
          <a:p>
            <a:pPr algn="l">
              <a:spcAft>
                <a:spcPts val="300"/>
              </a:spcAft>
            </a:pPr>
            <a:r>
              <a:rPr sz="1300" b="0">
                <a:solidFill>
                  <a:srgbClr val="6B6862"/>
                </a:solidFill>
                <a:latin typeface="Calibri"/>
              </a:rPr>
              <a:t>Maintain at least 75% attendance and submit both assessment methods.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240</a:t>
            </a:r>
          </a:p>
        </p:txBody>
      </p:sp>
    </p:spTree>
  </p:cSld>
  <p:clrMapOvr>
    <a:masterClrMapping/>
  </p:clrMapOvr>
  <p:transition spd="med">
    <p:fade/>
  </p:transition>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914400" y="1828800"/>
            <a:ext cx="8412480" cy="457200"/>
          </a:xfrm>
          <a:prstGeom prst="rect">
            <a:avLst/>
          </a:prstGeom>
          <a:noFill/>
        </p:spPr>
        <p:txBody>
          <a:bodyPr wrap="square" anchor="t">
            <a:spAutoFit/>
          </a:bodyPr>
          <a:lstStyle/>
          <a:p>
            <a:pPr algn="l">
              <a:spcAft>
                <a:spcPts val="400"/>
              </a:spcAft>
            </a:pPr>
            <a:r>
              <a:rPr sz="1400" b="1">
                <a:solidFill>
                  <a:srgbClr val="D97757"/>
                </a:solidFill>
                <a:latin typeface="Calibri"/>
              </a:rPr>
              <a:t>THANK YOU FOR ATTENDING</a:t>
            </a:r>
          </a:p>
        </p:txBody>
      </p:sp>
      <p:sp>
        <p:nvSpPr>
          <p:cNvPr id="6" name="TextBox 5"/>
          <p:cNvSpPr txBox="1"/>
          <p:nvPr/>
        </p:nvSpPr>
        <p:spPr>
          <a:xfrm>
            <a:off x="868680" y="2331720"/>
            <a:ext cx="8503920" cy="2103120"/>
          </a:xfrm>
          <a:prstGeom prst="rect">
            <a:avLst/>
          </a:prstGeom>
          <a:noFill/>
        </p:spPr>
        <p:txBody>
          <a:bodyPr wrap="square" anchor="t">
            <a:spAutoFit/>
          </a:bodyPr>
          <a:lstStyle/>
          <a:p>
            <a:pPr algn="l">
              <a:spcAft>
                <a:spcPts val="400"/>
              </a:spcAft>
            </a:pPr>
            <a:r>
              <a:rPr sz="4000" b="1">
                <a:solidFill>
                  <a:srgbClr val="FFFFFF"/>
                </a:solidFill>
                <a:latin typeface="Cambria"/>
              </a:rPr>
              <a:t>Thank You!</a:t>
            </a:r>
          </a:p>
        </p:txBody>
      </p:sp>
      <p:sp>
        <p:nvSpPr>
          <p:cNvPr id="7" name="TextBox 6"/>
          <p:cNvSpPr txBox="1"/>
          <p:nvPr/>
        </p:nvSpPr>
        <p:spPr>
          <a:xfrm>
            <a:off x="914400" y="4526280"/>
            <a:ext cx="8412480" cy="1280160"/>
          </a:xfrm>
          <a:prstGeom prst="rect">
            <a:avLst/>
          </a:prstGeom>
          <a:noFill/>
        </p:spPr>
        <p:txBody>
          <a:bodyPr wrap="square" anchor="t">
            <a:spAutoFit/>
          </a:bodyPr>
          <a:lstStyle/>
          <a:p>
            <a:pPr algn="l">
              <a:spcAft>
                <a:spcPts val="400"/>
              </a:spcAft>
            </a:pPr>
            <a:r>
              <a:rPr sz="1800" b="0">
                <a:solidFill>
                  <a:srgbClr val="B9B4A9"/>
                </a:solidFill>
                <a:latin typeface="Calibri"/>
              </a:rPr>
              <a:t>Keep your HR evidence connected, your agent grounded and the 5 Principles of AI Security in every workflow.</a:t>
            </a: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241</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