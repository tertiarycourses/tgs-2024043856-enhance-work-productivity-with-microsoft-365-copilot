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21"/>
    <p:sldId id="271" r:id="rId22"/>
    <p:sldId id="272" r:id="rId23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76" r:id="rId127"/>
    <p:sldId id="377" r:id="rId128"/>
    <p:sldId id="378" r:id="rId129"/>
    <p:sldId id="379" r:id="rId130"/>
    <p:sldId id="380" r:id="rId131"/>
    <p:sldId id="381" r:id="rId132"/>
    <p:sldId id="382" r:id="rId1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33.xml"/><Relationship Id="rId128" Type="http://schemas.openxmlformats.org/officeDocument/2006/relationships/slide" Target="slides/slide134.xml"/><Relationship Id="rId129" Type="http://schemas.openxmlformats.org/officeDocument/2006/relationships/slide" Target="slides/slide135.xml"/><Relationship Id="rId130" Type="http://schemas.openxmlformats.org/officeDocument/2006/relationships/slide" Target="slides/slide136.xml"/><Relationship Id="rId131" Type="http://schemas.openxmlformats.org/officeDocument/2006/relationships/slide" Target="slides/slide137.xml"/><Relationship Id="rId132" Type="http://schemas.openxmlformats.org/officeDocument/2006/relationships/slide" Target="slides/slide138.xml"/><Relationship Id="rId133" Type="http://schemas.openxmlformats.org/officeDocument/2006/relationships/slide" Target="slides/slide139.xml"/><Relationship Id="rId134" Type="http://schemas.openxmlformats.org/officeDocument/2006/relationships/slide" Target="slides/slide120.xml"/><Relationship Id="rId135" Type="http://schemas.openxmlformats.org/officeDocument/2006/relationships/slide" Target="slides/slide121.xml"/><Relationship Id="rId136" Type="http://schemas.openxmlformats.org/officeDocument/2006/relationships/slide" Target="slides/slide122.xml"/><Relationship Id="rId137" Type="http://schemas.openxmlformats.org/officeDocument/2006/relationships/slide" Target="slides/slide123.xml"/><Relationship Id="rId138" Type="http://schemas.openxmlformats.org/officeDocument/2006/relationships/slide" Target="slides/slide124.xml"/><Relationship Id="rId139" Type="http://schemas.openxmlformats.org/officeDocument/2006/relationships/slide" Target="slides/slide125.xml"/><Relationship Id="rId140" Type="http://schemas.openxmlformats.org/officeDocument/2006/relationships/slide" Target="slides/slide126.xml"/><Relationship Id="rId141" Type="http://schemas.openxmlformats.org/officeDocument/2006/relationships/slide" Target="slides/slide127.xml"/><Relationship Id="rId142" Type="http://schemas.openxmlformats.org/officeDocument/2006/relationships/slide" Target="slides/slide128.xml"/><Relationship Id="rId143" Type="http://schemas.openxmlformats.org/officeDocument/2006/relationships/slide" Target="slides/slide129.xml"/><Relationship Id="rId144" Type="http://schemas.openxmlformats.org/officeDocument/2006/relationships/slide" Target="slides/slide130.xml"/><Relationship Id="rId145" Type="http://schemas.openxmlformats.org/officeDocument/2006/relationships/slide" Target="slides/slide131.xml"/><Relationship Id="rId146" Type="http://schemas.openxmlformats.org/officeDocument/2006/relationships/slide" Target="slides/slide1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Ready %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Licensing</c:v>
                </c:pt>
                <c:pt idx="1">
                  <c:v>Data</c:v>
                </c:pt>
                <c:pt idx="2">
                  <c:v>Process</c:v>
                </c:pt>
                <c:pt idx="3">
                  <c:v>Skills</c:v>
                </c:pt>
                <c:pt idx="4">
                  <c:v>Governance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</c:v>
                </c:pt>
                <c:pt idx="1">
                  <c:v>68</c:v>
                </c:pt>
                <c:pt idx="2">
                  <c:v>55</c:v>
                </c:pt>
                <c:pt idx="3">
                  <c:v>47</c:v>
                </c:pt>
                <c:pt idx="4">
                  <c:v>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Verified claims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Source check</c:v>
                </c:pt>
                <c:pt idx="2">
                  <c:v>Correction</c:v>
                </c:pt>
                <c:pt idx="3">
                  <c:v>Approval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74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Unsupported claims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Source check</c:v>
                </c:pt>
                <c:pt idx="2">
                  <c:v>Correction</c:v>
                </c:pt>
                <c:pt idx="3">
                  <c:v>Approval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</c:v>
                </c:pt>
                <c:pt idx="1">
                  <c:v>18</c:v>
                </c:pt>
                <c:pt idx="2">
                  <c:v>5</c:v>
                </c:pt>
                <c:pt idx="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$k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420</c:v>
                </c:pt>
                <c:pt idx="1">
                  <c:v>445</c:v>
                </c:pt>
                <c:pt idx="2">
                  <c:v>472</c:v>
                </c:pt>
                <c:pt idx="3">
                  <c:v>508</c:v>
                </c:pt>
                <c:pt idx="4">
                  <c:v>535</c:v>
                </c:pt>
                <c:pt idx="5">
                  <c:v>562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Capacity index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</c:v>
                </c:pt>
                <c:pt idx="1">
                  <c:v>78</c:v>
                </c:pt>
                <c:pt idx="2">
                  <c:v>84</c:v>
                </c:pt>
                <c:pt idx="3">
                  <c:v>91</c:v>
                </c:pt>
                <c:pt idx="4">
                  <c:v>98</c:v>
                </c:pt>
                <c:pt idx="5">
                  <c:v>107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$k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Web</c:v>
                </c:pt>
                <c:pt idx="1">
                  <c:v>Partner</c:v>
                </c:pt>
                <c:pt idx="2">
                  <c:v>Retail</c:v>
                </c:pt>
                <c:pt idx="3">
                  <c:v>Events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168</c:v>
                </c:pt>
                <c:pt idx="1">
                  <c:v>126</c:v>
                </c:pt>
                <c:pt idx="2">
                  <c:v>94</c:v>
                </c:pt>
                <c:pt idx="3">
                  <c:v>47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Messages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Normal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11</c:v>
                </c:pt>
                <c:pt idx="2">
                  <c:v>23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Action closure %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57</c:v>
                </c:pt>
                <c:pt idx="2">
                  <c:v>76</c:v>
                </c:pt>
                <c:pt idx="3">
                  <c:v>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Unowned actions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</c:v>
                </c:pt>
                <c:pt idx="1">
                  <c:v>8</c:v>
                </c:pt>
                <c:pt idx="2">
                  <c:v>4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Sheet1!$A$2:$A$7</c:f>
              <c:strCache>
                <c:ptCount val="6"/>
                <c:pt idx="0">
                  <c:v>Intake</c:v>
                </c:pt>
                <c:pt idx="1">
                  <c:v>Valid</c:v>
                </c:pt>
                <c:pt idx="2">
                  <c:v>Routed</c:v>
                </c:pt>
                <c:pt idx="3">
                  <c:v>Analysed</c:v>
                </c:pt>
                <c:pt idx="4">
                  <c:v>Approved</c:v>
                </c:pt>
                <c:pt idx="5">
                  <c:v>Drafted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84</c:v>
                </c:pt>
                <c:pt idx="2">
                  <c:v>79</c:v>
                </c:pt>
                <c:pt idx="3">
                  <c:v>66</c:v>
                </c:pt>
                <c:pt idx="4">
                  <c:v>48</c:v>
                </c:pt>
                <c:pt idx="5">
                  <c:v>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Cycle time h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31</c:v>
                </c:pt>
                <c:pt idx="2">
                  <c:v>24</c:v>
                </c:pt>
                <c:pt idx="3">
                  <c:v>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Exception %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Override %</c:v>
                </c:pt>
              </c:strCache>
            </c:strRef>
          </c:tx>
          <c:spPr>
            <a:solidFill>
              <a:srgbClr val="7C3AED"/>
            </a:solidFill>
            <a:ln>
              <a:solidFill>
                <a:srgbClr val="7C3AED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</c:v>
                </c:pt>
                <c:pt idx="1">
                  <c:v>17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3856-Enhance-Work-Productivity-with-Microsoft-365-Copilo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tiaryinfotech.sharepoint.com/sites/TGS-2024043856-LuminaCopilot" TargetMode="Externa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804672" cy="804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64040" y="566928"/>
            <a:ext cx="1874519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658368"/>
            <a:ext cx="1600200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M365</a:t>
            </a:r>
          </a:p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789920" cy="3291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10789920" cy="14813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Enhance Work Productivity with Microsoft 365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58768"/>
            <a:ext cx="2286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789920" cy="10972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Course Code: TGS-2024043856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Digital Technology Adoption and Innovation · ACC-ICT-4004-1.1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7899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25312"/>
            <a:ext cx="10789920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v8.1 · 7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09360"/>
            <a:ext cx="107899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SSG digital attendance for both training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Take the separate assessment attendance before the papers.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at least 75% attendance.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Principal Trainer and Chief Instructional Designer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Microsoft 365, AI, automation and business productivity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ACLP-certified adult educator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DELIVERS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Cross-industry transformation and workforce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Role, organisation and recurring knowledge 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M365 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Word, PowerPoint, Excel, Outlook, Teams and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friction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task that is slow, repetitive or inconsistent.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want to improve safely over two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your reasoning.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conversation; critique ideas, not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supplied synthetic company files.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Copilot output is a draft until evidence is checked.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Human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send, publish or approve automatically.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TWO-DAY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Copilot foundations and prompting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Word drafting and policy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PowerPoint stories and native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Excel formulas, deep analysis and forecasting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Outlook triage and controlled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Teams meeting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Loop implementation and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1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Copilot agents and governed pipelines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16 progressive lab folders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 Excel workbook in every 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Detailed prompts in LG and activities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4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Final pipeline pilot and handover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9:00–10:25 · Foundations and safe prompting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10:35–12:30 · Word workflows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1:15–3:10 · PowerPoint storytelling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3:20–6:00 · Excel analysis and forecasting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9:00–10:45 · Outlook and Teams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10:55–12:30 · Loop and transition planning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1:15–4:00 · Agents and governed pipelines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4:00–6:00 · WA and PP 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 and mitigate challenges in integrating Microsoft 365 Copilot into a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a plan for implementing Microsoft 365 Copilot and transitioning from a legacy workflow.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productivity opportunities across Teams, Outlook and Microsoft 365 Copilot Chat.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 staff enablement plan and a governed Copilot agent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DIGITAL TECHNOLOGY ADOPTION AND INNOVATION · ACC-ICT-4004-1.1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Relevant systems and software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Organisation processes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Systems transition process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Emerging technology trends including artificial intelligence and automation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A1–A4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Transition, opportunity evaluation and staff enablement abilities are practised across the 16 labs.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 or sharing during either paper.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Place phones and unrelated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Submit your own files, screenshots and explanation.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photos, recording or verbatim copying.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arrangements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Written Assessment (WA/SAQ)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open-ended questions, 60 minutes, open book.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connected Microsoft 365 tasks, 60 minutes, open 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(C) or Not Yet Competent (NYC).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minimum of 75% attendance and a Competent assessment outcome are required.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Git to clone the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numbered activity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Start with the Excel workbook in the folder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GitHub &gt; Code &gt;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Extract the full activities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output inside its activity folder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Activity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LG for detailed procedures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Verify evidence before acceptance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Retain screenshots without credentials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https://github.com/tertiarycourses/TGS-2024043856-Enhance-Work-Productivity-with-Microsoft-365-Copilot</a:t>
            </a:r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CLASSROOM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Microsoft 365 Training 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Training account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training1-tertiary@outlook.com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Password issued by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save in prompts or screenshots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Training account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training2-tertiary@outlook.com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Password issued by trainer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Sign out at the end of class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Safe handling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only the assigned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change recovery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Report access issues to the trainer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LMS/TMS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learner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Select this TGS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Courseware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Download slides and Learner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Save beside the activities folder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course code and 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Ask the trainer if a file differs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Microsoft 365 Copilot Foundations, Word and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Grounding · responsible use · prompt design · drafting · presentation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Microsoft 365 Copilot Foundations, Word and 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Grounding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combines the prompt with permitted work or web context; access permissions still apply.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Prompt contract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 goal, context, source and expectations, then verify before using the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Human accountability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proposes; the user checks evidence, tone, sensitivity and final release.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Cross-app story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Word shapes the narrative, Excel supplies evidence and PowerPoint communicates the decision.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Responsible AI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Fairness, reliability, privacy, inclusiveness, transparency and accountability guide use.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Transition risk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Licensing, data quality, permissions, adoption and over-trust need explicit controls.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Microsoft 365 Copilot is a work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Interface: Chat and app experiences accept natural-language goals.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Model: Large language models generate and transform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Graph: Permitted work context can ground responses.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Apps: Word, PowerPoint, Excel, Teams and Outlook embed task-specific assistance.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Work-grounded versus web-grounded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Uses organisational content the signed-in user can access.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Uses public web information and may require external verification.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 attached file provides bounded task context.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Permissions remain the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Existing access — Copilot should respect the user's underlying permissions.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Oversharing — Poorly governed sites can expose too much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Least privilege — Remove unnecessary access before scaling Copilot.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— Test representative roles and sensitive searches.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Four-part prompting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the outcome or decision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Explain audience, situation and constraints.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the files, meetings or data to use.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Expectations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 format, tone, length and quality checks.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Prompting is an iterative 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Draft: Start with a complete task contract.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Inspect: Check facts, omissions and ambiguity.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Refine: Add constraints or request alternatives.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Verify: Compare with authoritative evidence before release.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Responsible AI in daily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Fairness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whether wording or recommendations disadvantage groups.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Test important outputs and edge cases.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approved data, surfaces and retention rules.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transition risks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Licensing — Capabilities differ by plan, tenant and rollout.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Data — Weak source quality produces fluent but unreliable outputs.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Process — Automating an unclear process accelerates confusion.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Adoption — Users need role-based practice, support and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Word Copilot across the document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Draft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structured content from a prompt and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Transform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Rewrite, shorten, expand or change tone.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Interrogate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 questions about the current document.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human fact, policy and audience checks.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PowerPoint Copilot across the story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Plan: Start from audience, decision and source evidence.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Create: Generate an outline or deck from a document.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Refine: Reorganise, rewrite and improve visual hierarchy.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Prepare: Draft notes and anticipate audience questions.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presentation is an evidence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Why the issue matters now.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the evidence reveals.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options or trade-offs exist.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Native charts preserve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Editable — Data and labels can be checked and updated.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Traceable — Values link to an embedded chart data 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Accessible — Titles, labels and alt text improve interpretation.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Honest — Avoid 3D distortion, false precision and missing units.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review before release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numbers, names, dates and citations.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audience and organisational voice.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confidential content and metadata.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named owner approves the final document or deck.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01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Adoption readiness is uneven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Clustered bars expose the control gap before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01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improves after a prompt-review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Verified claims rise as unsupported statements are corrected.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Up Microsoft 365 Copilot and Prompt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Establish the licensed work surface, distinguish work from web grounding and record safe-use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Completed setup, grounding and prompt-review register in Excel.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Chat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Up Microsoft 365 Copilot and Prompt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register identifies the active Copilot surface, grounding source, three evidence-backed gaps and a verification status for every claim.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a Project Brief in Word from Excel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Turn a structured campaign register into a concise Word project brief without inventing scope or 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Two-page launch brief with cited objectives, milestones, risks and open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a Project Brief in Word from Excel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brief matches the workbook, contains no invented facts and retains [TO CONFIRM] markers for missing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Refine a Responsible Copilot Use Policy in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Word Copilot to consolidate review feedback while retaining governance controls and an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Approved policy draft, issue log and staff quick-reference checklist.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Refine a Responsible Copilot Use Policy in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change traces to an Approved review row, all mandatory controls remain, and the policy includes a usable staff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PowerPoint Story from Word and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Convert the approved brief and performance data into a decision-led presentation structure.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Eight-slide leadership deck with one message per slide and a documented evidence 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PowerPoint + 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PowerPoint Story from Word and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deck contains eight coherent slides, all quantitative claims trace to the workbook and the final slide asks for a specific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Enhance PowerPoint with Native Charts and Speaker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native PowerPoint charts to strengthen a leadership narrative and prepare a concise delivery.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Polished deck with native trend, contribution and variance charts plus verified speaker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PowerPoint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Enhance PowerPoint with Native Charts and Speaker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PPTX contains three editable native charts, sample values reconcile, and each chart communicates a decision-relevant takeaway.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slow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Microsoft 365 Copilot Foundations, Word and 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Grounding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A1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for Excel: From Questions to Deep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Tables · formulas · diagnostics · scenario analysis · forecasting · Analyst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slow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Copilot for Excel: From Questions to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Analysis-ready data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header row, one record per row, stable types and an Excel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Progressive analysis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descriptive, then diagnostic, predictive and prescriptive.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Formula audit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Accept suggested formulas only after checking logic, references and edge cases.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chain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Question, method, result, caveat and action should be traceable in the workbook.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Scenario thinking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assumptions from formulas and compare base, downside and upside cases.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Deep analysis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Analyst or advanced Copilot features to explore multiple files, patterns and forecasts when licensed.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Excel Copilot needs structured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Table: Use an Excel Table with unique headers.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Types: Dates, numbers and text must be consistent.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Grain: One row represents one defined observation.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Controls: Retain row counts, totals and exception checks.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Question ladder for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Descriptive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happened and how much?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Where and why did it differ?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Predictive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may happen under stated assumptions?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Formula generation is a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Explain — Ask why the formula matches the business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— Check references, ranges and assumptions.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— Use boundary, blank, zero and error cases.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Compare results with an independent total.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Segment before explaining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Month, week, campaign phase.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Market, region or channel.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Category, item or offer.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or employee segment.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Anomaly is a starting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Validity: Could it be a data or type error?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Is there a known event or policy change?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Comparison: Does it persist across segments or periods?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Action: Assign verification rather than deleting automatically.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slow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 is not causation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Variables move together in the observed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Confounding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third factor may drive both.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The relationship may run the other way.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Forecasts are conditional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History — Patterns assume some continuity.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Method — State how trend and seasonality are handled.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Range — Show uncertainty, not only a point estimate.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Monitor — Compare actuals and update assumptions.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Most likely assumptions with named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Downside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Plausible adverse combination.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Upside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Plausible favourable combination.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what evidence moves the plan between cases.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Sensitivity reveals decision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Driver: Choose controllable or uncertain inputs.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Range: Test realistic values, not decorative extremes.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Output: Use the decision metric that matters.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Boundary: Find where capacity, margin or service fails.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Analyst agent extends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Multiple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Explore related data across available sources.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Reasoning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Break a broad question into analytical steps.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Artifacts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Produce tables, charts or analysis outputs.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slow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Chart selection by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Trend — Line across ordered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Comparison — Bar or column across categories.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Contribution — Sorted bar or waterfall for drivers.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Relationship — Scatter for two numeric variables.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slow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Evidence-ready Excel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original data and extraction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formulas, pivots and assumptions visible.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claim to a table or chart.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missing data, bias and uncertainty.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02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Revenue grows, but capacity tightens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native line chart connects forecast value with an operational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slow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02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channels drive most contribution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sorted column chart focuses diagnostic attention.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and Audit Excel Formulas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Copilot to propose calculated columns while retaining formula transparency and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Formula-driven campaign table with revenue, margin, conversion, status and error controls.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and Audit Excel Formulas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derived columns use auditable formulas, zero denominators are handled intentionally and the Controls sheet contains no unexplained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slow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Deep Descriptive and Diagnostic Analysis in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Move from summary statistics to segmented drivers, anomalies and evidence-backed explanations.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Diagnostic workbook with KPI summary, segment analysis, anomaly log and management findings.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Deep Descriptive and Diagnostic Analysis in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workbook separates facts from hypotheses, reconciles totals, documents anomalies and presents three defensible findings with caveats.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 and Stress-Test a Campaign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forecasting, scenarios and sensitivity analysis to evaluate a transition plan under uncertainty.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Forecast model with base, downside and upside scenarios, sensitivity table and decision guardrails.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Analyst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slow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 and Stress-Test a Campaign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scenarios are formula-driven, forecast uncertainty is explicit and the recommended action is linked to a measurable trigger.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Copilot for Excel: From Questions to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Analysis-ready data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 · A2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slow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Save your work · Sign out of shared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slow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for Outlook, Teams and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Inbox triage · thread summaries · meeting intelligence · shared plans · human-send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slow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Copilot for Outlook, Teams and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Communication workflow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Triage, understand, draft, coach, approve and send.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Meeting lifecycle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Prepare, facilitate, capture, assign and follow through.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Work context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Ground summaries and actions in authorised files, chats, meetings and email.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Human-send gate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drafts messages; a responsible person verifies recipients, facts and attachments before sending.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Loop as living plan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Components keep tasks, decisions and status synchronised across apps.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Opportunity evaluation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Adopt only when value, risk, readiness, owner and success measure are explicit.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slow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inbox is a decision queue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Triage: Prioritise by risk, urgency, dependency and value.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Understand: Summarise thread, attachments and open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Respond: Draft a proportional, evidence-based reply.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Track: Record owner, commitment and follow-up.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reliable email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is being asked or reported?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decisions or actions already occurred?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remains unanswered or disputed?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Instructions shape Outlook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Audience — Relationship, role and expected knowledge.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Tone — Direct, diplomatic, reassuring or formal.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Structure — Opening, answer, actions and close.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Constraints — Length, prohibited commitments and approval needs.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slow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Human-send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Recipients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To, Cc and unintended exposure.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dates, commitments and attachment names.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confidentiality and authorisation.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Approval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responsible person chooses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Meeting preparation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Outcome: Define the decision or alignment required.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Pre-read: Bring evidence before discussion.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Agenda: Allocate time to the hardest decisions.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Questions: Frame options, criteria and trade-offs.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Facilitator and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Support agenda, time and shared notes when enabled.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Summarise decisions, actions and unresolved 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Catch up where the licensed experience supports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slow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Action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Specific — One clear deliverable.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Owner — One accountable person.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Due — A real date or trigger.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Evidence — Definition of done and status source.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slow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Loop components are portable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Provides context and 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Tracks repeated records and fields.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Task list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Makes owner and status explicit.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component can appear across supported apps.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slow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living implementation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Backlog: Workstreams and milestones.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Decisions: Approved choices and rationale.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Risks: Triggers, controls and owners.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Measures: Adoption, quality, time saved and exception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slow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Evaluate an opportunity before adopting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measurable outcome improves?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Are data, licence and process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could fail or cause harm?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slow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 IQ and organisational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People — Roles and collaboration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Content — Permitted documents, messages and meetings.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Activity — Current work patterns and signals.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Context is valuable only when governed.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slow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Communication evidence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Email, meeting, file or register.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concise, checked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Owner, due date and status.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Follow-up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Draft, approval and retained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Risk and deadlines shape inbox 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Priority is a business rule, not the order messages arrived.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slow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Reviewed actions close faster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Ownership and due dates improve meeting follow-through.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slow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Triage an Outlook Inbox and Draft a Controlled Reply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Copilot to summarise, prioritise and draft without bypassing recipient and fact checks.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Inbox triage register, verified thread summary and one approval-ready draft reply.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Outlook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slow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09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Triage an Outlook Inbox and Draft a Controlled Reply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draft remains unsent, all facts and recipients are checked, and the triage register shows priority, owner and next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Action-Oriented Teams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meeting preparation, Facilitator or recap capabilities to convert discussion into owned outcomes.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Meeting brief, decision log, action register and reviewed follow-up message.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Teams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10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Action-Oriented Teams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action register reconciles with the reviewed meeting recap and every action has one owner, due date and status.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Living Implementation and Training Plan in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Translate adoption risks into a living implementation plan and role-based staff enablement schedule.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Loop workspace design, transition backlog, training matrix and adoption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Loop + Teams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Living Implementation and Training Plan in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covers transition risks and staff training, distinguishes decisions from proposals and has measurable adoption controls.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slow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Copilot for Outlook, Teams and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Communication workflow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K2 · A3 · A4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slow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Microsoft 365 Copilot Agents and Governed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Agent types · instructions · knowledge · actions · approvals · monitoring · staff enablement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Microsoft 365 Copilot Agents and Governed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Agent role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agent applies scoped instructions and knowledge to a repeatable business outcome.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Agent spectrum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Retrieval agents answer; task agents act; autonomous agents coordinate multi-step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Pipeline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Intake, validate, classify, enrich, produce, approve, deliver and monitor.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Give the agent only the data and actions required for its defined role.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Approval boundary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Consequential writes, sends and status changes require visible human approval.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Operational readiness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Pilot with test cases, exception handling, owners, metrics, training and rollback.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slow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Copilot versus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Copilot: General assistant across supported work surfaces.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Agent: Scoped role with instructions, knowledge and sometimes 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Boundary: The agent should have a narrower job than the user.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Value: Repeatable outcomes with consistent controls.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slow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Types of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Find and explain approved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Complete a defined step using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Orchestrator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Coordinate multiple steps and agents.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slow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 design canvas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Outcome — Measurable business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Inputs — Required fields and approved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Outputs — Defined response or artifact.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Non-actions — What the agent must refuse or escalate.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slow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Knowledge grounding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Curated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smallest authoritative source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Current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content owner and review date.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Citable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Responses should identify supporting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Safe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Exclude unrelated or overly broad repositories.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as operational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Role: Who the agent represents.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Procedure: How it handles common paths.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Guardrails: Prohibited content and actions.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Escalation: When and how a human takes over.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Actions need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Typed, required and validated.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One clear side effect.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Status, ID and explanation.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Intake — Capture structured request.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Process — Validate, classify and enrich.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Approve consequential transitions.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Deliver — Create artifact, draft or controlled record.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slow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approval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Pre-action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Approve before write or send.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Post-draft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generated artifact before release.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Exception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Route uncertain or restricted cases.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Override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who changed the outcome and why.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Idempotency and duplicate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Key: Use a stable request or campaign ID.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Check: Detect prior active processing.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Result: Return existing status instead of duplicating.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Audit: Record input hash, run ID and outcome.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answer or route accurately?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cite approved evidence?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refuse prohibited cases?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Monitoring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Throughput — Cases completed per period.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Cycle time — Time from intake to approved output.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Exception rate — Share diverted for human handling.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Override rate — How often humans correct the agent.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Staff enablement for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Who uses, approves, owns and supports.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exercises and test cases.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Demonstrated competent use and control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Office hours, issue channel and refresher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slow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04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pipeline narrows through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Validation and approval prevent low-quality work reaching delivery.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slow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04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Pilot evidence determines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Cycle time falls while exceptions and overrides reveal where redesign is needed.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slow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FOUNDATION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 a Scoped Microsoft 365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Define an agent's job, knowledge, boundaries, test cases and ownership before building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Agent design canvas, knowledge register, risk controls and ten acceptance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agents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slow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 a Scoped Microsoft 365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agent has a narrow purpose, explicit non-actions, least-privilege knowledge and ten test cases with expected outcomes.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INTERMEDIATE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 Intake and Routing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Build a retrieval-and-routing agent that validates inputs and escalates exceptions.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Working intake agent, controlled instructions, knowledge source and routed test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Copilot Studio / Agent Builder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 Intake and Routing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agent gathers mandatory fields, cites approved knowledge, routes correctly and refuses approval or external-send requests.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ADVANCED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 an Agent to a Controlled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Add an action that writes a validated intake to a controlled queue while preserving approval and audit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Agent-to-queue flow with validation, approval state, response ID and run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Copilot Studio + Power Automate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slow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 an Agent to a Controlled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Only validated cases create Draft records, duplicate submissions are controlled and every run has traceable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ADVANCED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 Analysis-to-Deck Agent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Orchestrate intake, Excel analysis and a PowerPoint decision pack with human approval between stages.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Three-stage pipeline specification, analysis workbook, chart-led decision deck and approval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+ Analyst + PowerPoint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slow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 Analysis-to-Deck Agent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pipeline stops at review, the workbook reconciles, the deck has editable charts and every quantitative claim has a source range.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slow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CAPSTONE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Operate a Governed End-to-End Copilot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Operate the complete intake-to-delivery pipeline with approvals, exception handling, monitoring and staff handover.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End-to-end pilot run, approved Outlook draft, Teams handover, monitoring dashboard and staff training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agents + Outlook + Teams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slow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Operate a Governed End-to-End Copilot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pilot cases have a complete audit trail, delivery remains human-controlled and the scale decision is supported by measured operational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slow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Microsoft 365 Copilot Agents and Governed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role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K1-K4 · A1-A4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slow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LABS 12–16 · SHAREPOINT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SharePoint source to verified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Source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Scoped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Cited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slow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KNOWLEDGE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agents, three source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AGENT AND SOURCE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Policy agent: EXP-01 expense rules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Campaign agent: CAM-2026-Q4 brief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Routing agent: SR-01 service guide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RESPONSE CONTRACT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the exact source and section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Ask when a required fact is missing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Produce a draft; preserve human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slow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TGS-2024043856 · PERMISSIONS FOLLOW THE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course knowledge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Private Lumina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DOCX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.agent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Training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slow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12 · SOURCE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Source selection is a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CHOICE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file gives a narrow factual scope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folder groups a maintained topic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whole site widens retrieval scope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CONTROL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owner, version and effective date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Exclude unrelated sites and test fixtures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 citations rather than trusting tone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slow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SYNTHETIC EXP-01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Worked policy decision: SGD 48 taxi fare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FACTS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taxi: potentially claimable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SGD 48 exceeds the SGD 40 threshold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Receipt and purpose are required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within 14 calendar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VERIFIED OUTPUT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Manager approval is required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 explains; it cannot approve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EXP-01 local travel and evidence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the actual response in Excel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slow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CONFIGURATION · NO CLAIM SUBMISSION OR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Policy instructions make the boundary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EXP-01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Cite the section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Identify missing 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Refer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slow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13 · SYNTHETIC SERVICE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Worked routing: damaged chair due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INPUT AND RULE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REQ-101: damaged chair reported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Due tomorrow: within two business days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SR-01 routes damage to Operations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RECOMMENDATION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Queue recommendation: Operations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Priority recommendation: High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Unsafe product requires supporting facts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ticket write is implied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slow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14 · RECORD EACH STATE SEPARATELY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knowledge source is not an action connector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Agent 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Configured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Verified run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slow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15 · SYNTHETIC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Campaign facts that can travel into a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FACTS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Budget: SGD 18000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Target: 120 qualified enquiries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Launch: 1 October 2026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Authority: CAM-2026-Q4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RELEASE CONTROL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every factual claim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Label copy DRAFT FOR MARKETING REVIEW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Reject unsupported carbon-neutral claims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Carry verified facts into Word and PPT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slow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16 · ACCESS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Sharing has two access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Can the intended user open the agent?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Can that user open the cited source?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Site membership supports collaboration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COURSE WORKSPACE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Training 1: site owner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Training 2 and admin: site members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each identity; log the actual outcome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Avoid public links for this workspace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slow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16 · USE A LEARNER COPY FOR CHANGE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Maintain the source, then repeat the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Versioned source 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Readiness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Same test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Citation 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slow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· EXISTING EXCEL WORKBOOKS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Failures belong in the evidence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FAILURE CASE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Unknown fact: source does not establish it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Preparing: response test remains pending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Missing date: ask a clarification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action result: no verified write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REQUIRED TRACE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prompt and actual response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and verify each citation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source version and account role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Retain failures and reviewer corrections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slow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LIVE TRAINING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 the Lumina SharePoint workspace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Private synthetic company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assigned work account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Source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Travel and expenses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Campaign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Service routing guide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Practice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existing Labs 12–16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Full procedures in the Learner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original Excel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199632"/>
            <a:ext cx="100584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Open TGS-2024043856 Lumina Living Copilot</a:t>
            </a:r>
          </a:p>
        </p:txBody>
      </p:sp>
    </p:spTree>
  </p:cSld>
  <p:clrMapOvr>
    <a:masterClrMapping/>
  </p:clrMapOvr>
  <p:transition spd="slow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Evidence, Assessment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slow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 and mitigate challenges in integrating Microsoft 365 Copilot into a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a plan for implementing Microsoft 365 Copilot and transitioning from a legacy workflow.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productivity opportunities across Teams, Outlook and Microsoft 365 Copilot Chat.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 staff enablement plan and a governed Copilot agent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slow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slide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Guide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Sixteen activity folders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WA question 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PP question 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Submit required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current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Contact the trainer or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open-ended knowledge questions, 60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connected Microsoft 365 tasks, 60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assessment digital attendance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only your own completed papers and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slow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slow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Scan the SSG QR code before the papers.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Training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AM and PM records for both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Minimum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At least 75% is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Ask for help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Tell the trainer immediately if submission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slow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74519"/>
            <a:ext cx="1024128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77440"/>
            <a:ext cx="10241280" cy="1600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accelerates work only when evidence and control travel with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6696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Ground, verify, approve and monitor every workflow—from first prompt to governed agent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