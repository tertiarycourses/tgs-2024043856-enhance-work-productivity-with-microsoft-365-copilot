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76" r:id="rId127"/>
    <p:sldId id="377" r:id="rId128"/>
    <p:sldId id="378" r:id="rId129"/>
    <p:sldId id="379" r:id="rId130"/>
    <p:sldId id="380" r:id="rId131"/>
    <p:sldId id="381" r:id="rId132"/>
    <p:sldId id="382" r:id="rId1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Ready %</c:v>
                </c:pt>
              </c:strCache>
            </c:strRef>
          </c:tx>
          <c:spPr>
            <a:solidFill>
              <a:srgbClr val="1F6FEB"/>
            </a:solidFill>
            <a:ln>
              <a:solidFill>
                <a:srgbClr val="1F6FEB"/>
              </a:solidFill>
            </a:ln>
          </c:spPr>
          <c:cat>
            <c:strRef>
              <c:f>Sheet1!$A$2:$A$6</c:f>
              <c:strCache>
                <c:ptCount val="5"/>
                <c:pt idx="0">
                  <c:v>Licensing</c:v>
                </c:pt>
                <c:pt idx="1">
                  <c:v>Data</c:v>
                </c:pt>
                <c:pt idx="2">
                  <c:v>Process</c:v>
                </c:pt>
                <c:pt idx="3">
                  <c:v>Skills</c:v>
                </c:pt>
                <c:pt idx="4">
                  <c:v>Governance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92</c:v>
                </c:pt>
                <c:pt idx="1">
                  <c:v>68</c:v>
                </c:pt>
                <c:pt idx="2">
                  <c:v>55</c:v>
                </c:pt>
                <c:pt idx="3">
                  <c:v>47</c:v>
                </c:pt>
                <c:pt idx="4">
                  <c:v>61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2E8F0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Verified claims</c:v>
                </c:pt>
              </c:strCache>
            </c:strRef>
          </c:tx>
          <c:spPr>
            <a:solidFill>
              <a:srgbClr val="1F6FEB"/>
            </a:solidFill>
            <a:ln>
              <a:solidFill>
                <a:srgbClr val="1F6FEB"/>
              </a:solidFill>
            </a:ln>
          </c:spPr>
          <c:cat>
            <c:strRef>
              <c:f>Sheet1!$A$2:$A$5</c:f>
              <c:strCache>
                <c:ptCount val="4"/>
                <c:pt idx="0">
                  <c:v>Draft</c:v>
                </c:pt>
                <c:pt idx="1">
                  <c:v>Source check</c:v>
                </c:pt>
                <c:pt idx="2">
                  <c:v>Correction</c:v>
                </c:pt>
                <c:pt idx="3">
                  <c:v>Approval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58</c:v>
                </c:pt>
                <c:pt idx="1">
                  <c:v>74</c:v>
                </c:pt>
                <c:pt idx="2">
                  <c:v>91</c:v>
                </c:pt>
                <c:pt idx="3">
                  <c:v>100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Unsupported claims</c:v>
                </c:pt>
              </c:strCache>
            </c:strRef>
          </c:tx>
          <c:spPr>
            <a:solidFill>
              <a:srgbClr val="10B981"/>
            </a:solidFill>
            <a:ln>
              <a:solidFill>
                <a:srgbClr val="10B981"/>
              </a:solidFill>
            </a:ln>
          </c:spPr>
          <c:cat>
            <c:strRef>
              <c:f>Sheet1!$A$2:$A$5</c:f>
              <c:strCache>
                <c:ptCount val="4"/>
                <c:pt idx="0">
                  <c:v>Draft</c:v>
                </c:pt>
                <c:pt idx="1">
                  <c:v>Source check</c:v>
                </c:pt>
                <c:pt idx="2">
                  <c:v>Correction</c:v>
                </c:pt>
                <c:pt idx="3">
                  <c:v>Approval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28</c:v>
                </c:pt>
                <c:pt idx="1">
                  <c:v>18</c:v>
                </c:pt>
                <c:pt idx="2">
                  <c:v>5</c:v>
                </c:pt>
                <c:pt idx="3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2E8F0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$k</c:v>
                </c:pt>
              </c:strCache>
            </c:strRef>
          </c:tx>
          <c:spPr>
            <a:solidFill>
              <a:srgbClr val="1F6FEB"/>
            </a:solidFill>
            <a:ln>
              <a:solidFill>
                <a:srgbClr val="1F6FEB"/>
              </a:solidFill>
            </a:ln>
          </c:spPr>
          <c:cat>
            <c:strRef>
              <c:f>Sheet1!$A$2:$A$7</c:f>
              <c:strCache>
                <c:ptCount val="6"/>
                <c:pt idx="0">
                  <c:v>Jul</c:v>
                </c:pt>
                <c:pt idx="1">
                  <c:v>Aug</c:v>
                </c:pt>
                <c:pt idx="2">
                  <c:v>Sep</c:v>
                </c:pt>
                <c:pt idx="3">
                  <c:v>Oct</c:v>
                </c:pt>
                <c:pt idx="4">
                  <c:v>Nov</c:v>
                </c:pt>
                <c:pt idx="5">
                  <c:v>Dec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420</c:v>
                </c:pt>
                <c:pt idx="1">
                  <c:v>445</c:v>
                </c:pt>
                <c:pt idx="2">
                  <c:v>472</c:v>
                </c:pt>
                <c:pt idx="3">
                  <c:v>508</c:v>
                </c:pt>
                <c:pt idx="4">
                  <c:v>535</c:v>
                </c:pt>
                <c:pt idx="5">
                  <c:v>562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Capacity index</c:v>
                </c:pt>
              </c:strCache>
            </c:strRef>
          </c:tx>
          <c:spPr>
            <a:solidFill>
              <a:srgbClr val="10B981"/>
            </a:solidFill>
            <a:ln>
              <a:solidFill>
                <a:srgbClr val="10B981"/>
              </a:solidFill>
            </a:ln>
          </c:spPr>
          <c:cat>
            <c:strRef>
              <c:f>Sheet1!$A$2:$A$7</c:f>
              <c:strCache>
                <c:ptCount val="6"/>
                <c:pt idx="0">
                  <c:v>Jul</c:v>
                </c:pt>
                <c:pt idx="1">
                  <c:v>Aug</c:v>
                </c:pt>
                <c:pt idx="2">
                  <c:v>Sep</c:v>
                </c:pt>
                <c:pt idx="3">
                  <c:v>Oct</c:v>
                </c:pt>
                <c:pt idx="4">
                  <c:v>Nov</c:v>
                </c:pt>
                <c:pt idx="5">
                  <c:v>Dec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72</c:v>
                </c:pt>
                <c:pt idx="1">
                  <c:v>78</c:v>
                </c:pt>
                <c:pt idx="2">
                  <c:v>84</c:v>
                </c:pt>
                <c:pt idx="3">
                  <c:v>91</c:v>
                </c:pt>
                <c:pt idx="4">
                  <c:v>98</c:v>
                </c:pt>
                <c:pt idx="5">
                  <c:v>107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2E8F0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Margin $k</c:v>
                </c:pt>
              </c:strCache>
            </c:strRef>
          </c:tx>
          <c:spPr>
            <a:solidFill>
              <a:srgbClr val="1F6FEB"/>
            </a:solidFill>
            <a:ln>
              <a:solidFill>
                <a:srgbClr val="1F6FEB"/>
              </a:solidFill>
            </a:ln>
          </c:spPr>
          <c:cat>
            <c:strRef>
              <c:f>Sheet1!$A$2:$A$6</c:f>
              <c:strCache>
                <c:ptCount val="5"/>
                <c:pt idx="0">
                  <c:v>Web</c:v>
                </c:pt>
                <c:pt idx="1">
                  <c:v>Partner</c:v>
                </c:pt>
                <c:pt idx="2">
                  <c:v>Retail</c:v>
                </c:pt>
                <c:pt idx="3">
                  <c:v>Events</c:v>
                </c:pt>
                <c:pt idx="4">
                  <c:v>Other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168</c:v>
                </c:pt>
                <c:pt idx="1">
                  <c:v>126</c:v>
                </c:pt>
                <c:pt idx="2">
                  <c:v>94</c:v>
                </c:pt>
                <c:pt idx="3">
                  <c:v>47</c:v>
                </c:pt>
                <c:pt idx="4">
                  <c:v>22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2E8F0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Messages</c:v>
                </c:pt>
              </c:strCache>
            </c:strRef>
          </c:tx>
          <c:spPr>
            <a:solidFill>
              <a:srgbClr val="1F6FEB"/>
            </a:solidFill>
            <a:ln>
              <a:solidFill>
                <a:srgbClr val="1F6FEB"/>
              </a:solidFill>
            </a:ln>
          </c:spPr>
          <c:cat>
            <c:strRef>
              <c:f>Sheet1!$A$2:$A$5</c:f>
              <c:strCache>
                <c:ptCount val="4"/>
                <c:pt idx="0">
                  <c:v>Critical</c:v>
                </c:pt>
                <c:pt idx="1">
                  <c:v>High</c:v>
                </c:pt>
                <c:pt idx="2">
                  <c:v>Normal</c:v>
                </c:pt>
                <c:pt idx="3">
                  <c:v>Low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</c:v>
                </c:pt>
                <c:pt idx="1">
                  <c:v>11</c:v>
                </c:pt>
                <c:pt idx="2">
                  <c:v>23</c:v>
                </c:pt>
                <c:pt idx="3">
                  <c:v>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2E8F0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Action closure %</c:v>
                </c:pt>
              </c:strCache>
            </c:strRef>
          </c:tx>
          <c:spPr>
            <a:solidFill>
              <a:srgbClr val="1F6FEB"/>
            </a:solidFill>
            <a:ln>
              <a:solidFill>
                <a:srgbClr val="1F6FEB"/>
              </a:solidFill>
            </a:ln>
          </c:spPr>
          <c:cat>
            <c:strRef>
              <c:f>Sheet1!$A$2:$A$5</c:f>
              <c:strCache>
                <c:ptCount val="4"/>
                <c:pt idx="0">
                  <c:v>Week 1</c:v>
                </c:pt>
                <c:pt idx="1">
                  <c:v>Week 2</c:v>
                </c:pt>
                <c:pt idx="2">
                  <c:v>Week 3</c:v>
                </c:pt>
                <c:pt idx="3">
                  <c:v>Week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38</c:v>
                </c:pt>
                <c:pt idx="1">
                  <c:v>57</c:v>
                </c:pt>
                <c:pt idx="2">
                  <c:v>76</c:v>
                </c:pt>
                <c:pt idx="3">
                  <c:v>91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Unowned actions</c:v>
                </c:pt>
              </c:strCache>
            </c:strRef>
          </c:tx>
          <c:spPr>
            <a:solidFill>
              <a:srgbClr val="10B981"/>
            </a:solidFill>
            <a:ln>
              <a:solidFill>
                <a:srgbClr val="10B981"/>
              </a:solidFill>
            </a:ln>
          </c:spPr>
          <c:cat>
            <c:strRef>
              <c:f>Sheet1!$A$2:$A$5</c:f>
              <c:strCache>
                <c:ptCount val="4"/>
                <c:pt idx="0">
                  <c:v>Week 1</c:v>
                </c:pt>
                <c:pt idx="1">
                  <c:v>Week 2</c:v>
                </c:pt>
                <c:pt idx="2">
                  <c:v>Week 3</c:v>
                </c:pt>
                <c:pt idx="3">
                  <c:v>Week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12</c:v>
                </c:pt>
                <c:pt idx="1">
                  <c:v>8</c:v>
                </c:pt>
                <c:pt idx="2">
                  <c:v>4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2E8F0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Cases</c:v>
                </c:pt>
              </c:strCache>
            </c:strRef>
          </c:tx>
          <c:spPr>
            <a:solidFill>
              <a:srgbClr val="1F6FEB"/>
            </a:solidFill>
            <a:ln>
              <a:solidFill>
                <a:srgbClr val="1F6FEB"/>
              </a:solidFill>
            </a:ln>
          </c:spPr>
          <c:cat>
            <c:strRef>
              <c:f>Sheet1!$A$2:$A$7</c:f>
              <c:strCache>
                <c:ptCount val="6"/>
                <c:pt idx="0">
                  <c:v>Intake</c:v>
                </c:pt>
                <c:pt idx="1">
                  <c:v>Valid</c:v>
                </c:pt>
                <c:pt idx="2">
                  <c:v>Routed</c:v>
                </c:pt>
                <c:pt idx="3">
                  <c:v>Analysed</c:v>
                </c:pt>
                <c:pt idx="4">
                  <c:v>Approved</c:v>
                </c:pt>
                <c:pt idx="5">
                  <c:v>Drafted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84</c:v>
                </c:pt>
                <c:pt idx="2">
                  <c:v>79</c:v>
                </c:pt>
                <c:pt idx="3">
                  <c:v>66</c:v>
                </c:pt>
                <c:pt idx="4">
                  <c:v>48</c:v>
                </c:pt>
                <c:pt idx="5">
                  <c:v>46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2E8F0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Cycle time h</c:v>
                </c:pt>
              </c:strCache>
            </c:strRef>
          </c:tx>
          <c:spPr>
            <a:solidFill>
              <a:srgbClr val="1F6FEB"/>
            </a:solidFill>
            <a:ln>
              <a:solidFill>
                <a:srgbClr val="1F6FEB"/>
              </a:solidFill>
            </a:ln>
          </c:spPr>
          <c:cat>
            <c:strRef>
              <c:f>Sheet1!$A$2:$A$5</c:f>
              <c:strCache>
                <c:ptCount val="4"/>
                <c:pt idx="0">
                  <c:v>Pilot 1</c:v>
                </c:pt>
                <c:pt idx="1">
                  <c:v>Pilot 2</c:v>
                </c:pt>
                <c:pt idx="2">
                  <c:v>Pilot 3</c:v>
                </c:pt>
                <c:pt idx="3">
                  <c:v>Pilot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</c:v>
                </c:pt>
                <c:pt idx="1">
                  <c:v>31</c:v>
                </c:pt>
                <c:pt idx="2">
                  <c:v>24</c:v>
                </c:pt>
                <c:pt idx="3">
                  <c:v>19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Exception %</c:v>
                </c:pt>
              </c:strCache>
            </c:strRef>
          </c:tx>
          <c:spPr>
            <a:solidFill>
              <a:srgbClr val="10B981"/>
            </a:solidFill>
            <a:ln>
              <a:solidFill>
                <a:srgbClr val="10B981"/>
              </a:solidFill>
            </a:ln>
          </c:spPr>
          <c:cat>
            <c:strRef>
              <c:f>Sheet1!$A$2:$A$5</c:f>
              <c:strCache>
                <c:ptCount val="4"/>
                <c:pt idx="0">
                  <c:v>Pilot 1</c:v>
                </c:pt>
                <c:pt idx="1">
                  <c:v>Pilot 2</c:v>
                </c:pt>
                <c:pt idx="2">
                  <c:v>Pilot 3</c:v>
                </c:pt>
                <c:pt idx="3">
                  <c:v>Pilot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29</c:v>
                </c:pt>
                <c:pt idx="1">
                  <c:v>23</c:v>
                </c:pt>
                <c:pt idx="2">
                  <c:v>16</c:v>
                </c:pt>
                <c:pt idx="3">
                  <c:v>11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Override %</c:v>
                </c:pt>
              </c:strCache>
            </c:strRef>
          </c:tx>
          <c:spPr>
            <a:solidFill>
              <a:srgbClr val="7C3AED"/>
            </a:solidFill>
            <a:ln>
              <a:solidFill>
                <a:srgbClr val="7C3AED"/>
              </a:solidFill>
            </a:ln>
          </c:spPr>
          <c:cat>
            <c:strRef>
              <c:f>Sheet1!$A$2:$A$5</c:f>
              <c:strCache>
                <c:ptCount val="4"/>
                <c:pt idx="0">
                  <c:v>Pilot 1</c:v>
                </c:pt>
                <c:pt idx="1">
                  <c:v>Pilot 2</c:v>
                </c:pt>
                <c:pt idx="2">
                  <c:v>Pilot 3</c:v>
                </c:pt>
                <c:pt idx="3">
                  <c:v>Pilot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21</c:v>
                </c:pt>
                <c:pt idx="1">
                  <c:v>17</c:v>
                </c:pt>
                <c:pt idx="2">
                  <c:v>12</c:v>
                </c:pt>
                <c:pt idx="3">
                  <c:v>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2E8F0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s.tertiaryinfotech.com/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tertiarycourses/TGS-2024043856-Enhance-Work-Productivity-with-Microsoft-365-Copilot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ms-tms.tertiaryinfotech.com/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ms-tms.tertiaryinfotech.com/" TargetMode="Externa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tertiaryinfotech.sharepoint.com/sites/TGS-2024043856-LuminaCopilot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1945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38544"/>
            <a:ext cx="12191695" cy="21945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ertiary-infotec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66928"/>
            <a:ext cx="804672" cy="80467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464040" y="566928"/>
            <a:ext cx="1874519" cy="8229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0" y="658368"/>
            <a:ext cx="1600200" cy="6400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M365</a:t>
            </a:r>
          </a:p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COPILOT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10789920" cy="32918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WSQ COURSE SLIDES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12848"/>
            <a:ext cx="10789920" cy="14813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Enhance Work Productivity with Microsoft 365 Copilot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3858768"/>
            <a:ext cx="228600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133087"/>
            <a:ext cx="10789920" cy="10972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Course Code: TGS-2024043856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Digital Technology Adoption and Innovation · ACC-ICT-4004-1.1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Trainer: Dr Alfred Ang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486400"/>
            <a:ext cx="107899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Tertiary Infotech Academy Pte Ltd · UEN 201200696W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925312"/>
            <a:ext cx="10789920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Version v8.1 · 7 September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09360"/>
            <a:ext cx="107899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Ltd. All rights reserved.</a:t>
            </a:r>
          </a:p>
        </p:txBody>
      </p:sp>
    </p:spTree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TRAQOM · SSG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56232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AM and PM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Complete SSG digital attendance for both training days.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56232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Assessment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Take the separate assessment attendance before the papers.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69664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Scan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Use the QR code shown by the trainer or administrator.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69664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Eligibility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Maintain at least 75% attendance.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  <p:transition spd="slow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5B63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5B6372"/>
                </a:solidFill>
                <a:latin typeface="Arial"/>
              </a:rPr>
              <a:t>GENERAL TRAINER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3310128" cy="4325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45920" y="2212848"/>
            <a:ext cx="1554480" cy="1554480"/>
          </a:xfrm>
          <a:prstGeom prst="ellipse">
            <a:avLst/>
          </a:prstGeom>
          <a:solidFill>
            <a:srgbClr val="5B63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2212848"/>
            <a:ext cx="1554480" cy="15544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42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050791"/>
            <a:ext cx="2852928" cy="5029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61B26"/>
                </a:solidFill>
                <a:latin typeface="Arial"/>
              </a:rPr>
              <a:t>Your Trainer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617720"/>
            <a:ext cx="2852928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Complete before class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783080"/>
            <a:ext cx="7040880" cy="566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45152" y="1828800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NAME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1828800"/>
            <a:ext cx="50749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Arial"/>
              </a:rPr>
              <a:t>________________________________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2487168"/>
            <a:ext cx="7040880" cy="566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5152" y="2532888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TITLE / DESIGNATION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2532888"/>
            <a:ext cx="50749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Arial"/>
              </a:rPr>
              <a:t>________________________________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89120" y="3191256"/>
            <a:ext cx="7040880" cy="566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45152" y="3236976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QUALIFICATIONS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3236976"/>
            <a:ext cx="50749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Arial"/>
              </a:rPr>
              <a:t>________________________________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89120" y="3895344"/>
            <a:ext cx="7040880" cy="566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45152" y="3941064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F59E0B"/>
                </a:solidFill>
                <a:latin typeface="Arial"/>
              </a:rPr>
              <a:t>EXPERTISE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3941064"/>
            <a:ext cx="50749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Arial"/>
              </a:rPr>
              <a:t>________________________________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89120" y="4599432"/>
            <a:ext cx="7040880" cy="566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45152" y="4645152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EXPERIENCE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4645152"/>
            <a:ext cx="50749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Arial"/>
              </a:rPr>
              <a:t>________________________________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89120" y="5303520"/>
            <a:ext cx="7040880" cy="566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45152" y="5349240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CONTACT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35040" y="5349240"/>
            <a:ext cx="50749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Arial"/>
              </a:rPr>
              <a:t>________________________________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  <p:transition spd="slow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NAMED TRAINER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3310128" cy="4325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45920" y="2212848"/>
            <a:ext cx="1554480" cy="155448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2212848"/>
            <a:ext cx="1554480" cy="15544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4200" b="1">
                <a:solidFill>
                  <a:srgbClr val="FFFFFF"/>
                </a:solidFill>
                <a:latin typeface="Arial"/>
              </a:rPr>
              <a:t>AA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050791"/>
            <a:ext cx="2852928" cy="5029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61B26"/>
                </a:solidFill>
                <a:latin typeface="Arial"/>
              </a:rPr>
              <a:t>Dr Alfred Ang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617720"/>
            <a:ext cx="2852928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Principal Trainer · Tertiary Infotech Academy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783080"/>
            <a:ext cx="7040880" cy="566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45152" y="1828800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ROLE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1828800"/>
            <a:ext cx="50749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Principal Trainer and Chief Instructional Designer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2487168"/>
            <a:ext cx="7040880" cy="566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5152" y="2532888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EXPERTISE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2532888"/>
            <a:ext cx="50749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Microsoft 365, AI, automation and business productivity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89120" y="3191256"/>
            <a:ext cx="7040880" cy="566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45152" y="3236976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CERTIFICATION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3236976"/>
            <a:ext cx="50749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ACLP-certified adult educator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89120" y="3895344"/>
            <a:ext cx="7040880" cy="566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45152" y="3941064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F59E0B"/>
                </a:solidFill>
                <a:latin typeface="Arial"/>
              </a:rPr>
              <a:t>DELIVERS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3941064"/>
            <a:ext cx="50749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WSQ and professional technology programmes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89120" y="4599432"/>
            <a:ext cx="7040880" cy="566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45152" y="4645152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EXPERIENCE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4645152"/>
            <a:ext cx="50749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Cross-industry transformation and workforce training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89120" y="5303520"/>
            <a:ext cx="7040880" cy="566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45152" y="5349240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CONTACT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35040" y="5349240"/>
            <a:ext cx="50749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enquiry@tertiaryinfotech.com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  <p:transition spd="slow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LEARNER 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Let's Know Each Other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56232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Your work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Role, organisation and recurring knowledge work.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56232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Your M365 baseline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Word, PowerPoint, Excel, Outlook, Teams and Loop.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69664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Your friction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One task that is slow, repetitive or inconsistent.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69664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Your outcome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What you want to improve safely over two days.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  <p:transition spd="slow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HOUSEKEEPING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Ground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13228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7017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70176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56232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Be present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Return from breaks on time and complete attendance.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13228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17017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170176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56232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Participate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Ask, test and explain your reasoning.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307080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07080"/>
            <a:ext cx="82296" cy="13228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12464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12464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398520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Respect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One conversation; critique ideas, not people.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307080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307080"/>
            <a:ext cx="82296" cy="13228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3712464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3712464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3398520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Protect data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only the supplied synthetic company files.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849368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49368"/>
            <a:ext cx="82296" cy="13228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54752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54752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40808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Verify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Copilot output is a draft until evidence is checked.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40780" y="4849368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40780" y="4849368"/>
            <a:ext cx="82296" cy="13228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78524" y="5254752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78524" y="5254752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73468" y="4940808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Human control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Do not send, publish or approve automatically.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  <p:transition spd="slow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TWO-DAY JOURNEY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Course Outline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Day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Copilot foundations and prompting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3584448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Word drafting and policy refinement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4261104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PowerPoint stories and native charts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4937760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Excel formulas, deep analysis and forecasting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89703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89703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18303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Day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36591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Outlook triage and controlled drafts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1" y="3584448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Teams meeting intelligence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36591" y="4261104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Loop implementation and training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36591" y="4937760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Copilot agents and governed pipelines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02166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02166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30766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49054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16 progressive lab folders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49054" y="3584448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An Excel workbook in every lab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49054" y="4261104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Detailed prompts in LG and activities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49054" y="4937760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Final pipeline pilot and handover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  <p:transition spd="slow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SCHEDULE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Lesson Plan — 2 Days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DAY 1</a:t>
            </a:r>
          </a:p>
        </p:txBody>
      </p:sp>
      <p:sp>
        <p:nvSpPr>
          <p:cNvPr id="10" name="Oval 9"/>
          <p:cNvSpPr/>
          <p:nvPr/>
        </p:nvSpPr>
        <p:spPr>
          <a:xfrm>
            <a:off x="1033272" y="261518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9:00–10:25 · Foundations and safe prompting</a:t>
            </a:r>
          </a:p>
        </p:txBody>
      </p:sp>
      <p:sp>
        <p:nvSpPr>
          <p:cNvPr id="13" name="Oval 12"/>
          <p:cNvSpPr/>
          <p:nvPr/>
        </p:nvSpPr>
        <p:spPr>
          <a:xfrm>
            <a:off x="1033272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048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10:35–12:30 · Word workflows</a:t>
            </a:r>
          </a:p>
        </p:txBody>
      </p:sp>
      <p:sp>
        <p:nvSpPr>
          <p:cNvPr id="16" name="Oval 15"/>
          <p:cNvSpPr/>
          <p:nvPr/>
        </p:nvSpPr>
        <p:spPr>
          <a:xfrm>
            <a:off x="1033272" y="4187952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3272" y="4187952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7048" y="4133088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1:15–3:10 · PowerPoint storytelling</a:t>
            </a:r>
          </a:p>
        </p:txBody>
      </p:sp>
      <p:sp>
        <p:nvSpPr>
          <p:cNvPr id="19" name="Oval 18"/>
          <p:cNvSpPr/>
          <p:nvPr/>
        </p:nvSpPr>
        <p:spPr>
          <a:xfrm>
            <a:off x="1033272" y="4974336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974336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7048" y="4919472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3:20–6:00 · Excel analysis and forecasting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DAY 2</a:t>
            </a:r>
          </a:p>
        </p:txBody>
      </p:sp>
      <p:sp>
        <p:nvSpPr>
          <p:cNvPr id="25" name="Oval 24"/>
          <p:cNvSpPr/>
          <p:nvPr/>
        </p:nvSpPr>
        <p:spPr>
          <a:xfrm>
            <a:off x="6492240" y="2615184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86016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9:00–10:45 · Outlook and Teams</a:t>
            </a:r>
          </a:p>
        </p:txBody>
      </p:sp>
      <p:sp>
        <p:nvSpPr>
          <p:cNvPr id="28" name="Oval 27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86016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10:55–12:30 · Loop and transition planning</a:t>
            </a:r>
          </a:p>
        </p:txBody>
      </p:sp>
      <p:sp>
        <p:nvSpPr>
          <p:cNvPr id="31" name="Oval 30"/>
          <p:cNvSpPr/>
          <p:nvPr/>
        </p:nvSpPr>
        <p:spPr>
          <a:xfrm>
            <a:off x="6492240" y="4187952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92240" y="4187952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86016" y="4133088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1:15–4:00 · Agents and governed pipelines</a:t>
            </a:r>
          </a:p>
        </p:txBody>
      </p:sp>
      <p:sp>
        <p:nvSpPr>
          <p:cNvPr id="34" name="Oval 33"/>
          <p:cNvSpPr/>
          <p:nvPr/>
        </p:nvSpPr>
        <p:spPr>
          <a:xfrm>
            <a:off x="6492240" y="4974336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92240" y="4974336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86016" y="4919472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4:00–6:00 · WA and PP assessment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  <p:transition spd="slow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WHAT YOU WILL ACHIEVE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Learning Outcomes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56232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LO1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Predict and mitigate challenges in integrating Microsoft 365 Copilot into a workflow.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56232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LO2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Develop a plan for implementing Microsoft 365 Copilot and transitioning from a legacy workflow.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69664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LO3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Evaluate productivity opportunities across Teams, Outlook and Microsoft 365 Copilot Chat.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69664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LO4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Design a staff enablement plan and a governed Copilot agent pipeline.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  <p:transition spd="slow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DIGITAL TECHNOLOGY ADOPTION AND INNOVATION · ACC-ICT-4004-1.1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Skills Framework Alignment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13228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7017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70176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56232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K1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Relevant systems and software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13228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17017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170176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56232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K2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Organisation processes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307080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07080"/>
            <a:ext cx="82296" cy="13228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12464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12464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398520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K3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Systems transition process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307080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307080"/>
            <a:ext cx="82296" cy="13228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3712464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3712464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3398520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K4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Emerging technology trends including artificial intelligence and automation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849368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49368"/>
            <a:ext cx="82296" cy="13228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54752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54752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40808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A1–A4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Transition, opportunity evaluation and staff enablement abilities are practised across the 16 labs.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  <p:transition spd="slow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BEFORE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Briefing for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13228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7017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70176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56232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Individual work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No discussion or sharing during either paper.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13228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17017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170176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56232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Open book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Use the slides, Learner Guide and approved materials only.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307080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07080"/>
            <a:ext cx="82296" cy="13228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12464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12464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398520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Devices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Place phones and unrelated materials under the table.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307080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307080"/>
            <a:ext cx="82296" cy="13228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3712464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3712464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3398520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Evidence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Submit your own files, screenshots and explanation.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849368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49368"/>
            <a:ext cx="82296" cy="13228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54752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54752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40808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Integrity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No photos, recording or verbatim copying.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40780" y="4849368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40780" y="4849368"/>
            <a:ext cx="82296" cy="13228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78524" y="5254752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78524" y="5254752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73468" y="4940808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Support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Re-assessment and appeal arrangements are available.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  <p:transition spd="slow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FINAL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Assessment and Funding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56232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Written Assessment (WA/SAQ)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4 open-ended questions, 60 minutes, open book.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56232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Practical Performance (PP)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4 connected Microsoft 365 tasks, 60 minutes, open book.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69664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Outcome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Competent (C) or Not Yet Competent (NYC).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69664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 minimum of 75% attendance and a Competent assessment outcome are required.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  <p:transition spd="slow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ASSESSMENT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1911096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76272"/>
            <a:ext cx="1911096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85316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85316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547872"/>
            <a:ext cx="1655064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TRAQOM digital attendance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88336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62656" y="2176272"/>
            <a:ext cx="1911096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2656" y="2176272"/>
            <a:ext cx="1911096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70732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70732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90672" y="3547872"/>
            <a:ext cx="1655064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Assessment digital attendance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73752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48072" y="2176272"/>
            <a:ext cx="1911096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48072" y="2176272"/>
            <a:ext cx="1911096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56148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56148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76088" y="3547872"/>
            <a:ext cx="1655064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Sit WA then PP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59168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33488" y="2176272"/>
            <a:ext cx="1911096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33488" y="2176272"/>
            <a:ext cx="1911096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41564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41564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61504" y="3547872"/>
            <a:ext cx="1655064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Submit on the LMS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4584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18904" y="2176272"/>
            <a:ext cx="1911096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18904" y="2176272"/>
            <a:ext cx="1911096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126980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26980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46920" y="3547872"/>
            <a:ext cx="1655064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Sign Assessment Summary Record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  <p:transition spd="slow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ASSESSMENT READINESS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Practice Exam — Microsoft 365 Copilot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1 · Open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Go to the Tertiary Exams portal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3584448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Sign in with the assigned learner access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4261104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Search for the trainer-assigned practice set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9703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9703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18303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2 · Practise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1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Use Practice Mode before assessment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36591" y="3584448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Explain why each response is supported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1" y="4261104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Record topics that need revision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02166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02166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0766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3 · Review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49054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Revisit weak knowledge criteria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49054" y="3584448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Use the Learner Guide and lab 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49054" y="4261104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Ask the trainer about unresolved gaps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5852160"/>
            <a:ext cx="996696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  <a:hlinkClick r:id="rId2"/>
              </a:rPr>
              <a:t>https://exams.tertiaryinfotech.com/</a:t>
            </a:r>
          </a:p>
        </p:txBody>
      </p:sp>
    </p:spTree>
  </p:cSld>
  <p:clrMapOvr>
    <a:masterClrMapping/>
  </p:clrMapOvr>
  <p:transition spd="slow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COURSE REPOSITORY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Access the Hands-On Activities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Option A · Clone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Use Git to clone the repository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3584448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Open the numbered activity folder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4261104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Start with the Excel workbook in the folder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9703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9703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18303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Option B · Download ZIP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1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GitHub &gt; Code &gt; Download ZIP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36591" y="3584448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Extract the full activities tree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1" y="4261104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Keep output inside its activity folder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02166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02166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0766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Activity discipline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49054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Use the LG for detailed procedures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49054" y="3584448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Verify evidence before acceptance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49054" y="4261104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Retain screenshots without credentials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5852160"/>
            <a:ext cx="996696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  <a:hlinkClick r:id="rId2"/>
              </a:rPr>
              <a:t>https://github.com/tertiarycourses/TGS-2024043856-Enhance-Work-Productivity-with-Microsoft-365-Copilot</a:t>
            </a:r>
          </a:p>
        </p:txBody>
      </p:sp>
    </p:spTree>
  </p:cSld>
  <p:clrMapOvr>
    <a:masterClrMapping/>
  </p:clrMapOvr>
  <p:transition spd="slow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CLASSROOM ACCESS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Microsoft 365 Training Accounts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Training account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training1-tertiary@outlook.com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3584448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Password issued by trainer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4261104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Do not save in prompts or screenshots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9703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9703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18303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Training account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1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training2-tertiary@outlook.com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36591" y="3584448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Password issued by trainer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1" y="4261104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Sign out at the end of class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02166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02166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0766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Safe handling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49054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Use only the assigned account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49054" y="3584448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Do not change recovery settings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49054" y="4261104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Report access issues to the trainer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  <p:transition spd="slow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LMS / TMS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Download Course Material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1 · Sign 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Open the LMS/TMS portal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3584448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Use your learner account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4261104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Select this TGS course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9703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9703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18303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2 · Download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1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Open Courseware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36591" y="3584448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Download slides and Learner Guide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1" y="4261104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Save beside the activities folder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02166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02166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0766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3 · Verify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49054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Check course code and version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49054" y="3584448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Use the current release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49054" y="4261104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Ask the trainer if a file differs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5852160"/>
            <a:ext cx="996696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  <a:hlinkClick r:id="rId2"/>
              </a:rPr>
              <a:t>https://lms-tms.tertiaryinfotech.com/</a:t>
            </a:r>
          </a:p>
        </p:txBody>
      </p:sp>
    </p:spTree>
  </p:cSld>
  <p:clrMapOvr>
    <a:masterClrMapping/>
  </p:clrMapOvr>
  <p:transition spd="slow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1945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38544"/>
            <a:ext cx="12191695" cy="21945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2331720"/>
            <a:ext cx="12191695" cy="10515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4400" b="1">
                <a:solidFill>
                  <a:srgbClr val="161B26"/>
                </a:solidFill>
                <a:latin typeface="Arial"/>
              </a:rPr>
              <a:t>Tea Break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703320"/>
            <a:ext cx="12191695" cy="5029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F59E0B"/>
                </a:solidFill>
                <a:latin typeface="Arial"/>
              </a:rPr>
              <a:t>10 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  <p:transition spd="slow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2057400"/>
            <a:ext cx="118872" cy="2057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057400"/>
            <a:ext cx="88696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TOPIC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514600"/>
            <a:ext cx="9692640" cy="13258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Microsoft 365 Copilot Foundations, Word and PowerPoint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07008" y="3977639"/>
            <a:ext cx="9692640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Grounding · responsible use · prompt design · drafting · presentation storytelling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594360"/>
            <a:ext cx="2011680" cy="11430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6600" b="1">
                <a:solidFill>
                  <a:srgbClr val="E2E8F0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  <p:transition spd="slow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ALIGNMENT K1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Key Concepts — Microsoft 365 Copilot Foundations, Word and PowerPoint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13228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7017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70176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56232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Grounding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Copilot combines the prompt with permitted work or web context; access permissions still apply.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13228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17017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170176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56232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Prompt contract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State goal, context, source and expectations, then verify before using the result.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307080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07080"/>
            <a:ext cx="82296" cy="13228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12464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12464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398520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Human accountability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Copilot proposes; the user checks evidence, tone, sensitivity and final release.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307080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307080"/>
            <a:ext cx="82296" cy="13228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3712464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3712464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3398520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Cross-app story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Word shapes the narrative, Excel supplies evidence and PowerPoint communicates the decision.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849368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49368"/>
            <a:ext cx="82296" cy="13228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54752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54752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40808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Responsible AI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Fairness, reliability, privacy, inclusiveness, transparency and accountability guide use.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40780" y="4849368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40780" y="4849368"/>
            <a:ext cx="82296" cy="13228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78524" y="5254752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78524" y="5254752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73468" y="4940808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Transition risk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Licensing, data quality, permissions, adoption and over-trust need explicit controls.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  <p:transition spd="slow">
    <p:fade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K1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Microsoft 365 Copilot is a work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10" name="Oval 9"/>
          <p:cNvSpPr/>
          <p:nvPr/>
        </p:nvSpPr>
        <p:spPr>
          <a:xfrm>
            <a:off x="1033272" y="261518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Interface: Chat and app experiences accept natural-language goals.</a:t>
            </a:r>
          </a:p>
        </p:txBody>
      </p:sp>
      <p:sp>
        <p:nvSpPr>
          <p:cNvPr id="13" name="Oval 12"/>
          <p:cNvSpPr/>
          <p:nvPr/>
        </p:nvSpPr>
        <p:spPr>
          <a:xfrm>
            <a:off x="1033272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048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Model: Large language models generate and transform content.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CONTROL / DECISION</a:t>
            </a:r>
          </a:p>
        </p:txBody>
      </p:sp>
      <p:sp>
        <p:nvSpPr>
          <p:cNvPr id="19" name="Oval 18"/>
          <p:cNvSpPr/>
          <p:nvPr/>
        </p:nvSpPr>
        <p:spPr>
          <a:xfrm>
            <a:off x="6492240" y="2615184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86016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Graph: Permitted work context can ground responses.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6016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Apps: Word, PowerPoint, Excel, Teams and Outlook embed task-specific assistance.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  <p:transition spd="slow">
    <p:fade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K1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Work-grounded versus web-grounded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Uses organisational content the signed-in user can access.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9703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9703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18303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Web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1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Uses public web information and may require external verification.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2166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02166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6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File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49054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An attached file provides bounded task context.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  <p:transition spd="slow">
    <p:fade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K1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Permissions remain the boundary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5849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5849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Existing access — Copilot should respect the user's underlying permissions.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469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0901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0901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9026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9026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702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Oversharing — Poorly governed sites can expose too much context.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646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078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078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2203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2203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879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Least privilege — Remove unnecessary access before scaling Copilot.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9823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7255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5380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380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056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Review — Test representative roles and sensitive searches.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  <p:transition spd="slow">
    <p:fade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K1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Four-part prompting framework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56232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Goal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State the outcome or decision needed.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56232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Context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Explain audience, situation and constraints.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69664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Source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Name the files, meetings or data to use.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69664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Expectations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Specify format, tone, length and quality checks.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  <p:transition spd="slow">
    <p:fade/>
  </p:transition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K1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Prompting is an iterative control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10" name="Oval 9"/>
          <p:cNvSpPr/>
          <p:nvPr/>
        </p:nvSpPr>
        <p:spPr>
          <a:xfrm>
            <a:off x="1033272" y="261518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Draft: Start with a complete task contract.</a:t>
            </a:r>
          </a:p>
        </p:txBody>
      </p:sp>
      <p:sp>
        <p:nvSpPr>
          <p:cNvPr id="13" name="Oval 12"/>
          <p:cNvSpPr/>
          <p:nvPr/>
        </p:nvSpPr>
        <p:spPr>
          <a:xfrm>
            <a:off x="1033272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048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Inspect: Check facts, omissions and ambiguity.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CONTROL / DECISION</a:t>
            </a:r>
          </a:p>
        </p:txBody>
      </p:sp>
      <p:sp>
        <p:nvSpPr>
          <p:cNvPr id="19" name="Oval 18"/>
          <p:cNvSpPr/>
          <p:nvPr/>
        </p:nvSpPr>
        <p:spPr>
          <a:xfrm>
            <a:off x="6492240" y="2615184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86016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Refine: Add constraints or request alternatives.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6016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Verify: Compare with authoritative evidence before release.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  <p:transition spd="slow">
    <p:fade/>
  </p:transition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K1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Responsible AI in daily 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Fairness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Check whether wording or recommendations disadvantage groups.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9703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9703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18303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Reliability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1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Test important outputs and edge cases.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2166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02166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6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Privacy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49054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Use approved data, surfaces and retention rules.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  <p:transition spd="slow">
    <p:fade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K1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Common transition risks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5849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5849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Licensing — Capabilities differ by plan, tenant and rollout.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469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0901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0901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9026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9026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702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Data — Weak source quality produces fluent but unreliable outputs.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646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078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078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2203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2203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879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Process — Automating an unclear process accelerates confusion.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9823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7255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5380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380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056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Adoption — Users need role-based practice, support and feedback.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  <p:transition spd="slow">
    <p:fade/>
  </p:transition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K1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Word Copilot across the document lifecycle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56232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Draft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Create structured content from a prompt and sources.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56232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Transform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Rewrite, shorten, expand or change tone.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69664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Interrogate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Ask questions about the current document.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69664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Review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Use human fact, policy and audience checks.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  <p:transition spd="slow">
    <p:fade/>
  </p:transition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K1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PowerPoint Copilot across the story lifecycle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10" name="Oval 9"/>
          <p:cNvSpPr/>
          <p:nvPr/>
        </p:nvSpPr>
        <p:spPr>
          <a:xfrm>
            <a:off x="1033272" y="261518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Plan: Start from audience, decision and source evidence.</a:t>
            </a:r>
          </a:p>
        </p:txBody>
      </p:sp>
      <p:sp>
        <p:nvSpPr>
          <p:cNvPr id="13" name="Oval 12"/>
          <p:cNvSpPr/>
          <p:nvPr/>
        </p:nvSpPr>
        <p:spPr>
          <a:xfrm>
            <a:off x="1033272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048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Create: Generate an outline or deck from a document.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CONTROL / DECISION</a:t>
            </a:r>
          </a:p>
        </p:txBody>
      </p:sp>
      <p:sp>
        <p:nvSpPr>
          <p:cNvPr id="19" name="Oval 18"/>
          <p:cNvSpPr/>
          <p:nvPr/>
        </p:nvSpPr>
        <p:spPr>
          <a:xfrm>
            <a:off x="6492240" y="2615184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86016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Refine: Reorganise, rewrite and improve visual hierarchy.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6016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Prepare: Draft notes and anticipate audience questions.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  <p:transition spd="slow">
    <p:fade/>
  </p:transition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K1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 presentation is an evidence story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Why the issue matters now.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9703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9703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18303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Insight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1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What the evidence reveals.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2166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02166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6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Choice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49054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What options or trade-offs exist.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  <p:transition spd="slow">
    <p:fade/>
  </p:transition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K1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Native charts preserve trust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5849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5849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Editable — Data and labels can be checked and updated.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469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0901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0901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9026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9026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702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Traceable — Values link to an embedded chart data table.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646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078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078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2203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2203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879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Accessible — Titles, labels and alt text improve interpretation.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9823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7255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5380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380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056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Honest — Avoid 3D distortion, false precision and missing units.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  <p:transition spd="slow">
    <p:fade/>
  </p:transition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K1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Human review before release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56232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Facts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Verify numbers, names, dates and citations.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56232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Tone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Match audience and organisational voice.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69664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Sensitivity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Check confidential content and metadata.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69664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Decision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named owner approves the final document or deck.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  <p:transition spd="slow">
    <p:fade/>
  </p:transition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01 · NATIVE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Adoption readiness is uneven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874519"/>
          <a:ext cx="7452360" cy="4069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503920" y="1874519"/>
            <a:ext cx="2926080" cy="40690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96528" y="2221992"/>
            <a:ext cx="2331720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DECISION LENS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96528" y="2788920"/>
            <a:ext cx="2331720" cy="14630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Clustered bars expose the control gap before rollout.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96528" y="4572000"/>
            <a:ext cx="2331720" cy="8229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Native PowerPoint chart · editable data · verify source and units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  <p:transition spd="slow">
    <p:fade/>
  </p:transition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01 · NATIVE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Evidence improves after a prompt-review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874519"/>
          <a:ext cx="7452360" cy="4069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503920" y="1874519"/>
            <a:ext cx="2926080" cy="40690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96528" y="2221992"/>
            <a:ext cx="2331720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DECISION LENS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96528" y="2788920"/>
            <a:ext cx="2331720" cy="14630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Verified claims rise as unsupported statements are corrected.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96528" y="4572000"/>
            <a:ext cx="2331720" cy="8229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Native PowerPoint chart · editable data · verify source and units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  <p:transition spd="slow">
    <p:fade/>
  </p:transition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01 · FOUNDATION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Set Up Microsoft 365 Copilot and Prompt Safely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1417320" cy="4572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55648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LAB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14016"/>
            <a:ext cx="10652760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Establish the licensed work surface, distinguish work from web grounding and record safe-use controls.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22191"/>
            <a:ext cx="10652760" cy="1874519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041648"/>
            <a:ext cx="18288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EXPECTED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416552"/>
            <a:ext cx="9921240" cy="6035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Completed setup, grounding and prompt-review register in Excel.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5166360"/>
            <a:ext cx="992124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TOOLS  </a:t>
            </a:r>
            <a:r>
              <a:rPr sz="1200" b="0">
                <a:solidFill>
                  <a:srgbClr val="5B6372"/>
                </a:solidFill>
                <a:latin typeface="Arial"/>
              </a:rPr>
              <a:t>Microsoft 365 Copilot Chat + Excel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  <p:transition spd="slow">
    <p:fade/>
  </p:transition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01 · ACCEPTANCE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Set Up Microsoft 365 Copilot and Prompt Safely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52760" cy="2514600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996696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ACCEPTANCE CHECK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63240"/>
            <a:ext cx="9829800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register identifies the active Copilot surface, grounding source, three evidence-backed gaps and a verification status for every claim.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  <p:transition spd="slow">
    <p:fade/>
  </p:transition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01 · FOUNDATION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Draft a Project Brief in Word from Excel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1417320" cy="4572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55648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LAB 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14016"/>
            <a:ext cx="10652760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Turn a structured campaign register into a concise Word project brief without inventing scope or dates.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22191"/>
            <a:ext cx="10652760" cy="1874519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041648"/>
            <a:ext cx="18288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EXPECTED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416552"/>
            <a:ext cx="9921240" cy="6035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Two-page launch brief with cited objectives, milestones, risks and open questions.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5166360"/>
            <a:ext cx="992124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TOOLS  </a:t>
            </a:r>
            <a:r>
              <a:rPr sz="1200" b="0">
                <a:solidFill>
                  <a:srgbClr val="5B6372"/>
                </a:solidFill>
                <a:latin typeface="Arial"/>
              </a:rPr>
              <a:t>Word + Excel + Copilot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  <p:transition spd="slow">
    <p:fade/>
  </p:transition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02 · ACCEPTANCE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Draft a Project Brief in Word from Excel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52760" cy="2514600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996696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ACCEPTANCE CHECK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63240"/>
            <a:ext cx="9829800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brief matches the workbook, contains no invented facts and retains [TO CONFIRM] markers for missing evidence.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  <p:transition spd="slow">
    <p:fade/>
  </p:transition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01 · INTERMEDIATE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Refine a Responsible Copilot Use Policy in Word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1417320" cy="4572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55648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LAB 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14016"/>
            <a:ext cx="10652760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Use Word Copilot to consolidate review feedback while retaining governance controls and an audit trail.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22191"/>
            <a:ext cx="10652760" cy="1874519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041648"/>
            <a:ext cx="18288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EXPECTED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416552"/>
            <a:ext cx="9921240" cy="6035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Approved policy draft, issue log and staff quick-reference checklist.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5166360"/>
            <a:ext cx="992124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TOOLS  </a:t>
            </a:r>
            <a:r>
              <a:rPr sz="1200" b="0">
                <a:solidFill>
                  <a:srgbClr val="5B6372"/>
                </a:solidFill>
                <a:latin typeface="Arial"/>
              </a:rPr>
              <a:t>Word + Excel + Copilot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  <p:transition spd="slow">
    <p:fade/>
  </p:transition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03 · ACCEPTANCE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Refine a Responsible Copilot Use Policy in Word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52760" cy="2514600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996696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ACCEPTANCE CHECK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63240"/>
            <a:ext cx="9829800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Every change traces to an Approved review row, all mandatory controls remain, and the policy includes a usable staff checklist.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  <p:transition spd="slow">
    <p:fade/>
  </p:transition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01 · INTERMEDIATE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Build a PowerPoint Story from Word and Excel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1417320" cy="4572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55648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LAB 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14016"/>
            <a:ext cx="10652760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Convert the approved brief and performance data into a decision-led presentation structure.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22191"/>
            <a:ext cx="10652760" cy="1874519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041648"/>
            <a:ext cx="18288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EXPECTED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416552"/>
            <a:ext cx="9921240" cy="6035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Eight-slide leadership deck with one message per slide and a documented evidence map.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5166360"/>
            <a:ext cx="992124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TOOLS  </a:t>
            </a:r>
            <a:r>
              <a:rPr sz="1200" b="0">
                <a:solidFill>
                  <a:srgbClr val="5B6372"/>
                </a:solidFill>
                <a:latin typeface="Arial"/>
              </a:rPr>
              <a:t>PowerPoint + Word + Excel + Copilot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  <p:transition spd="slow">
    <p:fade/>
  </p:transition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04 · ACCEPTANCE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Build a PowerPoint Story from Word and Excel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52760" cy="2514600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996696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ACCEPTANCE CHECK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63240"/>
            <a:ext cx="9829800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deck contains eight coherent slides, all quantitative claims trace to the workbook and the final slide asks for a specific decision.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  <p:transition spd="slow">
    <p:fade/>
  </p:transition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01 · INTERMEDIATE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Enhance PowerPoint with Native Charts and Speaker Notes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1417320" cy="4572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55648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LAB 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14016"/>
            <a:ext cx="10652760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Use native PowerPoint charts to strengthen a leadership narrative and prepare a concise delivery.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22191"/>
            <a:ext cx="10652760" cy="1874519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041648"/>
            <a:ext cx="18288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EXPECTED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416552"/>
            <a:ext cx="9921240" cy="6035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Polished deck with native trend, contribution and variance charts plus verified speaker notes.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5166360"/>
            <a:ext cx="992124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TOOLS  </a:t>
            </a:r>
            <a:r>
              <a:rPr sz="1200" b="0">
                <a:solidFill>
                  <a:srgbClr val="5B6372"/>
                </a:solidFill>
                <a:latin typeface="Arial"/>
              </a:rPr>
              <a:t>PowerPoint + Excel + Copilot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  <p:transition spd="slow">
    <p:fade/>
  </p:transition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05 · ACCEPTANCE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Enhance PowerPoint with Native Charts and Speaker Notes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52760" cy="2514600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996696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ACCEPTANCE CHECK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63240"/>
            <a:ext cx="9829800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PPTX contains three editable native charts, sample values reconcile, and each chart communicates a decision-relevant takeaway.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  <p:transition spd="slow">
    <p:fade/>
  </p:transition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Recap — Microsoft 365 Copilot Foundations, Word and PowerPoint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56232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Knowledge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Grounding and related principles.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56232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Ability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K1 · A1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69664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Evidence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checked Excel control workbook plus the app-specific artifact.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69664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Next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Carry the evidence and controls into the next workflow stage.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  <p:transition spd="slow">
    <p:fade/>
  </p:transition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2057400"/>
            <a:ext cx="118872" cy="2057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057400"/>
            <a:ext cx="88696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TOPIC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514600"/>
            <a:ext cx="9692640" cy="13258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Copilot for Excel: From Questions to Deep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07008" y="3977639"/>
            <a:ext cx="9692640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Tables · formulas · diagnostics · scenario analysis · forecasting · Analyst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594360"/>
            <a:ext cx="2011680" cy="11430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6600" b="1">
                <a:solidFill>
                  <a:srgbClr val="E2E8F0"/>
                </a:solidFill>
                <a:latin typeface="Arial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  <p:transition spd="slow">
    <p:fade/>
  </p:transition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ALIGNMENT K3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Key Concepts — Copilot for Excel: From Questions to Deep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13228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7017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70176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56232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Analysis-ready data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One header row, one record per row, stable types and an Excel Table.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13228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17017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170176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56232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Progressive analysis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Start descriptive, then diagnostic, predictive and prescriptive.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307080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07080"/>
            <a:ext cx="82296" cy="13228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12464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12464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398520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Formula audit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Accept suggested formulas only after checking logic, references and edge cases.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307080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307080"/>
            <a:ext cx="82296" cy="13228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3712464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3712464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3398520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Evidence chain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Question, method, result, caveat and action should be traceable in the workbook.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849368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49368"/>
            <a:ext cx="82296" cy="13228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54752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54752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40808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Scenario thinking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Separate assumptions from formulas and compare base, downside and upside cases.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40780" y="4849368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40780" y="4849368"/>
            <a:ext cx="82296" cy="13228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78524" y="5254752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78524" y="5254752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73468" y="4940808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Deep analysis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Use Analyst or advanced Copilot features to explore multiple files, patterns and forecasts when licensed.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  <p:transition spd="slow">
    <p:fade/>
  </p:transition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02 · K3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Excel Copilot needs structured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10" name="Oval 9"/>
          <p:cNvSpPr/>
          <p:nvPr/>
        </p:nvSpPr>
        <p:spPr>
          <a:xfrm>
            <a:off x="1033272" y="261518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Table: Use an Excel Table with unique headers.</a:t>
            </a:r>
          </a:p>
        </p:txBody>
      </p:sp>
      <p:sp>
        <p:nvSpPr>
          <p:cNvPr id="13" name="Oval 12"/>
          <p:cNvSpPr/>
          <p:nvPr/>
        </p:nvSpPr>
        <p:spPr>
          <a:xfrm>
            <a:off x="1033272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048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Types: Dates, numbers and text must be consistent.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CONTROL / DECISION</a:t>
            </a:r>
          </a:p>
        </p:txBody>
      </p:sp>
      <p:sp>
        <p:nvSpPr>
          <p:cNvPr id="19" name="Oval 18"/>
          <p:cNvSpPr/>
          <p:nvPr/>
        </p:nvSpPr>
        <p:spPr>
          <a:xfrm>
            <a:off x="6492240" y="2615184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86016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Grain: One row represents one defined observation.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6016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Controls: Retain row counts, totals and exception checks.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  <p:transition spd="slow">
    <p:fade/>
  </p:transition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02 · K3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Question ladder for deep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Descriptive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What happened and how much?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9703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9703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18303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Diagnostic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1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Where and why did it differ?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2166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02166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6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Predictive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49054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What may happen under stated assumptions?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  <p:transition spd="slow">
    <p:fade/>
  </p:transition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02 · K3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Formula generation is a proposal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5849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5849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Explain — Ask why the formula matches the business rule.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469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0901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0901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9026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9026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702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Inspect — Check references, ranges and assumptions.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646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078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078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2203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2203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879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Test — Use boundary, blank, zero and error cases.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9823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7255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5380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380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056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Control — Compare results with an independent total.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  <p:transition spd="slow">
    <p:fade/>
  </p:transition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02 · K3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Segment before explaining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56232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Time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Month, week, campaign phase.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56232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Place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Market, region or channel.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69664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Product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Category, item or offer.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69664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Audience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Customer or employee segment.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  <p:transition spd="slow">
    <p:fade/>
  </p:transition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02 · K3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Anomaly is a starting point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10" name="Oval 9"/>
          <p:cNvSpPr/>
          <p:nvPr/>
        </p:nvSpPr>
        <p:spPr>
          <a:xfrm>
            <a:off x="1033272" y="261518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Validity: Could it be a data or type error?</a:t>
            </a:r>
          </a:p>
        </p:txBody>
      </p:sp>
      <p:sp>
        <p:nvSpPr>
          <p:cNvPr id="13" name="Oval 12"/>
          <p:cNvSpPr/>
          <p:nvPr/>
        </p:nvSpPr>
        <p:spPr>
          <a:xfrm>
            <a:off x="1033272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048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Context: Is there a known event or policy change?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CONTROL / DECISION</a:t>
            </a:r>
          </a:p>
        </p:txBody>
      </p:sp>
      <p:sp>
        <p:nvSpPr>
          <p:cNvPr id="19" name="Oval 18"/>
          <p:cNvSpPr/>
          <p:nvPr/>
        </p:nvSpPr>
        <p:spPr>
          <a:xfrm>
            <a:off x="6492240" y="2615184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86016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Comparison: Does it persist across segments or periods?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6016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Action: Assign verification rather than deleting automatically.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  <p:transition spd="slow">
    <p:fade/>
  </p:transition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02 · K3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Correlation is not causation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Association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Variables move together in the observed data.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9703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9703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18303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Confounding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1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A third factor may drive both.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2166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02166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6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Direction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49054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The relationship may run the other way.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  <p:transition spd="slow">
    <p:fade/>
  </p:transition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02 · K3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Forecasts are conditional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5849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5849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History — Patterns assume some continuity.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469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0901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0901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9026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9026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702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Method — State how trend and seasonality are handled.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646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078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078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2203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2203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879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Range — Show uncertainty, not only a point estimate.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9823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7255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5380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380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056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Monitor — Compare actuals and update assumptions.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  <p:transition spd="slow">
    <p:fade/>
  </p:transition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02 · K3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Scenario design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56232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Base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Most likely assumptions with named sources.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56232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Downside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Plausible adverse combination.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69664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Upside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Plausible favourable combination.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69664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Trigger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Define what evidence moves the plan between cases.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  <p:transition spd="slow">
    <p:fade/>
  </p:transition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02 · K3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Sensitivity reveals decision boundaries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10" name="Oval 9"/>
          <p:cNvSpPr/>
          <p:nvPr/>
        </p:nvSpPr>
        <p:spPr>
          <a:xfrm>
            <a:off x="1033272" y="261518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Driver: Choose controllable or uncertain inputs.</a:t>
            </a:r>
          </a:p>
        </p:txBody>
      </p:sp>
      <p:sp>
        <p:nvSpPr>
          <p:cNvPr id="13" name="Oval 12"/>
          <p:cNvSpPr/>
          <p:nvPr/>
        </p:nvSpPr>
        <p:spPr>
          <a:xfrm>
            <a:off x="1033272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048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Range: Test realistic values, not decorative extremes.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CONTROL / DECISION</a:t>
            </a:r>
          </a:p>
        </p:txBody>
      </p:sp>
      <p:sp>
        <p:nvSpPr>
          <p:cNvPr id="19" name="Oval 18"/>
          <p:cNvSpPr/>
          <p:nvPr/>
        </p:nvSpPr>
        <p:spPr>
          <a:xfrm>
            <a:off x="6492240" y="2615184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86016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Output: Use the decision metric that matters.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6016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Boundary: Find where capacity, margin or service fails.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  <p:transition spd="slow">
    <p:fade/>
  </p:transition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02 · K3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Analyst agent extends exploration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Multiple files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Explore related data across available sources.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9703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9703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18303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Reasoning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1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Break a broad question into analytical steps.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2166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02166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6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Artifacts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49054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Produce tables, charts or analysis outputs.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  <p:transition spd="slow">
    <p:fade/>
  </p:transition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02 · K3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Chart selection by question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5849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5849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Trend — Line across ordered time.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469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0901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0901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9026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9026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702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Comparison — Bar or column across categories.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646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078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078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2203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2203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879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Contribution — Sorted bar or waterfall for drivers.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9823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7255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5380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380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056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Relationship — Scatter for two numeric variables.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  <p:transition spd="slow">
    <p:fade/>
  </p:transition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02 · K3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Evidence-ready Excel output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56232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Source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Retain original data and extraction context.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56232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Method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Keep formulas, pivots and assumptions visible.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69664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Finding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Link every claim to a table or chart.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69664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Caveat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State missing data, bias and uncertainty.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  <p:transition spd="slow">
    <p:fade/>
  </p:transition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02 · NATIVE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Revenue grows, but capacity tightens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874519"/>
          <a:ext cx="7452360" cy="4069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503920" y="1874519"/>
            <a:ext cx="2926080" cy="40690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96528" y="2221992"/>
            <a:ext cx="2331720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DECISION LENS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96528" y="2788920"/>
            <a:ext cx="2331720" cy="14630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native line chart connects forecast value with an operational constraint.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96528" y="4572000"/>
            <a:ext cx="2331720" cy="8229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Native PowerPoint chart · editable data · verify source and units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60</a:t>
            </a:r>
          </a:p>
        </p:txBody>
      </p:sp>
    </p:spTree>
  </p:cSld>
  <p:clrMapOvr>
    <a:masterClrMapping/>
  </p:clrMapOvr>
  <p:transition spd="slow">
    <p:fade/>
  </p:transition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02 · NATIVE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Three channels drive most contribution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874519"/>
          <a:ext cx="7452360" cy="4069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503920" y="1874519"/>
            <a:ext cx="2926080" cy="40690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96528" y="2221992"/>
            <a:ext cx="2331720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DECISION LENS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96528" y="2788920"/>
            <a:ext cx="2331720" cy="14630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sorted column chart focuses diagnostic attention.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96528" y="4572000"/>
            <a:ext cx="2331720" cy="8229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Native PowerPoint chart · editable data · verify source and units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61</a:t>
            </a:r>
          </a:p>
        </p:txBody>
      </p:sp>
    </p:spTree>
  </p:cSld>
  <p:clrMapOvr>
    <a:masterClrMapping/>
  </p:clrMapOvr>
  <p:transition spd="slow">
    <p:fade/>
  </p:transition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02 · FOUNDATION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Build and Audit Excel Formulas with Copilot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1417320" cy="4572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55648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LAB 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14016"/>
            <a:ext cx="10652760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Use Copilot to propose calculated columns while retaining formula transparency and controls.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22191"/>
            <a:ext cx="10652760" cy="1874519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041648"/>
            <a:ext cx="18288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EXPECTED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416552"/>
            <a:ext cx="9921240" cy="6035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Formula-driven campaign table with revenue, margin, conversion, status and error controls.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5166360"/>
            <a:ext cx="992124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TOOLS  </a:t>
            </a:r>
            <a:r>
              <a:rPr sz="1200" b="0">
                <a:solidFill>
                  <a:srgbClr val="5B6372"/>
                </a:solidFill>
                <a:latin typeface="Arial"/>
              </a:rPr>
              <a:t>Excel + Copilot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62</a:t>
            </a:r>
          </a:p>
        </p:txBody>
      </p:sp>
    </p:spTree>
  </p:cSld>
  <p:clrMapOvr>
    <a:masterClrMapping/>
  </p:clrMapOvr>
  <p:transition spd="slow">
    <p:fade/>
  </p:transition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06 · ACCEPTANCE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Build and Audit Excel Formulas with Copilot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52760" cy="2514600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996696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ACCEPTANCE CHECK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63240"/>
            <a:ext cx="9829800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All derived columns use auditable formulas, zero denominators are handled intentionally and the Controls sheet contains no unexplained errors.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  <p:transition spd="slow">
    <p:fade/>
  </p:transition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02 · INTERMEDIATE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Run Deep Descriptive and Diagnostic Analysis in Excel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1417320" cy="4572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55648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LAB 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14016"/>
            <a:ext cx="10652760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Move from summary statistics to segmented drivers, anomalies and evidence-backed explanations.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22191"/>
            <a:ext cx="10652760" cy="1874519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041648"/>
            <a:ext cx="18288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EXPECTED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416552"/>
            <a:ext cx="9921240" cy="6035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Diagnostic workbook with KPI summary, segment analysis, anomaly log and management findings.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5166360"/>
            <a:ext cx="992124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TOOLS  </a:t>
            </a:r>
            <a:r>
              <a:rPr sz="1200" b="0">
                <a:solidFill>
                  <a:srgbClr val="5B6372"/>
                </a:solidFill>
                <a:latin typeface="Arial"/>
              </a:rPr>
              <a:t>Excel + Copilot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64</a:t>
            </a:r>
          </a:p>
        </p:txBody>
      </p:sp>
    </p:spTree>
  </p:cSld>
  <p:clrMapOvr>
    <a:masterClrMapping/>
  </p:clrMapOvr>
  <p:transition spd="slow">
    <p:fade/>
  </p:transition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07 · ACCEPTANCE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Run Deep Descriptive and Diagnostic Analysis in Excel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52760" cy="2514600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996696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ACCEPTANCE CHECK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63240"/>
            <a:ext cx="9829800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workbook separates facts from hypotheses, reconciles totals, documents anomalies and presents three defensible findings with caveats.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65</a:t>
            </a:r>
          </a:p>
        </p:txBody>
      </p:sp>
    </p:spTree>
  </p:cSld>
  <p:clrMapOvr>
    <a:masterClrMapping/>
  </p:clrMapOvr>
  <p:transition spd="slow">
    <p:fade/>
  </p:transition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02 · ADVANCED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Forecast and Stress-Test a Campaign with Copilot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1417320" cy="4572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55648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LAB 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14016"/>
            <a:ext cx="10652760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Use forecasting, scenarios and sensitivity analysis to evaluate a transition plan under uncertainty.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22191"/>
            <a:ext cx="10652760" cy="1874519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041648"/>
            <a:ext cx="18288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EXPECTED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416552"/>
            <a:ext cx="9921240" cy="6035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Forecast model with base, downside and upside scenarios, sensitivity table and decision guardrails.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5166360"/>
            <a:ext cx="992124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TOOLS  </a:t>
            </a:r>
            <a:r>
              <a:rPr sz="1200" b="0">
                <a:solidFill>
                  <a:srgbClr val="5B6372"/>
                </a:solidFill>
                <a:latin typeface="Arial"/>
              </a:rPr>
              <a:t>Excel + Analyst agent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66</a:t>
            </a:r>
          </a:p>
        </p:txBody>
      </p:sp>
    </p:spTree>
  </p:cSld>
  <p:clrMapOvr>
    <a:masterClrMapping/>
  </p:clrMapOvr>
  <p:transition spd="slow">
    <p:fade/>
  </p:transition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08 · ACCEPTANCE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Forecast and Stress-Test a Campaign with Copilot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52760" cy="2514600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996696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ACCEPTANCE CHECK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63240"/>
            <a:ext cx="9829800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All scenarios are formula-driven, forecast uncertainty is explicit and the recommended action is linked to a measurable trigger.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67</a:t>
            </a:r>
          </a:p>
        </p:txBody>
      </p:sp>
    </p:spTree>
  </p:cSld>
  <p:clrMapOvr>
    <a:masterClrMapping/>
  </p:clrMapOvr>
  <p:transition spd="slow">
    <p:fade/>
  </p:transition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Recap — Copilot for Excel: From Questions to Deep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56232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Knowledge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Analysis-ready data and related principles.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56232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Ability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K3 · A2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69664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Evidence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checked Excel control workbook plus the app-specific artifact.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69664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Next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Carry the evidence and controls into the next workflow stage.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68</a:t>
            </a:r>
          </a:p>
        </p:txBody>
      </p:sp>
    </p:spTree>
  </p:cSld>
  <p:clrMapOvr>
    <a:masterClrMapping/>
  </p:clrMapOvr>
  <p:transition spd="slow">
    <p:fade/>
  </p:transition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1945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38544"/>
            <a:ext cx="12191695" cy="21945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2331720"/>
            <a:ext cx="12191695" cy="10515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4400" b="1">
                <a:solidFill>
                  <a:srgbClr val="161B26"/>
                </a:solidFill>
                <a:latin typeface="Arial"/>
              </a:rPr>
              <a:t>End of Day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703320"/>
            <a:ext cx="12191695" cy="5029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Save your work · Sign out of shared accounts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69</a:t>
            </a:r>
          </a:p>
        </p:txBody>
      </p:sp>
    </p:spTree>
  </p:cSld>
  <p:clrMapOvr>
    <a:masterClrMapping/>
  </p:clrMapOvr>
  <p:transition spd="slow">
    <p:fade/>
  </p:transition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2057400"/>
            <a:ext cx="118872" cy="2057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057400"/>
            <a:ext cx="88696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TOPIC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514600"/>
            <a:ext cx="9692640" cy="13258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Copilot for Outlook, Teams and Loop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07008" y="3977639"/>
            <a:ext cx="9692640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Inbox triage · thread summaries · meeting intelligence · shared plans · human-send controls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594360"/>
            <a:ext cx="2011680" cy="11430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6600" b="1">
                <a:solidFill>
                  <a:srgbClr val="E2E8F0"/>
                </a:solidFill>
                <a:latin typeface="Arial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70</a:t>
            </a:r>
          </a:p>
        </p:txBody>
      </p:sp>
    </p:spTree>
  </p:cSld>
  <p:clrMapOvr>
    <a:masterClrMapping/>
  </p:clrMapOvr>
  <p:transition spd="slow">
    <p:fade/>
  </p:transition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ALIGNMENT K2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Key Concepts — Copilot for Outlook, Teams and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13228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7017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70176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56232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Communication workflow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Triage, understand, draft, coach, approve and send.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13228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17017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170176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56232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Meeting lifecycle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Prepare, facilitate, capture, assign and follow through.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307080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07080"/>
            <a:ext cx="82296" cy="13228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12464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12464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398520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Work context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Ground summaries and actions in authorised files, chats, meetings and email.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307080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307080"/>
            <a:ext cx="82296" cy="13228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3712464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3712464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3398520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Human-send gate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Copilot drafts messages; a responsible person verifies recipients, facts and attachments before sending.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849368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49368"/>
            <a:ext cx="82296" cy="13228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54752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54752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40808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Loop as living plan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Components keep tasks, decisions and status synchronised across apps.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40780" y="4849368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40780" y="4849368"/>
            <a:ext cx="82296" cy="13228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78524" y="5254752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78524" y="5254752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73468" y="4940808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Opportunity evaluation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Adopt only when value, risk, readiness, owner and success measure are explicit.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71</a:t>
            </a:r>
          </a:p>
        </p:txBody>
      </p:sp>
    </p:spTree>
  </p:cSld>
  <p:clrMapOvr>
    <a:masterClrMapping/>
  </p:clrMapOvr>
  <p:transition spd="slow">
    <p:fade/>
  </p:transition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03 · K2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inbox is a decision queue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10" name="Oval 9"/>
          <p:cNvSpPr/>
          <p:nvPr/>
        </p:nvSpPr>
        <p:spPr>
          <a:xfrm>
            <a:off x="1033272" y="261518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Triage: Prioritise by risk, urgency, dependency and value.</a:t>
            </a:r>
          </a:p>
        </p:txBody>
      </p:sp>
      <p:sp>
        <p:nvSpPr>
          <p:cNvPr id="13" name="Oval 12"/>
          <p:cNvSpPr/>
          <p:nvPr/>
        </p:nvSpPr>
        <p:spPr>
          <a:xfrm>
            <a:off x="1033272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048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Understand: Summarise thread, attachments and open questions.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CONTROL / DECISION</a:t>
            </a:r>
          </a:p>
        </p:txBody>
      </p:sp>
      <p:sp>
        <p:nvSpPr>
          <p:cNvPr id="19" name="Oval 18"/>
          <p:cNvSpPr/>
          <p:nvPr/>
        </p:nvSpPr>
        <p:spPr>
          <a:xfrm>
            <a:off x="6492240" y="2615184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86016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Respond: Draft a proportional, evidence-based reply.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6016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Track: Record owner, commitment and follow-up.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72</a:t>
            </a:r>
          </a:p>
        </p:txBody>
      </p:sp>
    </p:spTree>
  </p:cSld>
  <p:clrMapOvr>
    <a:masterClrMapping/>
  </p:clrMapOvr>
  <p:transition spd="slow">
    <p:fade/>
  </p:transition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03 · K2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 reliable email summary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Issue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What is being asked or reported?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9703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9703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18303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History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1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What decisions or actions already occurred?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2166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02166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6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Open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49054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What remains unanswered or disputed?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73</a:t>
            </a:r>
          </a:p>
        </p:txBody>
      </p:sp>
    </p:spTree>
  </p:cSld>
  <p:clrMapOvr>
    <a:masterClrMapping/>
  </p:clrMapOvr>
  <p:transition spd="slow">
    <p:fade/>
  </p:transition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03 · K2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Draft Instructions shape Outlook output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5849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5849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Audience — Relationship, role and expected knowledge.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469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0901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0901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9026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9026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702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Tone — Direct, diplomatic, reassuring or formal.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646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078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078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2203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2203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879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Structure — Opening, answer, actions and close.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9823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7255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5380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380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056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Constraints — Length, prohibited commitments and approval needs.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74</a:t>
            </a:r>
          </a:p>
        </p:txBody>
      </p:sp>
    </p:spTree>
  </p:cSld>
  <p:clrMapOvr>
    <a:masterClrMapping/>
  </p:clrMapOvr>
  <p:transition spd="slow">
    <p:fade/>
  </p:transition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03 · K2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Human-send 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56232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Recipients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Check To, Cc and unintended exposure.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56232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Facts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Verify dates, commitments and attachment names.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69664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Policy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Check confidentiality and authorisation.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69664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Approval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responsible person chooses Send.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75</a:t>
            </a:r>
          </a:p>
        </p:txBody>
      </p:sp>
    </p:spTree>
  </p:cSld>
  <p:clrMapOvr>
    <a:masterClrMapping/>
  </p:clrMapOvr>
  <p:transition spd="slow">
    <p:fade/>
  </p:transition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03 · K2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Meeting preparation with Copilot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10" name="Oval 9"/>
          <p:cNvSpPr/>
          <p:nvPr/>
        </p:nvSpPr>
        <p:spPr>
          <a:xfrm>
            <a:off x="1033272" y="261518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Outcome: Define the decision or alignment required.</a:t>
            </a:r>
          </a:p>
        </p:txBody>
      </p:sp>
      <p:sp>
        <p:nvSpPr>
          <p:cNvPr id="13" name="Oval 12"/>
          <p:cNvSpPr/>
          <p:nvPr/>
        </p:nvSpPr>
        <p:spPr>
          <a:xfrm>
            <a:off x="1033272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048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Pre-read: Bring evidence before discussion.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CONTROL / DECISION</a:t>
            </a:r>
          </a:p>
        </p:txBody>
      </p:sp>
      <p:sp>
        <p:nvSpPr>
          <p:cNvPr id="19" name="Oval 18"/>
          <p:cNvSpPr/>
          <p:nvPr/>
        </p:nvSpPr>
        <p:spPr>
          <a:xfrm>
            <a:off x="6492240" y="2615184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86016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Agenda: Allocate time to the hardest decisions.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6016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Questions: Frame options, criteria and trade-offs.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76</a:t>
            </a:r>
          </a:p>
        </p:txBody>
      </p:sp>
    </p:spTree>
  </p:cSld>
  <p:clrMapOvr>
    <a:masterClrMapping/>
  </p:clrMapOvr>
  <p:transition spd="slow">
    <p:fade/>
  </p:transition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03 · K2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Facilitator and recap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During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Support agenda, time and shared notes when enabled.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9703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9703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18303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After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1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Summarise decisions, actions and unresolved points.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2166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02166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6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Audio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49054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Catch up where the licensed experience supports it.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77</a:t>
            </a:r>
          </a:p>
        </p:txBody>
      </p:sp>
    </p:spTree>
  </p:cSld>
  <p:clrMapOvr>
    <a:masterClrMapping/>
  </p:clrMapOvr>
  <p:transition spd="slow">
    <p:fade/>
  </p:transition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03 · K2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Action quality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5849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5849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Specific — One clear deliverable.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469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0901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0901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9026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9026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702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Owner — One accountable person.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646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078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078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2203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2203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879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Due — A real date or trigger.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9823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7255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5380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380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056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Evidence — Definition of done and status source.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78</a:t>
            </a:r>
          </a:p>
        </p:txBody>
      </p:sp>
    </p:spTree>
  </p:cSld>
  <p:clrMapOvr>
    <a:masterClrMapping/>
  </p:clrMapOvr>
  <p:transition spd="slow">
    <p:fade/>
  </p:transition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03 · K2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Loop components are portable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56232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Page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Provides context and structure.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56232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Table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Tracks repeated records and fields.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69664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Task list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Makes owner and status explicit.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69664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Share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The same component can appear across supported apps.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79</a:t>
            </a:r>
          </a:p>
        </p:txBody>
      </p:sp>
    </p:spTree>
  </p:cSld>
  <p:clrMapOvr>
    <a:masterClrMapping/>
  </p:clrMapOvr>
  <p:transition spd="slow">
    <p:fade/>
  </p:transition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03 · K2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 living implementation 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10" name="Oval 9"/>
          <p:cNvSpPr/>
          <p:nvPr/>
        </p:nvSpPr>
        <p:spPr>
          <a:xfrm>
            <a:off x="1033272" y="261518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Backlog: Workstreams and milestones.</a:t>
            </a:r>
          </a:p>
        </p:txBody>
      </p:sp>
      <p:sp>
        <p:nvSpPr>
          <p:cNvPr id="13" name="Oval 12"/>
          <p:cNvSpPr/>
          <p:nvPr/>
        </p:nvSpPr>
        <p:spPr>
          <a:xfrm>
            <a:off x="1033272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048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Decisions: Approved choices and rationale.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CONTROL / DECISION</a:t>
            </a:r>
          </a:p>
        </p:txBody>
      </p:sp>
      <p:sp>
        <p:nvSpPr>
          <p:cNvPr id="19" name="Oval 18"/>
          <p:cNvSpPr/>
          <p:nvPr/>
        </p:nvSpPr>
        <p:spPr>
          <a:xfrm>
            <a:off x="6492240" y="2615184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86016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Risks: Triggers, controls and owners.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6016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Measures: Adoption, quality, time saved and exception rate.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80</a:t>
            </a:r>
          </a:p>
        </p:txBody>
      </p:sp>
    </p:spTree>
  </p:cSld>
  <p:clrMapOvr>
    <a:masterClrMapping/>
  </p:clrMapOvr>
  <p:transition spd="slow">
    <p:fade/>
  </p:transition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03 · K2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Evaluate an opportunity before adopting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Value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What measurable outcome improves?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9703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9703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18303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Feasibility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1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Are data, licence and process ready?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2166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02166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6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49054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What could fail or cause harm?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81</a:t>
            </a:r>
          </a:p>
        </p:txBody>
      </p:sp>
    </p:spTree>
  </p:cSld>
  <p:clrMapOvr>
    <a:masterClrMapping/>
  </p:clrMapOvr>
  <p:transition spd="slow">
    <p:fade/>
  </p:transition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03 · K2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Work IQ and organisational context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5849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5849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People — Roles and collaboration relationships.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469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0901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0901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9026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9026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702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Content — Permitted documents, messages and meetings.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646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078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078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2203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2203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879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Activity — Current work patterns and signals.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9823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7255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5380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380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056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Control — Context is valuable only when governed.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82</a:t>
            </a:r>
          </a:p>
        </p:txBody>
      </p:sp>
    </p:spTree>
  </p:cSld>
  <p:clrMapOvr>
    <a:masterClrMapping/>
  </p:clrMapOvr>
  <p:transition spd="slow">
    <p:fade/>
  </p:transition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03 · K2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Communication evidence chain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56232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Source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Email, meeting, file or register.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56232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Summary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concise, checked interpretation.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69664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Action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Owner, due date and status.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69664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Follow-up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Draft, approval and retained record.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83</a:t>
            </a:r>
          </a:p>
        </p:txBody>
      </p:sp>
    </p:spTree>
  </p:cSld>
  <p:clrMapOvr>
    <a:masterClrMapping/>
  </p:clrMapOvr>
  <p:transition spd="slow">
    <p:fade/>
  </p:transition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03 · NATIVE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Risk and deadlines shape inbox priority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874519"/>
          <a:ext cx="7452360" cy="4069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503920" y="1874519"/>
            <a:ext cx="2926080" cy="40690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96528" y="2221992"/>
            <a:ext cx="2331720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DECISION LENS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96528" y="2788920"/>
            <a:ext cx="2331720" cy="14630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Priority is a business rule, not the order messages arrived.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96528" y="4572000"/>
            <a:ext cx="2331720" cy="8229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Native PowerPoint chart · editable data · verify source and units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84</a:t>
            </a:r>
          </a:p>
        </p:txBody>
      </p:sp>
    </p:spTree>
  </p:cSld>
  <p:clrMapOvr>
    <a:masterClrMapping/>
  </p:clrMapOvr>
  <p:transition spd="slow">
    <p:fade/>
  </p:transition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03 · NATIVE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Reviewed actions close faster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874519"/>
          <a:ext cx="7452360" cy="4069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503920" y="1874519"/>
            <a:ext cx="2926080" cy="40690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96528" y="2221992"/>
            <a:ext cx="2331720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DECISION LENS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96528" y="2788920"/>
            <a:ext cx="2331720" cy="14630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Ownership and due dates improve meeting follow-through.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96528" y="4572000"/>
            <a:ext cx="2331720" cy="8229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Native PowerPoint chart · editable data · verify source and units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85</a:t>
            </a:r>
          </a:p>
        </p:txBody>
      </p:sp>
    </p:spTree>
  </p:cSld>
  <p:clrMapOvr>
    <a:masterClrMapping/>
  </p:clrMapOvr>
  <p:transition spd="slow">
    <p:fade/>
  </p:transition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03 · INTERMEDIATE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Triage an Outlook Inbox and Draft a Controlled Reply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1417320" cy="4572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55648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LAB 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14016"/>
            <a:ext cx="10652760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Use Copilot to summarise, prioritise and draft without bypassing recipient and fact checks.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22191"/>
            <a:ext cx="10652760" cy="1874519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041648"/>
            <a:ext cx="18288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EXPECTED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416552"/>
            <a:ext cx="9921240" cy="6035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Inbox triage register, verified thread summary and one approval-ready draft reply.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5166360"/>
            <a:ext cx="992124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TOOLS  </a:t>
            </a:r>
            <a:r>
              <a:rPr sz="1200" b="0">
                <a:solidFill>
                  <a:srgbClr val="5B6372"/>
                </a:solidFill>
                <a:latin typeface="Arial"/>
              </a:rPr>
              <a:t>Outlook + Excel + Copilot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86</a:t>
            </a:r>
          </a:p>
        </p:txBody>
      </p:sp>
    </p:spTree>
  </p:cSld>
  <p:clrMapOvr>
    <a:masterClrMapping/>
  </p:clrMapOvr>
  <p:transition spd="slow">
    <p:fade/>
  </p:transition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09 · ACCEPTANCE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Triage an Outlook Inbox and Draft a Controlled Reply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52760" cy="2514600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996696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ACCEPTANCE CHECK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63240"/>
            <a:ext cx="9829800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draft remains unsent, all facts and recipients are checked, and the triage register shows priority, owner and next action.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87</a:t>
            </a:r>
          </a:p>
        </p:txBody>
      </p:sp>
    </p:spTree>
  </p:cSld>
  <p:clrMapOvr>
    <a:masterClrMapping/>
  </p:clrMapOvr>
  <p:transition spd="slow">
    <p:fade/>
  </p:transition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03 · INTERMEDIATE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Run an Action-Oriented Teams Meeting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1417320" cy="4572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55648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LAB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14016"/>
            <a:ext cx="10652760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Use meeting preparation, Facilitator or recap capabilities to convert discussion into owned outcomes.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22191"/>
            <a:ext cx="10652760" cy="1874519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041648"/>
            <a:ext cx="18288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EXPECTED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416552"/>
            <a:ext cx="9921240" cy="6035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Meeting brief, decision log, action register and reviewed follow-up message.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5166360"/>
            <a:ext cx="992124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TOOLS  </a:t>
            </a:r>
            <a:r>
              <a:rPr sz="1200" b="0">
                <a:solidFill>
                  <a:srgbClr val="5B6372"/>
                </a:solidFill>
                <a:latin typeface="Arial"/>
              </a:rPr>
              <a:t>Teams + Excel + Copilot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88</a:t>
            </a:r>
          </a:p>
        </p:txBody>
      </p:sp>
    </p:spTree>
  </p:cSld>
  <p:clrMapOvr>
    <a:masterClrMapping/>
  </p:clrMapOvr>
  <p:transition spd="slow">
    <p:fade/>
  </p:transition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10 · ACCEPTANCE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Run an Action-Oriented Teams Meeting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52760" cy="2514600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996696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ACCEPTANCE CHECK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63240"/>
            <a:ext cx="9829800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action register reconciles with the reviewed meeting recap and every action has one owner, due date and status.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89</a:t>
            </a:r>
          </a:p>
        </p:txBody>
      </p:sp>
    </p:spTree>
  </p:cSld>
  <p:clrMapOvr>
    <a:masterClrMapping/>
  </p:clrMapOvr>
  <p:transition spd="slow">
    <p:fade/>
  </p:transition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03 · ADVANCED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Build a Living Implementation and Training Plan in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1417320" cy="4572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55648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LAB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14016"/>
            <a:ext cx="10652760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Translate adoption risks into a living implementation plan and role-based staff enablement schedule.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22191"/>
            <a:ext cx="10652760" cy="1874519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041648"/>
            <a:ext cx="18288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EXPECTED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416552"/>
            <a:ext cx="9921240" cy="6035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Loop workspace design, transition backlog, training matrix and adoption dashboard.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5166360"/>
            <a:ext cx="992124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TOOLS  </a:t>
            </a:r>
            <a:r>
              <a:rPr sz="1200" b="0">
                <a:solidFill>
                  <a:srgbClr val="5B6372"/>
                </a:solidFill>
                <a:latin typeface="Arial"/>
              </a:rPr>
              <a:t>Loop + Teams + Excel + Copilot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90</a:t>
            </a:r>
          </a:p>
        </p:txBody>
      </p:sp>
    </p:spTree>
  </p:cSld>
  <p:clrMapOvr>
    <a:masterClrMapping/>
  </p:clrMapOvr>
  <p:transition spd="slow">
    <p:fade/>
  </p:transition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11 · ACCEPTANCE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Build a Living Implementation and Training Plan in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52760" cy="2514600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996696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ACCEPTANCE CHECK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63240"/>
            <a:ext cx="9829800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plan covers transition risks and staff training, distinguishes decisions from proposals and has measurable adoption controls.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91</a:t>
            </a:r>
          </a:p>
        </p:txBody>
      </p:sp>
    </p:spTree>
  </p:cSld>
  <p:clrMapOvr>
    <a:masterClrMapping/>
  </p:clrMapOvr>
  <p:transition spd="slow">
    <p:fade/>
  </p:transition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Recap — Copilot for Outlook, Teams and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56232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Knowledge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Communication workflow and related principles.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56232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Ability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K2 · A3 · A4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69664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Evidence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checked Excel control workbook plus the app-specific artifact.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69664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Next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Carry the evidence and controls into the next workflow stage.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92</a:t>
            </a:r>
          </a:p>
        </p:txBody>
      </p:sp>
    </p:spTree>
  </p:cSld>
  <p:clrMapOvr>
    <a:masterClrMapping/>
  </p:clrMapOvr>
  <p:transition spd="slow">
    <p:fade/>
  </p:transition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1945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38544"/>
            <a:ext cx="12191695" cy="21945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2331720"/>
            <a:ext cx="12191695" cy="10515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4400" b="1">
                <a:solidFill>
                  <a:srgbClr val="161B26"/>
                </a:solidFill>
                <a:latin typeface="Arial"/>
              </a:rPr>
              <a:t>Lunch Break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703320"/>
            <a:ext cx="12191695" cy="5029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F59E0B"/>
                </a:solidFill>
                <a:latin typeface="Arial"/>
              </a:rPr>
              <a:t>45 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93</a:t>
            </a:r>
          </a:p>
        </p:txBody>
      </p:sp>
    </p:spTree>
  </p:cSld>
  <p:clrMapOvr>
    <a:masterClrMapping/>
  </p:clrMapOvr>
  <p:transition spd="slow">
    <p:fade/>
  </p:transition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2057400"/>
            <a:ext cx="118872" cy="2057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057400"/>
            <a:ext cx="88696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TOPIC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514600"/>
            <a:ext cx="9692640" cy="13258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Microsoft 365 Copilot Agents and Governed Pipelines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07008" y="3977639"/>
            <a:ext cx="9692640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Agent types · instructions · knowledge · actions · approvals · monitoring · staff enablement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594360"/>
            <a:ext cx="2011680" cy="11430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6600" b="1">
                <a:solidFill>
                  <a:srgbClr val="E2E8F0"/>
                </a:solidFill>
                <a:latin typeface="Arial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94</a:t>
            </a:r>
          </a:p>
        </p:txBody>
      </p:sp>
    </p:spTree>
  </p:cSld>
  <p:clrMapOvr>
    <a:masterClrMapping/>
  </p:clrMapOvr>
  <p:transition spd="slow">
    <p:fade/>
  </p:transition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ALIGNMENT K4 · 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Key Concepts — Microsoft 365 Copilot Agents and Governed Pipelines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13228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7017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70176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56232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Agent role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An agent applies scoped instructions and knowledge to a repeatable business outcome.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13228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17017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170176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56232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Agent spectrum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Retrieval agents answer; task agents act; autonomous agents coordinate multi-step work.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307080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07080"/>
            <a:ext cx="82296" cy="13228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12464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12464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398520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Pipeline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Intake, validate, classify, enrich, produce, approve, deliver and monitor.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307080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307080"/>
            <a:ext cx="82296" cy="13228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3712464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3712464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3398520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Least privilege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Give the agent only the data and actions required for its defined role.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849368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49368"/>
            <a:ext cx="82296" cy="13228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54752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54752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40808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Approval boundary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Consequential writes, sends and status changes require visible human approval.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40780" y="4849368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40780" y="4849368"/>
            <a:ext cx="82296" cy="13228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78524" y="5254752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78524" y="5254752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73468" y="4940808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Operational readiness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Pilot with test cases, exception handling, owners, metrics, training and rollback.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95</a:t>
            </a:r>
          </a:p>
        </p:txBody>
      </p:sp>
    </p:spTree>
  </p:cSld>
  <p:clrMapOvr>
    <a:masterClrMapping/>
  </p:clrMapOvr>
  <p:transition spd="slow">
    <p:fade/>
  </p:transition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04 · K4 · 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Copilot versus Copilot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10" name="Oval 9"/>
          <p:cNvSpPr/>
          <p:nvPr/>
        </p:nvSpPr>
        <p:spPr>
          <a:xfrm>
            <a:off x="1033272" y="261518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Copilot: General assistant across supported work surfaces.</a:t>
            </a:r>
          </a:p>
        </p:txBody>
      </p:sp>
      <p:sp>
        <p:nvSpPr>
          <p:cNvPr id="13" name="Oval 12"/>
          <p:cNvSpPr/>
          <p:nvPr/>
        </p:nvSpPr>
        <p:spPr>
          <a:xfrm>
            <a:off x="1033272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048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Agent: Scoped role with instructions, knowledge and sometimes actions.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CONTROL / DECISION</a:t>
            </a:r>
          </a:p>
        </p:txBody>
      </p:sp>
      <p:sp>
        <p:nvSpPr>
          <p:cNvPr id="19" name="Oval 18"/>
          <p:cNvSpPr/>
          <p:nvPr/>
        </p:nvSpPr>
        <p:spPr>
          <a:xfrm>
            <a:off x="6492240" y="2615184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86016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Boundary: The agent should have a narrower job than the user.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6016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Value: Repeatable outcomes with consistent controls.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96</a:t>
            </a:r>
          </a:p>
        </p:txBody>
      </p:sp>
    </p:spTree>
  </p:cSld>
  <p:clrMapOvr>
    <a:masterClrMapping/>
  </p:clrMapOvr>
  <p:transition spd="slow">
    <p:fade/>
  </p:transition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04 · K4 · 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Types of agents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Retrieval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Find and explain approved knowledge.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9703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9703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18303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Task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1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Complete a defined step using tools.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2166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02166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6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Orchestrator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49054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Coordinate multiple steps and agents.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97</a:t>
            </a:r>
          </a:p>
        </p:txBody>
      </p:sp>
    </p:spTree>
  </p:cSld>
  <p:clrMapOvr>
    <a:masterClrMapping/>
  </p:clrMapOvr>
  <p:transition spd="slow">
    <p:fade/>
  </p:transition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04 · K4 · 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Agent design canvas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5849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5849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Outcome — Measurable business result.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469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0901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0901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9026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9026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702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Inputs — Required fields and approved context.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646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078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078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2203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2203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879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Outputs — Defined response or artifact.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9823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7255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5380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380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056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Non-actions — What the agent must refuse or escalate.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98</a:t>
            </a:r>
          </a:p>
        </p:txBody>
      </p:sp>
    </p:spTree>
  </p:cSld>
  <p:clrMapOvr>
    <a:masterClrMapping/>
  </p:clrMapOvr>
  <p:transition spd="slow">
    <p:fade/>
  </p:transition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TOPIC 04 · K4 · 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Knowledge grounding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56232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Curated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Use the smallest authoritative source set.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56232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Current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Assign content owner and review date.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69664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Citable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Responses should identify supporting evidence.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69664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Safe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Exclude unrelated or overly broad repositories.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99</a:t>
            </a:r>
          </a:p>
        </p:txBody>
      </p:sp>
    </p:spTree>
  </p:cSld>
  <p:clrMapOvr>
    <a:masterClrMapping/>
  </p:clrMapOvr>
  <p:transition spd="slow">
    <p:fade/>
  </p:transition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04 · K4 · 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Instructions as operational policy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10" name="Oval 9"/>
          <p:cNvSpPr/>
          <p:nvPr/>
        </p:nvSpPr>
        <p:spPr>
          <a:xfrm>
            <a:off x="1033272" y="261518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Role: Who the agent represents.</a:t>
            </a:r>
          </a:p>
        </p:txBody>
      </p:sp>
      <p:sp>
        <p:nvSpPr>
          <p:cNvPr id="13" name="Oval 12"/>
          <p:cNvSpPr/>
          <p:nvPr/>
        </p:nvSpPr>
        <p:spPr>
          <a:xfrm>
            <a:off x="1033272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048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Procedure: How it handles common paths.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CONTROL / DECISION</a:t>
            </a:r>
          </a:p>
        </p:txBody>
      </p:sp>
      <p:sp>
        <p:nvSpPr>
          <p:cNvPr id="19" name="Oval 18"/>
          <p:cNvSpPr/>
          <p:nvPr/>
        </p:nvSpPr>
        <p:spPr>
          <a:xfrm>
            <a:off x="6492240" y="2615184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86016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Guardrails: Prohibited content and actions.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6016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Escalation: When and how a human takes over.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100</a:t>
            </a:r>
          </a:p>
        </p:txBody>
      </p:sp>
    </p:spTree>
  </p:cSld>
  <p:clrMapOvr>
    <a:masterClrMapping/>
  </p:clrMapOvr>
  <p:transition spd="slow">
    <p:fade/>
  </p:transition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04 · K4 · 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Actions need contracts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Inputs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Typed, required and validated.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9703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9703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18303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Operation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1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One clear side effect.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2166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02166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6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Outputs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49054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Status, ID and explanation.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101</a:t>
            </a:r>
          </a:p>
        </p:txBody>
      </p:sp>
    </p:spTree>
  </p:cSld>
  <p:clrMapOvr>
    <a:masterClrMapping/>
  </p:clrMapOvr>
  <p:transition spd="slow">
    <p:fade/>
  </p:transition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04 · K4 · 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Pipeline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5849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5849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Intake — Capture structured request.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469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0901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0901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9026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9026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702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Process — Validate, classify and enrich.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646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078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078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2203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2203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879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Control — Approve consequential transitions.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9823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7255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5380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380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056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Deliver — Create artifact, draft or controlled record.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102</a:t>
            </a:r>
          </a:p>
        </p:txBody>
      </p:sp>
    </p:spTree>
  </p:cSld>
  <p:clrMapOvr>
    <a:masterClrMapping/>
  </p:clrMapOvr>
  <p:transition spd="slow">
    <p:fade/>
  </p:transition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TOPIC 04 · K4 · 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Human approval patterns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56232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Pre-action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Approve before write or send.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56232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Post-draft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Review generated artifact before release.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69664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Exception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Route uncertain or restricted cases.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69664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Override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Record who changed the outcome and why.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103</a:t>
            </a:r>
          </a:p>
        </p:txBody>
      </p:sp>
    </p:spTree>
  </p:cSld>
  <p:clrMapOvr>
    <a:masterClrMapping/>
  </p:clrMapOvr>
  <p:transition spd="slow">
    <p:fade/>
  </p:transition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04 · K4 · 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Idempotency and duplicate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10" name="Oval 9"/>
          <p:cNvSpPr/>
          <p:nvPr/>
        </p:nvSpPr>
        <p:spPr>
          <a:xfrm>
            <a:off x="1033272" y="261518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Key: Use a stable request or campaign ID.</a:t>
            </a:r>
          </a:p>
        </p:txBody>
      </p:sp>
      <p:sp>
        <p:nvSpPr>
          <p:cNvPr id="13" name="Oval 12"/>
          <p:cNvSpPr/>
          <p:nvPr/>
        </p:nvSpPr>
        <p:spPr>
          <a:xfrm>
            <a:off x="1033272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048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Check: Detect prior active processing.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CONTROL / DECISION</a:t>
            </a:r>
          </a:p>
        </p:txBody>
      </p:sp>
      <p:sp>
        <p:nvSpPr>
          <p:cNvPr id="19" name="Oval 18"/>
          <p:cNvSpPr/>
          <p:nvPr/>
        </p:nvSpPr>
        <p:spPr>
          <a:xfrm>
            <a:off x="6492240" y="2615184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86016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Result: Return existing status instead of duplicating.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6016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Audit: Record input hash, run ID and outcome.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104</a:t>
            </a:r>
          </a:p>
        </p:txBody>
      </p:sp>
    </p:spTree>
  </p:cSld>
  <p:clrMapOvr>
    <a:masterClrMapping/>
  </p:clrMapOvr>
  <p:transition spd="slow">
    <p:fade/>
  </p:transition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04 · K4 · 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Agent evaluation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Correctness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Does it answer or route accurately?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9703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9703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18303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Grounding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1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Does it cite approved evidence?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2166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02166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6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Safety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49054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Does it refuse prohibited cases?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105</a:t>
            </a:r>
          </a:p>
        </p:txBody>
      </p:sp>
    </p:spTree>
  </p:cSld>
  <p:clrMapOvr>
    <a:masterClrMapping/>
  </p:clrMapOvr>
  <p:transition spd="slow">
    <p:fade/>
  </p:transition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04 · K4 · 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Monitoring the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5849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5849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Throughput — Cases completed per period.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469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0901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0901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9026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9026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702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Cycle time — Time from intake to approved output.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646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078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078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2203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2203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879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Exception rate — Share diverted for human handling.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9823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7255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5380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380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056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Override rate — How often humans correct the agent.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106</a:t>
            </a:r>
          </a:p>
        </p:txBody>
      </p:sp>
    </p:spTree>
  </p:cSld>
  <p:clrMapOvr>
    <a:masterClrMapping/>
  </p:clrMapOvr>
  <p:transition spd="slow">
    <p:fade/>
  </p:transition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TOPIC 04 · K4 · 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Staff enablement for agents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56232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Role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Who uses, approves, owns and supports.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56232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Practice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Scenario-based exercises and test cases.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69664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Evidence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Demonstrated competent use and control checks.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69664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Support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Office hours, issue channel and refresher trigger.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107</a:t>
            </a:r>
          </a:p>
        </p:txBody>
      </p:sp>
    </p:spTree>
  </p:cSld>
  <p:clrMapOvr>
    <a:masterClrMapping/>
  </p:clrMapOvr>
  <p:transition spd="slow">
    <p:fade/>
  </p:transition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04 · NATIVE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pipeline narrows through controls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874519"/>
          <a:ext cx="7452360" cy="4069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503920" y="1874519"/>
            <a:ext cx="2926080" cy="40690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96528" y="2221992"/>
            <a:ext cx="2331720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DECISION LENS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96528" y="2788920"/>
            <a:ext cx="2331720" cy="14630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Validation and approval prevent low-quality work reaching delivery.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96528" y="4572000"/>
            <a:ext cx="2331720" cy="8229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Native PowerPoint chart · editable data · verify source and units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108</a:t>
            </a:r>
          </a:p>
        </p:txBody>
      </p:sp>
    </p:spTree>
  </p:cSld>
  <p:clrMapOvr>
    <a:masterClrMapping/>
  </p:clrMapOvr>
  <p:transition spd="slow">
    <p:fade/>
  </p:transition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04 · NATIVE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Pilot evidence determines scale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874519"/>
          <a:ext cx="7452360" cy="4069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503920" y="1874519"/>
            <a:ext cx="2926080" cy="40690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96528" y="2221992"/>
            <a:ext cx="2331720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DECISION LENS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96528" y="2788920"/>
            <a:ext cx="2331720" cy="14630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Cycle time falls while exceptions and overrides reveal where redesign is needed.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96528" y="4572000"/>
            <a:ext cx="2331720" cy="8229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Native PowerPoint chart · editable data · verify source and units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109</a:t>
            </a:r>
          </a:p>
        </p:txBody>
      </p:sp>
    </p:spTree>
  </p:cSld>
  <p:clrMapOvr>
    <a:masterClrMapping/>
  </p:clrMapOvr>
  <p:transition spd="slow">
    <p:fade/>
  </p:transition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04 · FOUNDATION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Design a Scoped Microsoft 365 Copilot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1417320" cy="4572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55648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LAB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14016"/>
            <a:ext cx="10652760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Define an agent's job, knowledge, boundaries, test cases and ownership before building 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22191"/>
            <a:ext cx="10652760" cy="1874519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041648"/>
            <a:ext cx="18288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EXPECTED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416552"/>
            <a:ext cx="9921240" cy="6035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Agent design canvas, knowledge register, risk controls and ten acceptance tests.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5166360"/>
            <a:ext cx="992124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TOOLS  </a:t>
            </a:r>
            <a:r>
              <a:rPr sz="1200" b="0">
                <a:solidFill>
                  <a:srgbClr val="5B6372"/>
                </a:solidFill>
                <a:latin typeface="Arial"/>
              </a:rPr>
              <a:t>Microsoft 365 Copilot agents + Excel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110</a:t>
            </a:r>
          </a:p>
        </p:txBody>
      </p:sp>
    </p:spTree>
  </p:cSld>
  <p:clrMapOvr>
    <a:masterClrMapping/>
  </p:clrMapOvr>
  <p:transition spd="slow">
    <p:fade/>
  </p:transition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12 · ACCEPTANCE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Design a Scoped Microsoft 365 Copilot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52760" cy="2514600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996696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ACCEPTANCE CHECK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63240"/>
            <a:ext cx="9829800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agent has a narrow purpose, explicit non-actions, least-privilege knowledge and ten test cases with expected outcomes.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111</a:t>
            </a:r>
          </a:p>
        </p:txBody>
      </p:sp>
    </p:spTree>
  </p:cSld>
  <p:clrMapOvr>
    <a:masterClrMapping/>
  </p:clrMapOvr>
  <p:transition spd="slow">
    <p:fade/>
  </p:transition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04 · INTERMEDIATE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Build an Intake and Routing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1417320" cy="4572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55648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LAB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14016"/>
            <a:ext cx="10652760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Build a retrieval-and-routing agent that validates inputs and escalates exceptions.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22191"/>
            <a:ext cx="10652760" cy="1874519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041648"/>
            <a:ext cx="18288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EXPECTED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416552"/>
            <a:ext cx="9921240" cy="6035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Working intake agent, controlled instructions, knowledge source and routed test results.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5166360"/>
            <a:ext cx="992124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TOOLS  </a:t>
            </a:r>
            <a:r>
              <a:rPr sz="1200" b="0">
                <a:solidFill>
                  <a:srgbClr val="5B6372"/>
                </a:solidFill>
                <a:latin typeface="Arial"/>
              </a:rPr>
              <a:t>Copilot Studio / Agent Builder + Excel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112</a:t>
            </a:r>
          </a:p>
        </p:txBody>
      </p:sp>
    </p:spTree>
  </p:cSld>
  <p:clrMapOvr>
    <a:masterClrMapping/>
  </p:clrMapOvr>
  <p:transition spd="slow">
    <p:fade/>
  </p:transition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13 · ACCEPTANCE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Build an Intake and Routing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52760" cy="2514600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996696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ACCEPTANCE CHECK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63240"/>
            <a:ext cx="9829800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agent gathers mandatory fields, cites approved knowledge, routes correctly and refuses approval or external-send requests.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113</a:t>
            </a:r>
          </a:p>
        </p:txBody>
      </p:sp>
    </p:spTree>
  </p:cSld>
  <p:clrMapOvr>
    <a:masterClrMapping/>
  </p:clrMapOvr>
  <p:transition spd="slow">
    <p:fade/>
  </p:transition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04 · ADVANCED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Connect an Agent to a Controlled Action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1417320" cy="4572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55648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LAB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14016"/>
            <a:ext cx="10652760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Add an action that writes a validated intake to a controlled queue while preserving approval and audit evidence.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22191"/>
            <a:ext cx="10652760" cy="1874519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041648"/>
            <a:ext cx="18288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EXPECTED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416552"/>
            <a:ext cx="9921240" cy="6035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Agent-to-queue flow with validation, approval state, response ID and run audit.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5166360"/>
            <a:ext cx="992124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TOOLS  </a:t>
            </a:r>
            <a:r>
              <a:rPr sz="1200" b="0">
                <a:solidFill>
                  <a:srgbClr val="5B6372"/>
                </a:solidFill>
                <a:latin typeface="Arial"/>
              </a:rPr>
              <a:t>Copilot Studio + Power Automate + Excel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114</a:t>
            </a:r>
          </a:p>
        </p:txBody>
      </p:sp>
    </p:spTree>
  </p:cSld>
  <p:clrMapOvr>
    <a:masterClrMapping/>
  </p:clrMapOvr>
  <p:transition spd="slow">
    <p:fade/>
  </p:transition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14 · ACCEPTANCE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Connect an Agent to a Controlled Action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52760" cy="2514600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996696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ACCEPTANCE CHECK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63240"/>
            <a:ext cx="9829800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Only validated cases create Draft records, duplicate submissions are controlled and every run has traceable evidence.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115</a:t>
            </a:r>
          </a:p>
        </p:txBody>
      </p:sp>
    </p:spTree>
  </p:cSld>
  <p:clrMapOvr>
    <a:masterClrMapping/>
  </p:clrMapOvr>
  <p:transition spd="slow">
    <p:fade/>
  </p:transition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04 · ADVANCED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Create an Analysis-to-Deck Agent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1417320" cy="4572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55648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LAB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14016"/>
            <a:ext cx="10652760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Orchestrate intake, Excel analysis and a PowerPoint decision pack with human approval between stages.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22191"/>
            <a:ext cx="10652760" cy="1874519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041648"/>
            <a:ext cx="18288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EXPECTED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416552"/>
            <a:ext cx="9921240" cy="6035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Three-stage pipeline specification, analysis workbook, chart-led decision deck and approval log.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5166360"/>
            <a:ext cx="992124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TOOLS  </a:t>
            </a:r>
            <a:r>
              <a:rPr sz="1200" b="0">
                <a:solidFill>
                  <a:srgbClr val="5B6372"/>
                </a:solidFill>
                <a:latin typeface="Arial"/>
              </a:rPr>
              <a:t>Microsoft 365 Copilot + Analyst + PowerPoint + Excel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116</a:t>
            </a:r>
          </a:p>
        </p:txBody>
      </p:sp>
    </p:spTree>
  </p:cSld>
  <p:clrMapOvr>
    <a:masterClrMapping/>
  </p:clrMapOvr>
  <p:transition spd="slow">
    <p:fade/>
  </p:transition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15 · ACCEPTANCE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Create an Analysis-to-Deck Agent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52760" cy="2514600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996696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ACCEPTANCE CHECK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63240"/>
            <a:ext cx="9829800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pipeline stops at review, the workbook reconciles, the deck has editable charts and every quantitative claim has a source range.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117</a:t>
            </a:r>
          </a:p>
        </p:txBody>
      </p:sp>
    </p:spTree>
  </p:cSld>
  <p:clrMapOvr>
    <a:masterClrMapping/>
  </p:clrMapOvr>
  <p:transition spd="slow">
    <p:fade/>
  </p:transition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04 · CAPSTONE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Operate a Governed End-to-End Copilot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1417320" cy="4572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55648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LAB 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14016"/>
            <a:ext cx="10652760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Operate the complete intake-to-delivery pipeline with approvals, exception handling, monitoring and staff handover.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22191"/>
            <a:ext cx="10652760" cy="1874519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041648"/>
            <a:ext cx="18288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EXPECTED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416552"/>
            <a:ext cx="9921240" cy="6035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End-to-end pilot run, approved Outlook draft, Teams handover, monitoring dashboard and staff training plan.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5166360"/>
            <a:ext cx="992124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TOOLS  </a:t>
            </a:r>
            <a:r>
              <a:rPr sz="1200" b="0">
                <a:solidFill>
                  <a:srgbClr val="5B6372"/>
                </a:solidFill>
                <a:latin typeface="Arial"/>
              </a:rPr>
              <a:t>Microsoft 365 Copilot agents + Outlook + Teams + Excel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118</a:t>
            </a:r>
          </a:p>
        </p:txBody>
      </p:sp>
    </p:spTree>
  </p:cSld>
  <p:clrMapOvr>
    <a:masterClrMapping/>
  </p:clrMapOvr>
  <p:transition spd="slow">
    <p:fade/>
  </p:transition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16 · ACCEPTANCE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Operate a Governed End-to-End Copilot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52760" cy="2514600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996696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ACCEPTANCE CHECK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63240"/>
            <a:ext cx="9829800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All pilot cases have a complete audit trail, delivery remains human-controlled and the scale decision is supported by measured operational evidence.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119</a:t>
            </a:r>
          </a:p>
        </p:txBody>
      </p:sp>
    </p:spTree>
  </p:cSld>
  <p:clrMapOvr>
    <a:masterClrMapping/>
  </p:clrMapOvr>
  <p:transition spd="slow">
    <p:fade/>
  </p:transition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Recap — Microsoft 365 Copilot Agents and Governed Pipelines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56232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Knowledge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Agent role and related principles.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56232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Ability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K1-K4 · A1-A4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69664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Evidence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checked Excel control workbook plus the app-specific artifact.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69664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Next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Carry the evidence and controls into the next workflow stage.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120</a:t>
            </a:r>
          </a:p>
        </p:txBody>
      </p:sp>
    </p:spTree>
  </p:cSld>
  <p:clrMapOvr>
    <a:masterClrMapping/>
  </p:clrMapOvr>
  <p:transition spd="slow">
    <p:fade/>
  </p:transition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2057400"/>
            <a:ext cx="118872" cy="2057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057400"/>
            <a:ext cx="88696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WRAP-UP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514600"/>
            <a:ext cx="9692640" cy="13258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Evidence, Assessment &amp; Next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72600" y="594360"/>
            <a:ext cx="2011680" cy="11430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6600" b="1">
                <a:solidFill>
                  <a:srgbClr val="E2E8F0"/>
                </a:solidFill>
                <a:latin typeface="Arial"/>
              </a:rPr>
              <a:t>99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134</a:t>
            </a:r>
          </a:p>
        </p:txBody>
      </p:sp>
    </p:spTree>
  </p:cSld>
  <p:clrMapOvr>
    <a:masterClrMapping/>
  </p:clrMapOvr>
  <p:transition spd="slow">
    <p:fade/>
  </p:transition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LEARNING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What You Achieved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56232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LO1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Predict and mitigate challenges in integrating Microsoft 365 Copilot into a workflow.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56232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LO2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Develop a plan for implementing Microsoft 365 Copilot and transitioning from a legacy workflow.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69664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LO3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Evaluate productivity opportunities across Teams, Outlook and Microsoft 365 Copilot Chat.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69664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LO4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Design a staff enablement plan and a governed Copilot agent pipeline.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135</a:t>
            </a:r>
          </a:p>
        </p:txBody>
      </p:sp>
    </p:spTree>
  </p:cSld>
  <p:clrMapOvr>
    <a:masterClrMapping/>
  </p:clrMapOvr>
  <p:transition spd="slow">
    <p:fade/>
  </p:transition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LMS / TMS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Courseware and Assessment on the LMS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Courseware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Learner slide PDF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3584448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Learner Guide PDF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4261104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Sixteen activity folders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9703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9703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18303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Assessment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1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WA question paper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36591" y="3584448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PP question paper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1" y="4261104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Submit required evidence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02166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02166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0766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Support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49054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Check the current TGS code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49054" y="3584448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Use the current release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49054" y="4261104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Contact the trainer or academy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5852160"/>
            <a:ext cx="996696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  <a:hlinkClick r:id="rId2"/>
              </a:rPr>
              <a:t>https://lms-tms.tertiaryinfotech.com/</a:t>
            </a:r>
          </a:p>
        </p:txBody>
      </p:sp>
    </p:spTree>
  </p:cSld>
  <p:clrMapOvr>
    <a:masterClrMapping/>
  </p:clrMapOvr>
  <p:transition spd="slow">
    <p:fade/>
  </p:transition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FINAL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Assessment Reminder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13228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7017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70176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56232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WA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4 open-ended knowledge questions, 60 minutes.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13228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17017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170176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56232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PP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4 connected Microsoft 365 tasks, 60 minutes.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307080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07080"/>
            <a:ext cx="82296" cy="13228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12464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12464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398520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Open book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slides, Learner Guide and approved materials.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307080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307080"/>
            <a:ext cx="82296" cy="13228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3712464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3712464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3398520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Attendance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Complete assessment digital attendance before starting.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849368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49368"/>
            <a:ext cx="82296" cy="13228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54752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54752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40808"/>
            <a:ext cx="4046220" cy="117652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Submission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Upload only your own completed papers and evidence.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137</a:t>
            </a:r>
          </a:p>
        </p:txBody>
      </p:sp>
    </p:spTree>
  </p:cSld>
  <p:clrMapOvr>
    <a:masterClrMapping/>
  </p:clrMapOvr>
  <p:transition spd="slow">
    <p:fade/>
  </p:transition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ON ASSESSMENT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1911096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76272"/>
            <a:ext cx="1911096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85316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85316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547872"/>
            <a:ext cx="1655064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TRAQOM digital attendance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88336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62656" y="2176272"/>
            <a:ext cx="1911096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2656" y="2176272"/>
            <a:ext cx="1911096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70732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70732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90672" y="3547872"/>
            <a:ext cx="1655064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Assessment digital attendance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73752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48072" y="2176272"/>
            <a:ext cx="1911096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48072" y="2176272"/>
            <a:ext cx="1911096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56148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56148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76088" y="3547872"/>
            <a:ext cx="1655064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Sit WA then PP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59168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33488" y="2176272"/>
            <a:ext cx="1911096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33488" y="2176272"/>
            <a:ext cx="1911096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41564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41564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61504" y="3547872"/>
            <a:ext cx="1655064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Submit on the LMS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4584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18904" y="2176272"/>
            <a:ext cx="1911096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18904" y="2176272"/>
            <a:ext cx="1911096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126980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26980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46920" y="3547872"/>
            <a:ext cx="1655064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Sign Assessment Summary Record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138</a:t>
            </a:r>
          </a:p>
        </p:txBody>
      </p:sp>
    </p:spTree>
  </p:cSld>
  <p:clrMapOvr>
    <a:masterClrMapping/>
  </p:clrMapOvr>
  <p:transition spd="slow">
    <p:fade/>
  </p:transition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TRAQOM · SSG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56232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Assessment attendance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Scan the SSG QR code before the papers.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56232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Training attendance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Confirm AM and PM records for both days.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69664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Minimum attendance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At least 75% is required.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69664"/>
            <a:ext cx="4046220" cy="19476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Ask for help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Tell the trainer immediately if submission fails.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139</a:t>
            </a:r>
          </a:p>
        </p:txBody>
      </p:sp>
    </p:spTree>
  </p:cSld>
  <p:clrMapOvr>
    <a:masterClrMapping/>
  </p:clrMapOvr>
  <p:transition spd="slow">
    <p:fade/>
  </p:transition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874519"/>
            <a:ext cx="1024128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" y="2377440"/>
            <a:ext cx="10241280" cy="1600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Copilot accelerates work only when evidence and control travel with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224528"/>
            <a:ext cx="9966960" cy="9144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0">
                <a:solidFill>
                  <a:srgbClr val="5B6372"/>
                </a:solidFill>
                <a:latin typeface="Arial"/>
              </a:rPr>
              <a:t>Ground, verify, approve and monitor every workflow—from first prompt to governed agent pipeline.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140</a:t>
            </a:r>
          </a:p>
        </p:txBody>
      </p:sp>
    </p:spTree>
  </p:cSld>
  <p:clrMapOvr>
    <a:masterClrMapping/>
  </p:clrMapOvr>
  <p:transition spd="slow">
    <p:fade/>
  </p:transition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LABS 12–16 · SHAREPOINT EXTENSION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From SharePoint source to verified response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5849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5849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Source document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469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0901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0901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9026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9026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702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Scoped 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646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078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078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2203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2203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879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Cited answer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9823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7255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5380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380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056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Human 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121</a:t>
            </a:r>
          </a:p>
        </p:txBody>
      </p:sp>
    </p:spTree>
  </p:cSld>
  <p:clrMapOvr>
    <a:masterClrMapping/>
  </p:clrMapOvr>
  <p:transition spd="slow">
    <p:fade/>
  </p:transition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KNOWLEDGE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Three agents, three source contracts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AGENT AND SOURCE</a:t>
            </a:r>
          </a:p>
        </p:txBody>
      </p:sp>
      <p:sp>
        <p:nvSpPr>
          <p:cNvPr id="10" name="Oval 9"/>
          <p:cNvSpPr/>
          <p:nvPr/>
        </p:nvSpPr>
        <p:spPr>
          <a:xfrm>
            <a:off x="1033272" y="261518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Policy agent: EXP-01 expense rules</a:t>
            </a:r>
          </a:p>
        </p:txBody>
      </p:sp>
      <p:sp>
        <p:nvSpPr>
          <p:cNvPr id="13" name="Oval 12"/>
          <p:cNvSpPr/>
          <p:nvPr/>
        </p:nvSpPr>
        <p:spPr>
          <a:xfrm>
            <a:off x="1033272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048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Campaign agent: CAM-2026-Q4 brief</a:t>
            </a:r>
          </a:p>
        </p:txBody>
      </p:sp>
      <p:sp>
        <p:nvSpPr>
          <p:cNvPr id="16" name="Oval 15"/>
          <p:cNvSpPr/>
          <p:nvPr/>
        </p:nvSpPr>
        <p:spPr>
          <a:xfrm>
            <a:off x="1033272" y="4187952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3272" y="4187952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7048" y="4133088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Routing agent: SR-01 service guide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6208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RESPONSE CONTRACT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2615184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6016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Cite the exact source and section</a:t>
            </a:r>
          </a:p>
        </p:txBody>
      </p:sp>
      <p:sp>
        <p:nvSpPr>
          <p:cNvPr id="25" name="Oval 24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86016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Ask when a required fact is missing</a:t>
            </a:r>
          </a:p>
        </p:txBody>
      </p:sp>
      <p:sp>
        <p:nvSpPr>
          <p:cNvPr id="28" name="Oval 27"/>
          <p:cNvSpPr/>
          <p:nvPr/>
        </p:nvSpPr>
        <p:spPr>
          <a:xfrm>
            <a:off x="6492240" y="4187952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4187952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86016" y="4133088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Produce a draft; preserve human approval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122</a:t>
            </a:r>
          </a:p>
        </p:txBody>
      </p:sp>
    </p:spTree>
  </p:cSld>
  <p:clrMapOvr>
    <a:masterClrMapping/>
  </p:clrMapOvr>
  <p:transition spd="slow">
    <p:fade/>
  </p:transition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TGS-2024043856 · PERMISSIONS FOLLOW THE USER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course knowledge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5849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5849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Private Lumina site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469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0901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0901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9026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9026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702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Three DOCX sources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646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078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078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2203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2203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879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Three .agent files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9823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7255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5380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380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056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Training accounts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123</a:t>
            </a:r>
          </a:p>
        </p:txBody>
      </p:sp>
    </p:spTree>
  </p:cSld>
  <p:clrMapOvr>
    <a:masterClrMapping/>
  </p:clrMapOvr>
  <p:transition spd="slow">
    <p:fade/>
  </p:transition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LAB 12 · SOURCE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Source selection is a design decision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SOURCE CHOICE</a:t>
            </a:r>
          </a:p>
        </p:txBody>
      </p:sp>
      <p:sp>
        <p:nvSpPr>
          <p:cNvPr id="10" name="Oval 9"/>
          <p:cNvSpPr/>
          <p:nvPr/>
        </p:nvSpPr>
        <p:spPr>
          <a:xfrm>
            <a:off x="1033272" y="261518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 file gives a narrow factual scope</a:t>
            </a:r>
          </a:p>
        </p:txBody>
      </p:sp>
      <p:sp>
        <p:nvSpPr>
          <p:cNvPr id="13" name="Oval 12"/>
          <p:cNvSpPr/>
          <p:nvPr/>
        </p:nvSpPr>
        <p:spPr>
          <a:xfrm>
            <a:off x="1033272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048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 folder groups a maintained topic</a:t>
            </a:r>
          </a:p>
        </p:txBody>
      </p:sp>
      <p:sp>
        <p:nvSpPr>
          <p:cNvPr id="16" name="Oval 15"/>
          <p:cNvSpPr/>
          <p:nvPr/>
        </p:nvSpPr>
        <p:spPr>
          <a:xfrm>
            <a:off x="1033272" y="4187952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3272" y="4187952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7048" y="4133088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 whole site widens retrieval scope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6208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QUALITY CONTROL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2615184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6016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Verify owner, version and effective date</a:t>
            </a:r>
          </a:p>
        </p:txBody>
      </p:sp>
      <p:sp>
        <p:nvSpPr>
          <p:cNvPr id="25" name="Oval 24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86016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Exclude unrelated sites and test fixtures</a:t>
            </a:r>
          </a:p>
        </p:txBody>
      </p:sp>
      <p:sp>
        <p:nvSpPr>
          <p:cNvPr id="28" name="Oval 27"/>
          <p:cNvSpPr/>
          <p:nvPr/>
        </p:nvSpPr>
        <p:spPr>
          <a:xfrm>
            <a:off x="6492240" y="4187952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4187952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86016" y="4133088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Inspect citations rather than trusting tone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124</a:t>
            </a:r>
          </a:p>
        </p:txBody>
      </p:sp>
    </p:spTree>
  </p:cSld>
  <p:clrMapOvr>
    <a:masterClrMapping/>
  </p:clrMapOvr>
  <p:transition spd="slow">
    <p:fade/>
  </p:transition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SYNTHETIC EXP-01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Worked policy decision: SGD 48 taxi fare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SOURCE FACTS</a:t>
            </a:r>
          </a:p>
        </p:txBody>
      </p:sp>
      <p:sp>
        <p:nvSpPr>
          <p:cNvPr id="10" name="Oval 9"/>
          <p:cNvSpPr/>
          <p:nvPr/>
        </p:nvSpPr>
        <p:spPr>
          <a:xfrm>
            <a:off x="1033272" y="261518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Business taxi: potentially claimable</a:t>
            </a:r>
          </a:p>
        </p:txBody>
      </p:sp>
      <p:sp>
        <p:nvSpPr>
          <p:cNvPr id="13" name="Oval 12"/>
          <p:cNvSpPr/>
          <p:nvPr/>
        </p:nvSpPr>
        <p:spPr>
          <a:xfrm>
            <a:off x="1033272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048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SGD 48 exceeds the SGD 40 threshold</a:t>
            </a:r>
          </a:p>
        </p:txBody>
      </p:sp>
      <p:sp>
        <p:nvSpPr>
          <p:cNvPr id="16" name="Oval 15"/>
          <p:cNvSpPr/>
          <p:nvPr/>
        </p:nvSpPr>
        <p:spPr>
          <a:xfrm>
            <a:off x="1033272" y="4187952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3272" y="4187952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7048" y="4133088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Receipt and purpose are required</a:t>
            </a:r>
          </a:p>
        </p:txBody>
      </p:sp>
      <p:sp>
        <p:nvSpPr>
          <p:cNvPr id="19" name="Oval 18"/>
          <p:cNvSpPr/>
          <p:nvPr/>
        </p:nvSpPr>
        <p:spPr>
          <a:xfrm>
            <a:off x="1033272" y="4974336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974336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7048" y="4919472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Submit within 14 calendar days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VERIFIED OUTPUT</a:t>
            </a:r>
          </a:p>
        </p:txBody>
      </p:sp>
      <p:sp>
        <p:nvSpPr>
          <p:cNvPr id="25" name="Oval 24"/>
          <p:cNvSpPr/>
          <p:nvPr/>
        </p:nvSpPr>
        <p:spPr>
          <a:xfrm>
            <a:off x="6492240" y="2615184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86016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Manager approval is required</a:t>
            </a:r>
          </a:p>
        </p:txBody>
      </p:sp>
      <p:sp>
        <p:nvSpPr>
          <p:cNvPr id="28" name="Oval 27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86016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Agent explains; it cannot approve</a:t>
            </a:r>
          </a:p>
        </p:txBody>
      </p:sp>
      <p:sp>
        <p:nvSpPr>
          <p:cNvPr id="31" name="Oval 30"/>
          <p:cNvSpPr/>
          <p:nvPr/>
        </p:nvSpPr>
        <p:spPr>
          <a:xfrm>
            <a:off x="6492240" y="4187952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92240" y="4187952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86016" y="4133088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Cite EXP-01 local travel and evidence</a:t>
            </a:r>
          </a:p>
        </p:txBody>
      </p:sp>
      <p:sp>
        <p:nvSpPr>
          <p:cNvPr id="34" name="Oval 33"/>
          <p:cNvSpPr/>
          <p:nvPr/>
        </p:nvSpPr>
        <p:spPr>
          <a:xfrm>
            <a:off x="6492240" y="4974336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92240" y="4974336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86016" y="4919472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Record the actual response in Excel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125</a:t>
            </a:r>
          </a:p>
        </p:txBody>
      </p:sp>
    </p:spTree>
  </p:cSld>
  <p:clrMapOvr>
    <a:masterClrMapping/>
  </p:clrMapOvr>
  <p:transition spd="slow">
    <p:fade/>
  </p:transition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CONFIGURATION · NO CLAIM SUBMISSION OR PAYMENT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Policy instructions make the boundary visible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5849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5849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Read EXP-01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469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0901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0901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9026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9026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702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Cite the section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646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078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078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2203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2203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879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Identify missing facts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9823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7255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5380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380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056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Refer approval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126</a:t>
            </a:r>
          </a:p>
        </p:txBody>
      </p:sp>
    </p:spTree>
  </p:cSld>
  <p:clrMapOvr>
    <a:masterClrMapping/>
  </p:clrMapOvr>
  <p:transition spd="slow">
    <p:fade/>
  </p:transition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LAB 13 · SYNTHETIC SERVICE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Worked routing: damaged chair due tomorrow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INPUT AND RULE</a:t>
            </a:r>
          </a:p>
        </p:txBody>
      </p:sp>
      <p:sp>
        <p:nvSpPr>
          <p:cNvPr id="10" name="Oval 9"/>
          <p:cNvSpPr/>
          <p:nvPr/>
        </p:nvSpPr>
        <p:spPr>
          <a:xfrm>
            <a:off x="1033272" y="261518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REQ-101: damaged chair reported</a:t>
            </a:r>
          </a:p>
        </p:txBody>
      </p:sp>
      <p:sp>
        <p:nvSpPr>
          <p:cNvPr id="13" name="Oval 12"/>
          <p:cNvSpPr/>
          <p:nvPr/>
        </p:nvSpPr>
        <p:spPr>
          <a:xfrm>
            <a:off x="1033272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048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Due tomorrow: within two business days</a:t>
            </a:r>
          </a:p>
        </p:txBody>
      </p:sp>
      <p:sp>
        <p:nvSpPr>
          <p:cNvPr id="16" name="Oval 15"/>
          <p:cNvSpPr/>
          <p:nvPr/>
        </p:nvSpPr>
        <p:spPr>
          <a:xfrm>
            <a:off x="1033272" y="4187952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3272" y="4187952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7048" y="4133088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SR-01 routes damage to Operations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6208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RECOMMENDATION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2615184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6016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Queue recommendation: Operations</a:t>
            </a:r>
          </a:p>
        </p:txBody>
      </p:sp>
      <p:sp>
        <p:nvSpPr>
          <p:cNvPr id="25" name="Oval 24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86016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Priority recommendation: High</a:t>
            </a:r>
          </a:p>
        </p:txBody>
      </p:sp>
      <p:sp>
        <p:nvSpPr>
          <p:cNvPr id="28" name="Oval 27"/>
          <p:cNvSpPr/>
          <p:nvPr/>
        </p:nvSpPr>
        <p:spPr>
          <a:xfrm>
            <a:off x="6492240" y="4187952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4187952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86016" y="4133088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Unsafe product requires supporting facts</a:t>
            </a:r>
          </a:p>
        </p:txBody>
      </p:sp>
      <p:sp>
        <p:nvSpPr>
          <p:cNvPr id="31" name="Oval 30"/>
          <p:cNvSpPr/>
          <p:nvPr/>
        </p:nvSpPr>
        <p:spPr>
          <a:xfrm>
            <a:off x="6492240" y="4974336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92240" y="4974336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86016" y="4919472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No ticket write is implied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127</a:t>
            </a:r>
          </a:p>
        </p:txBody>
      </p:sp>
    </p:spTree>
  </p:cSld>
  <p:clrMapOvr>
    <a:masterClrMapping/>
  </p:clrMapOvr>
  <p:transition spd="slow">
    <p:fade/>
  </p:transition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LAB 14 · RECORD EACH STATE SEPARATELY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 knowledge source is not an action connector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5849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5849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Agent recommendation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469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0901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0901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9026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9026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702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Human review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646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078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078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2203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2203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879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Configured action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9823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7255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5380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380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056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Verified run result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128</a:t>
            </a:r>
          </a:p>
        </p:txBody>
      </p:sp>
    </p:spTree>
  </p:cSld>
  <p:clrMapOvr>
    <a:masterClrMapping/>
  </p:clrMapOvr>
  <p:transition spd="slow">
    <p:fade/>
  </p:transition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LAB 15 · SYNTHETIC CAMPAIGN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Campaign facts that can travel into a deck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SOURCE FACTS</a:t>
            </a:r>
          </a:p>
        </p:txBody>
      </p:sp>
      <p:sp>
        <p:nvSpPr>
          <p:cNvPr id="10" name="Oval 9"/>
          <p:cNvSpPr/>
          <p:nvPr/>
        </p:nvSpPr>
        <p:spPr>
          <a:xfrm>
            <a:off x="1033272" y="261518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Budget: SGD 18000</a:t>
            </a:r>
          </a:p>
        </p:txBody>
      </p:sp>
      <p:sp>
        <p:nvSpPr>
          <p:cNvPr id="13" name="Oval 12"/>
          <p:cNvSpPr/>
          <p:nvPr/>
        </p:nvSpPr>
        <p:spPr>
          <a:xfrm>
            <a:off x="1033272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048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Target: 120 qualified enquiries</a:t>
            </a:r>
          </a:p>
        </p:txBody>
      </p:sp>
      <p:sp>
        <p:nvSpPr>
          <p:cNvPr id="16" name="Oval 15"/>
          <p:cNvSpPr/>
          <p:nvPr/>
        </p:nvSpPr>
        <p:spPr>
          <a:xfrm>
            <a:off x="1033272" y="4187952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3272" y="4187952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7048" y="4133088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Launch: 1 October 2026</a:t>
            </a:r>
          </a:p>
        </p:txBody>
      </p:sp>
      <p:sp>
        <p:nvSpPr>
          <p:cNvPr id="19" name="Oval 18"/>
          <p:cNvSpPr/>
          <p:nvPr/>
        </p:nvSpPr>
        <p:spPr>
          <a:xfrm>
            <a:off x="1033272" y="4974336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974336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7048" y="4919472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Authority: CAM-2026-Q4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RELEASE CONTROL</a:t>
            </a:r>
          </a:p>
        </p:txBody>
      </p:sp>
      <p:sp>
        <p:nvSpPr>
          <p:cNvPr id="25" name="Oval 24"/>
          <p:cNvSpPr/>
          <p:nvPr/>
        </p:nvSpPr>
        <p:spPr>
          <a:xfrm>
            <a:off x="6492240" y="2615184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86016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Cite every factual claim</a:t>
            </a:r>
          </a:p>
        </p:txBody>
      </p:sp>
      <p:sp>
        <p:nvSpPr>
          <p:cNvPr id="28" name="Oval 27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86016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Label copy DRAFT FOR MARKETING REVIEW</a:t>
            </a:r>
          </a:p>
        </p:txBody>
      </p:sp>
      <p:sp>
        <p:nvSpPr>
          <p:cNvPr id="31" name="Oval 30"/>
          <p:cNvSpPr/>
          <p:nvPr/>
        </p:nvSpPr>
        <p:spPr>
          <a:xfrm>
            <a:off x="6492240" y="4187952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92240" y="4187952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86016" y="4133088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Reject unsupported carbon-neutral claims</a:t>
            </a:r>
          </a:p>
        </p:txBody>
      </p:sp>
      <p:sp>
        <p:nvSpPr>
          <p:cNvPr id="34" name="Oval 33"/>
          <p:cNvSpPr/>
          <p:nvPr/>
        </p:nvSpPr>
        <p:spPr>
          <a:xfrm>
            <a:off x="6492240" y="4974336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92240" y="4974336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86016" y="4919472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Carry verified facts into Word and PPT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129</a:t>
            </a:r>
          </a:p>
        </p:txBody>
      </p:sp>
    </p:spTree>
  </p:cSld>
  <p:clrMapOvr>
    <a:masterClrMapping/>
  </p:clrMapOvr>
  <p:transition spd="slow">
    <p:fade/>
  </p:transition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LAB 16 · ACCESS VERIFICATION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Sharing has two access checks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CHECKS</a:t>
            </a:r>
          </a:p>
        </p:txBody>
      </p:sp>
      <p:sp>
        <p:nvSpPr>
          <p:cNvPr id="10" name="Oval 9"/>
          <p:cNvSpPr/>
          <p:nvPr/>
        </p:nvSpPr>
        <p:spPr>
          <a:xfrm>
            <a:off x="1033272" y="261518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Can the intended user open the agent?</a:t>
            </a:r>
          </a:p>
        </p:txBody>
      </p:sp>
      <p:sp>
        <p:nvSpPr>
          <p:cNvPr id="13" name="Oval 12"/>
          <p:cNvSpPr/>
          <p:nvPr/>
        </p:nvSpPr>
        <p:spPr>
          <a:xfrm>
            <a:off x="1033272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048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Can that user open the cited source?</a:t>
            </a:r>
          </a:p>
        </p:txBody>
      </p:sp>
      <p:sp>
        <p:nvSpPr>
          <p:cNvPr id="16" name="Oval 15"/>
          <p:cNvSpPr/>
          <p:nvPr/>
        </p:nvSpPr>
        <p:spPr>
          <a:xfrm>
            <a:off x="1033272" y="4187952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3272" y="4187952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7048" y="4133088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Site membership supports collaboration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6208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COURSE WORKSPACE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2615184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6016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Training 1: site owner</a:t>
            </a:r>
          </a:p>
        </p:txBody>
      </p:sp>
      <p:sp>
        <p:nvSpPr>
          <p:cNvPr id="25" name="Oval 24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86016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Training 2 and admin: site members</a:t>
            </a:r>
          </a:p>
        </p:txBody>
      </p:sp>
      <p:sp>
        <p:nvSpPr>
          <p:cNvPr id="28" name="Oval 27"/>
          <p:cNvSpPr/>
          <p:nvPr/>
        </p:nvSpPr>
        <p:spPr>
          <a:xfrm>
            <a:off x="6492240" y="4187952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4187952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86016" y="4133088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Test each identity; log the actual outcome</a:t>
            </a:r>
          </a:p>
        </p:txBody>
      </p:sp>
      <p:sp>
        <p:nvSpPr>
          <p:cNvPr id="31" name="Oval 30"/>
          <p:cNvSpPr/>
          <p:nvPr/>
        </p:nvSpPr>
        <p:spPr>
          <a:xfrm>
            <a:off x="6492240" y="4974336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92240" y="4974336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86016" y="4919472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Avoid public links for this workspace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130</a:t>
            </a:r>
          </a:p>
        </p:txBody>
      </p:sp>
    </p:spTree>
  </p:cSld>
  <p:clrMapOvr>
    <a:masterClrMapping/>
  </p:clrMapOvr>
  <p:transition spd="slow">
    <p:fade/>
  </p:transition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LAB 16 · USE A LEARNER COPY FOR CHANGE TESTS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Maintain the source, then repeat the test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5849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5849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Versioned source edit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469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0901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0901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9026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9026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702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Readiness check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646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078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078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2203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2203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879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Same test question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9823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7255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5380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380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0566" y="3547872"/>
            <a:ext cx="2201418" cy="12618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Citation comparison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131</a:t>
            </a:r>
          </a:p>
        </p:txBody>
      </p:sp>
    </p:spTree>
  </p:cSld>
  <p:clrMapOvr>
    <a:masterClrMapping/>
  </p:clrMapOvr>
  <p:transition spd="slow">
    <p:fade/>
  </p:transition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EVIDENCE · EXISTING EXCEL WORKBOOKS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Failures belong in the evidence register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FAILURE CASE</a:t>
            </a:r>
          </a:p>
        </p:txBody>
      </p:sp>
      <p:sp>
        <p:nvSpPr>
          <p:cNvPr id="10" name="Oval 9"/>
          <p:cNvSpPr/>
          <p:nvPr/>
        </p:nvSpPr>
        <p:spPr>
          <a:xfrm>
            <a:off x="1033272" y="261518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Unknown fact: source does not establish it</a:t>
            </a:r>
          </a:p>
        </p:txBody>
      </p:sp>
      <p:sp>
        <p:nvSpPr>
          <p:cNvPr id="13" name="Oval 12"/>
          <p:cNvSpPr/>
          <p:nvPr/>
        </p:nvSpPr>
        <p:spPr>
          <a:xfrm>
            <a:off x="1033272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048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Preparing: response test remains pending</a:t>
            </a:r>
          </a:p>
        </p:txBody>
      </p:sp>
      <p:sp>
        <p:nvSpPr>
          <p:cNvPr id="16" name="Oval 15"/>
          <p:cNvSpPr/>
          <p:nvPr/>
        </p:nvSpPr>
        <p:spPr>
          <a:xfrm>
            <a:off x="1033272" y="4187952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3272" y="4187952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7048" y="4133088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Missing date: ask a clarification</a:t>
            </a:r>
          </a:p>
        </p:txBody>
      </p:sp>
      <p:sp>
        <p:nvSpPr>
          <p:cNvPr id="19" name="Oval 18"/>
          <p:cNvSpPr/>
          <p:nvPr/>
        </p:nvSpPr>
        <p:spPr>
          <a:xfrm>
            <a:off x="1033272" y="4974336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974336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7048" y="4919472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No action result: no verified write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REQUIRED TRACE</a:t>
            </a:r>
          </a:p>
        </p:txBody>
      </p:sp>
      <p:sp>
        <p:nvSpPr>
          <p:cNvPr id="25" name="Oval 24"/>
          <p:cNvSpPr/>
          <p:nvPr/>
        </p:nvSpPr>
        <p:spPr>
          <a:xfrm>
            <a:off x="6492240" y="2615184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86016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Log prompt and actual response</a:t>
            </a:r>
          </a:p>
        </p:txBody>
      </p:sp>
      <p:sp>
        <p:nvSpPr>
          <p:cNvPr id="28" name="Oval 27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86016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Open and verify each citation</a:t>
            </a:r>
          </a:p>
        </p:txBody>
      </p:sp>
      <p:sp>
        <p:nvSpPr>
          <p:cNvPr id="31" name="Oval 30"/>
          <p:cNvSpPr/>
          <p:nvPr/>
        </p:nvSpPr>
        <p:spPr>
          <a:xfrm>
            <a:off x="6492240" y="4187952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92240" y="4187952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86016" y="4133088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Record source version and account role</a:t>
            </a:r>
          </a:p>
        </p:txBody>
      </p:sp>
      <p:sp>
        <p:nvSpPr>
          <p:cNvPr id="34" name="Oval 33"/>
          <p:cNvSpPr/>
          <p:nvPr/>
        </p:nvSpPr>
        <p:spPr>
          <a:xfrm>
            <a:off x="6492240" y="4974336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92240" y="4974336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86016" y="4919472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Retain failures and reviewer corrections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132</a:t>
            </a:r>
          </a:p>
        </p:txBody>
      </p:sp>
    </p:spTree>
  </p:cSld>
  <p:clrMapOvr>
    <a:masterClrMapping/>
  </p:clrMapOvr>
  <p:transition spd="slow">
    <p:fade/>
  </p:transition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LIVE TRAINING WORKSPACE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Open the Lumina SharePoint workspace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Course site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TGS-2024043856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3584448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Private synthetic company workspace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4261104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Use your assigned work account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9703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9703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18303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Source documents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1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Travel and expenses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36591" y="3584448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Campaign brief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1" y="4261104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Service routing guide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02166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02166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0766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Practice evidence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49054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Keep existing Labs 12–16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49054" y="3584448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Full procedures in the Learner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49054" y="4261104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Use the original Excel registers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53035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Enhance Work Productivity with Microsoft 365 Copilot · TGS-2024043856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6199632"/>
            <a:ext cx="100584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  <a:hlinkClick r:id="rId2"/>
              </a:rPr>
              <a:t>Open TGS-2024043856 Lumina Living Copilot</a:t>
            </a:r>
          </a:p>
        </p:txBody>
      </p:sp>
    </p:spTree>
  </p:cSld>
  <p:clrMapOvr>
    <a:masterClrMapping/>
  </p:clrMapOvr>
  <p:transition spd="slow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