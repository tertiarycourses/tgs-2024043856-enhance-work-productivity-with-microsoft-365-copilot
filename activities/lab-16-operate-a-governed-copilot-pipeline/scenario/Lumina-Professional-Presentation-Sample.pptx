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90150</c:v>
                </c:pt>
                <c:pt idx="1">
                  <c:v>145565</c:v>
                </c:pt>
                <c:pt idx="2">
                  <c:v>130880</c:v>
                </c:pt>
                <c:pt idx="3">
                  <c:v>189070</c:v>
                </c:pt>
                <c:pt idx="4">
                  <c:v>159920</c:v>
                </c:pt>
                <c:pt idx="5">
                  <c:v>217705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45976.5</c:v>
                </c:pt>
                <c:pt idx="1">
                  <c:v>80788.61</c:v>
                </c:pt>
                <c:pt idx="2">
                  <c:v>78528</c:v>
                </c:pt>
                <c:pt idx="3">
                  <c:v>96425.7</c:v>
                </c:pt>
                <c:pt idx="4">
                  <c:v>88755.6</c:v>
                </c:pt>
                <c:pt idx="5">
                  <c:v>130623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Web</c:v>
                </c:pt>
                <c:pt idx="1">
                  <c:v>Partner</c:v>
                </c:pt>
                <c:pt idx="2">
                  <c:v>Retail</c:v>
                </c:pt>
                <c:pt idx="3">
                  <c:v>Events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84544.39</c:v>
                </c:pt>
                <c:pt idx="1">
                  <c:v>94989.66</c:v>
                </c:pt>
                <c:pt idx="2">
                  <c:v>111411.32</c:v>
                </c:pt>
                <c:pt idx="3">
                  <c:v>121247.22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90150</c:v>
                </c:pt>
                <c:pt idx="1">
                  <c:v>145565</c:v>
                </c:pt>
                <c:pt idx="2">
                  <c:v>130880</c:v>
                </c:pt>
                <c:pt idx="3">
                  <c:v>189070</c:v>
                </c:pt>
                <c:pt idx="4">
                  <c:v>159920</c:v>
                </c:pt>
                <c:pt idx="5">
                  <c:v>217705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164800</c:v>
                </c:pt>
                <c:pt idx="1">
                  <c:v>193600</c:v>
                </c:pt>
                <c:pt idx="2">
                  <c:v>164800</c:v>
                </c:pt>
                <c:pt idx="3">
                  <c:v>193600</c:v>
                </c:pt>
                <c:pt idx="4">
                  <c:v>164800</c:v>
                </c:pt>
                <c:pt idx="5">
                  <c:v>193600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Prepared teaching example, not a captured Copilot result. Explain the source, date and limitations. Ask learners to verify the financial workbook, cite the research ledger, and produce their own Copilot-assisted deck. Slide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Prepared teaching example, not a captured Copilot result. Explain the source, date and limitations. Ask learners to verify the financial workbook, cite the research ledger, and produce their own Copilot-assisted deck. Slide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Prepared teaching example, not a captured Copilot result. Explain the source, date and limitations. Ask learners to verify the financial workbook, cite the research ledger, and produce their own Copilot-assisted deck. Slide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Prepared teaching example, not a captured Copilot result. Explain the source, date and limitations. Ask learners to verify the financial workbook, cite the research ledger, and produce their own Copilot-assisted deck. Slide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Prepared teaching example, not a captured Copilot result. Explain the source, date and limitations. Ask learners to verify the financial workbook, cite the research ledger, and produce their own Copilot-assisted deck. Slide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Prepared teaching example, not a captured Copilot result. Explain the source, date and limitations. Ask learners to verify the financial workbook, cite the research ledger, and produce their own Copilot-assisted deck. Slide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Lumina financial performance and launch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4937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rPr sz="2000">
                <a:latin typeface="Arial"/>
              </a:rPr>
              <a:t>Jan–Jun 2026 financial review</a:t>
            </a:r>
          </a:p>
          <a:p>
            <a:r>
              <a:rPr sz="2000">
                <a:latin typeface="Arial"/>
              </a:rPr>
              <a:t>SGD 933,290 sales revenue</a:t>
            </a:r>
          </a:p>
          <a:p>
            <a:r>
              <a:rPr sz="2000">
                <a:latin typeface="Arial"/>
              </a:rPr>
              <a:t>SGD 412,192.59 recorded margin</a:t>
            </a:r>
          </a:p>
          <a:p>
            <a:r>
              <a:rPr sz="2000">
                <a:latin typeface="Arial"/>
              </a:rPr>
              <a:t>Decision: bounded launch test within SGD 18,000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Lumina Living | SW-2026 | Synthetic data | DRAFT FOR REVIEW | Source: Lumina-Business-Data.xlsx</a:t>
            </a:r>
          </a:p>
        </p:txBody>
      </p:sp>
      <p:pic>
        <p:nvPicPr>
          <p:cNvPr id="5" name="Picture 4" descr="lumina-workplace-v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486400" cy="3090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Revenue and direct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374903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rPr sz="2000">
                <a:latin typeface="Arial"/>
              </a:rPr>
              <a:t>Source: Monthly_Finance B2:C7. SGD; synthetic history.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554480"/>
          <a:ext cx="68580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Lumina Living | SW-2026 | Synthetic data | DRAFT FOR REVIEW | Source: Lumina-Business-Data.xlsx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Events leads absolute margin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374903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rPr sz="2000">
                <a:latin typeface="Arial"/>
              </a:rPr>
              <a:t>Source: Channel_Finance A2:D5. Not net profit or causal ROI.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554480"/>
          <a:ext cx="68580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Lumina Living | SW-2026 | Synthetic data | DRAFT FOR REVIEW | Source: Lumina-Business-Data.xlsx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Actual sales versus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374903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rPr sz="2000">
                <a:latin typeface="Arial"/>
              </a:rPr>
              <a:t>Source: Monthly_Finance B2:B7 and E2:E7. Investigate the gaps.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554480"/>
          <a:ext cx="68580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Lumina Living | SW-2026 | Synthetic data | DRAFT FOR REVIEW | Source: Lumina-Business-Data.xlsx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Marketing strategy: test the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607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rPr sz="2000">
                <a:latin typeface="Arial"/>
              </a:rPr>
              <a:t>Proposal: event follow-up plus web content within SGD 18,000.</a:t>
            </a:r>
          </a:p>
          <a:p>
            <a:r>
              <a:rPr sz="2000">
                <a:latin typeface="Arial"/>
              </a:rPr>
              <a:t>WEB-03 supplies retail digital context, not demand proof.</a:t>
            </a:r>
          </a:p>
          <a:p>
            <a:r>
              <a:rPr sz="2000">
                <a:latin typeface="Arial"/>
              </a:rPr>
              <a:t>Verify claims, budget attribution and staff readiness.</a:t>
            </a:r>
          </a:p>
          <a:p>
            <a:r>
              <a:rPr sz="2000">
                <a:latin typeface="Arial"/>
              </a:rPr>
              <a:t>Do not infer market size, certification or net profit.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Lumina Living | SW-2026 | Synthetic data | DRAFT FOR REVIEW | Source: Lumina-Business-Data.xlsx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rPr sz="3000" b="1"/>
              <a:t>Keep four actions consistent across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607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t>A01 HR — train remaining staff — 24 September</a:t>
            </a:r>
          </a:p>
          <a:p>
            <a:pPr>
              <a:spcAft>
                <a:spcPts val="1500"/>
              </a:spcAft>
              <a:defRPr sz="1800"/>
            </a:pPr>
            <a:r>
              <a:t>A02 Marketing — review copy — 23 September</a:t>
            </a:r>
          </a:p>
          <a:p>
            <a:pPr>
              <a:spcAft>
                <a:spcPts val="1500"/>
              </a:spcAft>
              <a:defRPr sz="1800"/>
            </a:pPr>
            <a:r>
              <a:t>A03 Finance — verify figures — 25 September</a:t>
            </a:r>
          </a:p>
          <a:p>
            <a:pPr>
              <a:spcAft>
                <a:spcPts val="1500"/>
              </a:spcAft>
              <a:defRPr sz="1800"/>
            </a:pPr>
            <a:r>
              <a:t>A04 Operations — confirm service readiness — 25 September</a:t>
            </a:r>
          </a:p>
          <a:p>
            <a:pPr>
              <a:spcAft>
                <a:spcPts val="1500"/>
              </a:spcAft>
              <a:defRPr sz="1800"/>
            </a:pPr>
            <a:r>
              <a:t>Record evidence in the Loop register. Human review precedes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Lumina Living | SW-2026 | Synthetic data | DRAFT FOR REVIEW | Source: Lumina-Business-Data.xlsx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