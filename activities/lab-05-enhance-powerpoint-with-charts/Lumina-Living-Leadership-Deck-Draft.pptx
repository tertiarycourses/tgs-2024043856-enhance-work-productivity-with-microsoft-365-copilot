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SGD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90150</c:v>
                </c:pt>
                <c:pt idx="1">
                  <c:v>145565</c:v>
                </c:pt>
                <c:pt idx="2">
                  <c:v>130880</c:v>
                </c:pt>
                <c:pt idx="3">
                  <c:v>189070</c:v>
                </c:pt>
                <c:pt idx="4">
                  <c:v>159920</c:v>
                </c:pt>
                <c:pt idx="5">
                  <c:v>217705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SGD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</c:v>
                </c:pt>
                <c:pt idx="1">
                  <c:v>Partner</c:v>
                </c:pt>
                <c:pt idx="2">
                  <c:v>Retail</c:v>
                </c:pt>
                <c:pt idx="3">
                  <c:v>Events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84544.39</c:v>
                </c:pt>
                <c:pt idx="1">
                  <c:v>94989.66</c:v>
                </c:pt>
                <c:pt idx="2">
                  <c:v>111411.32</c:v>
                </c:pt>
                <c:pt idx="3">
                  <c:v>121247.22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fraction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HR</c:v>
                </c:pt>
                <c:pt idx="1">
                  <c:v>Marketing</c:v>
                </c:pt>
                <c:pt idx="2">
                  <c:v>Finance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0.8333333333333334</c:v>
                </c:pt>
                <c:pt idx="1">
                  <c:v>0.875</c:v>
                </c:pt>
                <c:pt idx="2">
                  <c:v>1</c:v>
                </c:pt>
                <c:pt idx="3">
                  <c:v>0.75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Launch decision depends 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Planned launch: 1 October 2026</a:t>
            </a:r>
          </a:p>
          <a:p>
            <a:pPr>
              <a:spcAft>
                <a:spcPts val="1500"/>
              </a:spcAft>
              <a:defRPr sz="1800"/>
            </a:pPr>
            <a:r>
              <a:t>Budget:SGD 18,000; target: 120 qualified enquiries</a:t>
            </a:r>
          </a:p>
          <a:p>
            <a:pPr>
              <a:spcAft>
                <a:spcPts val="1500"/>
              </a:spcAft>
              <a:defRPr sz="1800"/>
            </a:pPr>
            <a:r>
              <a:t>Review copy, financial evidence, HR training and Operations readiness before approval.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Historical revenue provides the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Jan–Jun revenue:SGD 933,290</a:t>
            </a:r>
          </a:p>
          <a:p>
            <a:pPr>
              <a:spcAft>
                <a:spcPts val="1500"/>
              </a:spcAft>
              <a:defRPr sz="1800"/>
            </a:pPr>
            <a:r>
              <a:t>Use the historical pattern as context; it is not an October forecast.</a:t>
            </a:r>
          </a:p>
          <a:p>
            <a:pPr>
              <a:spcAft>
                <a:spcPts val="1500"/>
              </a:spcAft>
              <a:defRPr sz="1800"/>
            </a:pPr>
            <a:r>
              <a:t>Source:Monthly!A2:B7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554480"/>
          <a:ext cx="6858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Events leads historical margin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Total margin:SGD 412,193</a:t>
            </a:r>
          </a:p>
          <a:p>
            <a:pPr>
              <a:spcAft>
                <a:spcPts val="1500"/>
              </a:spcAft>
              <a:defRPr sz="1800"/>
            </a:pPr>
            <a:r>
              <a:t>Margin is revenue minus the supplied cost, not net profit.</a:t>
            </a:r>
          </a:p>
          <a:p>
            <a:pPr>
              <a:spcAft>
                <a:spcPts val="1500"/>
              </a:spcAft>
              <a:defRPr sz="1800"/>
            </a:pPr>
            <a:r>
              <a:t>Source:Channels!A2:D5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554480"/>
          <a:ext cx="6858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Nine employees still need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47/56 trained: 83.9%</a:t>
            </a:r>
          </a:p>
          <a:p>
            <a:pPr>
              <a:spcAft>
                <a:spcPts val="1500"/>
              </a:spcAft>
              <a:defRPr sz="1800"/>
            </a:pPr>
            <a:r>
              <a:t>Operations has five of the nine gaps.</a:t>
            </a:r>
          </a:p>
          <a:p>
            <a:pPr>
              <a:spcAft>
                <a:spcPts val="1500"/>
              </a:spcAft>
              <a:defRPr sz="1800"/>
            </a:pPr>
            <a:r>
              <a:t>Aisha owns completion by 24 September.</a:t>
            </a:r>
          </a:p>
          <a:p>
            <a:pPr>
              <a:spcAft>
                <a:spcPts val="1500"/>
              </a:spcAft>
              <a:defRPr sz="1800"/>
            </a:pPr>
            <a:r>
              <a:t>Source:HR_Readiness!A2:E6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554480"/>
          <a:ext cx="68580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Claims and source limits shape the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Use:workspace products designed for reuse and repair.</a:t>
            </a:r>
          </a:p>
          <a:p>
            <a:pPr>
              <a:spcAft>
                <a:spcPts val="1500"/>
              </a:spcAft>
              <a:defRPr sz="1800"/>
            </a:pPr>
            <a:r>
              <a:t>Do not claim carbon neutrality or unsupported certification.</a:t>
            </a:r>
          </a:p>
          <a:p>
            <a:pPr>
              <a:spcAft>
                <a:spcPts val="1500"/>
              </a:spcAft>
              <a:defRPr sz="1800"/>
            </a:pPr>
            <a:r>
              <a:t>The campaign budget and target are planned; keep them separate from historical performance.</a:t>
            </a:r>
          </a:p>
          <a:p>
            <a:pPr>
              <a:spcAft>
                <a:spcPts val="1500"/>
              </a:spcAft>
              <a:defRPr sz="1800"/>
            </a:pPr>
            <a:r>
              <a:t>Source:CAM-2026-Q4; HR-01.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/>
            </a:pPr>
            <a:r>
              <a:t>Keep four actions consistent across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A01 HR — train remaining staff — 24 September</a:t>
            </a:r>
          </a:p>
          <a:p>
            <a:pPr>
              <a:spcAft>
                <a:spcPts val="1500"/>
              </a:spcAft>
              <a:defRPr sz="1800"/>
            </a:pPr>
            <a:r>
              <a:t>A02 Marketing — review copy — 23 September</a:t>
            </a:r>
          </a:p>
          <a:p>
            <a:pPr>
              <a:spcAft>
                <a:spcPts val="1500"/>
              </a:spcAft>
              <a:defRPr sz="1800"/>
            </a:pPr>
            <a:r>
              <a:t>A03 Finance — verify figures — 25 September</a:t>
            </a:r>
          </a:p>
          <a:p>
            <a:pPr>
              <a:spcAft>
                <a:spcPts val="1500"/>
              </a:spcAft>
              <a:defRPr sz="1800"/>
            </a:pPr>
            <a:r>
              <a:t>A04 Operations — confirm service readiness — 25 September</a:t>
            </a:r>
          </a:p>
          <a:p>
            <a:pPr>
              <a:spcAft>
                <a:spcPts val="1500"/>
              </a:spcAft>
              <a:defRPr sz="1800"/>
            </a:pPr>
            <a:r>
              <a:t>Record evidence in the Loop register. Human review precedes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Lumina Living | SW-2026 | Synthetic data | DRAFT FOR REVIEW | Source: Lumina-Business-Data.xlsx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