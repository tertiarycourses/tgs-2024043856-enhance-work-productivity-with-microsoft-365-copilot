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</c:v>
                </c:pt>
                <c:pt idx="1">
                  <c:v>83</c:v>
                </c:pt>
                <c:pt idx="2">
                  <c:v>90</c:v>
                </c:pt>
                <c:pt idx="3">
                  <c:v>98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</c:v>
                </c:pt>
                <c:pt idx="1">
                  <c:v>84</c:v>
                </c:pt>
                <c:pt idx="2">
                  <c:v>90</c:v>
                </c:pt>
                <c:pt idx="3">
                  <c:v>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</c:v>
                </c:pt>
                <c:pt idx="1">
                  <c:v>84</c:v>
                </c:pt>
                <c:pt idx="2">
                  <c:v>91</c:v>
                </c:pt>
                <c:pt idx="3">
                  <c:v>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</c:v>
                </c:pt>
                <c:pt idx="1">
                  <c:v>84</c:v>
                </c:pt>
                <c:pt idx="2">
                  <c:v>90</c:v>
                </c:pt>
                <c:pt idx="3">
                  <c:v>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</c:v>
                </c:pt>
                <c:pt idx="1">
                  <c:v>85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</c:v>
                </c:pt>
                <c:pt idx="1">
                  <c:v>84</c:v>
                </c:pt>
                <c:pt idx="2">
                  <c:v>90</c:v>
                </c:pt>
                <c:pt idx="3">
                  <c:v>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B26"/>
                </a:solidFill>
                <a:latin typeface="Arial"/>
              </a:defRPr>
            </a:pPr>
            <a:r>
              <a:t>Sustainable Workspace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393192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B6372"/>
                </a:solidFill>
                <a:latin typeface="Arial"/>
              </a:defRPr>
            </a:pPr>
            <a:r>
              <a:t>Context and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B6372"/>
                </a:solidFill>
                <a:latin typeface="Arial"/>
              </a:defRPr>
            </a:pPr>
            <a:r>
              <a:t>Lumina Living · TGS-2024043856 · © 2026 Tertiary Infotech Academy Pte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B26"/>
                </a:solidFill>
                <a:latin typeface="Arial"/>
              </a:defRPr>
            </a:pPr>
            <a:r>
              <a:t>The customer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393192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B6372"/>
                </a:solidFill>
                <a:latin typeface="Arial"/>
              </a:defRPr>
            </a:pPr>
            <a:r>
              <a:t>Verified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B6372"/>
                </a:solidFill>
                <a:latin typeface="Arial"/>
              </a:defRPr>
            </a:pPr>
            <a:r>
              <a:t>Lumina Living · TGS-2024043856 · © 2026 Tertiary Infotech Academy Pte Ltd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B26"/>
                </a:solidFill>
                <a:latin typeface="Arial"/>
              </a:defRPr>
            </a:pPr>
            <a:r>
              <a:t>Evidence and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393192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B6372"/>
                </a:solidFill>
                <a:latin typeface="Arial"/>
              </a:defRPr>
            </a:pPr>
            <a:r>
              <a:t>Caveat and control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74920" y="1600200"/>
          <a:ext cx="6080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19088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B6372"/>
                </a:solidFill>
                <a:latin typeface="Arial"/>
              </a:defRPr>
            </a:pPr>
            <a:r>
              <a:t>Lumina Living · TGS-2024043856 · © 2026 Tertiary Infotech Academy Pte Ltd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B26"/>
                </a:solidFill>
                <a:latin typeface="Arial"/>
              </a:defRPr>
            </a:pPr>
            <a:r>
              <a:t>Campaign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393192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B6372"/>
                </a:solidFill>
                <a:latin typeface="Arial"/>
              </a:defRPr>
            </a:pPr>
            <a:r>
              <a:t>Decision or next action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74920" y="1600200"/>
          <a:ext cx="6080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19088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B6372"/>
                </a:solidFill>
                <a:latin typeface="Arial"/>
              </a:defRPr>
            </a:pPr>
            <a:r>
              <a:t>Lumina Living · TGS-2024043856 · © 2026 Tertiary Infotech Academy Pte Ltd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B26"/>
                </a:solidFill>
                <a:latin typeface="Arial"/>
              </a:defRPr>
            </a:pPr>
            <a:r>
              <a:t>Risk and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393192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B6372"/>
                </a:solidFill>
                <a:latin typeface="Arial"/>
              </a:defRPr>
            </a:pPr>
            <a:r>
              <a:t>Context and source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74920" y="1600200"/>
          <a:ext cx="6080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19088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B6372"/>
                </a:solidFill>
                <a:latin typeface="Arial"/>
              </a:defRPr>
            </a:pPr>
            <a:r>
              <a:t>Lumina Living · TGS-2024043856 · © 2026 Tertiary Infotech Academy Pte Ltd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61B26"/>
                </a:solidFill>
                <a:latin typeface="Arial"/>
              </a:defRPr>
            </a:pPr>
            <a:r>
              <a:t>Decision required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393192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B6372"/>
                </a:solidFill>
                <a:latin typeface="Arial"/>
              </a:defRPr>
            </a:pPr>
            <a:r>
              <a:t>Verified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19088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B6372"/>
                </a:solidFill>
                <a:latin typeface="Arial"/>
              </a:defRPr>
            </a:pPr>
            <a:r>
              <a:t>Lumina Living · TGS-2024043856 · © 2026 Tertiary Infotech Academy Pte Ltd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